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Poppins Bold" charset="1" panose="00000800000000000000"/>
      <p:regular r:id="rId15"/>
    </p:embeddedFont>
    <p:embeddedFont>
      <p:font typeface="Arimo" charset="1" panose="020B0604020202020204"/>
      <p:regular r:id="rId16"/>
    </p:embeddedFont>
    <p:embeddedFont>
      <p:font typeface="Poppins" charset="1" panose="00000500000000000000"/>
      <p:regular r:id="rId17"/>
    </p:embeddedFont>
    <p:embeddedFont>
      <p:font typeface="Poppins Semi-Bold" charset="1" panose="00000700000000000000"/>
      <p:regular r:id="rId18"/>
    </p:embeddedFont>
    <p:embeddedFont>
      <p:font typeface="Poppins Italics" charset="1" panose="000005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73737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-47625"/>
            <a:ext cx="16230600" cy="7715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00"/>
              </a:lnSpc>
            </a:pPr>
            <a:r>
              <a:rPr lang="en-US" sz="8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ÖĞRETMENDEN UZAKLAŞMAK</a:t>
            </a:r>
          </a:p>
          <a:p>
            <a:pPr algn="ctr">
              <a:lnSpc>
                <a:spcPts val="12000"/>
              </a:lnSpc>
            </a:pPr>
            <a:r>
              <a:rPr lang="en-US" sz="8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GRPO İLE EĞİTİLEN MODELLERİN FARKLILIKLARININ ÖDÜLLENDİRİLMESİNİN ETKİLERİ</a:t>
            </a:r>
          </a:p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GRPO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753313" y="8147528"/>
            <a:ext cx="4781373" cy="1110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1"/>
              </a:lnSpc>
            </a:pPr>
            <a:r>
              <a:rPr lang="en-US" sz="3143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Göksel Okandan</a:t>
            </a:r>
          </a:p>
          <a:p>
            <a:pPr algn="ctr">
              <a:lnSpc>
                <a:spcPts val="4401"/>
              </a:lnSpc>
            </a:pPr>
            <a:r>
              <a:rPr lang="en-US" sz="3143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25501060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73737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a glowing gradient brush stroke"/>
          <p:cNvSpPr/>
          <p:nvPr/>
        </p:nvSpPr>
        <p:spPr>
          <a:xfrm flipH="false" flipV="false" rot="0">
            <a:off x="-6410564" y="1709417"/>
            <a:ext cx="15350424" cy="15350424"/>
          </a:xfrm>
          <a:custGeom>
            <a:avLst/>
            <a:gdLst/>
            <a:ahLst/>
            <a:cxnLst/>
            <a:rect r="r" b="b" t="t" l="l"/>
            <a:pathLst>
              <a:path h="15350424" w="15350424">
                <a:moveTo>
                  <a:pt x="0" y="0"/>
                </a:moveTo>
                <a:lnTo>
                  <a:pt x="15350424" y="0"/>
                </a:lnTo>
                <a:lnTo>
                  <a:pt x="15350424" y="15350424"/>
                </a:lnTo>
                <a:lnTo>
                  <a:pt x="0" y="153504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3046730"/>
            <a:ext cx="18288000" cy="4136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Bu projede bir temel model alınmış ve distill edilmiş, ardından distill edilen model üzerinde standard ve özelleştirilmiş GRPO teknikleri uygulanmıştır.</a:t>
            </a:r>
          </a:p>
          <a:p>
            <a:pPr algn="l">
              <a:lnSpc>
                <a:spcPts val="3639"/>
              </a:lnSpc>
            </a:pPr>
          </a:p>
          <a:p>
            <a:pPr algn="l">
              <a:lnSpc>
                <a:spcPts val="3639"/>
              </a:lnSpc>
            </a:pPr>
            <a:r>
              <a:rPr lang="en-US" sz="2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Kullanılan özelleştirilmiş GRPO teknikleri, özellikle modelin vermiş olduğu cevapların “öğretmen model”den farklı olmasını ödüllendirecek şekilde düzenlenmiştir. Bunun için ise GRPO tekniğinde kullanılan Kullback-Leibler ceza mekanizması üzerinde oynamalar ve denemeler yapılmıştır.</a:t>
            </a:r>
          </a:p>
          <a:p>
            <a:pPr algn="l">
              <a:lnSpc>
                <a:spcPts val="3639"/>
              </a:lnSpc>
            </a:pPr>
          </a:p>
          <a:p>
            <a:pPr algn="l">
              <a:lnSpc>
                <a:spcPts val="3639"/>
              </a:lnSpc>
            </a:pPr>
            <a:r>
              <a:rPr lang="en-US" sz="27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Uyarı: Bu projede, özellikle Colab ortam sorunlarının çözülmesi ve bazı kodlama aşamalarında (kod içerisinde belirtilen alanlar), yapay zeka desteği (Gemini 3.1 Pro) alınmıştır.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73737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a glowing gradient brush stroke"/>
          <p:cNvSpPr/>
          <p:nvPr/>
        </p:nvSpPr>
        <p:spPr>
          <a:xfrm flipH="false" flipV="false" rot="0">
            <a:off x="-5705665" y="-2531712"/>
            <a:ext cx="15350424" cy="15350424"/>
          </a:xfrm>
          <a:custGeom>
            <a:avLst/>
            <a:gdLst/>
            <a:ahLst/>
            <a:cxnLst/>
            <a:rect r="r" b="b" t="t" l="l"/>
            <a:pathLst>
              <a:path h="15350424" w="15350424">
                <a:moveTo>
                  <a:pt x="0" y="0"/>
                </a:moveTo>
                <a:lnTo>
                  <a:pt x="15350424" y="0"/>
                </a:lnTo>
                <a:lnTo>
                  <a:pt x="15350424" y="15350424"/>
                </a:lnTo>
                <a:lnTo>
                  <a:pt x="0" y="153504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6255175"/>
            <a:ext cx="18288000" cy="4031825"/>
          </a:xfrm>
          <a:custGeom>
            <a:avLst/>
            <a:gdLst/>
            <a:ahLst/>
            <a:cxnLst/>
            <a:rect r="r" b="b" t="t" l="l"/>
            <a:pathLst>
              <a:path h="4031825" w="18288000">
                <a:moveTo>
                  <a:pt x="0" y="0"/>
                </a:moveTo>
                <a:lnTo>
                  <a:pt x="18288000" y="0"/>
                </a:lnTo>
                <a:lnTo>
                  <a:pt x="18288000" y="4031825"/>
                </a:lnTo>
                <a:lnTo>
                  <a:pt x="0" y="40318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990600"/>
            <a:ext cx="18288000" cy="4666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60"/>
              </a:lnSpc>
            </a:pPr>
            <a:r>
              <a:rPr lang="en-US" sz="22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Projenin aşamaları aşağıda verildiği gibidir:</a:t>
            </a:r>
          </a:p>
          <a:p>
            <a:pPr algn="l" marL="518160" indent="-259080" lvl="1">
              <a:lnSpc>
                <a:spcPts val="3120"/>
              </a:lnSpc>
              <a:buAutoNum type="arabicPeriod" startAt="1"/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Veri Setinden Rastgele Alınan Sorular ile Veri Setlerinin Oluşturulması</a:t>
            </a:r>
          </a:p>
          <a:p>
            <a:pPr algn="l" marL="518160" indent="-259080" lvl="1">
              <a:lnSpc>
                <a:spcPts val="3120"/>
              </a:lnSpc>
              <a:buAutoNum type="arabicPeriod" startAt="1"/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Veri Seti db1 ve db2'de Yer Alan Soruların Öğretmen Modele Cevaplandırılması (GRPO Aşaması İçin Önlem)</a:t>
            </a:r>
          </a:p>
          <a:p>
            <a:pPr algn="l" marL="518160" indent="-259080" lvl="1">
              <a:lnSpc>
                <a:spcPts val="3120"/>
              </a:lnSpc>
              <a:buAutoNum type="arabicPeriod" startAt="1"/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SFT Metodu Kullanılarak Temel Modelin db1 Veri Seti ile Distill Edilmesi</a:t>
            </a:r>
          </a:p>
          <a:p>
            <a:pPr algn="l" marL="518160" indent="-259080" lvl="1">
              <a:lnSpc>
                <a:spcPts val="3120"/>
              </a:lnSpc>
              <a:buAutoNum type="arabicPeriod" startAt="1"/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Distill Edilen Modele GRPO Uygulanarak İlgili Modellerin Elde Edilmesi</a:t>
            </a:r>
          </a:p>
          <a:p>
            <a:pPr algn="l" marL="1036320" indent="-345440" lvl="2">
              <a:lnSpc>
                <a:spcPts val="3120"/>
              </a:lnSpc>
              <a:buAutoNum type="alphaLcPeriod" startAt="1"/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Eğitim Veri Setinin ve Cevaplarının Yüklenmesi ve Formatlanması</a:t>
            </a:r>
          </a:p>
          <a:p>
            <a:pPr algn="l" marL="1036320" indent="-345440" lvl="2">
              <a:lnSpc>
                <a:spcPts val="3120"/>
              </a:lnSpc>
              <a:buAutoNum type="alphaLcPeriod" startAt="1"/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Temel Modelin ve Model Tokenizer’larının Yüklenmesi</a:t>
            </a:r>
          </a:p>
          <a:p>
            <a:pPr algn="l" marL="1036320" indent="-345440" lvl="2">
              <a:lnSpc>
                <a:spcPts val="3120"/>
              </a:lnSpc>
              <a:buAutoNum type="alphaLcPeriod" startAt="1"/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GRPO Eğiticisi’ne (GRPOTrainer) Verilen Argümanlar İle Tüm Modellerin Eğitilmesi </a:t>
            </a:r>
          </a:p>
          <a:p>
            <a:pPr algn="l" marL="518160" indent="-259080" lvl="1">
              <a:lnSpc>
                <a:spcPts val="3120"/>
              </a:lnSpc>
              <a:buAutoNum type="arabicPeriod" startAt="1"/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Test Seti (db3) ile Tüm Modellerin Test Edilmesi ve Sonuçların Oluşturulması</a:t>
            </a:r>
          </a:p>
          <a:p>
            <a:pPr algn="l" marL="1036320" indent="-345440" lvl="2">
              <a:lnSpc>
                <a:spcPts val="3120"/>
              </a:lnSpc>
              <a:buAutoNum type="alphaLcPeriod" startAt="1"/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Test Seti Kullanılarak SFT ve GRPO Modellerinin Cevaplar Üretmelerinin Sağlanması</a:t>
            </a:r>
          </a:p>
          <a:p>
            <a:pPr algn="l" marL="1036320" indent="-345440" lvl="2">
              <a:lnSpc>
                <a:spcPts val="3120"/>
              </a:lnSpc>
              <a:buAutoNum type="alphaLcPeriod" startAt="1"/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Embedding Modelleri ve regex Fonksiyonları ile Cevap Çiftlerinin Doğruluk-Farklılık Oranlarının Belirlenmesi</a:t>
            </a:r>
          </a:p>
          <a:p>
            <a:pPr algn="l" marL="1036320" indent="-345440" lvl="2">
              <a:lnSpc>
                <a:spcPts val="3120"/>
              </a:lnSpc>
              <a:buAutoNum type="alphaLcPeriod" startAt="1"/>
            </a:pPr>
            <a:r>
              <a:rPr lang="en-US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Elde Edilen Doğruluk-Farklılık Oranları ile İlgili Hesaplamaların Yapılması ve Grafik Oluşturulması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-33591"/>
            <a:ext cx="18288000" cy="842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00"/>
              </a:lnSpc>
            </a:pPr>
            <a:r>
              <a:rPr lang="en-US" b="true" sz="440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METODOLOJİ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73737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a glowing gradient brush stroke"/>
          <p:cNvSpPr/>
          <p:nvPr/>
        </p:nvSpPr>
        <p:spPr>
          <a:xfrm flipH="false" flipV="false" rot="0">
            <a:off x="-7633190" y="1211768"/>
            <a:ext cx="15350424" cy="15350424"/>
          </a:xfrm>
          <a:custGeom>
            <a:avLst/>
            <a:gdLst/>
            <a:ahLst/>
            <a:cxnLst/>
            <a:rect r="r" b="b" t="t" l="l"/>
            <a:pathLst>
              <a:path h="15350424" w="15350424">
                <a:moveTo>
                  <a:pt x="0" y="0"/>
                </a:moveTo>
                <a:lnTo>
                  <a:pt x="15350424" y="0"/>
                </a:lnTo>
                <a:lnTo>
                  <a:pt x="15350424" y="15350424"/>
                </a:lnTo>
                <a:lnTo>
                  <a:pt x="0" y="153504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358140"/>
            <a:ext cx="18288000" cy="9368884"/>
            <a:chOff x="0" y="0"/>
            <a:chExt cx="24384000" cy="12491846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-171450"/>
              <a:ext cx="24384000" cy="106553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600"/>
                </a:lnSpc>
              </a:pPr>
              <a:r>
                <a:rPr lang="en-US" b="true" sz="4400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MODELLER VE VERİ SETİ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1371600" y="8187815"/>
              <a:ext cx="21640800" cy="430403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399"/>
                </a:lnSpc>
                <a:spcBef>
                  <a:spcPct val="0"/>
                </a:spcBef>
              </a:pPr>
              <a:r>
                <a:rPr lang="en-US" b="true" sz="3599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ytu-cosmos-ce/gsm8k_tr</a:t>
              </a:r>
            </a:p>
            <a:p>
              <a:pPr algn="l" marL="582930" indent="-291465" lvl="1">
                <a:lnSpc>
                  <a:spcPts val="405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7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Bu veri seti </a:t>
              </a:r>
              <a:r>
                <a:rPr lang="en-US" sz="27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8792 adet Türkçe matematik sorusu içermektedir.</a:t>
              </a:r>
            </a:p>
            <a:p>
              <a:pPr algn="l" marL="582930" indent="-291465" lvl="1">
                <a:lnSpc>
                  <a:spcPts val="405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7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Bu veri setinin içinden, ortak hiçbir soru olmadan, üç veri seti oluşturulmuştur. Her bir veri seti 500 sorudan oluşmaktadır.</a:t>
              </a:r>
            </a:p>
            <a:p>
              <a:pPr algn="l" marL="582930" indent="-291465" lvl="1">
                <a:lnSpc>
                  <a:spcPts val="4050"/>
                </a:lnSpc>
                <a:buFont typeface="Arial"/>
                <a:buChar char="•"/>
              </a:pPr>
              <a:r>
                <a:rPr lang="en-US" sz="27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Oluşturulan veri setlerinden birincisi (db1) distillation sürecinde, ikincisi (db2) GRPO sürecinde, üçüncüsü ise (db3) GRPO modellerinin test aşamasında kullanılmıştır.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143063"/>
              <a:ext cx="8128000" cy="6337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Qwen/Qwen3.5-4B</a:t>
              </a:r>
            </a:p>
            <a:p>
              <a:pPr algn="ctr">
                <a:lnSpc>
                  <a:spcPts val="3749"/>
                </a:lnSpc>
              </a:pPr>
              <a:r>
                <a:rPr lang="en-US" sz="2499" b="true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(Öğrenci Model)</a:t>
              </a:r>
            </a:p>
            <a:p>
              <a:pPr algn="ctr">
                <a:lnSpc>
                  <a:spcPts val="3740"/>
                </a:lnSpc>
              </a:pPr>
            </a:p>
            <a:p>
              <a:pPr algn="ctr">
                <a:lnSpc>
                  <a:spcPts val="3740"/>
                </a:lnSpc>
              </a:pPr>
            </a:p>
            <a:p>
              <a:pPr algn="ctr">
                <a:lnSpc>
                  <a:spcPts val="3740"/>
                </a:lnSpc>
              </a:pPr>
            </a:p>
            <a:p>
              <a:pPr algn="ctr">
                <a:lnSpc>
                  <a:spcPts val="3740"/>
                </a:lnSpc>
              </a:pPr>
            </a:p>
            <a:p>
              <a:pPr algn="ctr">
                <a:lnSpc>
                  <a:spcPts val="3740"/>
                </a:lnSpc>
              </a:pPr>
            </a:p>
            <a:p>
              <a:pPr algn="ctr">
                <a:lnSpc>
                  <a:spcPts val="3749"/>
                </a:lnSpc>
              </a:pPr>
              <a:r>
                <a:rPr lang="en-US" sz="2499" b="true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Parametre Sayısı: </a:t>
              </a:r>
              <a:r>
                <a:rPr lang="en-US" sz="24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5B</a:t>
              </a:r>
            </a:p>
            <a:p>
              <a:pPr algn="ctr">
                <a:lnSpc>
                  <a:spcPts val="3749"/>
                </a:lnSpc>
              </a:pPr>
              <a:r>
                <a:rPr lang="en-US" sz="2499" b="true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Tensor Türü: </a:t>
              </a:r>
              <a:r>
                <a:rPr lang="en-US" sz="24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bfloat16 (BF16)</a:t>
              </a:r>
            </a:p>
            <a:p>
              <a:pPr algn="ctr">
                <a:lnSpc>
                  <a:spcPts val="374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Quantizasyon: </a:t>
              </a:r>
              <a:r>
                <a:rPr lang="en-US" sz="24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Yok</a:t>
              </a:r>
            </a:p>
          </p:txBody>
        </p:sp>
        <p:sp>
          <p:nvSpPr>
            <p:cNvPr name="Freeform 7" id="7"/>
            <p:cNvSpPr/>
            <p:nvPr/>
          </p:nvSpPr>
          <p:spPr>
            <a:xfrm flipH="false" flipV="false" rot="0">
              <a:off x="2476500" y="2455403"/>
              <a:ext cx="3175000" cy="3175000"/>
            </a:xfrm>
            <a:custGeom>
              <a:avLst/>
              <a:gdLst/>
              <a:ahLst/>
              <a:cxnLst/>
              <a:rect r="r" b="b" t="t" l="l"/>
              <a:pathLst>
                <a:path h="3175000" w="3175000">
                  <a:moveTo>
                    <a:pt x="0" y="0"/>
                  </a:moveTo>
                  <a:lnTo>
                    <a:pt x="3175000" y="0"/>
                  </a:lnTo>
                  <a:lnTo>
                    <a:pt x="3175000" y="3175000"/>
                  </a:lnTo>
                  <a:lnTo>
                    <a:pt x="0" y="317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3730" b="-1373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8128000" y="1146014"/>
              <a:ext cx="8128000" cy="6337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593"/>
                </a:lnSpc>
              </a:pPr>
              <a:r>
                <a:rPr lang="en-US" sz="3062" b="true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openai/gpt-oss-120b</a:t>
              </a:r>
            </a:p>
            <a:p>
              <a:pPr algn="ctr">
                <a:lnSpc>
                  <a:spcPts val="3828"/>
                </a:lnSpc>
              </a:pPr>
              <a:r>
                <a:rPr lang="en-US" sz="2552" b="true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(Öğretmen Model)</a:t>
              </a:r>
            </a:p>
            <a:p>
              <a:pPr algn="ctr">
                <a:lnSpc>
                  <a:spcPts val="4593"/>
                </a:lnSpc>
              </a:pPr>
            </a:p>
            <a:p>
              <a:pPr algn="ctr">
                <a:lnSpc>
                  <a:spcPts val="4593"/>
                </a:lnSpc>
              </a:pPr>
            </a:p>
            <a:p>
              <a:pPr algn="ctr">
                <a:lnSpc>
                  <a:spcPts val="4593"/>
                </a:lnSpc>
              </a:pPr>
            </a:p>
            <a:p>
              <a:pPr algn="ctr">
                <a:lnSpc>
                  <a:spcPts val="4593"/>
                </a:lnSpc>
              </a:pPr>
            </a:p>
            <a:p>
              <a:pPr algn="ctr">
                <a:lnSpc>
                  <a:spcPts val="3828"/>
                </a:lnSpc>
              </a:pPr>
              <a:r>
                <a:rPr lang="en-US" sz="2552" b="true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Parametre Sayısı: </a:t>
              </a:r>
              <a:r>
                <a:rPr lang="en-US" sz="2552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117B</a:t>
              </a:r>
            </a:p>
            <a:p>
              <a:pPr algn="ctr">
                <a:lnSpc>
                  <a:spcPts val="3828"/>
                </a:lnSpc>
              </a:pPr>
              <a:r>
                <a:rPr lang="en-US" sz="2552" b="true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Tensor Türü: </a:t>
              </a:r>
              <a:r>
                <a:rPr lang="en-US" sz="2552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mxfp4 ve bfloat16 (BF16)</a:t>
              </a:r>
            </a:p>
            <a:p>
              <a:pPr algn="ctr">
                <a:lnSpc>
                  <a:spcPts val="3828"/>
                </a:lnSpc>
                <a:spcBef>
                  <a:spcPct val="0"/>
                </a:spcBef>
              </a:pPr>
              <a:r>
                <a:rPr lang="en-US" b="true" sz="2552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Quantizasyon: </a:t>
              </a:r>
              <a:r>
                <a:rPr lang="en-US" sz="2552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Yok (DeepInfra)</a:t>
              </a:r>
            </a:p>
          </p:txBody>
        </p:sp>
        <p:sp>
          <p:nvSpPr>
            <p:cNvPr name="Freeform 9" id="9"/>
            <p:cNvSpPr/>
            <p:nvPr/>
          </p:nvSpPr>
          <p:spPr>
            <a:xfrm flipH="false" flipV="false" rot="0">
              <a:off x="10668000" y="2570480"/>
              <a:ext cx="3048000" cy="3048000"/>
            </a:xfrm>
            <a:custGeom>
              <a:avLst/>
              <a:gdLst/>
              <a:ahLst/>
              <a:cxnLst/>
              <a:rect r="r" b="b" t="t" l="l"/>
              <a:pathLst>
                <a:path h="304800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3048000"/>
                  </a:lnTo>
                  <a:lnTo>
                    <a:pt x="0" y="304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16256000" y="1155539"/>
              <a:ext cx="8128000" cy="63277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54"/>
                </a:lnSpc>
              </a:pPr>
              <a:r>
                <a:rPr lang="en-US" sz="2969" b="true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Qwen/Qwen3-Embedding-0.6B</a:t>
              </a:r>
            </a:p>
            <a:p>
              <a:pPr algn="ctr">
                <a:lnSpc>
                  <a:spcPts val="3712"/>
                </a:lnSpc>
              </a:pPr>
              <a:r>
                <a:rPr lang="en-US" sz="2474" b="true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(Embedding Model)</a:t>
              </a:r>
            </a:p>
            <a:p>
              <a:pPr algn="ctr">
                <a:lnSpc>
                  <a:spcPts val="3767"/>
                </a:lnSpc>
              </a:pPr>
            </a:p>
            <a:p>
              <a:pPr algn="ctr">
                <a:lnSpc>
                  <a:spcPts val="3767"/>
                </a:lnSpc>
              </a:pPr>
            </a:p>
            <a:p>
              <a:pPr algn="ctr">
                <a:lnSpc>
                  <a:spcPts val="3767"/>
                </a:lnSpc>
              </a:pPr>
            </a:p>
            <a:p>
              <a:pPr algn="ctr">
                <a:lnSpc>
                  <a:spcPts val="3767"/>
                </a:lnSpc>
              </a:pPr>
            </a:p>
            <a:p>
              <a:pPr algn="ctr">
                <a:lnSpc>
                  <a:spcPts val="3767"/>
                </a:lnSpc>
              </a:pPr>
            </a:p>
            <a:p>
              <a:pPr algn="ctr">
                <a:lnSpc>
                  <a:spcPts val="3712"/>
                </a:lnSpc>
              </a:pPr>
              <a:r>
                <a:rPr lang="en-US" sz="2474" b="true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Parametre Sayısı: </a:t>
              </a:r>
              <a:r>
                <a:rPr lang="en-US" sz="247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0.6B</a:t>
              </a:r>
            </a:p>
            <a:p>
              <a:pPr algn="ctr">
                <a:lnSpc>
                  <a:spcPts val="3712"/>
                </a:lnSpc>
              </a:pPr>
              <a:r>
                <a:rPr lang="en-US" sz="2474" b="true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Tensor Türü: </a:t>
              </a:r>
              <a:r>
                <a:rPr lang="en-US" sz="247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bfloat16 (BF16)</a:t>
              </a:r>
            </a:p>
            <a:p>
              <a:pPr algn="ctr">
                <a:lnSpc>
                  <a:spcPts val="3712"/>
                </a:lnSpc>
                <a:spcBef>
                  <a:spcPct val="0"/>
                </a:spcBef>
              </a:pPr>
              <a:r>
                <a:rPr lang="en-US" b="true" sz="2474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Quantizasyon: </a:t>
              </a:r>
              <a:r>
                <a:rPr lang="en-US" sz="247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Yok</a:t>
              </a:r>
            </a:p>
          </p:txBody>
        </p:sp>
        <p:sp>
          <p:nvSpPr>
            <p:cNvPr name="Freeform 11" id="11"/>
            <p:cNvSpPr/>
            <p:nvPr/>
          </p:nvSpPr>
          <p:spPr>
            <a:xfrm flipH="false" flipV="false" rot="0">
              <a:off x="18732500" y="2455403"/>
              <a:ext cx="3175000" cy="3175000"/>
            </a:xfrm>
            <a:custGeom>
              <a:avLst/>
              <a:gdLst/>
              <a:ahLst/>
              <a:cxnLst/>
              <a:rect r="r" b="b" t="t" l="l"/>
              <a:pathLst>
                <a:path h="3175000" w="3175000">
                  <a:moveTo>
                    <a:pt x="0" y="0"/>
                  </a:moveTo>
                  <a:lnTo>
                    <a:pt x="3175000" y="0"/>
                  </a:lnTo>
                  <a:lnTo>
                    <a:pt x="3175000" y="3175000"/>
                  </a:lnTo>
                  <a:lnTo>
                    <a:pt x="0" y="317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3730" b="-1373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73737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a glowing gradient brush stroke"/>
          <p:cNvSpPr/>
          <p:nvPr/>
        </p:nvSpPr>
        <p:spPr>
          <a:xfrm flipH="false" flipV="false" rot="0">
            <a:off x="-8792170" y="3290483"/>
            <a:ext cx="15350424" cy="15350424"/>
          </a:xfrm>
          <a:custGeom>
            <a:avLst/>
            <a:gdLst/>
            <a:ahLst/>
            <a:cxnLst/>
            <a:rect r="r" b="b" t="t" l="l"/>
            <a:pathLst>
              <a:path h="15350424" w="15350424">
                <a:moveTo>
                  <a:pt x="0" y="0"/>
                </a:moveTo>
                <a:lnTo>
                  <a:pt x="15350424" y="0"/>
                </a:lnTo>
                <a:lnTo>
                  <a:pt x="15350424" y="15350424"/>
                </a:lnTo>
                <a:lnTo>
                  <a:pt x="0" y="153504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863917"/>
            <a:ext cx="18288000" cy="5410200"/>
          </a:xfrm>
          <a:custGeom>
            <a:avLst/>
            <a:gdLst/>
            <a:ahLst/>
            <a:cxnLst/>
            <a:rect r="r" b="b" t="t" l="l"/>
            <a:pathLst>
              <a:path h="5410200" w="18288000">
                <a:moveTo>
                  <a:pt x="0" y="0"/>
                </a:moveTo>
                <a:lnTo>
                  <a:pt x="18288000" y="0"/>
                </a:lnTo>
                <a:lnTo>
                  <a:pt x="18288000" y="5410200"/>
                </a:lnTo>
                <a:lnTo>
                  <a:pt x="0" y="54102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0" y="6464617"/>
          <a:ext cx="18288000" cy="3822383"/>
        </p:xfrm>
        <a:graphic>
          <a:graphicData uri="http://schemas.openxmlformats.org/drawingml/2006/table">
            <a:tbl>
              <a:tblPr/>
              <a:tblGrid>
                <a:gridCol w="4572000"/>
                <a:gridCol w="4572000"/>
                <a:gridCol w="4572000"/>
                <a:gridCol w="4572000"/>
              </a:tblGrid>
              <a:tr h="154893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SFT Trained Model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Standard GRPO Trained Model (Accuracy Only)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Custom GRPO Trained Model (Accuracy + Diversity)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xxxxxxxxxxxxxxxxxxxxxxxxxxxxxxxxxxxxxxxxxxxxxxxxxxxxxxxxxxxx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672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%44.12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%0.68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%1.48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Ortalama Doğruluk Skoru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3672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0.1123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0.0839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0.0888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Ortalama Farklılık Skoru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0" y="-171450"/>
            <a:ext cx="18288000" cy="842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00"/>
              </a:lnSpc>
            </a:pPr>
            <a:r>
              <a:rPr lang="en-US" b="true" sz="44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PROJE SONUÇLARI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73737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a glowing gradient brush stroke"/>
          <p:cNvSpPr/>
          <p:nvPr/>
        </p:nvSpPr>
        <p:spPr>
          <a:xfrm flipH="false" flipV="false" rot="0">
            <a:off x="-6410564" y="1709417"/>
            <a:ext cx="15350424" cy="15350424"/>
          </a:xfrm>
          <a:custGeom>
            <a:avLst/>
            <a:gdLst/>
            <a:ahLst/>
            <a:cxnLst/>
            <a:rect r="r" b="b" t="t" l="l"/>
            <a:pathLst>
              <a:path h="15350424" w="15350424">
                <a:moveTo>
                  <a:pt x="0" y="0"/>
                </a:moveTo>
                <a:lnTo>
                  <a:pt x="15350424" y="0"/>
                </a:lnTo>
                <a:lnTo>
                  <a:pt x="15350424" y="15350424"/>
                </a:lnTo>
                <a:lnTo>
                  <a:pt x="0" y="153504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186690"/>
            <a:ext cx="18288000" cy="842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00"/>
              </a:lnSpc>
            </a:pPr>
            <a:r>
              <a:rPr lang="en-US" b="true" sz="44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HEDEFLENEN PERFORMANS DEĞERLERİNE NEDEN ULAŞILAMADI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0" y="1566542"/>
            <a:ext cx="8939860" cy="861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36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DOĞRULUK SKORU NEDENİ</a:t>
            </a:r>
          </a:p>
          <a:p>
            <a:pPr algn="ctr">
              <a:lnSpc>
                <a:spcPts val="5400"/>
              </a:lnSpc>
            </a:pPr>
            <a:r>
              <a:rPr lang="en-US" sz="3600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Bilinmiyor ancak Bazı Nedenlerden Olmadığı Tahmin Edilebiliyor</a:t>
            </a:r>
          </a:p>
          <a:p>
            <a:pPr algn="l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Evaluation fonksiyonunda hata olması: SFT başarılı bir biçimde test edildi. Ayrıca Slayt 6'da görülebileceği gibi soru cevabı da sorunsuz bir biçimde çıkartılıyor.</a:t>
            </a:r>
          </a:p>
          <a:p>
            <a:pPr algn="l" marL="1079499" indent="-359833" lvl="2">
              <a:lnSpc>
                <a:spcPts val="3749"/>
              </a:lnSpc>
              <a:buFont typeface="Arial"/>
              <a:buChar char="⚬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Dataset cevap fonksiyonuda sorun olması: Slayt 6'da yer alan örnekte de görülebileceği üzere, beklenen sonuç sorunsuz bir biçimde alınabildi.</a:t>
            </a:r>
          </a:p>
          <a:p>
            <a:pPr algn="l" marL="1079499" indent="-359833" lvl="2">
              <a:lnSpc>
                <a:spcPts val="3749"/>
              </a:lnSpc>
              <a:buFont typeface="Arial"/>
              <a:buChar char="⚬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Model cevap fonksiyonunda sorun olması: regex fonksiyonu “&lt;answer&gt; ve &lt;/answer&gt;” XML tagleri arasındaki değeri alıyor, bu durum Slayt 6'da yer alan örnekte de görülebilmektedir. </a:t>
            </a:r>
          </a:p>
          <a:p>
            <a:pPr algn="l" marL="539749" indent="-269875" lvl="1">
              <a:lnSpc>
                <a:spcPts val="37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GRPO modellerinde sorun olması: GRPO modelleri, örnekte de görülebileceği üzere, kendilerine verilen soruları çözebiliyorlar.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71080" y="1566542"/>
            <a:ext cx="8716920" cy="6075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36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FARKLILIK SKORU NEDENİ</a:t>
            </a:r>
          </a:p>
          <a:p>
            <a:pPr algn="ctr">
              <a:lnSpc>
                <a:spcPts val="5400"/>
              </a:lnSpc>
            </a:pPr>
            <a:r>
              <a:rPr lang="en-US" sz="3600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Cross-Language Diversity (Diller Arası Farklılık)</a:t>
            </a:r>
          </a:p>
          <a:p>
            <a:pPr algn="ctr">
              <a:lnSpc>
                <a:spcPts val="45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Proje süresince kullanılan veri setindeki (ve gpt-oss-120b’nin de ürettiği) cevapların Türkçe, eğitim sonrası oluşan tüm modellerin de (temel model Qwen-3.5-4B gibi) ürettiği cevapların Türkçe olması nedeniyle cevap farklılıklarının anlaşılması başarısızlık ile sonuçlandı.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73737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a glowing gradient brush stroke"/>
          <p:cNvSpPr/>
          <p:nvPr/>
        </p:nvSpPr>
        <p:spPr>
          <a:xfrm flipH="false" flipV="false" rot="0">
            <a:off x="-8792170" y="3290483"/>
            <a:ext cx="15350424" cy="15350424"/>
          </a:xfrm>
          <a:custGeom>
            <a:avLst/>
            <a:gdLst/>
            <a:ahLst/>
            <a:cxnLst/>
            <a:rect r="r" b="b" t="t" l="l"/>
            <a:pathLst>
              <a:path h="15350424" w="15350424">
                <a:moveTo>
                  <a:pt x="0" y="0"/>
                </a:moveTo>
                <a:lnTo>
                  <a:pt x="15350424" y="0"/>
                </a:lnTo>
                <a:lnTo>
                  <a:pt x="15350424" y="15350424"/>
                </a:lnTo>
                <a:lnTo>
                  <a:pt x="0" y="153504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186690"/>
            <a:ext cx="18288000" cy="842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00"/>
              </a:lnSpc>
            </a:pPr>
            <a:r>
              <a:rPr lang="en-US" b="true" sz="44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SONUÇ ÖRNEKLERİ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0" y="914400"/>
            <a:ext cx="4572000" cy="8000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b="true" sz="3000" u="sng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ÖRNEK 1</a:t>
            </a:r>
          </a:p>
          <a:p>
            <a:pPr algn="ctr">
              <a:lnSpc>
                <a:spcPts val="4500"/>
              </a:lnSpc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Expected Target: 14</a:t>
            </a:r>
          </a:p>
          <a:p>
            <a:pPr algn="ctr">
              <a:lnSpc>
                <a:spcPts val="45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Actual Output: n</a:t>
            </a: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ot include units or words inside the tag". Let's write it. &lt;/think&gt; Amanda started with 10 notebooks. She received 6 more, so the total became $10 + 6 = 16$. She then lost 2 notebooks, so the final count is $16 - 2 = 14$. &lt;answer&gt;14&lt;/answer&gt;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572000" y="1699105"/>
            <a:ext cx="4572000" cy="8307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b="true" sz="3000" u="sng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ÖRNEK 2</a:t>
            </a:r>
          </a:p>
          <a:p>
            <a:pPr algn="ctr">
              <a:lnSpc>
                <a:spcPts val="4350"/>
              </a:lnSpc>
              <a:spcBef>
                <a:spcPct val="0"/>
              </a:spcBef>
            </a:pPr>
            <a:r>
              <a:rPr lang="en-US" sz="2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Expected Target: 1685 Actual Output: =</a:t>
            </a:r>
            <a:r>
              <a:rPr lang="en-US" sz="2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423$$ Next, determine how many stairs Julia climbed. She climbed 7 fewer stairs than one-third of the amount: $$423 - 7 = 416$$ Finally, calculate the total number of stairs climbed by both together: $$1269 + 416 = 1685$$ &lt;answer&gt;1685&lt;/answer&gt;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0" y="914400"/>
            <a:ext cx="4572000" cy="7429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b="true" sz="3000" u="sng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ÖRNEK 3</a:t>
            </a:r>
          </a:p>
          <a:p>
            <a:pPr algn="ctr">
              <a:lnSpc>
                <a:spcPts val="45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Expected Target: 100 Actual Output: .</a:t>
            </a: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$$ \frac{1}{2}T + 13 + 7 + 30 = T $$ 4. **Solve:** Combine the constants: $$ \frac{1}{2}T + 50 = T $$ Subtract $\frac{1}{2}T$ from both sides: $$ 50 = \frac{1}{2}T $$ Multiply by 2: $$ T = 100 $$ &lt;answer&gt;100&lt;/answer&gt;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716000" y="1852457"/>
            <a:ext cx="4572000" cy="8000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b="true" sz="3000" u="sng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ÖRNEK 4</a:t>
            </a:r>
          </a:p>
          <a:p>
            <a:pPr algn="ctr">
              <a:lnSpc>
                <a:spcPts val="450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Expected Target: 26 Actual Output: </a:t>
            </a: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otal, and 52% play sports. $$400 \times 0.52 = 208 \text{ students}$$ 2. **Calculate the number of students who play football:** 12.5% of the sports players play football. $$208 \times 0.125 = 26 \text{ students}$$ &lt;answer&gt;26&lt;/answer&gt;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73737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a glowing gradient brush stroke"/>
          <p:cNvSpPr/>
          <p:nvPr/>
        </p:nvSpPr>
        <p:spPr>
          <a:xfrm flipH="false" flipV="false" rot="0">
            <a:off x="-6206424" y="5143500"/>
            <a:ext cx="15350424" cy="15350424"/>
          </a:xfrm>
          <a:custGeom>
            <a:avLst/>
            <a:gdLst/>
            <a:ahLst/>
            <a:cxnLst/>
            <a:rect r="r" b="b" t="t" l="l"/>
            <a:pathLst>
              <a:path h="15350424" w="15350424">
                <a:moveTo>
                  <a:pt x="0" y="0"/>
                </a:moveTo>
                <a:lnTo>
                  <a:pt x="15350424" y="0"/>
                </a:lnTo>
                <a:lnTo>
                  <a:pt x="15350424" y="15350424"/>
                </a:lnTo>
                <a:lnTo>
                  <a:pt x="0" y="153504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186690"/>
            <a:ext cx="18288000" cy="842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00"/>
              </a:lnSpc>
            </a:pPr>
            <a:r>
              <a:rPr lang="en-US" b="true" sz="440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KAYNAKÇA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0" y="1285875"/>
            <a:ext cx="18288000" cy="238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1" indent="-269876" lvl="1">
              <a:lnSpc>
                <a:spcPts val="3750"/>
              </a:lnSpc>
              <a:buFont typeface="Arial"/>
              <a:buChar char="•"/>
            </a:pPr>
            <a:r>
              <a:rPr lang="en-US" b="true" sz="25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“ytu-ce-cosmos/gsm8k_tr” Veri Seti: </a:t>
            </a:r>
            <a:r>
              <a:rPr lang="en-US" sz="2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https://huggingface.co/datasets/ytu-ce-cosmos/gsm8k_tr</a:t>
            </a:r>
          </a:p>
          <a:p>
            <a:pPr algn="l" marL="539751" indent="-269876" lvl="1">
              <a:lnSpc>
                <a:spcPts val="3750"/>
              </a:lnSpc>
              <a:buFont typeface="Arial"/>
              <a:buChar char="•"/>
            </a:pPr>
            <a:r>
              <a:rPr lang="en-US" b="true" sz="25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OpenRouter.ai (Inference için Kullanılan Web Sitesi):</a:t>
            </a:r>
            <a:r>
              <a:rPr lang="en-US" sz="2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https://openrouter.ai/</a:t>
            </a:r>
          </a:p>
          <a:p>
            <a:pPr algn="l" marL="539751" indent="-269876" lvl="1">
              <a:lnSpc>
                <a:spcPts val="3750"/>
              </a:lnSpc>
              <a:buFont typeface="Arial"/>
              <a:buChar char="•"/>
            </a:pPr>
            <a:r>
              <a:rPr lang="en-US" b="true" sz="25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“Qwen/Qwen3.5-4B” Modeli:</a:t>
            </a:r>
            <a:r>
              <a:rPr lang="en-US" sz="2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https://huggingface.co/Qwen/Qwen3.5-4B</a:t>
            </a:r>
          </a:p>
          <a:p>
            <a:pPr algn="l" marL="539751" indent="-269876" lvl="1">
              <a:lnSpc>
                <a:spcPts val="3750"/>
              </a:lnSpc>
              <a:buFont typeface="Arial"/>
              <a:buChar char="•"/>
            </a:pPr>
            <a:r>
              <a:rPr lang="en-US" b="true" sz="25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“openai/gpt-oss-120b” Modeli:</a:t>
            </a:r>
            <a:r>
              <a:rPr lang="en-US" sz="2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https://huggingface.co/openai/gpt-oss-120b</a:t>
            </a:r>
          </a:p>
          <a:p>
            <a:pPr algn="l" marL="539751" indent="-269876" lvl="1">
              <a:lnSpc>
                <a:spcPts val="3750"/>
              </a:lnSpc>
              <a:buFont typeface="Arial"/>
              <a:buChar char="•"/>
            </a:pPr>
            <a:r>
              <a:rPr lang="en-US" b="true" sz="25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“Qwen/Qwen3-Embedding-0.6B” Modeli:</a:t>
            </a:r>
            <a:r>
              <a:rPr lang="en-US" sz="25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https://huggingface.co/Qwen/Qwen3-Embedding-0.6B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737373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86073" y="3632835"/>
            <a:ext cx="12515853" cy="2745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00"/>
              </a:lnSpc>
            </a:pPr>
            <a:r>
              <a:rPr lang="en-US" b="true" sz="720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DİNLEDİĞİNİZ İÇİN TEŞEKKÜR EDERİM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DAHLzvUqll4</dc:identifier>
  <dcterms:modified xsi:type="dcterms:W3CDTF">2011-08-01T06:04:30Z</dcterms:modified>
  <cp:revision>1</cp:revision>
  <dc:title>YTU_CE_Computational_Semantics_Final_Project</dc:title>
</cp:coreProperties>
</file>