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99" r:id="rId3"/>
    <p:sldId id="300" r:id="rId4"/>
    <p:sldId id="259" r:id="rId5"/>
    <p:sldId id="260" r:id="rId6"/>
    <p:sldId id="261" r:id="rId7"/>
    <p:sldId id="262" r:id="rId8"/>
    <p:sldId id="294" r:id="rId9"/>
    <p:sldId id="263" r:id="rId10"/>
    <p:sldId id="264" r:id="rId11"/>
    <p:sldId id="289" r:id="rId12"/>
    <p:sldId id="288" r:id="rId13"/>
    <p:sldId id="265" r:id="rId14"/>
    <p:sldId id="290" r:id="rId15"/>
    <p:sldId id="291" r:id="rId16"/>
    <p:sldId id="292" r:id="rId17"/>
    <p:sldId id="293" r:id="rId18"/>
    <p:sldId id="266" r:id="rId19"/>
    <p:sldId id="301" r:id="rId20"/>
    <p:sldId id="282" r:id="rId21"/>
    <p:sldId id="277" r:id="rId22"/>
    <p:sldId id="278" r:id="rId23"/>
    <p:sldId id="279" r:id="rId24"/>
    <p:sldId id="280" r:id="rId25"/>
    <p:sldId id="267" r:id="rId26"/>
    <p:sldId id="268" r:id="rId27"/>
    <p:sldId id="269" r:id="rId28"/>
    <p:sldId id="270" r:id="rId29"/>
    <p:sldId id="281" r:id="rId30"/>
    <p:sldId id="272" r:id="rId31"/>
    <p:sldId id="273" r:id="rId32"/>
    <p:sldId id="271" r:id="rId33"/>
    <p:sldId id="283" r:id="rId34"/>
    <p:sldId id="274" r:id="rId35"/>
    <p:sldId id="285" r:id="rId36"/>
    <p:sldId id="286" r:id="rId37"/>
    <p:sldId id="287" r:id="rId38"/>
    <p:sldId id="275" r:id="rId39"/>
    <p:sldId id="276" r:id="rId40"/>
    <p:sldId id="284" r:id="rId41"/>
    <p:sldId id="295" r:id="rId42"/>
    <p:sldId id="296" r:id="rId43"/>
    <p:sldId id="297" r:id="rId44"/>
    <p:sldId id="298" r:id="rId4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3BD21D-EC7E-41C3-87C1-39BCE1BD9439}" type="datetimeFigureOut">
              <a:rPr lang="tr-TR" smtClean="0"/>
              <a:pPr/>
              <a:t>15.12.2022</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F24CC2-EAA8-4831-AB27-F74A61754AF3}"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a:t>üzerine iliştirildiği ürünün </a:t>
            </a:r>
          </a:p>
        </p:txBody>
      </p:sp>
      <p:sp>
        <p:nvSpPr>
          <p:cNvPr id="4" name="3 Slayt Numarası Yer Tutucusu"/>
          <p:cNvSpPr>
            <a:spLocks noGrp="1"/>
          </p:cNvSpPr>
          <p:nvPr>
            <p:ph type="sldNum" sz="quarter" idx="10"/>
          </p:nvPr>
        </p:nvSpPr>
        <p:spPr/>
        <p:txBody>
          <a:bodyPr/>
          <a:lstStyle/>
          <a:p>
            <a:fld id="{C4F24CC2-EAA8-4831-AB27-F74A61754AF3}" type="slidenum">
              <a:rPr lang="tr-TR" smtClean="0"/>
              <a:pPr/>
              <a:t>2</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15.12.2022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050-0E15-4C5B-92B0-66D068882F1F}" type="datetimeFigureOut">
              <a:rPr lang="tr-TR" smtClean="0"/>
              <a:pPr/>
              <a:t>15.12.2022</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EFA8C-F947-479F-BE07-76B6B3F80BF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683568" y="1556792"/>
            <a:ext cx="7772400" cy="1470025"/>
          </a:xfrm>
        </p:spPr>
        <p:txBody>
          <a:bodyPr>
            <a:normAutofit fontScale="90000"/>
          </a:bodyPr>
          <a:lstStyle/>
          <a:p>
            <a:r>
              <a:rPr lang="tr-TR" sz="5400" b="1" dirty="0">
                <a:solidFill>
                  <a:schemeClr val="accent1">
                    <a:lumMod val="50000"/>
                  </a:schemeClr>
                </a:solidFill>
              </a:rPr>
              <a:t>İş Sağlığı ve Güvenliği I</a:t>
            </a:r>
            <a:br>
              <a:rPr lang="tr-TR" sz="5400" b="1" dirty="0">
                <a:solidFill>
                  <a:schemeClr val="accent1">
                    <a:lumMod val="50000"/>
                  </a:schemeClr>
                </a:solidFill>
              </a:rPr>
            </a:br>
            <a:endParaRPr lang="tr-TR" dirty="0"/>
          </a:p>
        </p:txBody>
      </p:sp>
      <p:sp>
        <p:nvSpPr>
          <p:cNvPr id="3" name="2 Alt Başlık"/>
          <p:cNvSpPr>
            <a:spLocks noGrp="1"/>
          </p:cNvSpPr>
          <p:nvPr>
            <p:ph type="subTitle" idx="1"/>
          </p:nvPr>
        </p:nvSpPr>
        <p:spPr>
          <a:xfrm>
            <a:off x="1331640" y="3717032"/>
            <a:ext cx="6400800" cy="1752600"/>
          </a:xfrm>
        </p:spPr>
        <p:txBody>
          <a:bodyPr>
            <a:normAutofit/>
          </a:bodyPr>
          <a:lstStyle/>
          <a:p>
            <a:r>
              <a:rPr lang="tr-TR" sz="3600" b="1" dirty="0">
                <a:solidFill>
                  <a:schemeClr val="tx2">
                    <a:lumMod val="60000"/>
                    <a:lumOff val="40000"/>
                  </a:schemeClr>
                </a:solidFill>
              </a:rPr>
              <a:t>Çalışma Ortamı Gözetimi Endüstriyel Hijyen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a:bodyPr>
          <a:lstStyle/>
          <a:p>
            <a:pPr>
              <a:buNone/>
            </a:pPr>
            <a:r>
              <a:rPr lang="tr-TR" sz="2800" b="1" dirty="0"/>
              <a:t>CE (</a:t>
            </a:r>
            <a:r>
              <a:rPr lang="en-US" sz="2800" b="1" dirty="0" err="1"/>
              <a:t>Conformite</a:t>
            </a:r>
            <a:r>
              <a:rPr lang="tr-TR" sz="2800" b="1" dirty="0"/>
              <a:t> </a:t>
            </a:r>
            <a:r>
              <a:rPr lang="en-US" sz="2800" b="1" dirty="0" err="1"/>
              <a:t>Europeenne</a:t>
            </a:r>
            <a:r>
              <a:rPr lang="tr-TR" sz="2800" b="1" dirty="0"/>
              <a:t>) işareti</a:t>
            </a:r>
            <a:r>
              <a:rPr lang="tr-TR" sz="2400" b="1" dirty="0"/>
              <a:t>; </a:t>
            </a:r>
            <a:r>
              <a:rPr lang="tr-TR" sz="2400" dirty="0"/>
              <a:t>malların serbest dolaşımını sağlayabilmek amacıyla Avrupa Birliği'nin, 1985 yılında oluşturduğu "Yeni Yaklaşım" çerçevesinde uygulanan bir sağlık ve güvenlik işaretidir.</a:t>
            </a:r>
          </a:p>
          <a:p>
            <a:endParaRPr lang="tr-TR" sz="2400" dirty="0"/>
          </a:p>
          <a:p>
            <a:pPr>
              <a:buNone/>
            </a:pPr>
            <a:r>
              <a:rPr lang="tr-TR" sz="2400" dirty="0"/>
              <a:t>Ürünün insan, hayvan ve çevre açısından sağlıklı ve güvenli </a:t>
            </a:r>
          </a:p>
          <a:p>
            <a:pPr>
              <a:buNone/>
            </a:pPr>
            <a:r>
              <a:rPr lang="tr-TR" sz="2400" dirty="0"/>
              <a:t>olduğunu gösteren Avrupa Birliği'nin uygunluk işaretidir.</a:t>
            </a:r>
          </a:p>
          <a:p>
            <a:pPr>
              <a:buNone/>
            </a:pPr>
            <a:endParaRPr lang="tr-TR" sz="2400" dirty="0"/>
          </a:p>
          <a:p>
            <a:pPr>
              <a:buNone/>
            </a:pPr>
            <a:r>
              <a:rPr lang="tr-TR" sz="2400" dirty="0"/>
              <a:t>CE işareti; bir kalite simgesi olmayıp üzerine iliştirildiği ürünün </a:t>
            </a:r>
          </a:p>
          <a:p>
            <a:pPr>
              <a:buNone/>
            </a:pPr>
            <a:r>
              <a:rPr lang="tr-TR" sz="2400" dirty="0"/>
              <a:t>ilgili yönetmeliğin tüm gereklerini karşıladığı anlamına gelir.</a:t>
            </a:r>
          </a:p>
        </p:txBody>
      </p:sp>
      <p:sp>
        <p:nvSpPr>
          <p:cNvPr id="19458" name="AutoShape 2" descr="ce işareti ile ilgili görsel sonucu"/>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tr-TR"/>
          </a:p>
        </p:txBody>
      </p:sp>
      <p:pic>
        <p:nvPicPr>
          <p:cNvPr id="6" name="Picture 2"/>
          <p:cNvPicPr>
            <a:picLocks noGrp="1" noChangeAspect="1" noChangeArrowheads="1"/>
          </p:cNvPicPr>
          <p:nvPr>
            <p:ph idx="1"/>
          </p:nvPr>
        </p:nvPicPr>
        <p:blipFill>
          <a:blip r:embed="rId3" cstate="print"/>
          <a:srcRect/>
          <a:stretch>
            <a:fillRect/>
          </a:stretch>
        </p:blipFill>
        <p:spPr bwMode="auto">
          <a:xfrm>
            <a:off x="2411760" y="332656"/>
            <a:ext cx="2865442" cy="108012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Grp="1" noChangeAspect="1" noChangeArrowheads="1"/>
          </p:cNvPicPr>
          <p:nvPr>
            <p:ph idx="1"/>
          </p:nvPr>
        </p:nvPicPr>
        <p:blipFill>
          <a:blip r:embed="rId2" cstate="print"/>
          <a:srcRect/>
          <a:stretch>
            <a:fillRect/>
          </a:stretch>
        </p:blipFill>
        <p:spPr bwMode="auto">
          <a:xfrm>
            <a:off x="251520" y="260649"/>
            <a:ext cx="8136904" cy="4770248"/>
          </a:xfrm>
          <a:prstGeom prst="rect">
            <a:avLst/>
          </a:prstGeom>
          <a:noFill/>
          <a:ln w="9525">
            <a:noFill/>
            <a:miter lim="800000"/>
            <a:headEnd/>
            <a:tailEnd/>
          </a:ln>
        </p:spPr>
      </p:pic>
      <p:pic>
        <p:nvPicPr>
          <p:cNvPr id="61443" name="Picture 3"/>
          <p:cNvPicPr>
            <a:picLocks noChangeAspect="1" noChangeArrowheads="1"/>
          </p:cNvPicPr>
          <p:nvPr/>
        </p:nvPicPr>
        <p:blipFill>
          <a:blip r:embed="rId3" cstate="print"/>
          <a:srcRect/>
          <a:stretch>
            <a:fillRect/>
          </a:stretch>
        </p:blipFill>
        <p:spPr bwMode="auto">
          <a:xfrm>
            <a:off x="4932040" y="4258863"/>
            <a:ext cx="3528392" cy="2452521"/>
          </a:xfrm>
          <a:prstGeom prst="rect">
            <a:avLst/>
          </a:prstGeom>
          <a:noFill/>
          <a:ln w="9525">
            <a:noFill/>
            <a:miter lim="800000"/>
            <a:headEnd/>
            <a:tailEnd/>
          </a:ln>
        </p:spPr>
      </p:pic>
      <p:pic>
        <p:nvPicPr>
          <p:cNvPr id="61444" name="Picture 4"/>
          <p:cNvPicPr>
            <a:picLocks noChangeAspect="1" noChangeArrowheads="1"/>
          </p:cNvPicPr>
          <p:nvPr/>
        </p:nvPicPr>
        <p:blipFill>
          <a:blip r:embed="rId4" cstate="print"/>
          <a:srcRect/>
          <a:stretch>
            <a:fillRect/>
          </a:stretch>
        </p:blipFill>
        <p:spPr bwMode="auto">
          <a:xfrm>
            <a:off x="1691680" y="5013176"/>
            <a:ext cx="2833613" cy="1512168"/>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67544" y="836712"/>
            <a:ext cx="8229600" cy="4525963"/>
          </a:xfrm>
        </p:spPr>
        <p:txBody>
          <a:bodyPr>
            <a:normAutofit fontScale="77500" lnSpcReduction="20000"/>
          </a:bodyPr>
          <a:lstStyle/>
          <a:p>
            <a:pPr>
              <a:buNone/>
            </a:pPr>
            <a:r>
              <a:rPr lang="tr-TR" sz="3600" b="1" dirty="0">
                <a:solidFill>
                  <a:srgbClr val="C00000"/>
                </a:solidFill>
              </a:rPr>
              <a:t>Çalışma ortamı gözetimi</a:t>
            </a:r>
            <a:r>
              <a:rPr lang="tr-TR" sz="3600" dirty="0">
                <a:solidFill>
                  <a:srgbClr val="C00000"/>
                </a:solidFill>
              </a:rPr>
              <a:t>; </a:t>
            </a:r>
            <a:r>
              <a:rPr lang="tr-TR" sz="3600" dirty="0"/>
              <a:t>işyerlerinde çalışanların maruz kalabilecekleri endüstriyel kirlenmelerin (Ör: gürültü, kimyasal gazlar, tozlar vb.) </a:t>
            </a:r>
            <a:r>
              <a:rPr lang="tr-TR" sz="3600" u="sng" dirty="0"/>
              <a:t>iş sağlığı ve güvenliği</a:t>
            </a:r>
            <a:r>
              <a:rPr lang="tr-TR" sz="3600" dirty="0"/>
              <a:t> mevzuatı kapsamında değerlendirilmesidir.</a:t>
            </a:r>
          </a:p>
          <a:p>
            <a:endParaRPr lang="tr-TR" dirty="0"/>
          </a:p>
          <a:p>
            <a:endParaRPr lang="tr-TR" dirty="0"/>
          </a:p>
          <a:p>
            <a:pPr>
              <a:buNone/>
            </a:pPr>
            <a:r>
              <a:rPr lang="tr-TR" b="1" dirty="0"/>
              <a:t>Çalışma Ortamı, aşağıdaki unsurları ihtiva eder:</a:t>
            </a:r>
          </a:p>
          <a:p>
            <a:pPr>
              <a:buNone/>
            </a:pPr>
            <a:r>
              <a:rPr lang="tr-TR" dirty="0"/>
              <a:t>Düzen ve Temizlik, Havalandırma, Aydınlatma, Isıtma, Elektrik </a:t>
            </a:r>
          </a:p>
          <a:p>
            <a:pPr>
              <a:buNone/>
            </a:pPr>
            <a:r>
              <a:rPr lang="tr-TR" dirty="0"/>
              <a:t>Tesisatı ve Topraklama, Makine ve Ekipmanlar, Fiziksel </a:t>
            </a:r>
          </a:p>
          <a:p>
            <a:pPr>
              <a:buNone/>
            </a:pPr>
            <a:r>
              <a:rPr lang="tr-TR" dirty="0"/>
              <a:t>Etkenler (Gürültü, Titreşim, Radyasyon, Toz), Kimyasal Etkenler </a:t>
            </a:r>
          </a:p>
          <a:p>
            <a:pPr>
              <a:buNone/>
            </a:pPr>
            <a:r>
              <a:rPr lang="tr-TR" dirty="0"/>
              <a:t>(Parlayıcı, Patlayıcı, </a:t>
            </a:r>
            <a:r>
              <a:rPr lang="tr-TR" dirty="0" err="1"/>
              <a:t>Toksik</a:t>
            </a:r>
            <a:r>
              <a:rPr lang="tr-TR" dirty="0"/>
              <a:t> </a:t>
            </a:r>
            <a:r>
              <a:rPr lang="tr-TR" dirty="0" err="1"/>
              <a:t>vd</a:t>
            </a:r>
            <a:r>
              <a:rPr lang="tr-TR" dirty="0"/>
              <a:t>. Maddeler) Motorlu Araçlar, Boru </a:t>
            </a:r>
          </a:p>
          <a:p>
            <a:pPr>
              <a:buNone/>
            </a:pPr>
            <a:r>
              <a:rPr lang="tr-TR" dirty="0"/>
              <a:t>Tesisatı Depolama ve İstifleme vb.</a:t>
            </a:r>
          </a:p>
          <a:p>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548680"/>
            <a:ext cx="8229600" cy="1143000"/>
          </a:xfrm>
        </p:spPr>
        <p:txBody>
          <a:bodyPr>
            <a:normAutofit fontScale="90000"/>
          </a:bodyPr>
          <a:lstStyle/>
          <a:p>
            <a:r>
              <a:rPr lang="tr-TR" sz="4000" u="sng" dirty="0"/>
              <a:t>İş güvenliği profesyonellerinin çalışma ortamı gözetimindeki önemi ise;</a:t>
            </a:r>
            <a:br>
              <a:rPr lang="tr-TR" dirty="0"/>
            </a:br>
            <a:endParaRPr lang="tr-TR" dirty="0"/>
          </a:p>
        </p:txBody>
      </p:sp>
      <p:sp>
        <p:nvSpPr>
          <p:cNvPr id="3" name="2 İçerik Yer Tutucusu"/>
          <p:cNvSpPr>
            <a:spLocks noGrp="1"/>
          </p:cNvSpPr>
          <p:nvPr>
            <p:ph idx="1"/>
          </p:nvPr>
        </p:nvSpPr>
        <p:spPr>
          <a:xfrm>
            <a:off x="467544" y="1772816"/>
            <a:ext cx="8229600" cy="4525963"/>
          </a:xfrm>
        </p:spPr>
        <p:txBody>
          <a:bodyPr>
            <a:normAutofit fontScale="70000" lnSpcReduction="20000"/>
          </a:bodyPr>
          <a:lstStyle/>
          <a:p>
            <a:pPr>
              <a:buNone/>
            </a:pPr>
            <a:r>
              <a:rPr lang="tr-TR" dirty="0"/>
              <a:t>İş güvenliği uzmanlarının temel görevi çalışanların iş kazaları ve meslek </a:t>
            </a:r>
          </a:p>
          <a:p>
            <a:pPr>
              <a:buNone/>
            </a:pPr>
            <a:r>
              <a:rPr lang="tr-TR" dirty="0"/>
              <a:t>hastalıklarından korunmasıdır.</a:t>
            </a:r>
          </a:p>
          <a:p>
            <a:r>
              <a:rPr lang="tr-TR" dirty="0"/>
              <a:t>Bu bağlamda </a:t>
            </a:r>
            <a:r>
              <a:rPr lang="tr-TR" b="1" dirty="0"/>
              <a:t>çalışma ortamının gözetimi </a:t>
            </a:r>
            <a:r>
              <a:rPr lang="tr-TR" dirty="0"/>
              <a:t>çok etkili bir yöntemdir.</a:t>
            </a:r>
          </a:p>
          <a:p>
            <a:r>
              <a:rPr lang="tr-TR" dirty="0"/>
              <a:t>Çalışma ortamının gözetimini yapmak;</a:t>
            </a:r>
          </a:p>
          <a:p>
            <a:pPr>
              <a:buNone/>
            </a:pPr>
            <a:endParaRPr lang="tr-TR" dirty="0"/>
          </a:p>
          <a:p>
            <a:pPr lvl="1"/>
            <a:r>
              <a:rPr lang="tr-TR" dirty="0"/>
              <a:t>İşyerinde iş sağlığı ve güvenliği yönünden yapılması gereken periyodik bakım, kontrol ve ölçümleri planlamak ve uygulanmasını kontrol etmek,</a:t>
            </a:r>
          </a:p>
          <a:p>
            <a:pPr lvl="1"/>
            <a:r>
              <a:rPr lang="tr-TR" dirty="0"/>
              <a:t>İşyerinde kaza, yangın veya patlamaların önlenmesi için mevzuata uygun çalışmalar yapmak ve uygulamaları takip etmek,</a:t>
            </a:r>
          </a:p>
          <a:p>
            <a:pPr lvl="1"/>
            <a:r>
              <a:rPr lang="tr-TR" dirty="0"/>
              <a:t>doğal afet, kaza, yangın veya patlama gibi durumlar için acil durum planlarının hazırlanmasını sağlamak, </a:t>
            </a:r>
          </a:p>
          <a:p>
            <a:pPr lvl="1"/>
            <a:r>
              <a:rPr lang="tr-TR" dirty="0"/>
              <a:t>periyodik olarak eğitimleri ve tatbikatları yaptırmak, acil durum planı doğrultusunda hareket edilmesini sağlamak.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ChangeArrowheads="1"/>
          </p:cNvSpPr>
          <p:nvPr/>
        </p:nvSpPr>
        <p:spPr bwMode="auto">
          <a:xfrm>
            <a:off x="395288" y="1196975"/>
            <a:ext cx="8353425" cy="4832350"/>
          </a:xfrm>
          <a:prstGeom prst="rect">
            <a:avLst/>
          </a:prstGeom>
          <a:noFill/>
          <a:ln w="9525">
            <a:noFill/>
            <a:miter lim="800000"/>
            <a:headEnd/>
            <a:tailEnd/>
          </a:ln>
        </p:spPr>
        <p:txBody>
          <a:bodyPr>
            <a:spAutoFit/>
          </a:bodyPr>
          <a:lstStyle/>
          <a:p>
            <a:r>
              <a:rPr lang="tr-TR" sz="2800" b="1" dirty="0"/>
              <a:t>Ortam gözetiminin tanımı:</a:t>
            </a:r>
          </a:p>
          <a:p>
            <a:pPr algn="just"/>
            <a:r>
              <a:rPr lang="tr-TR" sz="2800" dirty="0"/>
              <a:t>İşyerinde sağlık ve güvenlik risklerine karşı yürütülecek her türlü koruyucu, önleyici ve düzeltici faaliyetlerin tümüdür:</a:t>
            </a:r>
          </a:p>
          <a:p>
            <a:pPr algn="just"/>
            <a:endParaRPr lang="tr-TR" sz="2800" dirty="0"/>
          </a:p>
          <a:p>
            <a:pPr algn="just">
              <a:buFont typeface="Arial" charset="0"/>
              <a:buChar char="•"/>
            </a:pPr>
            <a:r>
              <a:rPr lang="tr-TR" sz="2800" dirty="0"/>
              <a:t> İşyerindeki tehlikeler ve riskler belirlenecek, </a:t>
            </a:r>
          </a:p>
          <a:p>
            <a:pPr algn="just">
              <a:buFont typeface="Arial" charset="0"/>
              <a:buChar char="•"/>
            </a:pPr>
            <a:r>
              <a:rPr lang="tr-TR" sz="2800" dirty="0"/>
              <a:t> Risk değerlendirmesi yapılacak, </a:t>
            </a:r>
          </a:p>
          <a:p>
            <a:pPr algn="just">
              <a:buFont typeface="Arial" charset="0"/>
              <a:buChar char="•"/>
            </a:pPr>
            <a:r>
              <a:rPr lang="tr-TR" sz="2800" dirty="0"/>
              <a:t> Yapılan risk değerlendirmesine göre plan   </a:t>
            </a:r>
          </a:p>
          <a:p>
            <a:pPr algn="just"/>
            <a:r>
              <a:rPr lang="tr-TR" sz="2800" dirty="0"/>
              <a:t>   yapılacak, </a:t>
            </a:r>
          </a:p>
          <a:p>
            <a:pPr algn="just">
              <a:buFont typeface="Arial" charset="0"/>
              <a:buChar char="•"/>
            </a:pPr>
            <a:r>
              <a:rPr lang="tr-TR" sz="2800" dirty="0"/>
              <a:t> Bu planda yer alan öneriler işverene sunulacak ve </a:t>
            </a:r>
          </a:p>
          <a:p>
            <a:pPr algn="just">
              <a:buFont typeface="Arial" charset="0"/>
              <a:buChar char="•"/>
            </a:pPr>
            <a:r>
              <a:rPr lang="tr-TR" sz="2800" dirty="0"/>
              <a:t>  Yerine getirilip getirilmediği izlenecektir. </a:t>
            </a:r>
          </a:p>
        </p:txBody>
      </p:sp>
      <p:sp>
        <p:nvSpPr>
          <p:cNvPr id="13315" name="Rectangle 5"/>
          <p:cNvSpPr>
            <a:spLocks noChangeArrowheads="1"/>
          </p:cNvSpPr>
          <p:nvPr/>
        </p:nvSpPr>
        <p:spPr bwMode="auto">
          <a:xfrm>
            <a:off x="1908175" y="352425"/>
            <a:ext cx="4932632" cy="646331"/>
          </a:xfrm>
          <a:prstGeom prst="rect">
            <a:avLst/>
          </a:prstGeom>
          <a:noFill/>
          <a:ln w="9525">
            <a:noFill/>
            <a:miter lim="800000"/>
            <a:headEnd/>
            <a:tailEnd/>
          </a:ln>
        </p:spPr>
        <p:txBody>
          <a:bodyPr wrap="none">
            <a:spAutoFit/>
          </a:bodyPr>
          <a:lstStyle/>
          <a:p>
            <a:r>
              <a:rPr lang="tr-TR" sz="3600" b="1" dirty="0">
                <a:solidFill>
                  <a:srgbClr val="C00000"/>
                </a:solidFill>
              </a:rPr>
              <a:t>Çalışma Ortamı Gözetimi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2 İçerik Yer Tutucusu"/>
          <p:cNvSpPr>
            <a:spLocks noGrp="1"/>
          </p:cNvSpPr>
          <p:nvPr>
            <p:ph idx="1"/>
          </p:nvPr>
        </p:nvSpPr>
        <p:spPr>
          <a:xfrm>
            <a:off x="323528" y="764704"/>
            <a:ext cx="8289925" cy="5589587"/>
          </a:xfrm>
        </p:spPr>
        <p:txBody>
          <a:bodyPr/>
          <a:lstStyle/>
          <a:p>
            <a:pPr eaLnBrk="1" hangingPunct="1">
              <a:buFont typeface="Times New Roman" pitchFamily="18" charset="0"/>
              <a:buNone/>
            </a:pPr>
            <a:r>
              <a:rPr lang="tr-TR" sz="3600" b="1" dirty="0">
                <a:solidFill>
                  <a:srgbClr val="C00000"/>
                </a:solidFill>
              </a:rPr>
              <a:t>Ortam gözetimi yaparken ortamı:</a:t>
            </a:r>
          </a:p>
          <a:p>
            <a:pPr lvl="1">
              <a:buFont typeface="Times New Roman" pitchFamily="18" charset="0"/>
              <a:buNone/>
            </a:pPr>
            <a:r>
              <a:rPr lang="tr-TR" sz="3200" dirty="0">
                <a:latin typeface="Arial" charset="0"/>
              </a:rPr>
              <a:t>1</a:t>
            </a:r>
            <a:r>
              <a:rPr lang="tr-TR" sz="3200" dirty="0"/>
              <a:t>. İşyeri bina ve eklentileri,</a:t>
            </a:r>
          </a:p>
          <a:p>
            <a:pPr lvl="1">
              <a:buFont typeface="Times New Roman" pitchFamily="18" charset="0"/>
              <a:buNone/>
            </a:pPr>
            <a:r>
              <a:rPr lang="tr-TR" sz="3200" dirty="0"/>
              <a:t>2. İşyerinde bulunan iş ekipmanları, </a:t>
            </a:r>
          </a:p>
          <a:p>
            <a:pPr lvl="1">
              <a:buFont typeface="Times New Roman" pitchFamily="18" charset="0"/>
              <a:buNone/>
            </a:pPr>
            <a:r>
              <a:rPr lang="tr-TR" sz="3200" dirty="0"/>
              <a:t>3. İşyerinde kullanılan ve üretilen maddeler, </a:t>
            </a:r>
          </a:p>
          <a:p>
            <a:pPr lvl="1">
              <a:buFont typeface="Times New Roman" pitchFamily="18" charset="0"/>
              <a:buNone/>
            </a:pPr>
            <a:r>
              <a:rPr lang="tr-TR" sz="3200" dirty="0"/>
              <a:t>4. İşyerinde çalışanlar, </a:t>
            </a:r>
          </a:p>
          <a:p>
            <a:pPr eaLnBrk="1" hangingPunct="1">
              <a:buFont typeface="Times New Roman" pitchFamily="18" charset="0"/>
              <a:buNone/>
            </a:pPr>
            <a:r>
              <a:rPr lang="tr-TR" dirty="0"/>
              <a:t>şeklinde  ayırarak gözetimimizi ona göre </a:t>
            </a:r>
          </a:p>
          <a:p>
            <a:pPr eaLnBrk="1" hangingPunct="1">
              <a:buFont typeface="Times New Roman" pitchFamily="18" charset="0"/>
              <a:buNone/>
            </a:pPr>
            <a:r>
              <a:rPr lang="tr-TR" dirty="0"/>
              <a:t>yapabiliriz. </a:t>
            </a:r>
          </a:p>
          <a:p>
            <a:pPr eaLnBrk="1" hangingPunct="1">
              <a:buFont typeface="Times New Roman" pitchFamily="18" charset="0"/>
              <a:buNone/>
            </a:pPr>
            <a:endParaRPr lang="tr-TR" b="1" dirty="0">
              <a:latin typeface="Arial"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cstate="print"/>
          <a:srcRect/>
          <a:stretch>
            <a:fillRect/>
          </a:stretch>
        </p:blipFill>
        <p:spPr bwMode="auto">
          <a:xfrm>
            <a:off x="251520" y="1191655"/>
            <a:ext cx="8136904" cy="4934508"/>
          </a:xfrm>
          <a:prstGeom prst="rect">
            <a:avLst/>
          </a:prstGeom>
          <a:noFill/>
          <a:ln w="9525">
            <a:noFill/>
            <a:miter lim="800000"/>
            <a:headEnd/>
            <a:tailEnd/>
          </a:ln>
        </p:spPr>
      </p:pic>
      <p:sp>
        <p:nvSpPr>
          <p:cNvPr id="3" name="2 Dikdörtgen"/>
          <p:cNvSpPr/>
          <p:nvPr/>
        </p:nvSpPr>
        <p:spPr>
          <a:xfrm>
            <a:off x="611560" y="404664"/>
            <a:ext cx="5472608" cy="584775"/>
          </a:xfrm>
          <a:prstGeom prst="rect">
            <a:avLst/>
          </a:prstGeom>
        </p:spPr>
        <p:txBody>
          <a:bodyPr wrap="square">
            <a:spAutoFit/>
          </a:bodyPr>
          <a:lstStyle/>
          <a:p>
            <a:r>
              <a:rPr lang="tr-TR" sz="3200" b="1" dirty="0">
                <a:solidFill>
                  <a:srgbClr val="669900"/>
                </a:solidFill>
              </a:rPr>
              <a:t>1. İşyeri bina ve eklentileri:</a:t>
            </a:r>
            <a:r>
              <a:rPr lang="tr-TR" sz="3200" b="1" dirty="0"/>
              <a:t> </a:t>
            </a:r>
            <a:endParaRPr lang="tr-TR"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p:cNvSpPr>
          <p:nvPr>
            <p:ph type="body" idx="1"/>
          </p:nvPr>
        </p:nvSpPr>
        <p:spPr>
          <a:xfrm>
            <a:off x="250825" y="549275"/>
            <a:ext cx="8229600" cy="1798638"/>
          </a:xfrm>
        </p:spPr>
        <p:txBody>
          <a:bodyPr/>
          <a:lstStyle/>
          <a:p>
            <a:pPr marL="609600" indent="-609600" eaLnBrk="1" hangingPunct="1">
              <a:spcBef>
                <a:spcPct val="45000"/>
              </a:spcBef>
              <a:buFont typeface="Times New Roman" pitchFamily="18" charset="0"/>
              <a:buAutoNum type="arabicPeriod"/>
            </a:pPr>
            <a:r>
              <a:rPr lang="tr-TR" b="1" dirty="0">
                <a:solidFill>
                  <a:srgbClr val="669900"/>
                </a:solidFill>
              </a:rPr>
              <a:t>İşyeri bina ve eklentileri:</a:t>
            </a:r>
            <a:r>
              <a:rPr lang="tr-TR" b="1" dirty="0"/>
              <a:t> </a:t>
            </a:r>
            <a:r>
              <a:rPr lang="tr-TR" sz="2400" dirty="0"/>
              <a:t>Binaların yapısı, tavan yüksekliği, alan olarak genişliği, dayanıklılığı yapılan işe uygun mudur?</a:t>
            </a:r>
          </a:p>
        </p:txBody>
      </p:sp>
      <p:sp>
        <p:nvSpPr>
          <p:cNvPr id="15363" name="Rectangle 4"/>
          <p:cNvSpPr>
            <a:spLocks noChangeArrowheads="1"/>
          </p:cNvSpPr>
          <p:nvPr/>
        </p:nvSpPr>
        <p:spPr bwMode="auto">
          <a:xfrm>
            <a:off x="323850" y="1940171"/>
            <a:ext cx="8066088" cy="4081117"/>
          </a:xfrm>
          <a:prstGeom prst="rect">
            <a:avLst/>
          </a:prstGeom>
          <a:noFill/>
          <a:ln w="9525">
            <a:noFill/>
            <a:miter lim="800000"/>
            <a:headEnd/>
            <a:tailEnd/>
          </a:ln>
        </p:spPr>
        <p:txBody>
          <a:bodyPr>
            <a:spAutoFit/>
          </a:bodyPr>
          <a:lstStyle/>
          <a:p>
            <a:pPr>
              <a:spcBef>
                <a:spcPct val="45000"/>
              </a:spcBef>
              <a:buFont typeface="Times New Roman" pitchFamily="18" charset="0"/>
              <a:buNone/>
            </a:pPr>
            <a:r>
              <a:rPr lang="tr-TR" sz="2400" b="1" dirty="0"/>
              <a:t>Elektrik tesisatı</a:t>
            </a:r>
            <a:r>
              <a:rPr lang="tr-TR" sz="2400" dirty="0"/>
              <a:t>: Elektrik İç Tesisat  Yönetmeliğine uygun yapılmış mıdır?</a:t>
            </a:r>
          </a:p>
          <a:p>
            <a:pPr>
              <a:spcBef>
                <a:spcPct val="45000"/>
              </a:spcBef>
              <a:buFont typeface="Times New Roman" pitchFamily="18" charset="0"/>
              <a:buNone/>
            </a:pPr>
            <a:r>
              <a:rPr lang="tr-TR" sz="2400" b="1" dirty="0"/>
              <a:t>Acil çıkış yolları</a:t>
            </a:r>
            <a:r>
              <a:rPr lang="tr-TR" sz="2400" dirty="0"/>
              <a:t>: Acil çıkış yolları ve kapıları </a:t>
            </a:r>
            <a:r>
              <a:rPr lang="tr-TR" sz="2400" b="1" dirty="0">
                <a:solidFill>
                  <a:srgbClr val="FF0000"/>
                </a:solidFill>
              </a:rPr>
              <a:t>dışarıya doğru açılacak, acil çıkış kapısı olarak raylı ve döner kapı kullanılmayacaktır</a:t>
            </a:r>
            <a:r>
              <a:rPr lang="tr-TR" sz="2400" dirty="0">
                <a:solidFill>
                  <a:srgbClr val="FF0000"/>
                </a:solidFill>
              </a:rPr>
              <a:t>. </a:t>
            </a:r>
          </a:p>
          <a:p>
            <a:pPr>
              <a:spcBef>
                <a:spcPct val="45000"/>
              </a:spcBef>
              <a:buFont typeface="Times New Roman" pitchFamily="18" charset="0"/>
              <a:buNone/>
            </a:pPr>
            <a:r>
              <a:rPr lang="tr-TR" sz="2400" dirty="0"/>
              <a:t>Acil çıkış yolları “</a:t>
            </a:r>
            <a:r>
              <a:rPr lang="tr-TR" sz="2400" b="1" dirty="0"/>
              <a:t>Güvenlik ve Sağlık İşaretleri Yönetmeliği</a:t>
            </a:r>
            <a:r>
              <a:rPr lang="tr-TR" sz="2400" dirty="0"/>
              <a:t>”ne uygun şekilde işaretlenmiş olacaktır. </a:t>
            </a:r>
          </a:p>
          <a:p>
            <a:pPr>
              <a:spcBef>
                <a:spcPct val="45000"/>
              </a:spcBef>
              <a:buFont typeface="Times New Roman" pitchFamily="18" charset="0"/>
              <a:buNone/>
            </a:pPr>
            <a:r>
              <a:rPr lang="tr-TR" sz="2400" dirty="0"/>
              <a:t>Acil çıkış kapıları kilitli veya bağlı olmayacaktır. </a:t>
            </a:r>
          </a:p>
          <a:p>
            <a:pPr>
              <a:spcBef>
                <a:spcPct val="45000"/>
              </a:spcBef>
              <a:buFont typeface="Times New Roman" pitchFamily="18" charset="0"/>
              <a:buNone/>
            </a:pPr>
            <a:r>
              <a:rPr lang="tr-TR" sz="2400" dirty="0"/>
              <a:t>Acil çıkış yolları yedek aydınlatma sistemi ile aydınlatılacaktır.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251520" y="476672"/>
            <a:ext cx="8351838" cy="4727448"/>
          </a:xfrm>
          <a:prstGeom prst="rect">
            <a:avLst/>
          </a:prstGeom>
          <a:noFill/>
          <a:ln w="9525">
            <a:noFill/>
            <a:miter lim="800000"/>
            <a:headEnd/>
            <a:tailEnd/>
          </a:ln>
        </p:spPr>
        <p:txBody>
          <a:bodyPr>
            <a:spAutoFit/>
          </a:bodyPr>
          <a:lstStyle/>
          <a:p>
            <a:pPr algn="just">
              <a:spcBef>
                <a:spcPct val="55000"/>
              </a:spcBef>
            </a:pPr>
            <a:r>
              <a:rPr lang="tr-TR" sz="2400" b="1" dirty="0"/>
              <a:t>Yangınla mücadele</a:t>
            </a:r>
            <a:r>
              <a:rPr lang="tr-TR" sz="2400" dirty="0"/>
              <a:t>: İşyerinin büyüklüğüne ve yapılan işin özelliğine göre </a:t>
            </a:r>
            <a:r>
              <a:rPr lang="tr-TR" sz="2400" dirty="0">
                <a:solidFill>
                  <a:srgbClr val="FF0000"/>
                </a:solidFill>
              </a:rPr>
              <a:t>yeter sayıda etkili yangın söndürme ekipmanı </a:t>
            </a:r>
            <a:r>
              <a:rPr lang="tr-TR" sz="2400" dirty="0"/>
              <a:t>veya tesisatı olacak ve bunlar yangın detektörleri ve alarmlarla desteklenecektir. </a:t>
            </a:r>
          </a:p>
          <a:p>
            <a:endParaRPr lang="tr-TR" sz="2400" dirty="0"/>
          </a:p>
          <a:p>
            <a:endParaRPr lang="tr-TR" sz="2400" dirty="0"/>
          </a:p>
          <a:p>
            <a:r>
              <a:rPr lang="tr-TR" sz="2400" dirty="0"/>
              <a:t>Söndürme ekipmanları </a:t>
            </a:r>
            <a:r>
              <a:rPr lang="tr-TR" sz="2400" dirty="0">
                <a:solidFill>
                  <a:srgbClr val="FF0000"/>
                </a:solidFill>
              </a:rPr>
              <a:t>her zaman kullanıma hazır bulundurularak</a:t>
            </a:r>
            <a:r>
              <a:rPr lang="tr-TR" sz="2400" dirty="0"/>
              <a:t>, bu ekipmanların mevzuatın öngördüğü periyotlarda </a:t>
            </a:r>
            <a:r>
              <a:rPr lang="tr-TR" sz="2400" dirty="0">
                <a:solidFill>
                  <a:srgbClr val="FF0000"/>
                </a:solidFill>
              </a:rPr>
              <a:t>bakımı ve kontrolü yapılır.</a:t>
            </a:r>
            <a:r>
              <a:rPr lang="tr-TR" sz="2400" dirty="0"/>
              <a:t> Yangın söndürme ekipmanları kolay kullanılır nitelikte olur, görünür ve kolay erişilir yerlere konulur ve bu ekipmanların önlerinde engel bulundurulmaz. </a:t>
            </a:r>
          </a:p>
          <a:p>
            <a:pPr algn="just">
              <a:spcBef>
                <a:spcPct val="55000"/>
              </a:spcBef>
            </a:pPr>
            <a:endParaRPr lang="tr-TR" sz="2400" dirty="0"/>
          </a:p>
        </p:txBody>
      </p:sp>
      <p:pic>
        <p:nvPicPr>
          <p:cNvPr id="11266" name="Picture 2"/>
          <p:cNvPicPr>
            <a:picLocks noChangeAspect="1" noChangeArrowheads="1"/>
          </p:cNvPicPr>
          <p:nvPr/>
        </p:nvPicPr>
        <p:blipFill>
          <a:blip r:embed="rId2" cstate="print"/>
          <a:srcRect/>
          <a:stretch>
            <a:fillRect/>
          </a:stretch>
        </p:blipFill>
        <p:spPr bwMode="auto">
          <a:xfrm>
            <a:off x="6372200" y="4349486"/>
            <a:ext cx="1872208" cy="2508514"/>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548680"/>
            <a:ext cx="8229600" cy="4525963"/>
          </a:xfrm>
        </p:spPr>
        <p:txBody>
          <a:bodyPr>
            <a:normAutofit lnSpcReduction="10000"/>
          </a:bodyPr>
          <a:lstStyle/>
          <a:p>
            <a:r>
              <a:rPr lang="tr-TR" dirty="0"/>
              <a:t>Yangın söndürme ekipmanı ve bulunduğu yerler </a:t>
            </a:r>
            <a:r>
              <a:rPr lang="tr-TR" dirty="0">
                <a:solidFill>
                  <a:srgbClr val="FF0000"/>
                </a:solidFill>
              </a:rPr>
              <a:t>“</a:t>
            </a:r>
            <a:r>
              <a:rPr lang="tr-TR" b="1" dirty="0">
                <a:solidFill>
                  <a:srgbClr val="FF0000"/>
                </a:solidFill>
              </a:rPr>
              <a:t>Güvenlik ve Sağlık İşaretleri Yönetmeliğine” </a:t>
            </a:r>
            <a:r>
              <a:rPr lang="tr-TR" dirty="0"/>
              <a:t>uygun şekilde işaretlenir. </a:t>
            </a:r>
          </a:p>
          <a:p>
            <a:endParaRPr lang="tr-TR" dirty="0"/>
          </a:p>
          <a:p>
            <a:r>
              <a:rPr lang="tr-TR" dirty="0"/>
              <a:t>İşyerlerinde bağımsız kaçış, çıkış ve merdivenler ile yangınla ilgili bütün özel düzenlemelerin </a:t>
            </a:r>
            <a:r>
              <a:rPr lang="tr-TR" dirty="0">
                <a:solidFill>
                  <a:srgbClr val="FF0000"/>
                </a:solidFill>
              </a:rPr>
              <a:t>“</a:t>
            </a:r>
            <a:r>
              <a:rPr lang="tr-TR" b="1" dirty="0">
                <a:solidFill>
                  <a:srgbClr val="FF0000"/>
                </a:solidFill>
              </a:rPr>
              <a:t>Binaların Yangından Korunması Hakkında Yönetmelik” </a:t>
            </a:r>
            <a:r>
              <a:rPr lang="tr-TR" dirty="0"/>
              <a:t>hükümlerine uygun olması esastır. </a:t>
            </a:r>
          </a:p>
          <a:p>
            <a:endParaRPr lang="tr-T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b="1" dirty="0">
                <a:solidFill>
                  <a:srgbClr val="669900"/>
                </a:solidFill>
              </a:rPr>
              <a:t>1. İşyeri bina ve eklentileri:</a:t>
            </a:r>
            <a:r>
              <a:rPr lang="tr-TR" b="1" dirty="0"/>
              <a:t> </a:t>
            </a:r>
            <a:endParaRPr lang="tr-TR" dirty="0"/>
          </a:p>
        </p:txBody>
      </p:sp>
      <p:sp>
        <p:nvSpPr>
          <p:cNvPr id="3" name="2 İçerik Yer Tutucusu"/>
          <p:cNvSpPr>
            <a:spLocks noGrp="1"/>
          </p:cNvSpPr>
          <p:nvPr>
            <p:ph idx="1"/>
          </p:nvPr>
        </p:nvSpPr>
        <p:spPr>
          <a:xfrm>
            <a:off x="457200" y="1412776"/>
            <a:ext cx="8229600" cy="4525963"/>
          </a:xfrm>
        </p:spPr>
        <p:txBody>
          <a:bodyPr>
            <a:normAutofit/>
          </a:bodyPr>
          <a:lstStyle/>
          <a:p>
            <a:pPr algn="just">
              <a:spcBef>
                <a:spcPct val="55000"/>
              </a:spcBef>
              <a:buNone/>
            </a:pPr>
            <a:r>
              <a:rPr lang="tr-TR" sz="3000" b="1" dirty="0"/>
              <a:t>Havalandırma</a:t>
            </a:r>
            <a:r>
              <a:rPr lang="tr-TR" sz="3000" dirty="0"/>
              <a:t>: Yeterli temiz hava olacak, gerektiğinde genel ve cebri çekişli lokal havalandırmalar bulunacak ve çalışır durumda olacaktır. </a:t>
            </a:r>
          </a:p>
          <a:p>
            <a:pPr algn="just">
              <a:spcBef>
                <a:spcPct val="55000"/>
              </a:spcBef>
              <a:buNone/>
            </a:pPr>
            <a:r>
              <a:rPr lang="tr-TR" sz="3000" b="1" dirty="0"/>
              <a:t>Ortam sıcaklığı</a:t>
            </a:r>
            <a:r>
              <a:rPr lang="tr-TR" sz="3000" dirty="0"/>
              <a:t>: Çalışma şekline uygun olacak, dinlenme, duş, tuvalet, soyunma yerleri ve ilk yardım odaları uygun sıcaklıkta olacaktır.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467544" y="1484784"/>
            <a:ext cx="7991475" cy="3785652"/>
          </a:xfrm>
          <a:prstGeom prst="rect">
            <a:avLst/>
          </a:prstGeom>
          <a:noFill/>
          <a:ln w="9525">
            <a:noFill/>
            <a:miter lim="800000"/>
            <a:headEnd/>
            <a:tailEnd/>
          </a:ln>
        </p:spPr>
        <p:txBody>
          <a:bodyPr>
            <a:spAutoFit/>
          </a:bodyPr>
          <a:lstStyle/>
          <a:p>
            <a:pPr algn="just">
              <a:spcAft>
                <a:spcPct val="50000"/>
              </a:spcAft>
            </a:pPr>
            <a:r>
              <a:rPr lang="tr-TR" sz="3000" b="1" dirty="0"/>
              <a:t>Aydınlatma</a:t>
            </a:r>
            <a:r>
              <a:rPr lang="tr-TR" sz="3000" dirty="0"/>
              <a:t>: Pencereler ve çatı aydınlatmaları güneş ışığını alacak şekilde olacak, gün ışığı yetersiz ise uygun suni aydınlatma olacaktır. </a:t>
            </a:r>
          </a:p>
          <a:p>
            <a:pPr algn="just">
              <a:spcAft>
                <a:spcPct val="50000"/>
              </a:spcAft>
            </a:pPr>
            <a:endParaRPr lang="tr-TR" sz="3000" dirty="0"/>
          </a:p>
          <a:p>
            <a:pPr algn="just">
              <a:spcAft>
                <a:spcPct val="50000"/>
              </a:spcAft>
            </a:pPr>
            <a:r>
              <a:rPr lang="tr-TR" sz="3000" b="1" dirty="0"/>
              <a:t>Pencereler, kapılar</a:t>
            </a:r>
            <a:r>
              <a:rPr lang="tr-TR" sz="3000" dirty="0"/>
              <a:t>: yeterli sayıda, uygun boyutlarda ve uygun malzemeden yapılmış olacaktır.</a:t>
            </a:r>
          </a:p>
        </p:txBody>
      </p:sp>
      <p:sp>
        <p:nvSpPr>
          <p:cNvPr id="3" name="1 Başlık"/>
          <p:cNvSpPr>
            <a:spLocks noGrp="1"/>
          </p:cNvSpPr>
          <p:nvPr>
            <p:ph type="title"/>
          </p:nvPr>
        </p:nvSpPr>
        <p:spPr>
          <a:xfrm>
            <a:off x="457200" y="274638"/>
            <a:ext cx="8229600" cy="1143000"/>
          </a:xfrm>
        </p:spPr>
        <p:txBody>
          <a:bodyPr>
            <a:normAutofit/>
          </a:bodyPr>
          <a:lstStyle/>
          <a:p>
            <a:pPr algn="l"/>
            <a:r>
              <a:rPr lang="tr-TR" b="1" dirty="0">
                <a:solidFill>
                  <a:srgbClr val="669900"/>
                </a:solidFill>
              </a:rPr>
              <a:t>1. İşyeri bina ve eklentileri:</a:t>
            </a:r>
            <a:r>
              <a:rPr lang="tr-TR" b="1" dirty="0"/>
              <a:t> </a:t>
            </a:r>
            <a:endParaRPr lang="tr-T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600" b="1" dirty="0"/>
              <a:t>İşyeri tabanı, duvarı, çatısı</a:t>
            </a:r>
            <a:r>
              <a:rPr lang="tr-TR" sz="3600" dirty="0"/>
              <a:t>:</a:t>
            </a:r>
          </a:p>
        </p:txBody>
      </p:sp>
      <p:sp>
        <p:nvSpPr>
          <p:cNvPr id="3" name="2 İçerik Yer Tutucusu"/>
          <p:cNvSpPr>
            <a:spLocks noGrp="1"/>
          </p:cNvSpPr>
          <p:nvPr>
            <p:ph idx="1"/>
          </p:nvPr>
        </p:nvSpPr>
        <p:spPr>
          <a:xfrm>
            <a:off x="395536" y="1196752"/>
            <a:ext cx="8280920" cy="4824536"/>
          </a:xfrm>
        </p:spPr>
        <p:txBody>
          <a:bodyPr>
            <a:normAutofit fontScale="77500" lnSpcReduction="20000"/>
          </a:bodyPr>
          <a:lstStyle/>
          <a:p>
            <a:endParaRPr lang="tr-TR" dirty="0"/>
          </a:p>
          <a:p>
            <a:r>
              <a:rPr lang="tr-TR" dirty="0"/>
              <a:t>İşyeri, çalışanların fiziksel faaliyetleri, yapılan işlerin niteliği ve termal konfor şartları dikkate alınarak uygun bölümlere ayrılır. </a:t>
            </a:r>
          </a:p>
          <a:p>
            <a:pPr>
              <a:buNone/>
            </a:pPr>
            <a:endParaRPr lang="tr-TR" dirty="0"/>
          </a:p>
          <a:p>
            <a:r>
              <a:rPr lang="tr-TR" dirty="0"/>
              <a:t>İşyerlerinde, taban döşeme ve kaplamalarının </a:t>
            </a:r>
            <a:r>
              <a:rPr lang="tr-TR" dirty="0">
                <a:solidFill>
                  <a:srgbClr val="FF0000"/>
                </a:solidFill>
              </a:rPr>
              <a:t>sağlam, kuru </a:t>
            </a:r>
            <a:r>
              <a:rPr lang="tr-TR" dirty="0"/>
              <a:t>ve mümkün olduğu kadar </a:t>
            </a:r>
            <a:r>
              <a:rPr lang="tr-TR" dirty="0">
                <a:solidFill>
                  <a:srgbClr val="FF0000"/>
                </a:solidFill>
              </a:rPr>
              <a:t>düz, kaymaz </a:t>
            </a:r>
            <a:r>
              <a:rPr lang="tr-TR" dirty="0"/>
              <a:t>ve seviye farkı bulunmayacak bir şekilde olması sağlanır, buralarda tehlikeli eğimler, çukurlar ve engeller bulundurulmaz. </a:t>
            </a:r>
          </a:p>
          <a:p>
            <a:endParaRPr lang="tr-TR" dirty="0"/>
          </a:p>
          <a:p>
            <a:r>
              <a:rPr lang="tr-TR" dirty="0"/>
              <a:t>Patlayıcı ve tehlikeli maddelerin imal edildiği, işlendiği ve depolandığı işyeri binalarında taban, tavan, duvar ve çatıların </a:t>
            </a:r>
            <a:r>
              <a:rPr lang="tr-TR" dirty="0">
                <a:solidFill>
                  <a:srgbClr val="FF0000"/>
                </a:solidFill>
              </a:rPr>
              <a:t>“</a:t>
            </a:r>
            <a:r>
              <a:rPr lang="tr-TR" b="1" dirty="0">
                <a:solidFill>
                  <a:srgbClr val="FF0000"/>
                </a:solidFill>
              </a:rPr>
              <a:t>Binaların Yangından Korunması Hakkındaki Yönetmelik” </a:t>
            </a:r>
            <a:r>
              <a:rPr lang="tr-TR" dirty="0"/>
              <a:t>hükümlerine uygun olması sağlanır.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600" b="1" dirty="0"/>
              <a:t>İşyeri tabanı, duvarı, çatısı</a:t>
            </a:r>
            <a:r>
              <a:rPr lang="tr-TR" sz="3600" dirty="0"/>
              <a:t>:</a:t>
            </a:r>
          </a:p>
        </p:txBody>
      </p:sp>
      <p:sp>
        <p:nvSpPr>
          <p:cNvPr id="3" name="2 İçerik Yer Tutucusu"/>
          <p:cNvSpPr>
            <a:spLocks noGrp="1"/>
          </p:cNvSpPr>
          <p:nvPr>
            <p:ph idx="1"/>
          </p:nvPr>
        </p:nvSpPr>
        <p:spPr>
          <a:xfrm>
            <a:off x="467544" y="1268760"/>
            <a:ext cx="8229600" cy="4525963"/>
          </a:xfrm>
        </p:spPr>
        <p:txBody>
          <a:bodyPr>
            <a:normAutofit fontScale="92500" lnSpcReduction="10000"/>
          </a:bodyPr>
          <a:lstStyle/>
          <a:p>
            <a:endParaRPr lang="tr-TR" dirty="0"/>
          </a:p>
          <a:p>
            <a:r>
              <a:rPr lang="tr-TR" sz="3000" dirty="0"/>
              <a:t>Taban ve asma kat döşemeleri, üzerine konulacak makine, araç-gereç ve benzeri malzeme ile buralarda bulunabilecek çalışanların ağırlığına dayanabilecek şekilde yapılır. </a:t>
            </a:r>
          </a:p>
          <a:p>
            <a:pPr>
              <a:buNone/>
            </a:pPr>
            <a:endParaRPr lang="tr-TR" sz="3000" dirty="0"/>
          </a:p>
          <a:p>
            <a:r>
              <a:rPr lang="tr-TR" sz="3000" dirty="0"/>
              <a:t>İşyerlerinde taban döşeme ve kaplamaları, tavan ve duvarlar uygun hijyenik şartları sağlayacak şekilde temizlemeye elverişli ve sağlık ve güvenlik yönünden uygun malzemeden yapılır. </a:t>
            </a:r>
          </a:p>
          <a:p>
            <a:endParaRPr lang="tr-T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600" b="1" dirty="0"/>
              <a:t>İşyeri tabanı, duvarı, çatısı</a:t>
            </a:r>
            <a:r>
              <a:rPr lang="tr-TR" sz="3600" dirty="0"/>
              <a:t>:</a:t>
            </a:r>
          </a:p>
        </p:txBody>
      </p:sp>
      <p:sp>
        <p:nvSpPr>
          <p:cNvPr id="3" name="2 İçerik Yer Tutucusu"/>
          <p:cNvSpPr>
            <a:spLocks noGrp="1"/>
          </p:cNvSpPr>
          <p:nvPr>
            <p:ph idx="1"/>
          </p:nvPr>
        </p:nvSpPr>
        <p:spPr/>
        <p:txBody>
          <a:bodyPr>
            <a:normAutofit fontScale="92500" lnSpcReduction="10000"/>
          </a:bodyPr>
          <a:lstStyle/>
          <a:p>
            <a:r>
              <a:rPr lang="tr-TR" dirty="0"/>
              <a:t>İşyerlerinde bina, avlu, geçit ve ulaşım yollarında ve bunların civarında bulunan saydam veya yarı saydam duvarlar ile özellikle camlı bölmeler, </a:t>
            </a:r>
            <a:r>
              <a:rPr lang="tr-TR" dirty="0">
                <a:solidFill>
                  <a:srgbClr val="FF0000"/>
                </a:solidFill>
              </a:rPr>
              <a:t>açık bir şekilde işaretlenir</a:t>
            </a:r>
            <a:r>
              <a:rPr lang="tr-TR" dirty="0"/>
              <a:t>, ayrıca güvenli malzemeden yapılır veya </a:t>
            </a:r>
            <a:r>
              <a:rPr lang="tr-TR" dirty="0">
                <a:solidFill>
                  <a:srgbClr val="FF0000"/>
                </a:solidFill>
              </a:rPr>
              <a:t>çarpma ve kırılmaya karşı korunur. </a:t>
            </a:r>
          </a:p>
          <a:p>
            <a:pPr>
              <a:buNone/>
            </a:pPr>
            <a:endParaRPr lang="tr-TR" dirty="0">
              <a:solidFill>
                <a:srgbClr val="FF0000"/>
              </a:solidFill>
            </a:endParaRPr>
          </a:p>
          <a:p>
            <a:r>
              <a:rPr lang="tr-TR" dirty="0"/>
              <a:t>İşyeri tavanının, yeterli hava hacmini ve havalandırmayı sağlayacak ve sağlık yönünden sakınca meydana getirmeyecek yükseklikte olması esastır.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600" b="1" dirty="0"/>
              <a:t>İşyeri tabanı, duvarı, çatısı</a:t>
            </a:r>
            <a:r>
              <a:rPr lang="tr-TR" sz="3600" dirty="0"/>
              <a:t>:</a:t>
            </a:r>
          </a:p>
        </p:txBody>
      </p:sp>
      <p:sp>
        <p:nvSpPr>
          <p:cNvPr id="3" name="2 İçerik Yer Tutucusu"/>
          <p:cNvSpPr>
            <a:spLocks noGrp="1"/>
          </p:cNvSpPr>
          <p:nvPr>
            <p:ph idx="1"/>
          </p:nvPr>
        </p:nvSpPr>
        <p:spPr>
          <a:xfrm>
            <a:off x="395536" y="1484784"/>
            <a:ext cx="8229600" cy="4525963"/>
          </a:xfrm>
        </p:spPr>
        <p:txBody>
          <a:bodyPr>
            <a:normAutofit/>
          </a:bodyPr>
          <a:lstStyle/>
          <a:p>
            <a:r>
              <a:rPr lang="tr-TR" dirty="0"/>
              <a:t>İşyerlerinin çatıları dayanıklı malzemeden inşa edilir, iş sağlığı ve güvenliği yönünden </a:t>
            </a:r>
            <a:r>
              <a:rPr lang="tr-TR" dirty="0">
                <a:solidFill>
                  <a:srgbClr val="FF0000"/>
                </a:solidFill>
              </a:rPr>
              <a:t>risk oluşturmayacak şekilde </a:t>
            </a:r>
            <a:r>
              <a:rPr lang="tr-TR" dirty="0"/>
              <a:t>yapılır. </a:t>
            </a:r>
          </a:p>
          <a:p>
            <a:endParaRPr lang="tr-TR" dirty="0"/>
          </a:p>
          <a:p>
            <a:r>
              <a:rPr lang="tr-TR" dirty="0"/>
              <a:t>Yeterli sağlamlıkta olmayan çatılara çıkılmasına ve buralarda çalışılmasına, güvenli çalışmayı temin edecek ekipman sağlanmadan izin verilmez. </a:t>
            </a:r>
          </a:p>
          <a:p>
            <a:endParaRPr lang="tr-T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539750" y="549275"/>
            <a:ext cx="8135938" cy="6062878"/>
          </a:xfrm>
          <a:prstGeom prst="rect">
            <a:avLst/>
          </a:prstGeom>
          <a:noFill/>
          <a:ln w="9525">
            <a:noFill/>
            <a:miter lim="800000"/>
            <a:headEnd/>
            <a:tailEnd/>
          </a:ln>
        </p:spPr>
        <p:txBody>
          <a:bodyPr>
            <a:spAutoFit/>
          </a:bodyPr>
          <a:lstStyle/>
          <a:p>
            <a:pPr algn="just">
              <a:lnSpc>
                <a:spcPct val="135000"/>
              </a:lnSpc>
              <a:spcAft>
                <a:spcPct val="50000"/>
              </a:spcAft>
            </a:pPr>
            <a:r>
              <a:rPr lang="tr-TR" sz="2800" b="1" dirty="0"/>
              <a:t>Ulaşım yolları - tehlikeli alanlar: </a:t>
            </a:r>
            <a:r>
              <a:rPr lang="tr-TR" sz="2800" dirty="0"/>
              <a:t>Merdivenler, yükleme rampaları, bütün yollar; araçlar ve yayaların güvenli hareketini sağlayacaktır. </a:t>
            </a:r>
          </a:p>
          <a:p>
            <a:pPr algn="just">
              <a:lnSpc>
                <a:spcPct val="135000"/>
              </a:lnSpc>
              <a:spcAft>
                <a:spcPct val="50000"/>
              </a:spcAft>
              <a:buFont typeface="Wingdings" pitchFamily="2" charset="2"/>
              <a:buChar char="Ø"/>
            </a:pPr>
            <a:r>
              <a:rPr lang="tr-TR" sz="2800" dirty="0"/>
              <a:t> Malzeme taşınan yollarda yayalar için güvenli mesafe bırakılacak, </a:t>
            </a:r>
          </a:p>
          <a:p>
            <a:pPr algn="just">
              <a:lnSpc>
                <a:spcPct val="135000"/>
              </a:lnSpc>
              <a:spcAft>
                <a:spcPct val="50000"/>
              </a:spcAft>
              <a:buFont typeface="Wingdings" pitchFamily="2" charset="2"/>
              <a:buChar char="Ø"/>
            </a:pPr>
            <a:r>
              <a:rPr lang="tr-TR" sz="2800" dirty="0"/>
              <a:t> Araçların geçiş yolları açıkça işaretlenecektir. </a:t>
            </a:r>
          </a:p>
          <a:p>
            <a:pPr algn="just">
              <a:lnSpc>
                <a:spcPct val="135000"/>
              </a:lnSpc>
              <a:spcAft>
                <a:spcPct val="50000"/>
              </a:spcAft>
              <a:buFont typeface="Wingdings" pitchFamily="2" charset="2"/>
              <a:buChar char="Ø"/>
            </a:pPr>
            <a:r>
              <a:rPr lang="tr-TR" sz="2800" dirty="0"/>
              <a:t> Tehlikeli alanlar belirlenecek ve bu alanlara sadece izni olanlar girecektir. </a:t>
            </a:r>
          </a:p>
          <a:p>
            <a:pPr>
              <a:lnSpc>
                <a:spcPct val="135000"/>
              </a:lnSpc>
              <a:spcAft>
                <a:spcPct val="50000"/>
              </a:spcAft>
            </a:pPr>
            <a:endParaRPr lang="tr-TR"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a:solidFill>
                  <a:srgbClr val="669900"/>
                </a:solidFill>
              </a:rPr>
              <a:t>1. İşyeri bina ve eklentileri:</a:t>
            </a:r>
            <a:r>
              <a:rPr lang="tr-TR" b="1" dirty="0"/>
              <a:t> </a:t>
            </a:r>
            <a:endParaRPr lang="tr-TR" dirty="0"/>
          </a:p>
        </p:txBody>
      </p:sp>
      <p:sp>
        <p:nvSpPr>
          <p:cNvPr id="3" name="2 İçerik Yer Tutucusu"/>
          <p:cNvSpPr>
            <a:spLocks noGrp="1"/>
          </p:cNvSpPr>
          <p:nvPr>
            <p:ph idx="1"/>
          </p:nvPr>
        </p:nvSpPr>
        <p:spPr/>
        <p:txBody>
          <a:bodyPr/>
          <a:lstStyle/>
          <a:p>
            <a:pPr>
              <a:buNone/>
            </a:pPr>
            <a:r>
              <a:rPr lang="tr-TR" dirty="0"/>
              <a:t>Dinlenme, soyunma, emzikli kadınların dinlenme yerleri, duş, tuvaletler bulunacaktır. </a:t>
            </a:r>
          </a:p>
          <a:p>
            <a:endParaRPr lang="tr-TR" b="1" dirty="0"/>
          </a:p>
          <a:p>
            <a:pPr>
              <a:buNone/>
            </a:pPr>
            <a:r>
              <a:rPr lang="tr-TR" b="1" dirty="0"/>
              <a:t>İlk yardım odaları</a:t>
            </a:r>
            <a:r>
              <a:rPr lang="tr-TR" dirty="0"/>
              <a:t>: Yeterli büyüklükte, yeterli ilk yardım malzemesi ve ekipmanı ve sedyeler bulunacaktır. </a:t>
            </a:r>
          </a:p>
          <a:p>
            <a:endParaRPr lang="tr-T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539552" y="218023"/>
            <a:ext cx="7920880" cy="630480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br>
              <a:rPr lang="tr-TR" sz="3200" dirty="0"/>
            </a:br>
            <a:r>
              <a:rPr lang="tr-TR" b="1" dirty="0">
                <a:solidFill>
                  <a:srgbClr val="C00000"/>
                </a:solidFill>
              </a:rPr>
              <a:t>Ortam ölçümü cihazları </a:t>
            </a:r>
            <a:br>
              <a:rPr lang="tr-TR" sz="3600" dirty="0">
                <a:solidFill>
                  <a:srgbClr val="C00000"/>
                </a:solidFill>
              </a:rPr>
            </a:br>
            <a:endParaRPr lang="tr-TR" sz="3600" dirty="0">
              <a:solidFill>
                <a:srgbClr val="C00000"/>
              </a:solidFill>
            </a:endParaRPr>
          </a:p>
        </p:txBody>
      </p:sp>
      <p:sp>
        <p:nvSpPr>
          <p:cNvPr id="3" name="2 İçerik Yer Tutucusu"/>
          <p:cNvSpPr>
            <a:spLocks noGrp="1"/>
          </p:cNvSpPr>
          <p:nvPr>
            <p:ph idx="1"/>
          </p:nvPr>
        </p:nvSpPr>
        <p:spPr/>
        <p:txBody>
          <a:bodyPr>
            <a:normAutofit/>
          </a:bodyPr>
          <a:lstStyle/>
          <a:p>
            <a:endParaRPr lang="tr-TR" dirty="0"/>
          </a:p>
          <a:p>
            <a:pPr>
              <a:buNone/>
            </a:pPr>
            <a:endParaRPr lang="tr-TR" dirty="0"/>
          </a:p>
        </p:txBody>
      </p:sp>
      <p:pic>
        <p:nvPicPr>
          <p:cNvPr id="2050" name="Picture 2"/>
          <p:cNvPicPr>
            <a:picLocks noChangeAspect="1" noChangeArrowheads="1"/>
          </p:cNvPicPr>
          <p:nvPr/>
        </p:nvPicPr>
        <p:blipFill>
          <a:blip r:embed="rId2" cstate="print"/>
          <a:srcRect/>
          <a:stretch>
            <a:fillRect/>
          </a:stretch>
        </p:blipFill>
        <p:spPr bwMode="auto">
          <a:xfrm>
            <a:off x="351030" y="1271588"/>
            <a:ext cx="8188776" cy="47497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a:solidFill>
                  <a:srgbClr val="C00000"/>
                </a:solidFill>
              </a:rPr>
              <a:t>Ortam ölçümü cihazları</a:t>
            </a:r>
            <a:endParaRPr lang="tr-TR"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755576" y="1586052"/>
            <a:ext cx="7207543" cy="527194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a:solidFill>
                  <a:srgbClr val="C00000"/>
                </a:solidFill>
              </a:rPr>
              <a:t>Ortam ölçümü cihazları</a:t>
            </a:r>
            <a:endParaRPr lang="tr-TR"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755576" y="1196752"/>
            <a:ext cx="7128792" cy="5218193"/>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a:solidFill>
                  <a:srgbClr val="C00000"/>
                </a:solidFill>
              </a:rPr>
              <a:t>Ortam ölçümü cihazları</a:t>
            </a:r>
            <a:endParaRPr lang="tr-TR"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431321" y="1386200"/>
            <a:ext cx="8029111" cy="521115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428625" y="1000125"/>
            <a:ext cx="7993063" cy="4093428"/>
          </a:xfrm>
          <a:prstGeom prst="rect">
            <a:avLst/>
          </a:prstGeom>
          <a:noFill/>
          <a:ln w="9525">
            <a:noFill/>
            <a:miter lim="800000"/>
            <a:headEnd/>
            <a:tailEnd/>
          </a:ln>
        </p:spPr>
        <p:txBody>
          <a:bodyPr>
            <a:spAutoFit/>
          </a:bodyPr>
          <a:lstStyle/>
          <a:p>
            <a:pPr algn="just"/>
            <a:r>
              <a:rPr lang="tr-TR" sz="3200" b="1" dirty="0">
                <a:solidFill>
                  <a:srgbClr val="669900"/>
                </a:solidFill>
              </a:rPr>
              <a:t>2. İş Ekipmanları</a:t>
            </a:r>
            <a:endParaRPr lang="tr-TR" sz="3200" b="1" dirty="0"/>
          </a:p>
          <a:p>
            <a:pPr algn="just"/>
            <a:endParaRPr lang="tr-TR" sz="3200" dirty="0"/>
          </a:p>
          <a:p>
            <a:pPr algn="just"/>
            <a:r>
              <a:rPr lang="tr-TR" sz="2800" dirty="0"/>
              <a:t>İşin yapılmasında kullanılan herhangi bir makine, alet ve tesisi ifade eder. </a:t>
            </a:r>
          </a:p>
          <a:p>
            <a:pPr algn="just"/>
            <a:endParaRPr lang="tr-TR" sz="2800" dirty="0"/>
          </a:p>
          <a:p>
            <a:pPr lvl="1" algn="just">
              <a:buFont typeface="Wingdings" pitchFamily="2" charset="2"/>
              <a:buChar char="Ø"/>
            </a:pPr>
            <a:r>
              <a:rPr lang="tr-TR" sz="2800" dirty="0"/>
              <a:t>İş ekipmanı, işyerindeki özel çalışma şartlarını, sağlık ve güvenlik göz önünde bulundurularak seçilecek, tamamen tehlikesiz olamıyorsa riski en aza indirecek uygun önlemler alınacaktır.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179388" y="765175"/>
            <a:ext cx="8496300" cy="4635115"/>
          </a:xfrm>
          <a:prstGeom prst="rect">
            <a:avLst/>
          </a:prstGeom>
          <a:noFill/>
          <a:ln w="9525">
            <a:noFill/>
            <a:miter lim="800000"/>
            <a:headEnd/>
            <a:tailEnd/>
          </a:ln>
        </p:spPr>
        <p:txBody>
          <a:bodyPr>
            <a:spAutoFit/>
          </a:bodyPr>
          <a:lstStyle/>
          <a:p>
            <a:pPr algn="just">
              <a:spcBef>
                <a:spcPct val="20000"/>
              </a:spcBef>
              <a:spcAft>
                <a:spcPct val="45000"/>
              </a:spcAft>
              <a:buFont typeface="Times New Roman" pitchFamily="18" charset="0"/>
              <a:buNone/>
            </a:pPr>
            <a:r>
              <a:rPr lang="tr-TR" sz="2400" b="1" dirty="0"/>
              <a:t>İş ekipmanlarının kontrolü</a:t>
            </a:r>
            <a:r>
              <a:rPr lang="tr-TR" sz="2400" dirty="0"/>
              <a:t>: İş ekipmanlarının güvenliği kurulum şartlarına bağlı olduğu durumlarda, </a:t>
            </a:r>
            <a:r>
              <a:rPr lang="tr-TR" sz="2400" dirty="0">
                <a:solidFill>
                  <a:srgbClr val="FF0000"/>
                </a:solidFill>
              </a:rPr>
              <a:t>ekipmanın kurulmasından sonra, ilk defa kullanılmadan önce, her yer değiştirdiğinde </a:t>
            </a:r>
            <a:r>
              <a:rPr lang="tr-TR" sz="2400" dirty="0"/>
              <a:t>uzman kişilerce kontrol edilecek, güvenli olduğuna ilişkin belge düzenlenecektir. Daha sonra periyodik kontrolleri ve testleri yapılacak ve belge düzenlenecek. </a:t>
            </a:r>
          </a:p>
          <a:p>
            <a:pPr algn="just">
              <a:spcBef>
                <a:spcPct val="20000"/>
              </a:spcBef>
              <a:spcAft>
                <a:spcPct val="45000"/>
              </a:spcAft>
              <a:buFont typeface="Times New Roman" pitchFamily="18" charset="0"/>
              <a:buNone/>
            </a:pPr>
            <a:r>
              <a:rPr lang="tr-TR" sz="2400" i="1" u="sng" dirty="0"/>
              <a:t>Örnek: </a:t>
            </a:r>
            <a:r>
              <a:rPr lang="tr-TR" sz="2400" dirty="0"/>
              <a:t>Vinçler. Kaldırma araçları 3 ayda bir kaldıracağı en büyük </a:t>
            </a:r>
            <a:r>
              <a:rPr lang="tr-TR" sz="2400" dirty="0">
                <a:solidFill>
                  <a:srgbClr val="FF0000"/>
                </a:solidFill>
              </a:rPr>
              <a:t>yükün 1. 5 katı ile test edilecek </a:t>
            </a:r>
            <a:r>
              <a:rPr lang="tr-TR" sz="2400" dirty="0"/>
              <a:t>ve onaylı deftere kaydedilecektir. </a:t>
            </a:r>
          </a:p>
          <a:p>
            <a:pPr algn="just">
              <a:spcBef>
                <a:spcPct val="20000"/>
              </a:spcBef>
              <a:spcAft>
                <a:spcPct val="45000"/>
              </a:spcAft>
              <a:buFont typeface="Times New Roman" pitchFamily="18" charset="0"/>
              <a:buNone/>
            </a:pPr>
            <a:r>
              <a:rPr lang="tr-TR" sz="2400" dirty="0"/>
              <a:t>Basınçlı kaplar, elektrik, topraklama, havalandırma tesisatı, paratoner yılda bir kontrol edilecek ve onaylı deftere kaydedilecektir.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395536" y="476672"/>
            <a:ext cx="8353425" cy="1043363"/>
          </a:xfrm>
          <a:prstGeom prst="rect">
            <a:avLst/>
          </a:prstGeom>
          <a:noFill/>
          <a:ln w="9525">
            <a:noFill/>
            <a:miter lim="800000"/>
            <a:headEnd/>
            <a:tailEnd/>
          </a:ln>
        </p:spPr>
        <p:txBody>
          <a:bodyPr>
            <a:spAutoFit/>
          </a:bodyPr>
          <a:lstStyle/>
          <a:p>
            <a:pPr>
              <a:spcAft>
                <a:spcPct val="35000"/>
              </a:spcAft>
            </a:pPr>
            <a:r>
              <a:rPr lang="tr-TR" sz="2800" b="1" dirty="0"/>
              <a:t>Özel Risk Taşıyan İş Ekipmanı: </a:t>
            </a:r>
          </a:p>
          <a:p>
            <a:pPr>
              <a:spcAft>
                <a:spcPct val="35000"/>
              </a:spcAft>
            </a:pPr>
            <a:endParaRPr lang="tr-TR" sz="2400" dirty="0"/>
          </a:p>
        </p:txBody>
      </p:sp>
      <p:sp>
        <p:nvSpPr>
          <p:cNvPr id="21507" name="Rectangle 6"/>
          <p:cNvSpPr>
            <a:spLocks noGrp="1"/>
          </p:cNvSpPr>
          <p:nvPr>
            <p:ph type="body" idx="4294967295"/>
          </p:nvPr>
        </p:nvSpPr>
        <p:spPr>
          <a:xfrm>
            <a:off x="395536" y="1124744"/>
            <a:ext cx="8229600" cy="4946650"/>
          </a:xfrm>
        </p:spPr>
        <p:txBody>
          <a:bodyPr>
            <a:normAutofit/>
          </a:bodyPr>
          <a:lstStyle/>
          <a:p>
            <a:pPr algn="just" eaLnBrk="1" hangingPunct="1">
              <a:lnSpc>
                <a:spcPct val="80000"/>
              </a:lnSpc>
              <a:buFont typeface="Wingdings" pitchFamily="2" charset="2"/>
              <a:buChar char="Ø"/>
            </a:pPr>
            <a:r>
              <a:rPr lang="tr-TR" sz="2400" dirty="0"/>
              <a:t>ekipmanı kullanmak üzere görevlendirilen ehil kişilerce kullanılacak, </a:t>
            </a:r>
          </a:p>
          <a:p>
            <a:pPr algn="just" eaLnBrk="1" hangingPunct="1">
              <a:lnSpc>
                <a:spcPct val="80000"/>
              </a:lnSpc>
              <a:buFont typeface="Wingdings" pitchFamily="2" charset="2"/>
              <a:buChar char="Ø"/>
            </a:pPr>
            <a:endParaRPr lang="tr-TR" sz="2400" dirty="0"/>
          </a:p>
          <a:p>
            <a:pPr algn="just" eaLnBrk="1" hangingPunct="1">
              <a:lnSpc>
                <a:spcPct val="80000"/>
              </a:lnSpc>
              <a:buFont typeface="Wingdings" pitchFamily="2" charset="2"/>
              <a:buChar char="Ø"/>
            </a:pPr>
            <a:r>
              <a:rPr lang="tr-TR" sz="2400" dirty="0"/>
              <a:t>tamiri, tadili ehil kişilerce yapılacak, </a:t>
            </a:r>
          </a:p>
          <a:p>
            <a:pPr algn="just" eaLnBrk="1" hangingPunct="1">
              <a:lnSpc>
                <a:spcPct val="80000"/>
              </a:lnSpc>
              <a:buFont typeface="Wingdings" pitchFamily="2" charset="2"/>
              <a:buChar char="Ø"/>
            </a:pPr>
            <a:endParaRPr lang="tr-TR" sz="2400" dirty="0"/>
          </a:p>
          <a:p>
            <a:pPr algn="just" eaLnBrk="1" hangingPunct="1">
              <a:lnSpc>
                <a:spcPct val="80000"/>
              </a:lnSpc>
              <a:buFont typeface="Wingdings" pitchFamily="2" charset="2"/>
              <a:buChar char="Ø"/>
            </a:pPr>
            <a:r>
              <a:rPr lang="tr-TR" sz="2400" dirty="0"/>
              <a:t>iş sağlığı ve ergonomi göz önünde bulundurulacak,</a:t>
            </a:r>
          </a:p>
          <a:p>
            <a:pPr algn="just" eaLnBrk="1" hangingPunct="1">
              <a:lnSpc>
                <a:spcPct val="80000"/>
              </a:lnSpc>
              <a:buFont typeface="Wingdings" pitchFamily="2" charset="2"/>
              <a:buChar char="Ø"/>
            </a:pPr>
            <a:endParaRPr lang="tr-TR" sz="2400" dirty="0"/>
          </a:p>
          <a:p>
            <a:pPr algn="just" eaLnBrk="1" hangingPunct="1">
              <a:lnSpc>
                <a:spcPct val="80000"/>
              </a:lnSpc>
              <a:buFont typeface="Wingdings" pitchFamily="2" charset="2"/>
              <a:buChar char="Ø"/>
            </a:pPr>
            <a:r>
              <a:rPr lang="tr-TR" sz="2400" dirty="0"/>
              <a:t>iş ekipmanlarının yazılı kullanım talimatı olacaktır. </a:t>
            </a:r>
          </a:p>
          <a:p>
            <a:pPr algn="just" eaLnBrk="1" hangingPunct="1">
              <a:lnSpc>
                <a:spcPct val="80000"/>
              </a:lnSpc>
            </a:pPr>
            <a:endParaRPr lang="tr-TR" sz="2400" dirty="0"/>
          </a:p>
          <a:p>
            <a:pPr algn="just" eaLnBrk="1" hangingPunct="1">
              <a:lnSpc>
                <a:spcPct val="80000"/>
              </a:lnSpc>
              <a:buFont typeface="Wingdings" pitchFamily="2" charset="2"/>
              <a:buChar char="v"/>
            </a:pPr>
            <a:r>
              <a:rPr lang="tr-TR" sz="2400" dirty="0"/>
              <a:t>İşçiler ekipmandan kaynaklanacak tehlikeler hakkında bilgilendirilecektir. </a:t>
            </a:r>
          </a:p>
          <a:p>
            <a:pPr algn="just" eaLnBrk="1" hangingPunct="1">
              <a:lnSpc>
                <a:spcPct val="80000"/>
              </a:lnSpc>
              <a:buFont typeface="Wingdings" pitchFamily="2" charset="2"/>
              <a:buChar char="v"/>
            </a:pPr>
            <a:endParaRPr lang="tr-TR" sz="2400" dirty="0"/>
          </a:p>
          <a:p>
            <a:pPr algn="just" eaLnBrk="1" hangingPunct="1">
              <a:lnSpc>
                <a:spcPct val="80000"/>
              </a:lnSpc>
              <a:buFont typeface="Wingdings" pitchFamily="2" charset="2"/>
              <a:buChar char="v"/>
            </a:pPr>
            <a:r>
              <a:rPr lang="tr-TR" sz="2400" b="1" dirty="0">
                <a:solidFill>
                  <a:srgbClr val="FF0000"/>
                </a:solidFill>
              </a:rPr>
              <a:t>Bütün iş ekipmanlarında, ekipmanı tümüyle ve güvenli durduracak bir sistem bulunacaktır</a:t>
            </a:r>
            <a:r>
              <a:rPr lang="tr-TR" sz="2400" dirty="0">
                <a:solidFill>
                  <a:srgbClr val="FF9900"/>
                </a:solidFill>
              </a:rPr>
              <a:t>. </a:t>
            </a:r>
          </a:p>
          <a:p>
            <a:pPr eaLnBrk="1" hangingPunct="1">
              <a:lnSpc>
                <a:spcPct val="80000"/>
              </a:lnSpc>
            </a:pPr>
            <a:endParaRPr lang="tr-TR" sz="2400" dirty="0">
              <a:latin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2 İçerik Yer Tutucusu"/>
          <p:cNvSpPr>
            <a:spLocks noGrp="1"/>
          </p:cNvSpPr>
          <p:nvPr>
            <p:ph idx="1"/>
          </p:nvPr>
        </p:nvSpPr>
        <p:spPr>
          <a:xfrm>
            <a:off x="457200" y="333375"/>
            <a:ext cx="8228013" cy="5791200"/>
          </a:xfrm>
        </p:spPr>
        <p:txBody>
          <a:bodyPr>
            <a:normAutofit/>
          </a:bodyPr>
          <a:lstStyle/>
          <a:p>
            <a:pPr algn="just">
              <a:lnSpc>
                <a:spcPct val="80000"/>
              </a:lnSpc>
            </a:pPr>
            <a:endParaRPr lang="tr-TR" sz="2400" dirty="0">
              <a:latin typeface="Arial" charset="0"/>
            </a:endParaRPr>
          </a:p>
          <a:p>
            <a:pPr algn="just">
              <a:lnSpc>
                <a:spcPct val="80000"/>
              </a:lnSpc>
              <a:buNone/>
            </a:pPr>
            <a:r>
              <a:rPr lang="tr-TR" b="1" dirty="0"/>
              <a:t>Özel Risk Taşıyan İş Ekipmanı: </a:t>
            </a:r>
          </a:p>
          <a:p>
            <a:pPr algn="just">
              <a:lnSpc>
                <a:spcPct val="80000"/>
              </a:lnSpc>
            </a:pPr>
            <a:endParaRPr lang="tr-TR" sz="2400" dirty="0">
              <a:latin typeface="Arial" charset="0"/>
            </a:endParaRPr>
          </a:p>
          <a:p>
            <a:pPr algn="just">
              <a:lnSpc>
                <a:spcPct val="80000"/>
              </a:lnSpc>
              <a:buFont typeface="Wingdings" pitchFamily="2" charset="2"/>
              <a:buChar char="Ø"/>
            </a:pPr>
            <a:r>
              <a:rPr lang="tr-TR" sz="2800" dirty="0"/>
              <a:t>Değişik iş ekipmanlarının </a:t>
            </a:r>
            <a:r>
              <a:rPr lang="tr-TR" sz="2800" dirty="0">
                <a:solidFill>
                  <a:srgbClr val="FF0000"/>
                </a:solidFill>
              </a:rPr>
              <a:t>tehlikenin durumuna </a:t>
            </a:r>
            <a:r>
              <a:rPr lang="tr-TR" sz="2800" dirty="0"/>
              <a:t>göre uygun yerlerinde iş ekipmanını </a:t>
            </a:r>
            <a:r>
              <a:rPr lang="tr-TR" sz="2800" dirty="0">
                <a:solidFill>
                  <a:srgbClr val="FF0000"/>
                </a:solidFill>
              </a:rPr>
              <a:t>tamamen veya kısmen durduracak</a:t>
            </a:r>
            <a:r>
              <a:rPr lang="tr-TR" sz="2800" dirty="0"/>
              <a:t> kumanda sistemi bulunacaktır. </a:t>
            </a:r>
          </a:p>
          <a:p>
            <a:pPr algn="just">
              <a:lnSpc>
                <a:spcPct val="80000"/>
              </a:lnSpc>
              <a:buFont typeface="Wingdings" pitchFamily="2" charset="2"/>
              <a:buChar char="Ø"/>
            </a:pPr>
            <a:endParaRPr lang="tr-TR" sz="2800" dirty="0"/>
          </a:p>
          <a:p>
            <a:pPr algn="just">
              <a:lnSpc>
                <a:spcPct val="80000"/>
              </a:lnSpc>
              <a:buFont typeface="Wingdings" pitchFamily="2" charset="2"/>
              <a:buChar char="Ø"/>
            </a:pPr>
            <a:r>
              <a:rPr lang="tr-TR" sz="2800" dirty="0"/>
              <a:t>Gaz, buhar, sıvı veya toz çıkarma tehlikesi olan iş ekipmanları bunları kaynağında tutacak veya çekecek uygun sistemlerle donatılacaktır. </a:t>
            </a:r>
          </a:p>
          <a:p>
            <a:pPr algn="just">
              <a:lnSpc>
                <a:spcPct val="80000"/>
              </a:lnSpc>
              <a:buNone/>
            </a:pPr>
            <a:endParaRPr lang="tr-TR" sz="2800" dirty="0"/>
          </a:p>
          <a:p>
            <a:pPr algn="just" eaLnBrk="1" hangingPunct="1">
              <a:buFont typeface="Wingdings" pitchFamily="2" charset="2"/>
              <a:buChar char="Ø"/>
            </a:pPr>
            <a:r>
              <a:rPr lang="tr-TR" sz="2800" dirty="0"/>
              <a:t>İş ekipmanının parçalarının kırılması, kopması veya dağılması riskine karşı uygun koruma önlemleri olacaktır. </a:t>
            </a:r>
          </a:p>
          <a:p>
            <a:pPr eaLnBrk="1" hangingPunct="1"/>
            <a:endParaRPr lang="tr-TR" sz="2400" dirty="0">
              <a:latin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algn="l"/>
            <a:r>
              <a:rPr lang="tr-TR" b="1" dirty="0"/>
              <a:t>Özel Risk Taşıyan İş Ekipmanı: </a:t>
            </a:r>
            <a:br>
              <a:rPr lang="tr-TR" b="1" dirty="0"/>
            </a:br>
            <a:endParaRPr lang="tr-TR" dirty="0"/>
          </a:p>
        </p:txBody>
      </p:sp>
      <p:sp>
        <p:nvSpPr>
          <p:cNvPr id="3" name="2 İçerik Yer Tutucusu"/>
          <p:cNvSpPr>
            <a:spLocks noGrp="1"/>
          </p:cNvSpPr>
          <p:nvPr>
            <p:ph idx="1"/>
          </p:nvPr>
        </p:nvSpPr>
        <p:spPr>
          <a:xfrm>
            <a:off x="457200" y="1268760"/>
            <a:ext cx="8229600" cy="4525963"/>
          </a:xfrm>
        </p:spPr>
        <p:txBody>
          <a:bodyPr/>
          <a:lstStyle/>
          <a:p>
            <a:pPr algn="just">
              <a:buFont typeface="Wingdings" pitchFamily="2" charset="2"/>
              <a:buChar char="Ø"/>
            </a:pPr>
            <a:r>
              <a:rPr lang="tr-TR" sz="2800" dirty="0"/>
              <a:t>İş ekipmanlarının hareketli kısımları uygun, sağlam koruyucular içine alınacaktır.</a:t>
            </a:r>
          </a:p>
          <a:p>
            <a:pPr algn="just">
              <a:buFont typeface="Wingdings" pitchFamily="2" charset="2"/>
              <a:buChar char="Ø"/>
            </a:pPr>
            <a:endParaRPr lang="tr-TR" sz="2800" dirty="0"/>
          </a:p>
          <a:p>
            <a:pPr algn="just">
              <a:buFont typeface="Wingdings" pitchFamily="2" charset="2"/>
              <a:buChar char="Ø"/>
            </a:pPr>
            <a:r>
              <a:rPr lang="tr-TR" sz="2800" dirty="0"/>
              <a:t> </a:t>
            </a:r>
            <a:r>
              <a:rPr lang="tr-TR" sz="2800" b="1" dirty="0">
                <a:solidFill>
                  <a:srgbClr val="FF9900"/>
                </a:solidFill>
              </a:rPr>
              <a:t>İş ekipmanına ait ikaz levhaları kolay algılanır olacak, bakım işleri ekipman kapalı iken yapılacaktır.</a:t>
            </a:r>
          </a:p>
          <a:p>
            <a:pPr algn="just">
              <a:buFont typeface="Wingdings" pitchFamily="2" charset="2"/>
              <a:buChar char="Ø"/>
            </a:pPr>
            <a:endParaRPr lang="tr-TR" sz="2800" b="1" dirty="0">
              <a:solidFill>
                <a:srgbClr val="FF9900"/>
              </a:solidFill>
            </a:endParaRPr>
          </a:p>
          <a:p>
            <a:pPr algn="just">
              <a:buFont typeface="Wingdings" pitchFamily="2" charset="2"/>
              <a:buChar char="Ø"/>
            </a:pPr>
            <a:r>
              <a:rPr lang="tr-TR" sz="2800" dirty="0"/>
              <a:t>Bakım defteri bulunan ekipmanlarda bakımla ilgili işlemler günü gününe yazılacaktır. </a:t>
            </a:r>
          </a:p>
          <a:p>
            <a:endParaRPr lang="tr-T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2 İçerik Yer Tutucusu"/>
          <p:cNvSpPr>
            <a:spLocks noGrp="1"/>
          </p:cNvSpPr>
          <p:nvPr>
            <p:ph idx="1"/>
          </p:nvPr>
        </p:nvSpPr>
        <p:spPr>
          <a:xfrm>
            <a:off x="323850" y="2060575"/>
            <a:ext cx="8361363" cy="4424363"/>
          </a:xfrm>
        </p:spPr>
        <p:txBody>
          <a:bodyPr/>
          <a:lstStyle/>
          <a:p>
            <a:pPr marL="609600" indent="-609600" eaLnBrk="1" hangingPunct="1">
              <a:buNone/>
            </a:pPr>
            <a:r>
              <a:rPr lang="tr-TR" sz="2400" dirty="0">
                <a:latin typeface="Arial" charset="0"/>
              </a:rPr>
              <a:t>Titreşim: İşyerinde titreşim var ise ölçüm sonucu el-kol ve bütün vücut için farklıdır. </a:t>
            </a:r>
          </a:p>
          <a:p>
            <a:pPr marL="609600" indent="-609600" eaLnBrk="1" hangingPunct="1"/>
            <a:endParaRPr lang="tr-TR" sz="2400" dirty="0">
              <a:latin typeface="Arial" charset="0"/>
            </a:endParaRPr>
          </a:p>
          <a:p>
            <a:pPr marL="609600" indent="-609600" eaLnBrk="1" hangingPunct="1">
              <a:buNone/>
            </a:pPr>
            <a:r>
              <a:rPr lang="tr-TR" sz="2400" dirty="0">
                <a:latin typeface="Arial" charset="0"/>
              </a:rPr>
              <a:t>El-Kol titreşimi;</a:t>
            </a:r>
          </a:p>
          <a:p>
            <a:pPr marL="609600" indent="-609600" eaLnBrk="1" hangingPunct="1">
              <a:buFont typeface="Arial" charset="0"/>
              <a:buAutoNum type="arabicPeriod"/>
            </a:pPr>
            <a:r>
              <a:rPr lang="tr-TR" sz="2400" dirty="0">
                <a:latin typeface="Arial" charset="0"/>
              </a:rPr>
              <a:t>Sekiz saatlik çalışma süresi için günlük </a:t>
            </a:r>
            <a:r>
              <a:rPr lang="tr-TR" sz="2400" dirty="0" err="1">
                <a:latin typeface="Arial" charset="0"/>
              </a:rPr>
              <a:t>maruziyet</a:t>
            </a:r>
            <a:r>
              <a:rPr lang="tr-TR" sz="2400" dirty="0">
                <a:latin typeface="Arial" charset="0"/>
              </a:rPr>
              <a:t> sınır değeri 5 m/s2, </a:t>
            </a:r>
          </a:p>
          <a:p>
            <a:pPr marL="609600" indent="-609600" eaLnBrk="1" hangingPunct="1">
              <a:buFont typeface="Arial" charset="0"/>
              <a:buAutoNum type="arabicPeriod"/>
            </a:pPr>
            <a:r>
              <a:rPr lang="tr-TR" sz="2400" dirty="0">
                <a:latin typeface="Arial" charset="0"/>
              </a:rPr>
              <a:t>Sekiz saatlik çalışma süresi için günlük </a:t>
            </a:r>
            <a:r>
              <a:rPr lang="tr-TR" sz="2400" dirty="0" err="1">
                <a:latin typeface="Arial" charset="0"/>
              </a:rPr>
              <a:t>maruziyet</a:t>
            </a:r>
            <a:r>
              <a:rPr lang="tr-TR" sz="2400" dirty="0">
                <a:latin typeface="Arial" charset="0"/>
              </a:rPr>
              <a:t> etkin değeri 2. 5 m/s2 </a:t>
            </a:r>
            <a:r>
              <a:rPr lang="tr-TR" sz="2400" dirty="0" err="1">
                <a:latin typeface="Arial" charset="0"/>
              </a:rPr>
              <a:t>dir</a:t>
            </a:r>
            <a:r>
              <a:rPr lang="tr-TR" sz="2400" dirty="0">
                <a:latin typeface="Arial" charset="0"/>
              </a:rPr>
              <a:t>. </a:t>
            </a:r>
          </a:p>
        </p:txBody>
      </p:sp>
      <p:sp>
        <p:nvSpPr>
          <p:cNvPr id="24579" name="Rectangle 4"/>
          <p:cNvSpPr>
            <a:spLocks noChangeArrowheads="1"/>
          </p:cNvSpPr>
          <p:nvPr/>
        </p:nvSpPr>
        <p:spPr bwMode="auto">
          <a:xfrm>
            <a:off x="611188" y="549275"/>
            <a:ext cx="7850187" cy="1200329"/>
          </a:xfrm>
          <a:prstGeom prst="rect">
            <a:avLst/>
          </a:prstGeom>
          <a:noFill/>
          <a:ln w="9525">
            <a:noFill/>
            <a:miter lim="800000"/>
            <a:headEnd/>
            <a:tailEnd/>
          </a:ln>
        </p:spPr>
        <p:txBody>
          <a:bodyPr>
            <a:spAutoFit/>
          </a:bodyPr>
          <a:lstStyle/>
          <a:p>
            <a:pPr>
              <a:spcBef>
                <a:spcPct val="20000"/>
              </a:spcBef>
              <a:buFont typeface="Arial" charset="0"/>
              <a:buNone/>
            </a:pPr>
            <a:r>
              <a:rPr lang="tr-TR" sz="2400" i="1" u="sng" dirty="0"/>
              <a:t>Örnek: </a:t>
            </a:r>
            <a:r>
              <a:rPr lang="tr-TR" sz="2400" dirty="0"/>
              <a:t>İşyerinde gürültü varsa ve ölçümlerde en yüksek </a:t>
            </a:r>
            <a:r>
              <a:rPr lang="tr-TR" sz="2400" dirty="0" err="1"/>
              <a:t>maruziyet</a:t>
            </a:r>
            <a:r>
              <a:rPr lang="tr-TR" sz="2400" dirty="0"/>
              <a:t> etkin değeri (LEX 8 saat) 85 </a:t>
            </a:r>
            <a:r>
              <a:rPr lang="tr-TR" sz="2400" dirty="0" err="1"/>
              <a:t>dB</a:t>
            </a:r>
            <a:r>
              <a:rPr lang="tr-TR" sz="2400" dirty="0"/>
              <a:t>(A)</a:t>
            </a:r>
            <a:r>
              <a:rPr lang="tr-TR" sz="2400" dirty="0" err="1"/>
              <a:t>yı</a:t>
            </a:r>
            <a:r>
              <a:rPr lang="tr-TR" sz="2400" dirty="0"/>
              <a:t> geçerse önlemlerin alınması gereklidir.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2 İçerik Yer Tutucusu"/>
          <p:cNvSpPr>
            <a:spLocks noGrp="1"/>
          </p:cNvSpPr>
          <p:nvPr>
            <p:ph idx="1"/>
          </p:nvPr>
        </p:nvSpPr>
        <p:spPr>
          <a:xfrm>
            <a:off x="323850" y="908050"/>
            <a:ext cx="8361363" cy="5689600"/>
          </a:xfrm>
        </p:spPr>
        <p:txBody>
          <a:bodyPr/>
          <a:lstStyle/>
          <a:p>
            <a:pPr marL="609600" indent="-609600" eaLnBrk="1" hangingPunct="1">
              <a:buNone/>
            </a:pPr>
            <a:r>
              <a:rPr lang="tr-TR" sz="2400" dirty="0">
                <a:latin typeface="Arial" charset="0"/>
              </a:rPr>
              <a:t>Bütün vücut titreşimi: </a:t>
            </a:r>
          </a:p>
          <a:p>
            <a:pPr marL="609600" indent="-609600" eaLnBrk="1" hangingPunct="1">
              <a:buFont typeface="Arial" charset="0"/>
              <a:buAutoNum type="arabicPeriod"/>
            </a:pPr>
            <a:r>
              <a:rPr lang="tr-TR" sz="2400" dirty="0">
                <a:latin typeface="Arial" charset="0"/>
              </a:rPr>
              <a:t>Sekiz saat çalışma süresi için günlük </a:t>
            </a:r>
            <a:r>
              <a:rPr lang="tr-TR" sz="2400" dirty="0" err="1">
                <a:latin typeface="Arial" charset="0"/>
              </a:rPr>
              <a:t>maruziyet</a:t>
            </a:r>
            <a:r>
              <a:rPr lang="tr-TR" sz="2400" dirty="0">
                <a:latin typeface="Arial" charset="0"/>
              </a:rPr>
              <a:t> sınır değeri 1. 15 m/s2, </a:t>
            </a:r>
          </a:p>
          <a:p>
            <a:pPr marL="609600" indent="-609600" eaLnBrk="1" hangingPunct="1">
              <a:buFont typeface="Arial" charset="0"/>
              <a:buAutoNum type="arabicPeriod"/>
            </a:pPr>
            <a:r>
              <a:rPr lang="tr-TR" sz="2400" dirty="0">
                <a:latin typeface="Arial" charset="0"/>
              </a:rPr>
              <a:t>Sekiz saat çalışma süresi için günlük </a:t>
            </a:r>
            <a:r>
              <a:rPr lang="tr-TR" sz="2400" dirty="0" err="1">
                <a:latin typeface="Arial" charset="0"/>
              </a:rPr>
              <a:t>maruziyet</a:t>
            </a:r>
            <a:r>
              <a:rPr lang="tr-TR" sz="2400" dirty="0">
                <a:latin typeface="Arial" charset="0"/>
              </a:rPr>
              <a:t> etkin sınır değeri 0. 5 m/s2 </a:t>
            </a:r>
            <a:r>
              <a:rPr lang="tr-TR" sz="2400" dirty="0" err="1">
                <a:latin typeface="Arial" charset="0"/>
              </a:rPr>
              <a:t>dir</a:t>
            </a:r>
            <a:r>
              <a:rPr lang="tr-TR" sz="2400" dirty="0">
                <a:latin typeface="Arial" charset="0"/>
              </a:rPr>
              <a:t>. </a:t>
            </a:r>
          </a:p>
          <a:p>
            <a:pPr marL="609600" indent="-609600" eaLnBrk="1" hangingPunct="1">
              <a:buNone/>
            </a:pPr>
            <a:r>
              <a:rPr lang="tr-TR" sz="2400" dirty="0">
                <a:latin typeface="Arial" charset="0"/>
              </a:rPr>
              <a:t>Bu sınırlar aşıldığında önlem alınması gereklidir.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2 İçerik Yer Tutucusu"/>
          <p:cNvSpPr>
            <a:spLocks noGrp="1"/>
          </p:cNvSpPr>
          <p:nvPr>
            <p:ph idx="1"/>
          </p:nvPr>
        </p:nvSpPr>
        <p:spPr>
          <a:xfrm>
            <a:off x="457200" y="333375"/>
            <a:ext cx="8228013" cy="5791200"/>
          </a:xfrm>
        </p:spPr>
        <p:txBody>
          <a:bodyPr/>
          <a:lstStyle/>
          <a:p>
            <a:pPr algn="just" eaLnBrk="1" hangingPunct="1">
              <a:buFont typeface="Arial" charset="0"/>
              <a:buNone/>
            </a:pPr>
            <a:r>
              <a:rPr lang="tr-TR" b="1" dirty="0">
                <a:solidFill>
                  <a:srgbClr val="669900"/>
                </a:solidFill>
              </a:rPr>
              <a:t>3. İşyerinde kullanılan ve üretilen maddeler</a:t>
            </a:r>
            <a:r>
              <a:rPr lang="tr-TR" dirty="0"/>
              <a:t> </a:t>
            </a:r>
          </a:p>
          <a:p>
            <a:pPr algn="just" eaLnBrk="1" hangingPunct="1">
              <a:buFont typeface="Arial" charset="0"/>
              <a:buNone/>
            </a:pPr>
            <a:endParaRPr lang="tr-TR" dirty="0"/>
          </a:p>
          <a:p>
            <a:pPr algn="just" eaLnBrk="1" hangingPunct="1">
              <a:buFont typeface="Arial" charset="0"/>
              <a:buNone/>
            </a:pPr>
            <a:r>
              <a:rPr lang="tr-TR" sz="2800" dirty="0"/>
              <a:t>Bunların depolanması, üretilmesi esnasında </a:t>
            </a:r>
            <a:r>
              <a:rPr lang="tr-TR" sz="2800" b="1" dirty="0"/>
              <a:t>malzeme </a:t>
            </a:r>
          </a:p>
          <a:p>
            <a:pPr algn="just" eaLnBrk="1" hangingPunct="1">
              <a:buFont typeface="Arial" charset="0"/>
              <a:buNone/>
            </a:pPr>
            <a:r>
              <a:rPr lang="tr-TR" sz="2800" b="1" dirty="0"/>
              <a:t>güvenlik bilgi formu (MSDS) </a:t>
            </a:r>
            <a:r>
              <a:rPr lang="tr-TR" sz="2800" dirty="0"/>
              <a:t>yararlanılarak yanıcı, </a:t>
            </a:r>
          </a:p>
          <a:p>
            <a:pPr algn="just" eaLnBrk="1" hangingPunct="1">
              <a:buFont typeface="Arial" charset="0"/>
              <a:buNone/>
            </a:pPr>
            <a:r>
              <a:rPr lang="tr-TR" sz="2800" dirty="0"/>
              <a:t>Patlayıcı ve </a:t>
            </a:r>
            <a:r>
              <a:rPr lang="tr-TR" sz="2800" dirty="0" err="1"/>
              <a:t>toksik</a:t>
            </a:r>
            <a:r>
              <a:rPr lang="tr-TR" sz="2800" dirty="0"/>
              <a:t> olmalarına göre önlemler alınmalıdır. </a:t>
            </a:r>
          </a:p>
          <a:p>
            <a:pPr algn="just" eaLnBrk="1" hangingPunct="1"/>
            <a:endParaRPr lang="tr-TR" sz="2800" dirty="0"/>
          </a:p>
          <a:p>
            <a:pPr lvl="1" algn="just">
              <a:buFont typeface="Wingdings" pitchFamily="2" charset="2"/>
              <a:buChar char="Ø"/>
            </a:pPr>
            <a:r>
              <a:rPr lang="tr-TR" dirty="0"/>
              <a:t>Oksitleyici ve yanıcıların ayrı ayrı depolanması,</a:t>
            </a:r>
          </a:p>
          <a:p>
            <a:pPr lvl="1" algn="just">
              <a:buFont typeface="Wingdings" pitchFamily="2" charset="2"/>
              <a:buChar char="Ø"/>
            </a:pPr>
            <a:r>
              <a:rPr lang="tr-TR" dirty="0"/>
              <a:t>Yangın söndürme tertibatının ona göre olması, </a:t>
            </a:r>
          </a:p>
          <a:p>
            <a:pPr lvl="1" algn="just">
              <a:buFont typeface="Wingdings" pitchFamily="2" charset="2"/>
              <a:buChar char="Ø"/>
            </a:pPr>
            <a:r>
              <a:rPr lang="tr-TR" dirty="0"/>
              <a:t>Ortam ölçümlerinin yapılması ve yasaların belirlediği </a:t>
            </a:r>
            <a:r>
              <a:rPr lang="tr-TR" sz="2800" dirty="0" err="1"/>
              <a:t>maruziyet</a:t>
            </a:r>
            <a:r>
              <a:rPr lang="tr-TR" sz="2800" dirty="0"/>
              <a:t> limitlerinin aşılmaması gibi.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1518683" y="0"/>
            <a:ext cx="5837922" cy="679788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2 İçerik Yer Tutucusu"/>
          <p:cNvSpPr>
            <a:spLocks noGrp="1"/>
          </p:cNvSpPr>
          <p:nvPr>
            <p:ph idx="1"/>
          </p:nvPr>
        </p:nvSpPr>
        <p:spPr>
          <a:xfrm>
            <a:off x="250825" y="1052513"/>
            <a:ext cx="8434388" cy="5805487"/>
          </a:xfrm>
        </p:spPr>
        <p:txBody>
          <a:bodyPr>
            <a:normAutofit/>
          </a:bodyPr>
          <a:lstStyle/>
          <a:p>
            <a:pPr algn="just" eaLnBrk="1" hangingPunct="1"/>
            <a:r>
              <a:rPr lang="tr-TR" sz="2800" dirty="0"/>
              <a:t>Kimyasalların ölçümleri de (gaz, toz, buhar) </a:t>
            </a:r>
            <a:r>
              <a:rPr lang="tr-TR" sz="2800" dirty="0">
                <a:solidFill>
                  <a:srgbClr val="FF0000"/>
                </a:solidFill>
              </a:rPr>
              <a:t>“</a:t>
            </a:r>
            <a:r>
              <a:rPr lang="tr-TR" sz="2800" b="1" dirty="0">
                <a:solidFill>
                  <a:srgbClr val="FF0000"/>
                </a:solidFill>
              </a:rPr>
              <a:t>Kimyasal Maddelerle Çalışmalarda Sağlık ve Güvenlik Önlemleri Hakkında Yönetmelik</a:t>
            </a:r>
            <a:r>
              <a:rPr lang="tr-TR" sz="2800" dirty="0">
                <a:solidFill>
                  <a:srgbClr val="FF0000"/>
                </a:solidFill>
              </a:rPr>
              <a:t>”</a:t>
            </a:r>
            <a:r>
              <a:rPr lang="tr-TR" sz="2800" dirty="0"/>
              <a:t> eklerine göre değerlendirilecektir. </a:t>
            </a:r>
          </a:p>
          <a:p>
            <a:pPr algn="just" eaLnBrk="1" hangingPunct="1"/>
            <a:endParaRPr lang="tr-TR" sz="2800" dirty="0"/>
          </a:p>
          <a:p>
            <a:pPr algn="just" eaLnBrk="1" hangingPunct="1"/>
            <a:r>
              <a:rPr lang="tr-TR" sz="2800" dirty="0"/>
              <a:t>Ayrıca, </a:t>
            </a:r>
            <a:r>
              <a:rPr lang="tr-TR" sz="2800" dirty="0">
                <a:solidFill>
                  <a:srgbClr val="FF0000"/>
                </a:solidFill>
              </a:rPr>
              <a:t>“</a:t>
            </a:r>
            <a:r>
              <a:rPr lang="tr-TR" sz="2800" b="1" dirty="0">
                <a:solidFill>
                  <a:srgbClr val="FF0000"/>
                </a:solidFill>
              </a:rPr>
              <a:t>Kanserojen veya </a:t>
            </a:r>
            <a:r>
              <a:rPr lang="tr-TR" sz="2800" b="1" dirty="0" err="1">
                <a:solidFill>
                  <a:srgbClr val="FF0000"/>
                </a:solidFill>
              </a:rPr>
              <a:t>Mutajen</a:t>
            </a:r>
            <a:r>
              <a:rPr lang="tr-TR" sz="2800" b="1" dirty="0">
                <a:solidFill>
                  <a:srgbClr val="FF0000"/>
                </a:solidFill>
              </a:rPr>
              <a:t> Mad. Çalış. Sağ. </a:t>
            </a:r>
            <a:r>
              <a:rPr lang="tr-TR" sz="2800" b="1" dirty="0" err="1">
                <a:solidFill>
                  <a:srgbClr val="FF0000"/>
                </a:solidFill>
              </a:rPr>
              <a:t>Güv</a:t>
            </a:r>
            <a:r>
              <a:rPr lang="tr-TR" sz="2800" b="1" dirty="0">
                <a:solidFill>
                  <a:srgbClr val="FF0000"/>
                </a:solidFill>
              </a:rPr>
              <a:t>. Önlemleri Hakkında Yönetmelik</a:t>
            </a:r>
            <a:r>
              <a:rPr lang="tr-TR" sz="2800" dirty="0">
                <a:solidFill>
                  <a:srgbClr val="FF0000"/>
                </a:solidFill>
              </a:rPr>
              <a:t>” </a:t>
            </a:r>
            <a:r>
              <a:rPr lang="tr-TR" sz="2800" dirty="0"/>
              <a:t>değerleri izlenecek ve ona göre önlemler alınacaktır.</a:t>
            </a:r>
          </a:p>
          <a:p>
            <a:pPr algn="just" eaLnBrk="1" hangingPunct="1"/>
            <a:endParaRPr lang="tr-TR"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srcRect/>
          <a:stretch>
            <a:fillRect/>
          </a:stretch>
        </p:blipFill>
        <p:spPr bwMode="auto">
          <a:xfrm>
            <a:off x="179512" y="476672"/>
            <a:ext cx="8724678" cy="5649491"/>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cstate="print"/>
          <a:srcRect/>
          <a:stretch>
            <a:fillRect/>
          </a:stretch>
        </p:blipFill>
        <p:spPr bwMode="auto">
          <a:xfrm>
            <a:off x="423416" y="315540"/>
            <a:ext cx="7965008" cy="5810624"/>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cstate="print"/>
          <a:srcRect/>
          <a:stretch>
            <a:fillRect/>
          </a:stretch>
        </p:blipFill>
        <p:spPr bwMode="auto">
          <a:xfrm>
            <a:off x="395536" y="620688"/>
            <a:ext cx="8395637" cy="5217443"/>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323528" y="2348880"/>
            <a:ext cx="8229600" cy="1143000"/>
          </a:xfrm>
        </p:spPr>
        <p:txBody>
          <a:bodyPr>
            <a:normAutofit fontScale="90000"/>
          </a:bodyPr>
          <a:lstStyle/>
          <a:p>
            <a:pPr algn="l" eaLnBrk="1" hangingPunct="1"/>
            <a:r>
              <a:rPr lang="tr-TR" sz="3600" b="1" dirty="0">
                <a:solidFill>
                  <a:srgbClr val="669900"/>
                </a:solidFill>
                <a:latin typeface="+mn-lt"/>
              </a:rPr>
              <a:t>4. İşyerinde Çalışanlar</a:t>
            </a:r>
            <a:br>
              <a:rPr lang="tr-TR" sz="3600" b="1" dirty="0">
                <a:solidFill>
                  <a:srgbClr val="669900"/>
                </a:solidFill>
                <a:latin typeface="+mn-lt"/>
              </a:rPr>
            </a:br>
            <a:br>
              <a:rPr lang="tr-TR" sz="2400" dirty="0">
                <a:latin typeface="+mn-lt"/>
              </a:rPr>
            </a:br>
            <a:r>
              <a:rPr lang="tr-TR" sz="3100" dirty="0">
                <a:latin typeface="+mn-lt"/>
              </a:rPr>
              <a:t>Özel iş ekipmanlarını kullananların operatör belgesinin  (vinç operatörü, kaloriferci, iş makinesi operatörü gibi) bulunması gereklidir.</a:t>
            </a:r>
            <a:br>
              <a:rPr lang="tr-TR" sz="2700" dirty="0">
                <a:latin typeface="+mn-lt"/>
              </a:rPr>
            </a:br>
            <a:br>
              <a:rPr lang="tr-TR" sz="2700" dirty="0">
                <a:latin typeface="+mn-lt"/>
              </a:rPr>
            </a:br>
            <a:r>
              <a:rPr lang="tr-TR" sz="3100" dirty="0">
                <a:latin typeface="+mn-lt"/>
              </a:rPr>
              <a:t>Ayrıca periyodik olarak iş sağlığı ve güvenliği eğitimleri verilecek, bu husus belgelendirilecek ve işçiler riskler konusunda bilgilendirilecektir. </a:t>
            </a:r>
            <a:br>
              <a:rPr lang="tr-TR" sz="3100" dirty="0">
                <a:latin typeface="+mn-lt"/>
              </a:rPr>
            </a:br>
            <a:endParaRPr lang="tr-TR" sz="3100" dirty="0">
              <a:latin typeface="+mn-lt"/>
            </a:endParaRPr>
          </a:p>
        </p:txBody>
      </p:sp>
      <p:sp>
        <p:nvSpPr>
          <p:cNvPr id="27651" name="2 İçerik Yer Tutucusu"/>
          <p:cNvSpPr>
            <a:spLocks/>
          </p:cNvSpPr>
          <p:nvPr/>
        </p:nvSpPr>
        <p:spPr bwMode="auto">
          <a:xfrm>
            <a:off x="323528" y="3789040"/>
            <a:ext cx="8216900" cy="4076700"/>
          </a:xfrm>
          <a:prstGeom prst="rect">
            <a:avLst/>
          </a:prstGeom>
          <a:noFill/>
          <a:ln w="9525">
            <a:noFill/>
            <a:miter lim="800000"/>
            <a:headEnd/>
            <a:tailEnd/>
          </a:ln>
        </p:spPr>
        <p:txBody>
          <a:bodyPr/>
          <a:lstStyle/>
          <a:p>
            <a:pPr marL="342900" indent="-342900">
              <a:spcBef>
                <a:spcPct val="20000"/>
              </a:spcBef>
              <a:buFont typeface="Arial" charset="0"/>
              <a:buChar char="•"/>
            </a:pPr>
            <a:endParaRPr lang="tr-TR"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2 İçerik Yer Tutucusu"/>
          <p:cNvSpPr>
            <a:spLocks noGrp="1"/>
          </p:cNvSpPr>
          <p:nvPr>
            <p:ph idx="1"/>
          </p:nvPr>
        </p:nvSpPr>
        <p:spPr>
          <a:xfrm>
            <a:off x="323528" y="620688"/>
            <a:ext cx="8361363" cy="5072062"/>
          </a:xfrm>
        </p:spPr>
        <p:txBody>
          <a:bodyPr>
            <a:normAutofit lnSpcReduction="10000"/>
          </a:bodyPr>
          <a:lstStyle/>
          <a:p>
            <a:endParaRPr lang="tr-TR" sz="2400" dirty="0"/>
          </a:p>
          <a:p>
            <a:pPr>
              <a:buNone/>
            </a:pPr>
            <a:r>
              <a:rPr lang="tr-TR" sz="2800" b="1" dirty="0"/>
              <a:t>Çalışanların sağlık gözetimi: </a:t>
            </a:r>
            <a:r>
              <a:rPr lang="tr-TR" sz="2800" dirty="0"/>
              <a:t>İşe ilk giriş muayeneleri, periyodik muayeneleri, diğer gerekli tetkikleri yaptırmak ve kayıtlarını tutmak ve özlük dosyalarında saklamak. Normal koşullarda bu belgeler en az 10 yıl saklanır, kanserojen maddelerle çalışmalarda 40 yıl saklanır. </a:t>
            </a:r>
          </a:p>
          <a:p>
            <a:endParaRPr lang="tr-TR" sz="2800" dirty="0"/>
          </a:p>
          <a:p>
            <a:r>
              <a:rPr lang="tr-TR" sz="2800" dirty="0"/>
              <a:t>İşyeri hekimi ile yıllık değerlendirme raporu hazırlamak, yine işyeri hekimi ile bir sonraki yılın çalışma planlarını hazırlamak, işverenin onayından sonra işyerinde ilan etmek gereklidir. </a:t>
            </a:r>
          </a:p>
          <a:p>
            <a:pPr eaLnBrk="1" hangingPunct="1"/>
            <a:endParaRPr lang="tr-TR" sz="2400" dirty="0">
              <a:latin typeface="Arial" charset="0"/>
            </a:endParaRPr>
          </a:p>
          <a:p>
            <a:pPr eaLnBrk="1" hangingPunct="1"/>
            <a:endParaRPr lang="tr-TR" sz="2400" dirty="0">
              <a:latin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67544" y="548680"/>
            <a:ext cx="8229600" cy="4525963"/>
          </a:xfrm>
        </p:spPr>
        <p:txBody>
          <a:bodyPr>
            <a:normAutofit fontScale="92500"/>
          </a:bodyPr>
          <a:lstStyle/>
          <a:p>
            <a:r>
              <a:rPr lang="tr-TR" sz="2800" dirty="0"/>
              <a:t>Tüm teknik önlemlere rağmen riskler yok edilemiyorsa, tam olarak sınırlandırılamıyorsa çalışanlara kişisel koruyucu donanımlar (KKD) verilecektir.</a:t>
            </a:r>
          </a:p>
          <a:p>
            <a:endParaRPr lang="tr-TR" sz="2800" dirty="0"/>
          </a:p>
          <a:p>
            <a:r>
              <a:rPr lang="tr-TR" sz="2800" dirty="0"/>
              <a:t>KKD Yönetmeliği kapsamına giren ürünlerde uygun şekilde CE uygunluk işaretini bulundurur.</a:t>
            </a:r>
          </a:p>
          <a:p>
            <a:endParaRPr lang="tr-TR" sz="2800" dirty="0"/>
          </a:p>
          <a:p>
            <a:r>
              <a:rPr lang="tr-TR" sz="2800" dirty="0" err="1"/>
              <a:t>KKD’nin</a:t>
            </a:r>
            <a:r>
              <a:rPr lang="tr-TR" sz="2800" dirty="0"/>
              <a:t> kendi dilimizde kullanma kılavuzu istenecektir. Orada hangi riske karşı kullanıldığı, nasıl ve ne kadar süre için etkili olacağı belirtilmiş olmalıdır. </a:t>
            </a:r>
          </a:p>
          <a:p>
            <a:endParaRPr lang="tr-T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600" b="1" dirty="0"/>
              <a:t>Endüstriyel Hijyen</a:t>
            </a:r>
          </a:p>
        </p:txBody>
      </p:sp>
      <p:pic>
        <p:nvPicPr>
          <p:cNvPr id="13314" name="Picture 2"/>
          <p:cNvPicPr>
            <a:picLocks noGrp="1" noChangeAspect="1" noChangeArrowheads="1"/>
          </p:cNvPicPr>
          <p:nvPr>
            <p:ph idx="1"/>
          </p:nvPr>
        </p:nvPicPr>
        <p:blipFill>
          <a:blip r:embed="rId2" cstate="print"/>
          <a:srcRect/>
          <a:stretch>
            <a:fillRect/>
          </a:stretch>
        </p:blipFill>
        <p:spPr bwMode="auto">
          <a:xfrm>
            <a:off x="374831" y="1628800"/>
            <a:ext cx="7740219" cy="4248472"/>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a:t>İş Hijyeni Tanımı:</a:t>
            </a:r>
          </a:p>
        </p:txBody>
      </p:sp>
      <p:pic>
        <p:nvPicPr>
          <p:cNvPr id="14338" name="Picture 2"/>
          <p:cNvPicPr>
            <a:picLocks noGrp="1" noChangeAspect="1" noChangeArrowheads="1"/>
          </p:cNvPicPr>
          <p:nvPr>
            <p:ph idx="1"/>
          </p:nvPr>
        </p:nvPicPr>
        <p:blipFill>
          <a:blip r:embed="rId2" cstate="print"/>
          <a:srcRect/>
          <a:stretch>
            <a:fillRect/>
          </a:stretch>
        </p:blipFill>
        <p:spPr bwMode="auto">
          <a:xfrm>
            <a:off x="611560" y="1772816"/>
            <a:ext cx="8153376" cy="2882280"/>
          </a:xfrm>
          <a:prstGeom prst="rect">
            <a:avLst/>
          </a:prstGeom>
          <a:noFill/>
          <a:ln w="9525">
            <a:noFill/>
            <a:miter lim="800000"/>
            <a:headEnd/>
            <a:tailEnd/>
          </a:ln>
        </p:spPr>
      </p:pic>
      <p:pic>
        <p:nvPicPr>
          <p:cNvPr id="14339" name="Picture 3"/>
          <p:cNvPicPr>
            <a:picLocks noChangeAspect="1" noChangeArrowheads="1"/>
          </p:cNvPicPr>
          <p:nvPr/>
        </p:nvPicPr>
        <p:blipFill>
          <a:blip r:embed="rId3" cstate="print"/>
          <a:srcRect/>
          <a:stretch>
            <a:fillRect/>
          </a:stretch>
        </p:blipFill>
        <p:spPr bwMode="auto">
          <a:xfrm>
            <a:off x="7020272" y="4401969"/>
            <a:ext cx="1756435" cy="2456031"/>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cstate="print"/>
          <a:srcRect/>
          <a:stretch>
            <a:fillRect/>
          </a:stretch>
        </p:blipFill>
        <p:spPr bwMode="auto">
          <a:xfrm>
            <a:off x="467544" y="476672"/>
            <a:ext cx="7863223" cy="3096344"/>
          </a:xfrm>
          <a:prstGeom prst="rect">
            <a:avLst/>
          </a:prstGeom>
          <a:noFill/>
          <a:ln w="9525">
            <a:noFill/>
            <a:miter lim="800000"/>
            <a:headEnd/>
            <a:tailEnd/>
          </a:ln>
        </p:spPr>
      </p:pic>
      <p:pic>
        <p:nvPicPr>
          <p:cNvPr id="15363" name="Picture 3"/>
          <p:cNvPicPr>
            <a:picLocks noChangeAspect="1" noChangeArrowheads="1"/>
          </p:cNvPicPr>
          <p:nvPr/>
        </p:nvPicPr>
        <p:blipFill>
          <a:blip r:embed="rId3" cstate="print"/>
          <a:srcRect/>
          <a:stretch>
            <a:fillRect/>
          </a:stretch>
        </p:blipFill>
        <p:spPr bwMode="auto">
          <a:xfrm>
            <a:off x="383795" y="3698354"/>
            <a:ext cx="7716597" cy="1602854"/>
          </a:xfrm>
          <a:prstGeom prst="rect">
            <a:avLst/>
          </a:prstGeom>
          <a:noFill/>
          <a:ln w="9525">
            <a:noFill/>
            <a:miter lim="800000"/>
            <a:headEnd/>
            <a:tailEnd/>
          </a:ln>
        </p:spPr>
      </p:pic>
      <p:pic>
        <p:nvPicPr>
          <p:cNvPr id="15364" name="Picture 4"/>
          <p:cNvPicPr>
            <a:picLocks noChangeAspect="1" noChangeArrowheads="1"/>
          </p:cNvPicPr>
          <p:nvPr/>
        </p:nvPicPr>
        <p:blipFill>
          <a:blip r:embed="rId4" cstate="print"/>
          <a:srcRect/>
          <a:stretch>
            <a:fillRect/>
          </a:stretch>
        </p:blipFill>
        <p:spPr bwMode="auto">
          <a:xfrm>
            <a:off x="467544" y="5373216"/>
            <a:ext cx="8031292" cy="1008112"/>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1916832"/>
            <a:ext cx="8229600" cy="1143000"/>
          </a:xfrm>
        </p:spPr>
        <p:txBody>
          <a:bodyPr>
            <a:normAutofit fontScale="90000"/>
          </a:bodyPr>
          <a:lstStyle/>
          <a:p>
            <a:pPr algn="l"/>
            <a:r>
              <a:rPr lang="tr-TR" dirty="0">
                <a:solidFill>
                  <a:srgbClr val="C00000"/>
                </a:solidFill>
                <a:latin typeface="+mn-lt"/>
              </a:rPr>
              <a:t>Ortamda oluşabilecek zararlı etmenlerin sınıflandırılması:</a:t>
            </a:r>
            <a:br>
              <a:rPr lang="tr-TR" dirty="0">
                <a:latin typeface="+mn-lt"/>
              </a:rPr>
            </a:br>
            <a:br>
              <a:rPr lang="tr-TR" dirty="0">
                <a:latin typeface="+mn-lt"/>
              </a:rPr>
            </a:br>
            <a:br>
              <a:rPr lang="tr-TR" dirty="0">
                <a:latin typeface="+mn-lt"/>
              </a:rPr>
            </a:br>
            <a:br>
              <a:rPr lang="tr-TR" dirty="0">
                <a:latin typeface="+mn-lt"/>
              </a:rPr>
            </a:br>
            <a:endParaRPr lang="tr-TR" dirty="0">
              <a:latin typeface="+mn-lt"/>
            </a:endParaRPr>
          </a:p>
        </p:txBody>
      </p:sp>
      <p:sp>
        <p:nvSpPr>
          <p:cNvPr id="5" name="4 İçerik Yer Tutucusu"/>
          <p:cNvSpPr>
            <a:spLocks noGrp="1"/>
          </p:cNvSpPr>
          <p:nvPr>
            <p:ph idx="1"/>
          </p:nvPr>
        </p:nvSpPr>
        <p:spPr/>
        <p:txBody>
          <a:bodyPr/>
          <a:lstStyle/>
          <a:p>
            <a:endParaRPr lang="tr-TR" dirty="0"/>
          </a:p>
          <a:p>
            <a:pPr lvl="1">
              <a:buFont typeface="Wingdings" pitchFamily="2" charset="2"/>
              <a:buChar char="Ø"/>
            </a:pPr>
            <a:r>
              <a:rPr lang="tr-TR" sz="3200" dirty="0"/>
              <a:t>Fiziksel etmenler</a:t>
            </a:r>
            <a:br>
              <a:rPr lang="tr-TR" sz="3200" dirty="0"/>
            </a:br>
            <a:endParaRPr lang="tr-TR" sz="3200" dirty="0"/>
          </a:p>
          <a:p>
            <a:pPr lvl="1">
              <a:buFont typeface="Wingdings" pitchFamily="2" charset="2"/>
              <a:buChar char="Ø"/>
            </a:pPr>
            <a:r>
              <a:rPr lang="tr-TR" sz="3200" dirty="0"/>
              <a:t>Kimyasal etmenler</a:t>
            </a:r>
            <a:br>
              <a:rPr lang="tr-TR" sz="3200" dirty="0"/>
            </a:br>
            <a:endParaRPr lang="tr-TR" sz="3200" dirty="0"/>
          </a:p>
          <a:p>
            <a:pPr lvl="1">
              <a:buFont typeface="Wingdings" pitchFamily="2" charset="2"/>
              <a:buChar char="Ø"/>
            </a:pPr>
            <a:r>
              <a:rPr lang="tr-TR" sz="3200" dirty="0"/>
              <a:t>Biyolojik etmenler</a:t>
            </a:r>
            <a:br>
              <a:rPr lang="tr-TR" sz="3200" dirty="0"/>
            </a:br>
            <a:endParaRPr lang="tr-TR" sz="3200" dirty="0"/>
          </a:p>
          <a:p>
            <a:pPr lvl="1">
              <a:buFont typeface="Wingdings" pitchFamily="2" charset="2"/>
              <a:buChar char="Ø"/>
            </a:pPr>
            <a:r>
              <a:rPr lang="tr-TR" sz="3200" dirty="0"/>
              <a:t>Ergonomik etmenler</a:t>
            </a:r>
          </a:p>
        </p:txBody>
      </p:sp>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2234</TotalTime>
  <Words>1752</Words>
  <Application>Microsoft Office PowerPoint</Application>
  <PresentationFormat>Ekran Gösterisi (4:3)</PresentationFormat>
  <Paragraphs>174</Paragraphs>
  <Slides>44</Slides>
  <Notes>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44</vt:i4>
      </vt:variant>
    </vt:vector>
  </HeadingPairs>
  <TitlesOfParts>
    <vt:vector size="49" baseType="lpstr">
      <vt:lpstr>Arial</vt:lpstr>
      <vt:lpstr>Calibri</vt:lpstr>
      <vt:lpstr>Times New Roman</vt:lpstr>
      <vt:lpstr>Wingdings</vt:lpstr>
      <vt:lpstr>Ofis Teması</vt:lpstr>
      <vt:lpstr>İş Sağlığı ve Güvenliği I </vt:lpstr>
      <vt:lpstr>PowerPoint Sunusu</vt:lpstr>
      <vt:lpstr>PowerPoint Sunusu</vt:lpstr>
      <vt:lpstr>PowerPoint Sunusu</vt:lpstr>
      <vt:lpstr>İş güvenliği profesyonellerinin çalışma ortamı gözetimindeki önemi ise; </vt:lpstr>
      <vt:lpstr>PowerPoint Sunusu</vt:lpstr>
      <vt:lpstr>PowerPoint Sunusu</vt:lpstr>
      <vt:lpstr>PowerPoint Sunusu</vt:lpstr>
      <vt:lpstr>PowerPoint Sunusu</vt:lpstr>
      <vt:lpstr>PowerPoint Sunusu</vt:lpstr>
      <vt:lpstr>PowerPoint Sunusu</vt:lpstr>
      <vt:lpstr>1. İşyeri bina ve eklentileri: </vt:lpstr>
      <vt:lpstr>1. İşyeri bina ve eklentileri: </vt:lpstr>
      <vt:lpstr>İşyeri tabanı, duvarı, çatısı:</vt:lpstr>
      <vt:lpstr>İşyeri tabanı, duvarı, çatısı:</vt:lpstr>
      <vt:lpstr>İşyeri tabanı, duvarı, çatısı:</vt:lpstr>
      <vt:lpstr>İşyeri tabanı, duvarı, çatısı:</vt:lpstr>
      <vt:lpstr>PowerPoint Sunusu</vt:lpstr>
      <vt:lpstr>1. İşyeri bina ve eklentileri: </vt:lpstr>
      <vt:lpstr>PowerPoint Sunusu</vt:lpstr>
      <vt:lpstr> Ortam ölçümü cihazları  </vt:lpstr>
      <vt:lpstr>Ortam ölçümü cihazları</vt:lpstr>
      <vt:lpstr>Ortam ölçümü cihazları</vt:lpstr>
      <vt:lpstr>Ortam ölçümü cihazları</vt:lpstr>
      <vt:lpstr>PowerPoint Sunusu</vt:lpstr>
      <vt:lpstr>PowerPoint Sunusu</vt:lpstr>
      <vt:lpstr>PowerPoint Sunusu</vt:lpstr>
      <vt:lpstr>PowerPoint Sunusu</vt:lpstr>
      <vt:lpstr>Özel Risk Taşıyan İş Ekipmanı:  </vt:lpstr>
      <vt:lpstr>PowerPoint Sunusu</vt:lpstr>
      <vt:lpstr>PowerPoint Sunusu</vt:lpstr>
      <vt:lpstr>PowerPoint Sunusu</vt:lpstr>
      <vt:lpstr>PowerPoint Sunusu</vt:lpstr>
      <vt:lpstr>PowerPoint Sunusu</vt:lpstr>
      <vt:lpstr>PowerPoint Sunusu</vt:lpstr>
      <vt:lpstr>PowerPoint Sunusu</vt:lpstr>
      <vt:lpstr>PowerPoint Sunusu</vt:lpstr>
      <vt:lpstr>4. İşyerinde Çalışanlar  Özel iş ekipmanlarını kullananların operatör belgesinin  (vinç operatörü, kaloriferci, iş makinesi operatörü gibi) bulunması gereklidir.  Ayrıca periyodik olarak iş sağlığı ve güvenliği eğitimleri verilecek, bu husus belgelendirilecek ve işçiler riskler konusunda bilgilendirilecektir.  </vt:lpstr>
      <vt:lpstr>PowerPoint Sunusu</vt:lpstr>
      <vt:lpstr>PowerPoint Sunusu</vt:lpstr>
      <vt:lpstr>Endüstriyel Hijyen</vt:lpstr>
      <vt:lpstr>İş Hijyeni Tanımı:</vt:lpstr>
      <vt:lpstr>PowerPoint Sunusu</vt:lpstr>
      <vt:lpstr>Ortamda oluşabilecek zararlı etmenlerin sınıflandırılması: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Toshiba</dc:creator>
  <cp:lastModifiedBy>Toshiba</cp:lastModifiedBy>
  <cp:revision>63</cp:revision>
  <dcterms:created xsi:type="dcterms:W3CDTF">2017-11-09T09:18:02Z</dcterms:created>
  <dcterms:modified xsi:type="dcterms:W3CDTF">2022-12-16T09:29:56Z</dcterms:modified>
</cp:coreProperties>
</file>