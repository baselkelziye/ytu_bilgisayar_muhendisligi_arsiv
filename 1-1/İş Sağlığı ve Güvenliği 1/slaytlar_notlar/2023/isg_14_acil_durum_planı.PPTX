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329" r:id="rId3"/>
    <p:sldId id="330" r:id="rId4"/>
    <p:sldId id="334" r:id="rId5"/>
    <p:sldId id="335" r:id="rId6"/>
    <p:sldId id="336" r:id="rId7"/>
    <p:sldId id="337" r:id="rId8"/>
    <p:sldId id="338" r:id="rId9"/>
    <p:sldId id="339" r:id="rId10"/>
    <p:sldId id="340" r:id="rId11"/>
    <p:sldId id="341" r:id="rId12"/>
    <p:sldId id="342" r:id="rId13"/>
    <p:sldId id="343" r:id="rId14"/>
    <p:sldId id="344" r:id="rId15"/>
    <p:sldId id="345" r:id="rId16"/>
    <p:sldId id="346" r:id="rId17"/>
    <p:sldId id="347" r:id="rId18"/>
    <p:sldId id="348" r:id="rId19"/>
    <p:sldId id="349" r:id="rId20"/>
    <p:sldId id="350" r:id="rId21"/>
    <p:sldId id="351" r:id="rId22"/>
    <p:sldId id="353" r:id="rId23"/>
    <p:sldId id="354" r:id="rId24"/>
    <p:sldId id="355" r:id="rId25"/>
    <p:sldId id="356" r:id="rId26"/>
    <p:sldId id="357" r:id="rId27"/>
    <p:sldId id="358" r:id="rId28"/>
    <p:sldId id="359" r:id="rId29"/>
    <p:sldId id="360" r:id="rId30"/>
    <p:sldId id="361" r:id="rId31"/>
    <p:sldId id="362" r:id="rId32"/>
    <p:sldId id="363" r:id="rId33"/>
    <p:sldId id="364" r:id="rId34"/>
    <p:sldId id="365" r:id="rId35"/>
  </p:sldIdLst>
  <p:sldSz cx="9144000" cy="6858000" type="screen4x3"/>
  <p:notesSz cx="6858000" cy="9144000"/>
  <p:defaultTextStyle>
    <a:defPPr>
      <a:defRPr lang="es-E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000099"/>
    <a:srgbClr val="422C16"/>
    <a:srgbClr val="0C788E"/>
    <a:srgbClr val="025198"/>
    <a:srgbClr val="1C1C1C"/>
    <a:srgbClr val="3366FF"/>
    <a:srgbClr val="990000"/>
    <a:srgbClr val="003399"/>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323" autoAdjust="0"/>
    <p:restoredTop sz="94669" autoAdjust="0"/>
  </p:normalViewPr>
  <p:slideViewPr>
    <p:cSldViewPr>
      <p:cViewPr varScale="1">
        <p:scale>
          <a:sx n="69" d="100"/>
          <a:sy n="69" d="100"/>
        </p:scale>
        <p:origin x="-1194" y="-102"/>
      </p:cViewPr>
      <p:guideLst>
        <p:guide orient="horz" pos="2160"/>
        <p:guide pos="2880"/>
      </p:guideLst>
    </p:cSldViewPr>
  </p:slideViewPr>
  <p:outlineViewPr>
    <p:cViewPr>
      <p:scale>
        <a:sx n="33" d="100"/>
        <a:sy n="33" d="100"/>
      </p:scale>
      <p:origin x="0" y="42894"/>
    </p:cViewPr>
  </p:outlin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9AD0935-25B5-4E1D-BB3F-213E10897BDF}" type="datetimeFigureOut">
              <a:rPr lang="tr-TR" smtClean="0"/>
              <a:pPr/>
              <a:t>22.12.2017</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711B0CC-053C-4EE5-9259-30C74642B01C}" type="slidenum">
              <a:rPr lang="tr-TR" smtClean="0"/>
              <a:pPr/>
              <a:t>‹#›</a:t>
            </a:fld>
            <a:endParaRPr lang="tr-TR"/>
          </a:p>
        </p:txBody>
      </p:sp>
    </p:spTree>
    <p:extLst>
      <p:ext uri="{BB962C8B-B14F-4D97-AF65-F5344CB8AC3E}">
        <p14:creationId xmlns="" xmlns:p14="http://schemas.microsoft.com/office/powerpoint/2010/main" val="2632345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09" name="Rectangle 1"/>
          <p:cNvSpPr txBox="1">
            <a:spLocks noGrp="1" noRot="1" noChangeAspect="1" noChangeArrowheads="1"/>
          </p:cNvSpPr>
          <p:nvPr>
            <p:ph type="sldImg"/>
          </p:nvPr>
        </p:nvSpPr>
        <p:spPr bwMode="auto">
          <a:xfrm>
            <a:off x="1143000" y="695325"/>
            <a:ext cx="4572000" cy="3429000"/>
          </a:xfrm>
          <a:prstGeom prst="rect">
            <a:avLst/>
          </a:prstGeom>
          <a:solidFill>
            <a:srgbClr val="FFFFFF"/>
          </a:solidFill>
          <a:ln>
            <a:solidFill>
              <a:srgbClr val="000000"/>
            </a:solidFill>
            <a:miter lim="800000"/>
            <a:headEnd/>
            <a:tailEnd/>
          </a:ln>
        </p:spPr>
      </p:sp>
      <p:sp>
        <p:nvSpPr>
          <p:cNvPr id="94210" name="Rectangle 2"/>
          <p:cNvSpPr txBox="1">
            <a:spLocks noGrp="1" noChangeArrowheads="1"/>
          </p:cNvSpPr>
          <p:nvPr>
            <p:ph type="body" idx="1"/>
          </p:nvPr>
        </p:nvSpPr>
        <p:spPr bwMode="auto">
          <a:xfrm>
            <a:off x="685800" y="4343400"/>
            <a:ext cx="5486400" cy="4114800"/>
          </a:xfrm>
          <a:prstGeom prst="rect">
            <a:avLst/>
          </a:prstGeom>
          <a:noFill/>
          <a:ln>
            <a:round/>
            <a:headEnd/>
            <a:tailEnd/>
          </a:ln>
        </p:spPr>
        <p:txBody>
          <a:bodyPr wrap="none" anchor="ctr"/>
          <a:lstStyle/>
          <a:p>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tr-TR"/>
              <a:t>Asıl başlık stili için tıklatın</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tıklatın</a:t>
            </a:r>
            <a:endParaRPr lang="en-US" dirty="0"/>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3404C349-0293-4C5B-BD61-8968F696ECA6}" type="slidenum">
              <a:rPr lang="es-ES" smtClean="0"/>
              <a:pPr>
                <a:defRPr/>
              </a:pPr>
              <a:t>‹#›</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a:p>
        </p:txBody>
      </p:sp>
      <p:sp>
        <p:nvSpPr>
          <p:cNvPr id="3" name="Content Placeholder 2"/>
          <p:cNvSpPr>
            <a:spLocks noGrp="1"/>
          </p:cNvSpPr>
          <p:nvPr>
            <p:ph idx="1"/>
          </p:nvPr>
        </p:nvSpPr>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7289ED51-3D18-45F8-86FC-FD8561268021}" type="slidenum">
              <a:rPr lang="es-ES" smtClean="0"/>
              <a:pPr>
                <a:defRPr/>
              </a:pPr>
              <a:t>‹#›</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tr-TR"/>
              <a:t>Asıl başlık stili için tıklatın</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tıklatın</a:t>
            </a:r>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B1E30559-BAA3-4562-8020-B6DCEE6D0E3E}" type="slidenum">
              <a:rPr lang="es-ES" smtClean="0"/>
              <a:pPr>
                <a:defRPr/>
              </a:pPr>
              <a:t>‹#›</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pPr>
              <a:defRPr/>
            </a:pPr>
            <a:endParaRPr lang="es-ES"/>
          </a:p>
        </p:txBody>
      </p:sp>
      <p:sp>
        <p:nvSpPr>
          <p:cNvPr id="6" name="Footer Placeholder 5"/>
          <p:cNvSpPr>
            <a:spLocks noGrp="1"/>
          </p:cNvSpPr>
          <p:nvPr>
            <p:ph type="ftr" sz="quarter" idx="11"/>
          </p:nvPr>
        </p:nvSpPr>
        <p:spPr/>
        <p:txBody>
          <a:bodyPr/>
          <a:lstStyle/>
          <a:p>
            <a:pPr>
              <a:defRPr/>
            </a:pPr>
            <a:endParaRPr lang="es-ES"/>
          </a:p>
        </p:txBody>
      </p:sp>
      <p:sp>
        <p:nvSpPr>
          <p:cNvPr id="7" name="Slide Number Placeholder 6"/>
          <p:cNvSpPr>
            <a:spLocks noGrp="1"/>
          </p:cNvSpPr>
          <p:nvPr>
            <p:ph type="sldNum" sz="quarter" idx="12"/>
          </p:nvPr>
        </p:nvSpPr>
        <p:spPr/>
        <p:txBody>
          <a:bodyPr/>
          <a:lstStyle/>
          <a:p>
            <a:pPr>
              <a:defRPr/>
            </a:pPr>
            <a:fld id="{8D37490C-9C1B-4AC9-A719-5CB7A5E923CD}" type="slidenum">
              <a:rPr lang="es-ES" smtClean="0"/>
              <a:pPr>
                <a:defRPr/>
              </a:pPr>
              <a:t>‹#›</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 için tıklatın</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tıklatın</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7" name="Date Placeholder 6"/>
          <p:cNvSpPr>
            <a:spLocks noGrp="1"/>
          </p:cNvSpPr>
          <p:nvPr>
            <p:ph type="dt" sz="half" idx="10"/>
          </p:nvPr>
        </p:nvSpPr>
        <p:spPr/>
        <p:txBody>
          <a:bodyPr/>
          <a:lstStyle/>
          <a:p>
            <a:pPr>
              <a:defRPr/>
            </a:pPr>
            <a:endParaRPr lang="es-ES"/>
          </a:p>
        </p:txBody>
      </p:sp>
      <p:sp>
        <p:nvSpPr>
          <p:cNvPr id="8" name="Footer Placeholder 7"/>
          <p:cNvSpPr>
            <a:spLocks noGrp="1"/>
          </p:cNvSpPr>
          <p:nvPr>
            <p:ph type="ftr" sz="quarter" idx="11"/>
          </p:nvPr>
        </p:nvSpPr>
        <p:spPr/>
        <p:txBody>
          <a:bodyPr/>
          <a:lstStyle/>
          <a:p>
            <a:pPr>
              <a:defRPr/>
            </a:pPr>
            <a:endParaRPr lang="es-ES"/>
          </a:p>
        </p:txBody>
      </p:sp>
      <p:sp>
        <p:nvSpPr>
          <p:cNvPr id="9" name="Slide Number Placeholder 8"/>
          <p:cNvSpPr>
            <a:spLocks noGrp="1"/>
          </p:cNvSpPr>
          <p:nvPr>
            <p:ph type="sldNum" sz="quarter" idx="12"/>
          </p:nvPr>
        </p:nvSpPr>
        <p:spPr/>
        <p:txBody>
          <a:bodyPr/>
          <a:lstStyle/>
          <a:p>
            <a:pPr>
              <a:defRPr/>
            </a:pPr>
            <a:fld id="{52C19F1E-C2C4-43B8-BE68-DBAC4ECF8BE2}" type="slidenum">
              <a:rPr lang="es-ES" smtClean="0"/>
              <a:pPr>
                <a:defRPr/>
              </a:pPr>
              <a:t>‹#›</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a:p>
        </p:txBody>
      </p:sp>
      <p:sp>
        <p:nvSpPr>
          <p:cNvPr id="3" name="Date Placeholder 2"/>
          <p:cNvSpPr>
            <a:spLocks noGrp="1"/>
          </p:cNvSpPr>
          <p:nvPr>
            <p:ph type="dt" sz="half" idx="10"/>
          </p:nvPr>
        </p:nvSpPr>
        <p:spPr/>
        <p:txBody>
          <a:bodyPr/>
          <a:lstStyle/>
          <a:p>
            <a:pPr>
              <a:defRPr/>
            </a:pPr>
            <a:endParaRPr lang="es-ES"/>
          </a:p>
        </p:txBody>
      </p:sp>
      <p:sp>
        <p:nvSpPr>
          <p:cNvPr id="4" name="Footer Placeholder 3"/>
          <p:cNvSpPr>
            <a:spLocks noGrp="1"/>
          </p:cNvSpPr>
          <p:nvPr>
            <p:ph type="ftr" sz="quarter" idx="11"/>
          </p:nvPr>
        </p:nvSpPr>
        <p:spPr/>
        <p:txBody>
          <a:bodyPr/>
          <a:lstStyle/>
          <a:p>
            <a:pPr>
              <a:defRPr/>
            </a:pPr>
            <a:endParaRPr lang="es-ES"/>
          </a:p>
        </p:txBody>
      </p:sp>
      <p:sp>
        <p:nvSpPr>
          <p:cNvPr id="5" name="Slide Number Placeholder 4"/>
          <p:cNvSpPr>
            <a:spLocks noGrp="1"/>
          </p:cNvSpPr>
          <p:nvPr>
            <p:ph type="sldNum" sz="quarter" idx="12"/>
          </p:nvPr>
        </p:nvSpPr>
        <p:spPr/>
        <p:txBody>
          <a:bodyPr/>
          <a:lstStyle/>
          <a:p>
            <a:pPr>
              <a:defRPr/>
            </a:pPr>
            <a:fld id="{E68FA1EF-296B-40C1-B636-00A926A74512}" type="slidenum">
              <a:rPr lang="es-ES" smtClean="0"/>
              <a:pPr>
                <a:defRPr/>
              </a:pPr>
              <a:t>‹#›</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s-ES"/>
          </a:p>
        </p:txBody>
      </p:sp>
      <p:sp>
        <p:nvSpPr>
          <p:cNvPr id="3" name="Footer Placeholder 2"/>
          <p:cNvSpPr>
            <a:spLocks noGrp="1"/>
          </p:cNvSpPr>
          <p:nvPr>
            <p:ph type="ftr" sz="quarter" idx="11"/>
          </p:nvPr>
        </p:nvSpPr>
        <p:spPr/>
        <p:txBody>
          <a:bodyPr/>
          <a:lstStyle/>
          <a:p>
            <a:pPr>
              <a:defRPr/>
            </a:pPr>
            <a:endParaRPr lang="es-ES"/>
          </a:p>
        </p:txBody>
      </p:sp>
      <p:sp>
        <p:nvSpPr>
          <p:cNvPr id="4" name="Slide Number Placeholder 3"/>
          <p:cNvSpPr>
            <a:spLocks noGrp="1"/>
          </p:cNvSpPr>
          <p:nvPr>
            <p:ph type="sldNum" sz="quarter" idx="12"/>
          </p:nvPr>
        </p:nvSpPr>
        <p:spPr/>
        <p:txBody>
          <a:bodyPr/>
          <a:lstStyle/>
          <a:p>
            <a:pPr>
              <a:defRPr/>
            </a:pPr>
            <a:fld id="{3C5D3AC1-5A64-441E-A1A8-9FAE71C6AF66}" type="slidenum">
              <a:rPr lang="es-ES" smtClean="0"/>
              <a:pPr>
                <a:defRPr/>
              </a:pPr>
              <a:t>‹#›</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tr-TR"/>
              <a:t>Asıl başlık stili için tıklatın</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5" name="Date Placeholder 4"/>
          <p:cNvSpPr>
            <a:spLocks noGrp="1"/>
          </p:cNvSpPr>
          <p:nvPr>
            <p:ph type="dt" sz="half" idx="10"/>
          </p:nvPr>
        </p:nvSpPr>
        <p:spPr/>
        <p:txBody>
          <a:bodyPr/>
          <a:lstStyle/>
          <a:p>
            <a:pPr>
              <a:defRPr/>
            </a:pPr>
            <a:endParaRPr lang="es-ES"/>
          </a:p>
        </p:txBody>
      </p:sp>
      <p:sp>
        <p:nvSpPr>
          <p:cNvPr id="6" name="Footer Placeholder 5"/>
          <p:cNvSpPr>
            <a:spLocks noGrp="1"/>
          </p:cNvSpPr>
          <p:nvPr>
            <p:ph type="ftr" sz="quarter" idx="11"/>
          </p:nvPr>
        </p:nvSpPr>
        <p:spPr/>
        <p:txBody>
          <a:bodyPr/>
          <a:lstStyle/>
          <a:p>
            <a:pPr>
              <a:defRPr/>
            </a:pPr>
            <a:endParaRPr lang="es-ES"/>
          </a:p>
        </p:txBody>
      </p:sp>
      <p:sp>
        <p:nvSpPr>
          <p:cNvPr id="7" name="Slide Number Placeholder 6"/>
          <p:cNvSpPr>
            <a:spLocks noGrp="1"/>
          </p:cNvSpPr>
          <p:nvPr>
            <p:ph type="sldNum" sz="quarter" idx="12"/>
          </p:nvPr>
        </p:nvSpPr>
        <p:spPr/>
        <p:txBody>
          <a:bodyPr/>
          <a:lstStyle/>
          <a:p>
            <a:pPr>
              <a:defRPr/>
            </a:pPr>
            <a:fld id="{9D65BA48-3AB7-42AA-A309-B1E404C47DBD}" type="slidenum">
              <a:rPr lang="es-ES" smtClean="0"/>
              <a:pPr>
                <a:defRPr/>
              </a:pPr>
              <a:t>‹#›</a:t>
            </a:fld>
            <a:endParaRPr lang="es-ES"/>
          </a:p>
        </p:txBody>
      </p:sp>
      <p:sp>
        <p:nvSpPr>
          <p:cNvPr id="9" name="Content Placeholder 8"/>
          <p:cNvSpPr>
            <a:spLocks noGrp="1"/>
          </p:cNvSpPr>
          <p:nvPr>
            <p:ph sz="quarter" idx="13"/>
          </p:nvPr>
        </p:nvSpPr>
        <p:spPr>
          <a:xfrm>
            <a:off x="304800" y="381000"/>
            <a:ext cx="7772400" cy="4942840"/>
          </a:xfrm>
        </p:spPr>
        <p:txBody>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tr-TR"/>
              <a:t>Asıl başlık stili için tıklatın</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simgeyi tıklatın</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tıklatın</a:t>
            </a:r>
          </a:p>
        </p:txBody>
      </p:sp>
      <p:sp>
        <p:nvSpPr>
          <p:cNvPr id="8" name="Date Placeholder 7"/>
          <p:cNvSpPr>
            <a:spLocks noGrp="1"/>
          </p:cNvSpPr>
          <p:nvPr>
            <p:ph type="dt" sz="half" idx="10"/>
          </p:nvPr>
        </p:nvSpPr>
        <p:spPr/>
        <p:txBody>
          <a:bodyPr/>
          <a:lstStyle/>
          <a:p>
            <a:pPr>
              <a:defRPr/>
            </a:pPr>
            <a:endParaRPr lang="es-ES"/>
          </a:p>
        </p:txBody>
      </p:sp>
      <p:sp>
        <p:nvSpPr>
          <p:cNvPr id="9" name="Slide Number Placeholder 8"/>
          <p:cNvSpPr>
            <a:spLocks noGrp="1"/>
          </p:cNvSpPr>
          <p:nvPr>
            <p:ph type="sldNum" sz="quarter" idx="11"/>
          </p:nvPr>
        </p:nvSpPr>
        <p:spPr/>
        <p:txBody>
          <a:bodyPr/>
          <a:lstStyle/>
          <a:p>
            <a:pPr>
              <a:defRPr/>
            </a:pPr>
            <a:fld id="{D731D35F-B073-4216-8697-E08C0989EA53}" type="slidenum">
              <a:rPr lang="es-ES" smtClean="0"/>
              <a:pPr>
                <a:defRPr/>
              </a:pPr>
              <a:t>‹#›</a:t>
            </a:fld>
            <a:endParaRPr lang="es-ES"/>
          </a:p>
        </p:txBody>
      </p:sp>
      <p:sp>
        <p:nvSpPr>
          <p:cNvPr id="10" name="Footer Placeholder 9"/>
          <p:cNvSpPr>
            <a:spLocks noGrp="1"/>
          </p:cNvSpPr>
          <p:nvPr>
            <p:ph type="ftr" sz="quarter" idx="12"/>
          </p:nvPr>
        </p:nvSpPr>
        <p:spPr/>
        <p:txBody>
          <a:bodyPr/>
          <a:lstStyle/>
          <a:p>
            <a:pPr>
              <a:defRPr/>
            </a:pPr>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 için tıklatın</a:t>
            </a:r>
            <a:endParaRPr lang="en-US"/>
          </a:p>
        </p:txBody>
      </p:sp>
      <p:sp>
        <p:nvSpPr>
          <p:cNvPr id="3" name="Vertical Text Placeholder 2"/>
          <p:cNvSpPr>
            <a:spLocks noGrp="1"/>
          </p:cNvSpPr>
          <p:nvPr>
            <p:ph type="body" orient="vert" idx="1"/>
          </p:nvPr>
        </p:nvSpPr>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FB694EDE-81EF-4BAB-96DB-6066A9EED78C}" type="slidenum">
              <a:rPr lang="es-ES" smtClean="0"/>
              <a:pPr>
                <a:defRPr/>
              </a:pPr>
              <a:t>‹#›</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tr-TR"/>
              <a:t>Asıl başlık stili için tıklatın</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4" name="Date Placeholder 3"/>
          <p:cNvSpPr>
            <a:spLocks noGrp="1"/>
          </p:cNvSpPr>
          <p:nvPr>
            <p:ph type="dt" sz="half" idx="10"/>
          </p:nvPr>
        </p:nvSpPr>
        <p:spPr/>
        <p:txBody>
          <a:bodyPr/>
          <a:lstStyle/>
          <a:p>
            <a:pPr>
              <a:defRPr/>
            </a:pPr>
            <a:endParaRPr lang="es-ES"/>
          </a:p>
        </p:txBody>
      </p:sp>
      <p:sp>
        <p:nvSpPr>
          <p:cNvPr id="5" name="Footer Placeholder 4"/>
          <p:cNvSpPr>
            <a:spLocks noGrp="1"/>
          </p:cNvSpPr>
          <p:nvPr>
            <p:ph type="ftr" sz="quarter" idx="11"/>
          </p:nvPr>
        </p:nvSpPr>
        <p:spPr/>
        <p:txBody>
          <a:bodyPr/>
          <a:lstStyle/>
          <a:p>
            <a:pPr>
              <a:defRPr/>
            </a:pPr>
            <a:endParaRPr lang="es-ES"/>
          </a:p>
        </p:txBody>
      </p:sp>
      <p:sp>
        <p:nvSpPr>
          <p:cNvPr id="6" name="Slide Number Placeholder 5"/>
          <p:cNvSpPr>
            <a:spLocks noGrp="1"/>
          </p:cNvSpPr>
          <p:nvPr>
            <p:ph type="sldNum" sz="quarter" idx="12"/>
          </p:nvPr>
        </p:nvSpPr>
        <p:spPr/>
        <p:txBody>
          <a:bodyPr/>
          <a:lstStyle/>
          <a:p>
            <a:pPr>
              <a:defRPr/>
            </a:pPr>
            <a:fld id="{D900CEFE-2B5D-4039-8D04-AC77E9226A17}" type="slidenum">
              <a:rPr lang="es-ES" smtClean="0"/>
              <a:pPr>
                <a:defRPr/>
              </a:pPr>
              <a:t>‹#›</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tr-TR"/>
              <a:t>Asıl başlık stili için tıklatın</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pPr>
              <a:defRPr/>
            </a:pPr>
            <a:fld id="{8752DBB7-8610-4E58-9205-33D206425DAC}" type="slidenum">
              <a:rPr lang="es-ES" smtClean="0"/>
              <a:pPr>
                <a:defRPr/>
              </a:pPr>
              <a:t>‹#›</a:t>
            </a:fld>
            <a:endParaRPr lang="es-E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pPr>
              <a:defRPr/>
            </a:pPr>
            <a:endParaRPr lang="es-E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pPr>
              <a:defRPr/>
            </a:pPr>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lum/>
          </a:blip>
          <a:srcRect/>
          <a:stretch>
            <a:fillRect/>
          </a:stretch>
        </a:blipFill>
        <a:effectLst/>
      </p:bgPr>
    </p:bg>
    <p:spTree>
      <p:nvGrpSpPr>
        <p:cNvPr id="1" name=""/>
        <p:cNvGrpSpPr/>
        <p:nvPr/>
      </p:nvGrpSpPr>
      <p:grpSpPr>
        <a:xfrm>
          <a:off x="0" y="0"/>
          <a:ext cx="0" cy="0"/>
          <a:chOff x="0" y="0"/>
          <a:chExt cx="0" cy="0"/>
        </a:xfrm>
      </p:grpSpPr>
      <p:sp>
        <p:nvSpPr>
          <p:cNvPr id="2050" name="Rectangle 110"/>
          <p:cNvSpPr>
            <a:spLocks noGrp="1" noChangeArrowheads="1"/>
          </p:cNvSpPr>
          <p:nvPr>
            <p:ph type="ctrTitle"/>
          </p:nvPr>
        </p:nvSpPr>
        <p:spPr>
          <a:xfrm>
            <a:off x="4284663" y="4076700"/>
            <a:ext cx="4319587" cy="544513"/>
          </a:xfrm>
          <a:noFill/>
        </p:spPr>
        <p:txBody>
          <a:bodyPr/>
          <a:lstStyle/>
          <a:p>
            <a:pPr eaLnBrk="1" hangingPunct="1"/>
            <a:r>
              <a:rPr lang="tr-TR" sz="2800" b="1" dirty="0"/>
              <a:t>ACİL DURUM PLANLARI</a:t>
            </a:r>
            <a:endParaRPr lang="es-ES" sz="1600" b="1" dirty="0">
              <a:solidFill>
                <a:schemeClr val="bg1"/>
              </a:solidFill>
              <a:latin typeface="+mj-lt"/>
            </a:endParaRPr>
          </a:p>
        </p:txBody>
      </p:sp>
      <p:sp>
        <p:nvSpPr>
          <p:cNvPr id="2051" name="Rectangle 115"/>
          <p:cNvSpPr>
            <a:spLocks noGrp="1" noChangeArrowheads="1"/>
          </p:cNvSpPr>
          <p:nvPr>
            <p:ph type="subTitle" idx="1"/>
          </p:nvPr>
        </p:nvSpPr>
        <p:spPr>
          <a:xfrm>
            <a:off x="5003800" y="4868863"/>
            <a:ext cx="3527425" cy="479425"/>
          </a:xfrm>
        </p:spPr>
        <p:txBody>
          <a:bodyPr/>
          <a:lstStyle/>
          <a:p>
            <a:pPr algn="r" eaLnBrk="1" hangingPunct="1"/>
            <a:r>
              <a:rPr lang="es-ES" sz="1800">
                <a:solidFill>
                  <a:schemeClr val="bg1"/>
                </a:solidFill>
                <a:latin typeface="+mj-lt"/>
              </a:rPr>
              <a:t>Your company information</a:t>
            </a:r>
          </a:p>
        </p:txBody>
      </p:sp>
      <p:sp>
        <p:nvSpPr>
          <p:cNvPr id="2053" name="Rectangle 115"/>
          <p:cNvSpPr txBox="1">
            <a:spLocks noChangeArrowheads="1"/>
          </p:cNvSpPr>
          <p:nvPr/>
        </p:nvSpPr>
        <p:spPr bwMode="auto">
          <a:xfrm>
            <a:off x="5156200" y="5021263"/>
            <a:ext cx="3527425" cy="479425"/>
          </a:xfrm>
          <a:prstGeom prst="rect">
            <a:avLst/>
          </a:prstGeom>
          <a:noFill/>
          <a:ln w="9525">
            <a:noFill/>
            <a:miter lim="800000"/>
            <a:headEnd/>
            <a:tailEnd/>
          </a:ln>
          <a:effectLst/>
        </p:spPr>
        <p:txBody>
          <a:bodyPr/>
          <a:lstStyle/>
          <a:p>
            <a:pPr algn="r">
              <a:spcBef>
                <a:spcPct val="20000"/>
              </a:spcBef>
            </a:pPr>
            <a:endParaRPr lang="es-ES" dirty="0"/>
          </a:p>
        </p:txBody>
      </p:sp>
      <p:sp>
        <p:nvSpPr>
          <p:cNvPr id="2" name="Slayt Numarası Yer Tutucusu 1"/>
          <p:cNvSpPr>
            <a:spLocks noGrp="1"/>
          </p:cNvSpPr>
          <p:nvPr>
            <p:ph type="sldNum" sz="quarter" idx="12"/>
          </p:nvPr>
        </p:nvSpPr>
        <p:spPr/>
        <p:txBody>
          <a:bodyPr/>
          <a:lstStyle/>
          <a:p>
            <a:pPr>
              <a:defRPr/>
            </a:pPr>
            <a:fld id="{3404C349-0293-4C5B-BD61-8968F696ECA6}" type="slidenum">
              <a:rPr lang="es-ES" smtClean="0"/>
              <a:pPr>
                <a:defRPr/>
              </a:pPr>
              <a:t>1</a:t>
            </a:fld>
            <a:endParaRPr lang="es-ES"/>
          </a:p>
        </p:txBody>
      </p:sp>
      <p:sp>
        <p:nvSpPr>
          <p:cNvPr id="3" name="Metin kutusu 2"/>
          <p:cNvSpPr txBox="1"/>
          <p:nvPr/>
        </p:nvSpPr>
        <p:spPr>
          <a:xfrm>
            <a:off x="539552" y="370416"/>
            <a:ext cx="3024336" cy="1008112"/>
          </a:xfrm>
          <a:prstGeom prst="rect">
            <a:avLst/>
          </a:prstGeom>
          <a:solidFill>
            <a:schemeClr val="bg1">
              <a:lumMod val="85000"/>
            </a:schemeClr>
          </a:solidFill>
        </p:spPr>
        <p:txBody>
          <a:bodyPr wrap="square" rtlCol="0">
            <a:spAutoFit/>
          </a:bodyPr>
          <a:lstStyle/>
          <a:p>
            <a:endParaRPr lang="tr-T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850106"/>
          </a:xfrm>
        </p:spPr>
        <p:txBody>
          <a:bodyPr/>
          <a:lstStyle/>
          <a:p>
            <a:r>
              <a:rPr lang="tr-TR" dirty="0">
                <a:latin typeface="+mj-lt"/>
              </a:rPr>
              <a:t>YASAL GEREKLİLİK</a:t>
            </a:r>
          </a:p>
        </p:txBody>
      </p:sp>
      <p:sp>
        <p:nvSpPr>
          <p:cNvPr id="3" name="2 İçerik Yer Tutucusu"/>
          <p:cNvSpPr>
            <a:spLocks noGrp="1"/>
          </p:cNvSpPr>
          <p:nvPr>
            <p:ph idx="1"/>
          </p:nvPr>
        </p:nvSpPr>
        <p:spPr>
          <a:xfrm>
            <a:off x="457200" y="1196752"/>
            <a:ext cx="8229600" cy="4929411"/>
          </a:xfrm>
        </p:spPr>
        <p:txBody>
          <a:bodyPr>
            <a:normAutofit/>
          </a:bodyPr>
          <a:lstStyle/>
          <a:p>
            <a:pPr>
              <a:buNone/>
            </a:pPr>
            <a:r>
              <a:rPr lang="tr-TR" dirty="0">
                <a:solidFill>
                  <a:schemeClr val="tx1">
                    <a:lumMod val="95000"/>
                    <a:lumOff val="5000"/>
                  </a:schemeClr>
                </a:solidFill>
                <a:latin typeface="+mj-lt"/>
              </a:rPr>
              <a:t>     19.12.2007 tarih ve 26735 sayılı RG yayınlanarak yürürlüğe </a:t>
            </a:r>
            <a:r>
              <a:rPr lang="tr-TR" dirty="0">
                <a:solidFill>
                  <a:srgbClr val="000099"/>
                </a:solidFill>
                <a:latin typeface="+mj-lt"/>
              </a:rPr>
              <a:t>giren binaların yangından korunması hak.yönetmelikte </a:t>
            </a:r>
          </a:p>
          <a:p>
            <a:pPr>
              <a:buNone/>
            </a:pPr>
            <a:r>
              <a:rPr lang="tr-TR" dirty="0">
                <a:solidFill>
                  <a:srgbClr val="000099"/>
                </a:solidFill>
                <a:latin typeface="+mj-lt"/>
              </a:rPr>
              <a:t>    şöyle tanımlanıyor.</a:t>
            </a:r>
          </a:p>
          <a:p>
            <a:endParaRPr lang="tr-TR" dirty="0">
              <a:solidFill>
                <a:srgbClr val="FF0000"/>
              </a:solidFill>
              <a:latin typeface="+mj-lt"/>
            </a:endParaRPr>
          </a:p>
          <a:p>
            <a:pPr>
              <a:buNone/>
            </a:pPr>
            <a:r>
              <a:rPr lang="tr-TR" dirty="0">
                <a:solidFill>
                  <a:srgbClr val="FF0000"/>
                </a:solidFill>
                <a:latin typeface="+mj-lt"/>
              </a:rPr>
              <a:t>Acil durum :</a:t>
            </a:r>
            <a:r>
              <a:rPr lang="tr-TR" dirty="0">
                <a:latin typeface="+mj-lt"/>
              </a:rPr>
              <a:t>Afet olarak değerlendirilen olaylar ve dikkatsizlik, tedbirsizlik, ihmal, kasıt ve çeşitli amaçlarla meydana getirilen olayların tümünün yol açtığı hallerdir. </a:t>
            </a:r>
          </a:p>
          <a:p>
            <a:pPr>
              <a:buNone/>
            </a:pPr>
            <a:r>
              <a:rPr lang="tr-TR" dirty="0">
                <a:solidFill>
                  <a:srgbClr val="FF0000"/>
                </a:solidFill>
                <a:latin typeface="+mj-lt"/>
              </a:rPr>
              <a:t>Acil durum planları</a:t>
            </a:r>
            <a:r>
              <a:rPr lang="tr-TR" dirty="0">
                <a:solidFill>
                  <a:schemeClr val="tx1">
                    <a:lumMod val="95000"/>
                    <a:lumOff val="5000"/>
                  </a:schemeClr>
                </a:solidFill>
                <a:latin typeface="+mj-lt"/>
              </a:rPr>
              <a:t>:Acil durum gerektiren olaylarda yapılacak, müdahale, koruma, arama-kurtarma ve ilkyardım konularının nasıl ve kimler tarafından yapılacağını  gösteren ve acil durum öncesinde hazırlanması gereken planlardır.</a:t>
            </a: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2</a:t>
            </a:fld>
            <a:endParaRPr lang="es-ES"/>
          </a:p>
        </p:txBody>
      </p:sp>
    </p:spTree>
    <p:extLst>
      <p:ext uri="{BB962C8B-B14F-4D97-AF65-F5344CB8AC3E}">
        <p14:creationId xmlns="" xmlns:p14="http://schemas.microsoft.com/office/powerpoint/2010/main" val="3743188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75690" y="812800"/>
            <a:ext cx="8496944" cy="5616624"/>
          </a:xfrm>
          <a:prstGeom prst="rect">
            <a:avLst/>
          </a:prstGeom>
          <a:noFill/>
          <a:ln w="9525">
            <a:noFill/>
            <a:round/>
            <a:headEnd/>
            <a:tailEnd/>
          </a:ln>
          <a:effectLst/>
        </p:spPr>
        <p:txBody>
          <a:bodyPr lIns="92160" tIns="46080" rIns="92160" bIns="46080"/>
          <a:lstStyle/>
          <a:p>
            <a:pPr marL="341313" indent="-341313">
              <a:spcBef>
                <a:spcPts val="700"/>
              </a:spcBef>
              <a:buClr>
                <a:srgbClr val="FF9966"/>
              </a:buClr>
              <a:buSzPct val="5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tr-TR" sz="2800" dirty="0">
                <a:solidFill>
                  <a:srgbClr val="000000"/>
                </a:solidFill>
                <a:latin typeface="Arial" charset="0"/>
              </a:rPr>
              <a:t>Uluslararası Çalışma Örgütünün (İLO) tarafından 1991 yılında yayımlanmış olan </a:t>
            </a:r>
            <a:r>
              <a:rPr lang="tr-TR" sz="2800" b="1" dirty="0">
                <a:solidFill>
                  <a:srgbClr val="000000"/>
                </a:solidFill>
                <a:latin typeface="Arial" charset="0"/>
              </a:rPr>
              <a:t>“Büyük Endüstriyel Kazaların Önlenmesi”</a:t>
            </a:r>
            <a:r>
              <a:rPr lang="tr-TR" sz="2800" dirty="0">
                <a:solidFill>
                  <a:srgbClr val="000000"/>
                </a:solidFill>
                <a:latin typeface="Arial" charset="0"/>
              </a:rPr>
              <a:t> isimli uygulama kodu mevcuttur.</a:t>
            </a:r>
          </a:p>
          <a:p>
            <a:pPr marL="341313" indent="-341313">
              <a:spcBef>
                <a:spcPts val="700"/>
              </a:spcBef>
              <a:buClr>
                <a:srgbClr val="FF9966"/>
              </a:buClr>
              <a:buSzPct val="5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tr-TR" sz="2800" dirty="0">
                <a:solidFill>
                  <a:srgbClr val="000000"/>
                </a:solidFill>
                <a:latin typeface="Arial" charset="0"/>
              </a:rPr>
              <a:t>Burada </a:t>
            </a:r>
            <a:r>
              <a:rPr lang="tr-TR" sz="2800" b="1" dirty="0">
                <a:solidFill>
                  <a:srgbClr val="000000"/>
                </a:solidFill>
                <a:latin typeface="Arial" charset="0"/>
              </a:rPr>
              <a:t>acil durum planlaması </a:t>
            </a:r>
            <a:r>
              <a:rPr lang="tr-TR" sz="2800" dirty="0">
                <a:solidFill>
                  <a:srgbClr val="000000"/>
                </a:solidFill>
                <a:latin typeface="Arial" charset="0"/>
              </a:rPr>
              <a:t>yapılması ve </a:t>
            </a:r>
            <a:r>
              <a:rPr lang="tr-TR" sz="2800" b="1" dirty="0">
                <a:solidFill>
                  <a:srgbClr val="000000"/>
                </a:solidFill>
                <a:latin typeface="Arial" charset="0"/>
              </a:rPr>
              <a:t>toplumun  bilgilendirilmesi </a:t>
            </a:r>
            <a:r>
              <a:rPr lang="tr-TR" sz="2800" dirty="0">
                <a:solidFill>
                  <a:srgbClr val="000000"/>
                </a:solidFill>
                <a:latin typeface="Arial" charset="0"/>
              </a:rPr>
              <a:t> ön görülmüştür.</a:t>
            </a:r>
          </a:p>
          <a:p>
            <a:pPr marL="341313" indent="-341313">
              <a:spcBef>
                <a:spcPts val="700"/>
              </a:spcBef>
              <a:buClr>
                <a:srgbClr val="FF9966"/>
              </a:buClr>
              <a:buSzPct val="50000"/>
              <a:buFont typeface="Monotype Sorts"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tr-TR" sz="2800" b="1" dirty="0">
                <a:solidFill>
                  <a:srgbClr val="000000"/>
                </a:solidFill>
                <a:latin typeface="Arial" charset="0"/>
              </a:rPr>
              <a:t>Acil durum planlaması </a:t>
            </a:r>
            <a:r>
              <a:rPr lang="tr-TR" sz="2800" dirty="0">
                <a:solidFill>
                  <a:srgbClr val="000000"/>
                </a:solidFill>
                <a:latin typeface="Arial" charset="0"/>
              </a:rPr>
              <a:t> büyük tehlike kontrol sisteminin temel öğelerinden biri olarak kabul edilmelidir.</a:t>
            </a:r>
          </a:p>
        </p:txBody>
      </p:sp>
      <p:sp>
        <p:nvSpPr>
          <p:cNvPr id="2" name="Slayt Numarası Yer Tutucusu 1"/>
          <p:cNvSpPr>
            <a:spLocks noGrp="1"/>
          </p:cNvSpPr>
          <p:nvPr>
            <p:ph type="sldNum" sz="quarter" idx="12"/>
          </p:nvPr>
        </p:nvSpPr>
        <p:spPr/>
        <p:txBody>
          <a:bodyPr/>
          <a:lstStyle/>
          <a:p>
            <a:pPr>
              <a:defRPr/>
            </a:pPr>
            <a:fld id="{3C5D3AC1-5A64-441E-A1A8-9FAE71C6AF66}" type="slidenum">
              <a:rPr lang="es-ES" smtClean="0"/>
              <a:pPr>
                <a:defRPr/>
              </a:pPr>
              <a:t>3</a:t>
            </a:fld>
            <a:endParaRPr lang="es-ES"/>
          </a:p>
        </p:txBody>
      </p:sp>
    </p:spTree>
    <p:extLst>
      <p:ext uri="{BB962C8B-B14F-4D97-AF65-F5344CB8AC3E}">
        <p14:creationId xmlns="" xmlns:p14="http://schemas.microsoft.com/office/powerpoint/2010/main" val="4274490628"/>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476672"/>
            <a:ext cx="8229600" cy="5649491"/>
          </a:xfrm>
        </p:spPr>
        <p:txBody>
          <a:bodyPr>
            <a:normAutofit/>
          </a:bodyPr>
          <a:lstStyle/>
          <a:p>
            <a:pPr>
              <a:buNone/>
            </a:pPr>
            <a:r>
              <a:rPr lang="tr-TR" dirty="0">
                <a:latin typeface="+mj-lt"/>
              </a:rPr>
              <a:t>1475 sayılı kanun ve</a:t>
            </a:r>
          </a:p>
          <a:p>
            <a:pPr>
              <a:buNone/>
            </a:pPr>
            <a:r>
              <a:rPr lang="tr-TR" dirty="0">
                <a:latin typeface="+mj-lt"/>
              </a:rPr>
              <a:t>Bu kanunun 74.maddesine  göre çıkartılmış olan </a:t>
            </a:r>
          </a:p>
          <a:p>
            <a:r>
              <a:rPr lang="tr-TR" dirty="0">
                <a:latin typeface="+mj-lt"/>
              </a:rPr>
              <a:t>İş sağlığı ve iş güvenliği tüzüğü,</a:t>
            </a:r>
          </a:p>
          <a:p>
            <a:r>
              <a:rPr lang="tr-TR" dirty="0">
                <a:latin typeface="+mj-lt"/>
              </a:rPr>
              <a:t>Parlayıcı, patlayıcı, tehlikeli, zararlı ve tehlikeli maddelerle çalışılan işyerlerinde ve işlerde alınması gereken tedbirler hakkında tüzük,</a:t>
            </a:r>
          </a:p>
          <a:p>
            <a:r>
              <a:rPr lang="tr-TR" dirty="0">
                <a:latin typeface="+mj-lt"/>
              </a:rPr>
              <a:t>Maden ve taş ocakları işletmelerinde ve tünel yapımında alınacak iş sağlığı ve iş güvenliği önlemlerine ilişkin tüzük.</a:t>
            </a:r>
          </a:p>
          <a:p>
            <a:r>
              <a:rPr lang="tr-TR" dirty="0">
                <a:latin typeface="+mj-lt"/>
              </a:rPr>
              <a:t>Bu yasal durumlar incelendiğinde acil durumlar için kurulması gereken ekiplerden ve yapılması gereken tatbikatlardan söz edilmekte ama başka nelerin yapılması gerektiği acil durum planlarının kapsamlı bir şekilde nasıl hazırlanması gerektiği üzerinde </a:t>
            </a:r>
            <a:r>
              <a:rPr lang="tr-TR" u="sng" dirty="0">
                <a:latin typeface="+mj-lt"/>
              </a:rPr>
              <a:t>durulmamaktadır. </a:t>
            </a:r>
          </a:p>
          <a:p>
            <a:endParaRPr lang="tr-TR" dirty="0">
              <a:latin typeface="+mj-lt"/>
            </a:endParaRP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4</a:t>
            </a:fld>
            <a:endParaRPr lang="es-ES"/>
          </a:p>
        </p:txBody>
      </p:sp>
    </p:spTree>
    <p:extLst>
      <p:ext uri="{BB962C8B-B14F-4D97-AF65-F5344CB8AC3E}">
        <p14:creationId xmlns="" xmlns:p14="http://schemas.microsoft.com/office/powerpoint/2010/main" val="2499923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p:txBody>
          <a:bodyPr/>
          <a:lstStyle/>
          <a:p>
            <a:r>
              <a:rPr lang="tr-TR" dirty="0">
                <a:latin typeface="+mj-lt"/>
              </a:rPr>
              <a:t>4857 sayılı kanunun 78 maddesine göre çıkartılmış olan 89/391/</a:t>
            </a:r>
            <a:r>
              <a:rPr lang="tr-TR" dirty="0" err="1">
                <a:latin typeface="+mj-lt"/>
              </a:rPr>
              <a:t>EECsayılı</a:t>
            </a:r>
            <a:r>
              <a:rPr lang="tr-TR" dirty="0">
                <a:latin typeface="+mj-lt"/>
              </a:rPr>
              <a:t> Avrupa birliğinin çerçeve direktifini uyumlaştıran bireysel direktiflerden birisi olan “</a:t>
            </a:r>
            <a:r>
              <a:rPr lang="tr-TR" b="1" dirty="0">
                <a:latin typeface="+mj-lt"/>
              </a:rPr>
              <a:t>Kimyasal Maddelerle Çalışmalar</a:t>
            </a:r>
            <a:r>
              <a:rPr lang="tr-TR" dirty="0">
                <a:latin typeface="+mj-lt"/>
              </a:rPr>
              <a:t>da Sağlık ve Güvenlik Önlemleri </a:t>
            </a:r>
            <a:r>
              <a:rPr lang="tr-TR" b="1" dirty="0">
                <a:latin typeface="+mj-lt"/>
              </a:rPr>
              <a:t>Hakkında </a:t>
            </a:r>
            <a:r>
              <a:rPr lang="tr-TR" b="1" dirty="0" err="1">
                <a:latin typeface="+mj-lt"/>
              </a:rPr>
              <a:t>Yönetmelik</a:t>
            </a:r>
            <a:r>
              <a:rPr lang="tr-TR" dirty="0" err="1">
                <a:latin typeface="+mj-lt"/>
              </a:rPr>
              <a:t>”te</a:t>
            </a:r>
            <a:r>
              <a:rPr lang="tr-TR" dirty="0">
                <a:latin typeface="+mj-lt"/>
              </a:rPr>
              <a:t> özel bir şekilde yer alan acil durumlar ile ilgili madde metni verilmektedir.</a:t>
            </a: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5</a:t>
            </a:fld>
            <a:endParaRPr lang="es-ES"/>
          </a:p>
        </p:txBody>
      </p:sp>
    </p:spTree>
    <p:extLst>
      <p:ext uri="{BB962C8B-B14F-4D97-AF65-F5344CB8AC3E}">
        <p14:creationId xmlns="" xmlns:p14="http://schemas.microsoft.com/office/powerpoint/2010/main" val="26933940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0"/>
            <a:ext cx="8229600" cy="1196752"/>
          </a:xfrm>
        </p:spPr>
        <p:txBody>
          <a:bodyPr>
            <a:noAutofit/>
          </a:bodyPr>
          <a:lstStyle/>
          <a:p>
            <a:r>
              <a:rPr lang="tr-TR" sz="2600" dirty="0">
                <a:latin typeface="+mj-lt"/>
              </a:rPr>
              <a:t/>
            </a:r>
            <a:br>
              <a:rPr lang="tr-TR" sz="2600" dirty="0">
                <a:latin typeface="+mj-lt"/>
              </a:rPr>
            </a:br>
            <a:r>
              <a:rPr lang="tr-TR" sz="2600" dirty="0">
                <a:latin typeface="+mj-lt"/>
              </a:rPr>
              <a:t/>
            </a:r>
            <a:br>
              <a:rPr lang="tr-TR" sz="2600" dirty="0">
                <a:latin typeface="+mj-lt"/>
              </a:rPr>
            </a:br>
            <a:r>
              <a:rPr lang="tr-TR" sz="2600" dirty="0">
                <a:latin typeface="+mj-lt"/>
              </a:rPr>
              <a:t/>
            </a:r>
            <a:br>
              <a:rPr lang="tr-TR" sz="2600" dirty="0">
                <a:latin typeface="+mj-lt"/>
              </a:rPr>
            </a:br>
            <a:r>
              <a:rPr lang="tr-TR" sz="2600" dirty="0">
                <a:latin typeface="+mj-lt"/>
              </a:rPr>
              <a:t/>
            </a:r>
            <a:br>
              <a:rPr lang="tr-TR" sz="2600" dirty="0">
                <a:latin typeface="+mj-lt"/>
              </a:rPr>
            </a:br>
            <a:r>
              <a:rPr lang="tr-TR" sz="2600" b="1" dirty="0">
                <a:latin typeface="+mj-lt"/>
              </a:rPr>
              <a:t>Kimyasal Maddelerle Çalışmalarda Sağlık ve Güvenlik Önlemleri Hakkında Yönetmelik</a:t>
            </a:r>
            <a:r>
              <a:rPr lang="tr-TR" sz="2600" dirty="0">
                <a:latin typeface="+mj-lt"/>
              </a:rPr>
              <a:t/>
            </a:r>
            <a:br>
              <a:rPr lang="tr-TR" sz="2600" dirty="0">
                <a:latin typeface="+mj-lt"/>
              </a:rPr>
            </a:br>
            <a:r>
              <a:rPr lang="tr-TR" sz="2600" dirty="0">
                <a:latin typeface="+mj-lt"/>
              </a:rPr>
              <a:t/>
            </a:r>
            <a:br>
              <a:rPr lang="tr-TR" sz="2600" dirty="0">
                <a:latin typeface="+mj-lt"/>
              </a:rPr>
            </a:br>
            <a:r>
              <a:rPr lang="tr-TR" sz="2600" dirty="0">
                <a:latin typeface="+mj-lt"/>
              </a:rPr>
              <a:t/>
            </a:r>
            <a:br>
              <a:rPr lang="tr-TR" sz="2600" dirty="0">
                <a:latin typeface="+mj-lt"/>
              </a:rPr>
            </a:br>
            <a:r>
              <a:rPr lang="tr-TR" sz="2600" dirty="0">
                <a:latin typeface="+mj-lt"/>
              </a:rPr>
              <a:t/>
            </a:r>
            <a:br>
              <a:rPr lang="tr-TR" sz="2600" dirty="0">
                <a:latin typeface="+mj-lt"/>
              </a:rPr>
            </a:br>
            <a:endParaRPr lang="tr-TR" sz="2600" dirty="0">
              <a:latin typeface="+mj-lt"/>
            </a:endParaRPr>
          </a:p>
        </p:txBody>
      </p:sp>
      <p:sp>
        <p:nvSpPr>
          <p:cNvPr id="3" name="2 İçerik Yer Tutucusu"/>
          <p:cNvSpPr>
            <a:spLocks noGrp="1"/>
          </p:cNvSpPr>
          <p:nvPr>
            <p:ph idx="1"/>
          </p:nvPr>
        </p:nvSpPr>
        <p:spPr>
          <a:xfrm>
            <a:off x="457200" y="1124744"/>
            <a:ext cx="7715200" cy="5276056"/>
          </a:xfrm>
        </p:spPr>
        <p:txBody>
          <a:bodyPr>
            <a:normAutofit/>
          </a:bodyPr>
          <a:lstStyle/>
          <a:p>
            <a:pPr>
              <a:buNone/>
            </a:pPr>
            <a:r>
              <a:rPr lang="tr-TR" sz="1600" b="1" dirty="0">
                <a:latin typeface="+mj-lt"/>
              </a:rPr>
              <a:t>Kaza ve Acil Durumlarla İlgili Düzenlemeler</a:t>
            </a:r>
            <a:endParaRPr lang="tr-TR" sz="1600" dirty="0">
              <a:latin typeface="+mj-lt"/>
            </a:endParaRPr>
          </a:p>
          <a:p>
            <a:pPr>
              <a:buNone/>
            </a:pPr>
            <a:r>
              <a:rPr lang="tr-TR" sz="1800" b="1" dirty="0">
                <a:latin typeface="+mj-lt"/>
              </a:rPr>
              <a:t>Madde 9 —</a:t>
            </a:r>
            <a:r>
              <a:rPr lang="tr-TR" sz="1800" dirty="0">
                <a:latin typeface="+mj-lt"/>
              </a:rPr>
              <a:t> İşyerlerinde, kaza ve acil durumlarda uyulması gereken hususlar aşağıda belirtilmiştir:</a:t>
            </a:r>
          </a:p>
          <a:p>
            <a:pPr>
              <a:buNone/>
            </a:pPr>
            <a:r>
              <a:rPr lang="tr-TR" sz="1800" dirty="0">
                <a:latin typeface="+mj-lt"/>
              </a:rPr>
              <a:t>a) İşveren, İş Sağlığı ve Güvenliği Yönetmeliğinin 8 inci madde hükmü saklı kalmak kaydı ile işyerindeki tehlikeli kimyasal maddelerden kaynaklanacak kaza, olay ve acil durumlarda yapılacak işleri önceden belirleyen bir acil eylem planı hazırlamak ve planın gerektirdiği düzenlemeleri yapmakla yükümlüdür. İşyerinde belli aralıklarla acil eylem planı ile ilgili uygulamalı eğitim ve tatbikat yapılacak ve uygun ilkyardım imkanları sağlanacaktır.</a:t>
            </a:r>
          </a:p>
          <a:p>
            <a:pPr>
              <a:buNone/>
            </a:pPr>
            <a:r>
              <a:rPr lang="tr-TR" sz="1800" dirty="0">
                <a:latin typeface="+mj-lt"/>
              </a:rPr>
              <a:t>b) İşveren kaza halinde ve acil durumlarda, olayın etkilerini azaltacak tüm önlemleri derhal alacak ve işçileri durumdan haberdar edecektir.</a:t>
            </a:r>
          </a:p>
          <a:p>
            <a:pPr>
              <a:buNone/>
            </a:pPr>
            <a:r>
              <a:rPr lang="tr-TR" sz="1800" dirty="0">
                <a:latin typeface="+mj-lt"/>
              </a:rPr>
              <a:t>Durumun en kısa zamanda normale dönmesi için gerekli çalışmalar yapılacak ve etkilenmiş alana zorunlu işlerin yapılması için görevli kişilerden başkasının girmesine izin verilmeyecektir.</a:t>
            </a: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6</a:t>
            </a:fld>
            <a:endParaRPr lang="es-ES"/>
          </a:p>
        </p:txBody>
      </p:sp>
    </p:spTree>
    <p:extLst>
      <p:ext uri="{BB962C8B-B14F-4D97-AF65-F5344CB8AC3E}">
        <p14:creationId xmlns="" xmlns:p14="http://schemas.microsoft.com/office/powerpoint/2010/main" val="26699021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79512" y="344907"/>
            <a:ext cx="8208912" cy="6468469"/>
          </a:xfrm>
        </p:spPr>
        <p:txBody>
          <a:bodyPr>
            <a:normAutofit fontScale="92500" lnSpcReduction="10000"/>
          </a:bodyPr>
          <a:lstStyle/>
          <a:p>
            <a:pPr>
              <a:buNone/>
            </a:pPr>
            <a:r>
              <a:rPr lang="tr-TR" dirty="0">
                <a:latin typeface="+mj-lt"/>
              </a:rPr>
              <a:t>c) Etkilenmiş alana girmesine izin verilen kişilere uygun koruyucu giyim eşyası, kişisel koruyucu donanım ve özel güvenlik ekipmanı verilecek ve bu durum devam ettiği sürece kullanmaları sağlanacak, ancak bu durum sürekli olmayacaktır. Koruyucu araç ve gereci bulunmayan kişilerin etkilenmiş alana girmesine izin verilmeyecektir.</a:t>
            </a:r>
          </a:p>
          <a:p>
            <a:pPr>
              <a:buNone/>
            </a:pPr>
            <a:endParaRPr lang="tr-TR" dirty="0">
              <a:latin typeface="+mj-lt"/>
            </a:endParaRPr>
          </a:p>
          <a:p>
            <a:pPr>
              <a:buNone/>
            </a:pPr>
            <a:r>
              <a:rPr lang="tr-TR" dirty="0">
                <a:latin typeface="+mj-lt"/>
              </a:rPr>
              <a:t>d) İşveren, İş Sağlığı ve Güvenliği Yönetmeliğinin 8 inci madde hükmü saklı kalmak kaydı ile kurtarma, tahliye ve yardım işlerinin en kısa zamanda yapılabilmesi için, sağlık ve güvenlik yönünden riskin arttığını bildiren gerekli uyarı ve haberleşme sistemlerini kuracaktır.</a:t>
            </a:r>
          </a:p>
          <a:p>
            <a:pPr>
              <a:buNone/>
            </a:pPr>
            <a:endParaRPr lang="tr-TR" dirty="0">
              <a:latin typeface="+mj-lt"/>
            </a:endParaRPr>
          </a:p>
          <a:p>
            <a:pPr>
              <a:buNone/>
            </a:pPr>
            <a:r>
              <a:rPr lang="tr-TR" dirty="0">
                <a:latin typeface="+mj-lt"/>
              </a:rPr>
              <a:t>e) İşveren, tehlikeli kimyasallarla ilgili acil durum düzenlemeleri hakkındaki bilgileri kullanıma hazır bulunduracaktır. İşyerindeki ve işyeri dışındaki ilgili kaza servisleri ve acil servisler bu bilgilere kolayca ulaşabileceklerdir. Bu bilgiler;</a:t>
            </a:r>
          </a:p>
          <a:p>
            <a:pPr>
              <a:buNone/>
            </a:pPr>
            <a:endParaRPr lang="tr-TR" dirty="0">
              <a:latin typeface="+mj-lt"/>
            </a:endParaRPr>
          </a:p>
          <a:p>
            <a:pPr>
              <a:buNone/>
            </a:pPr>
            <a:r>
              <a:rPr lang="tr-TR" dirty="0">
                <a:latin typeface="+mj-lt"/>
              </a:rPr>
              <a:t>	1) Acil servislerin önceden hazır olabilmeleri ve uygun müdahaleyi yapabilmeleri için, yapılan işteki tehlikeler, alınacak önlemler ve yapılacak işler ve</a:t>
            </a:r>
          </a:p>
          <a:p>
            <a:pPr>
              <a:buNone/>
            </a:pPr>
            <a:r>
              <a:rPr lang="tr-TR" dirty="0">
                <a:latin typeface="+mj-lt"/>
              </a:rPr>
              <a:t>	2) Kaza halinde veya acil durumda ortaya çıkması muhtemel özel tehlike ve yapılacak işler hakkında bilgileri içerecektir.</a:t>
            </a: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7</a:t>
            </a:fld>
            <a:endParaRPr lang="es-ES"/>
          </a:p>
        </p:txBody>
      </p:sp>
    </p:spTree>
    <p:extLst>
      <p:ext uri="{BB962C8B-B14F-4D97-AF65-F5344CB8AC3E}">
        <p14:creationId xmlns="" xmlns:p14="http://schemas.microsoft.com/office/powerpoint/2010/main" val="3688094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latin typeface="+mj-lt"/>
              </a:rPr>
              <a:t>6331 SAYILI KANUN</a:t>
            </a:r>
          </a:p>
        </p:txBody>
      </p:sp>
      <p:sp>
        <p:nvSpPr>
          <p:cNvPr id="3" name="2 İçerik Yer Tutucusu"/>
          <p:cNvSpPr>
            <a:spLocks noGrp="1"/>
          </p:cNvSpPr>
          <p:nvPr>
            <p:ph idx="1"/>
          </p:nvPr>
        </p:nvSpPr>
        <p:spPr>
          <a:xfrm>
            <a:off x="457200" y="1196752"/>
            <a:ext cx="7931224" cy="5661248"/>
          </a:xfrm>
        </p:spPr>
        <p:txBody>
          <a:bodyPr>
            <a:normAutofit fontScale="92500"/>
          </a:bodyPr>
          <a:lstStyle/>
          <a:p>
            <a:r>
              <a:rPr lang="tr-TR" b="1" dirty="0">
                <a:latin typeface="+mj-lt"/>
              </a:rPr>
              <a:t>Acil durum planları, yangınla mücadele ve ilk yardım</a:t>
            </a:r>
            <a:endParaRPr lang="tr-TR" dirty="0">
              <a:latin typeface="+mj-lt"/>
            </a:endParaRPr>
          </a:p>
          <a:p>
            <a:pPr>
              <a:buNone/>
            </a:pPr>
            <a:r>
              <a:rPr lang="tr-TR" b="1" dirty="0">
                <a:latin typeface="+mj-lt"/>
              </a:rPr>
              <a:t>MADDE 11 – </a:t>
            </a:r>
            <a:r>
              <a:rPr lang="tr-TR" dirty="0">
                <a:latin typeface="+mj-lt"/>
              </a:rPr>
              <a:t>(1) İşveren;</a:t>
            </a:r>
          </a:p>
          <a:p>
            <a:pPr>
              <a:buNone/>
            </a:pPr>
            <a:r>
              <a:rPr lang="tr-TR" dirty="0">
                <a:latin typeface="+mj-lt"/>
              </a:rPr>
              <a:t>a) Çalışma ortamı, kullanılan maddeler, iş ekipmanı ile çevre şartlarını dikkate alarak meydana gelebilecek acil durumları önceden değerlendirerek, çalışanları ve çalışma çevresini etkilemesi mümkün ve muhtemel acil durumları belirler ve bunların olumsuz etkilerini önleyici ve sınırlandırıcı tedbirleri alır.</a:t>
            </a:r>
          </a:p>
          <a:p>
            <a:pPr>
              <a:buNone/>
            </a:pPr>
            <a:r>
              <a:rPr lang="tr-TR" dirty="0">
                <a:latin typeface="+mj-lt"/>
              </a:rPr>
              <a:t>b) Acil durumların olumsuz etkilerinden korunmak üzere gerekli ölçüm ve değerlendirmeleri yapar, acil durum planlarını hazırlar.</a:t>
            </a:r>
          </a:p>
          <a:p>
            <a:pPr>
              <a:buNone/>
            </a:pPr>
            <a:r>
              <a:rPr lang="tr-TR" dirty="0">
                <a:latin typeface="+mj-lt"/>
              </a:rPr>
              <a:t>c) Acil durumlarla mücadele için işyerinin büyüklüğü ve taşıdığı özel tehlikeler, yapılan işin niteliği, çalışan sayısı ile işyerinde bulunan diğer kişileri dikkate alarak; önleme, koruma, tahliye, yangınla mücadele, ilk yardım ve benzeri konularda uygun donanıma sahip ve bu konularda eğitimli yeterli sayıda kişiyi görevlendirir, araç ve gereçleri sağlayarak eğitim ve tatbikatları yaptırır ve ekiplerin her zaman hazır bulunmalarını sağlar.</a:t>
            </a: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8</a:t>
            </a:fld>
            <a:endParaRPr lang="es-ES"/>
          </a:p>
        </p:txBody>
      </p:sp>
    </p:spTree>
    <p:extLst>
      <p:ext uri="{BB962C8B-B14F-4D97-AF65-F5344CB8AC3E}">
        <p14:creationId xmlns="" xmlns:p14="http://schemas.microsoft.com/office/powerpoint/2010/main" val="2476748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179512" y="836712"/>
            <a:ext cx="8229600" cy="5361459"/>
          </a:xfrm>
        </p:spPr>
        <p:txBody>
          <a:bodyPr>
            <a:normAutofit/>
          </a:bodyPr>
          <a:lstStyle/>
          <a:p>
            <a:pPr>
              <a:buNone/>
            </a:pPr>
            <a:r>
              <a:rPr lang="tr-TR" sz="2600" dirty="0">
                <a:latin typeface="+mj-lt"/>
              </a:rPr>
              <a:t>ç) Özellikle ilk yardım, acil tıbbi müdahale, kurtarma ve yangınla mücadele konularında, işyeri dışındaki kuruluşlarla irtibatı sağlayacak gerekli düzenlemeleri yapar.</a:t>
            </a:r>
          </a:p>
          <a:p>
            <a:pPr>
              <a:buNone/>
            </a:pPr>
            <a:r>
              <a:rPr lang="tr-TR" sz="2600" b="1" dirty="0">
                <a:latin typeface="+mj-lt"/>
              </a:rPr>
              <a:t>Tahliye</a:t>
            </a:r>
            <a:endParaRPr lang="tr-TR" sz="2600" dirty="0">
              <a:latin typeface="+mj-lt"/>
            </a:endParaRPr>
          </a:p>
          <a:p>
            <a:pPr>
              <a:buNone/>
            </a:pPr>
            <a:r>
              <a:rPr lang="tr-TR" sz="2600" b="1" dirty="0">
                <a:latin typeface="+mj-lt"/>
              </a:rPr>
              <a:t>MADDE 12 – </a:t>
            </a:r>
            <a:r>
              <a:rPr lang="tr-TR" sz="2600" dirty="0">
                <a:latin typeface="+mj-lt"/>
              </a:rPr>
              <a:t>(1) Ciddi, yakın ve önlenemeyen tehlikenin meydana gelmesi durumunda işveren;</a:t>
            </a:r>
          </a:p>
          <a:p>
            <a:pPr>
              <a:buNone/>
            </a:pPr>
            <a:r>
              <a:rPr lang="tr-TR" sz="2600" dirty="0">
                <a:latin typeface="+mj-lt"/>
              </a:rPr>
              <a:t>a) Çalışanların işi bırakarak derhal çalışma yerlerinden ayrılıp güvenli bir yere gidebilmeleri için, önceden gerekli düzenlemeleri yapar ve çalışanlara gerekli talimatları verir.</a:t>
            </a:r>
          </a:p>
          <a:p>
            <a:endParaRPr lang="tr-TR" dirty="0">
              <a:latin typeface="+mj-lt"/>
            </a:endParaRP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9</a:t>
            </a:fld>
            <a:endParaRPr lang="es-ES"/>
          </a:p>
        </p:txBody>
      </p:sp>
    </p:spTree>
    <p:extLst>
      <p:ext uri="{BB962C8B-B14F-4D97-AF65-F5344CB8AC3E}">
        <p14:creationId xmlns="" xmlns:p14="http://schemas.microsoft.com/office/powerpoint/2010/main" val="448885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sz="2200" dirty="0">
                <a:latin typeface="+mj-lt"/>
              </a:rPr>
              <a:t/>
            </a:r>
            <a:br>
              <a:rPr lang="tr-TR" sz="2200" dirty="0">
                <a:latin typeface="+mj-lt"/>
              </a:rPr>
            </a:br>
            <a:r>
              <a:rPr lang="tr-TR" sz="2200" dirty="0">
                <a:solidFill>
                  <a:srgbClr val="000099"/>
                </a:solidFill>
                <a:latin typeface="+mj-lt"/>
              </a:rPr>
              <a:t/>
            </a:r>
            <a:br>
              <a:rPr lang="tr-TR" sz="2200" dirty="0">
                <a:solidFill>
                  <a:srgbClr val="000099"/>
                </a:solidFill>
                <a:latin typeface="+mj-lt"/>
              </a:rPr>
            </a:br>
            <a:r>
              <a:rPr lang="tr-TR" sz="3100" b="1" dirty="0">
                <a:solidFill>
                  <a:srgbClr val="000099"/>
                </a:solidFill>
                <a:latin typeface="+mj-lt"/>
              </a:rPr>
              <a:t>İŞYERLERİNDE ACİL DURUMLAR HAKKINDA YÖNETMELİK</a:t>
            </a:r>
            <a:r>
              <a:rPr lang="tr-TR" dirty="0">
                <a:latin typeface="+mj-lt"/>
              </a:rPr>
              <a:t/>
            </a:r>
            <a:br>
              <a:rPr lang="tr-TR" dirty="0">
                <a:latin typeface="+mj-lt"/>
              </a:rPr>
            </a:br>
            <a:r>
              <a:rPr lang="tr-TR" sz="3600" dirty="0">
                <a:latin typeface="+mj-lt"/>
              </a:rPr>
              <a:t> 18.06.2013 </a:t>
            </a:r>
          </a:p>
        </p:txBody>
      </p:sp>
      <p:sp>
        <p:nvSpPr>
          <p:cNvPr id="3" name="2 İçerik Yer Tutucusu"/>
          <p:cNvSpPr>
            <a:spLocks noGrp="1"/>
          </p:cNvSpPr>
          <p:nvPr>
            <p:ph idx="1"/>
          </p:nvPr>
        </p:nvSpPr>
        <p:spPr>
          <a:xfrm>
            <a:off x="457200" y="1988840"/>
            <a:ext cx="7931224" cy="4680520"/>
          </a:xfrm>
        </p:spPr>
        <p:txBody>
          <a:bodyPr>
            <a:normAutofit/>
          </a:bodyPr>
          <a:lstStyle/>
          <a:p>
            <a:pPr>
              <a:buNone/>
            </a:pPr>
            <a:r>
              <a:rPr lang="tr-TR" sz="2800" dirty="0">
                <a:solidFill>
                  <a:srgbClr val="FF0000"/>
                </a:solidFill>
                <a:latin typeface="+mj-lt"/>
              </a:rPr>
              <a:t>Acil durum</a:t>
            </a:r>
            <a:r>
              <a:rPr lang="tr-TR" sz="2800" dirty="0">
                <a:latin typeface="+mj-lt"/>
              </a:rPr>
              <a:t>: İşyerinin tamamında veya bir kısmında meydana gelebilecek yangın, patlama, tehlikeli kimyasal maddelerden kaynaklanan yayılım, doğal afet gibi acil müdahale, mücadele, ilkyardım veya tahliye gerektiren olayları, ifade eder</a:t>
            </a:r>
          </a:p>
          <a:p>
            <a:pPr>
              <a:buNone/>
            </a:pPr>
            <a:r>
              <a:rPr lang="tr-TR" sz="2800" dirty="0">
                <a:solidFill>
                  <a:srgbClr val="FF0000"/>
                </a:solidFill>
                <a:latin typeface="+mj-lt"/>
              </a:rPr>
              <a:t> Acil durum planı</a:t>
            </a:r>
            <a:r>
              <a:rPr lang="tr-TR" sz="2800" dirty="0">
                <a:latin typeface="+mj-lt"/>
              </a:rPr>
              <a:t>: İşyerlerinde meydana gelebilecek acil durumlarda yapılacak iş ve işlemler dahil bilgilerin ve uygulamaya yönelik eylemlerin yer aldığı planı,ifade eder</a:t>
            </a:r>
          </a:p>
          <a:p>
            <a:endParaRPr lang="tr-TR" sz="2800"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10</a:t>
            </a:fld>
            <a:endParaRPr lang="es-ES"/>
          </a:p>
        </p:txBody>
      </p:sp>
    </p:spTree>
    <p:extLst>
      <p:ext uri="{BB962C8B-B14F-4D97-AF65-F5344CB8AC3E}">
        <p14:creationId xmlns="" xmlns:p14="http://schemas.microsoft.com/office/powerpoint/2010/main" val="1349942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476672"/>
            <a:ext cx="7931224" cy="5976664"/>
          </a:xfrm>
        </p:spPr>
        <p:txBody>
          <a:bodyPr>
            <a:normAutofit fontScale="92500"/>
          </a:bodyPr>
          <a:lstStyle/>
          <a:p>
            <a:r>
              <a:rPr lang="tr-TR" b="1" dirty="0">
                <a:solidFill>
                  <a:srgbClr val="000099"/>
                </a:solidFill>
                <a:latin typeface="+mj-lt"/>
              </a:rPr>
              <a:t>İşverenin yükümlülükleri</a:t>
            </a:r>
            <a:endParaRPr lang="tr-TR" dirty="0">
              <a:solidFill>
                <a:srgbClr val="000099"/>
              </a:solidFill>
              <a:latin typeface="+mj-lt"/>
            </a:endParaRPr>
          </a:p>
          <a:p>
            <a:pPr>
              <a:buNone/>
            </a:pPr>
            <a:endParaRPr lang="tr-TR" dirty="0">
              <a:latin typeface="+mj-lt"/>
            </a:endParaRPr>
          </a:p>
          <a:p>
            <a:r>
              <a:rPr lang="tr-TR" dirty="0">
                <a:latin typeface="+mj-lt"/>
              </a:rPr>
              <a:t>a) Çalışma ortamı, kullanılan maddeler, iş ekipmanı ile çevre şartlarını dikkate alarak meydana gelebilecek ve çalışan ile çalışma çevresini etkileyecek acil durumları önceden değerlendirerek muhtemel acil durumları belirler.</a:t>
            </a:r>
          </a:p>
          <a:p>
            <a:r>
              <a:rPr lang="tr-TR" dirty="0">
                <a:latin typeface="+mj-lt"/>
              </a:rPr>
              <a:t>b) Acil durumların olumsuz etkilerini önleyici ve sınırlandırıcı tedbirleri alır.</a:t>
            </a:r>
          </a:p>
          <a:p>
            <a:r>
              <a:rPr lang="tr-TR" dirty="0">
                <a:latin typeface="+mj-lt"/>
              </a:rPr>
              <a:t>c) Acil durumların olumsuz etkilerinden korunmak üzere gerekli ölçüm ve değerlendirmeleri yapar.</a:t>
            </a:r>
          </a:p>
          <a:p>
            <a:r>
              <a:rPr lang="tr-TR" dirty="0">
                <a:latin typeface="+mj-lt"/>
              </a:rPr>
              <a:t>ç) Acil durum planlarını hazırlar ve tatbikatların yapılmasını sağlar.</a:t>
            </a:r>
          </a:p>
          <a:p>
            <a:r>
              <a:rPr lang="tr-TR" dirty="0">
                <a:latin typeface="+mj-lt"/>
              </a:rPr>
              <a:t>d) Acil durumlarla mücadele için işyerinin büyüklüğü ve taşıdığı özel tehlikeler, yapılan işin niteliği, çalışan sayısı ile işyerinde bulunan diğer kişileri dikkate alarak; önleme, koruma, tahliye, yangınla mücadele, ilk yardım ve benzeri konularda uygun donanıma sahip ve bu konularda eğitimli yeterli sayıda çalışanı görevlendirir ve her zaman hazır bulunmalarını sağlar.</a:t>
            </a:r>
          </a:p>
          <a:p>
            <a:endParaRPr lang="tr-TR" dirty="0">
              <a:latin typeface="+mj-lt"/>
            </a:endParaRP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11</a:t>
            </a:fld>
            <a:endParaRPr lang="es-ES"/>
          </a:p>
        </p:txBody>
      </p:sp>
    </p:spTree>
    <p:extLst>
      <p:ext uri="{BB962C8B-B14F-4D97-AF65-F5344CB8AC3E}">
        <p14:creationId xmlns="" xmlns:p14="http://schemas.microsoft.com/office/powerpoint/2010/main" val="31860638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404664"/>
            <a:ext cx="8003232" cy="5721499"/>
          </a:xfrm>
        </p:spPr>
        <p:txBody>
          <a:bodyPr>
            <a:normAutofit/>
          </a:bodyPr>
          <a:lstStyle/>
          <a:p>
            <a:pPr>
              <a:buNone/>
            </a:pPr>
            <a:r>
              <a:rPr lang="tr-TR" dirty="0">
                <a:latin typeface="+mj-lt"/>
              </a:rPr>
              <a:t>e) Özellikle ilk yardım, acil tıbbi müdahale, kurtarma ve yangınla mücadele konularında, işyeri dışındaki kuruluşlarla irtibatı sağlayacak gerekli düzenlemeleri yapar.</a:t>
            </a:r>
          </a:p>
          <a:p>
            <a:pPr>
              <a:buNone/>
            </a:pPr>
            <a:r>
              <a:rPr lang="tr-TR" dirty="0">
                <a:latin typeface="+mj-lt"/>
              </a:rPr>
              <a:t>f) Acil durumlarda enerji kaynaklarının ve tehlike yaratabilecek sistemlerin olumsuz durumlar yaratmayacak ve koruyucu sistemleri etkilemeyecek şekilde devre dışı bırakılması ile ilgili gerekli düzenlemeleri yapar.</a:t>
            </a:r>
          </a:p>
          <a:p>
            <a:pPr>
              <a:buNone/>
            </a:pPr>
            <a:r>
              <a:rPr lang="tr-TR" dirty="0">
                <a:latin typeface="+mj-lt"/>
              </a:rPr>
              <a:t>g) Varsa alt işveren ve geçici iş ilişkisi kurulan işverenin çalışanları ile müşteri ve ziyaretçi gibi işyerinde bulunan diğer kişileri acil durumlar konusunda bilgilendirir.</a:t>
            </a:r>
          </a:p>
          <a:p>
            <a:pPr>
              <a:buNone/>
            </a:pPr>
            <a:r>
              <a:rPr lang="tr-TR" dirty="0">
                <a:latin typeface="+mj-lt"/>
              </a:rPr>
              <a:t>(2) Acil durumlarla ilgili özel görevlendirilen çalışanların sorumlulukları işverenlerin konuya ilişkin yükümlülüğünü ortadan kaldırmaz.</a:t>
            </a:r>
          </a:p>
          <a:p>
            <a:endParaRPr lang="tr-TR" dirty="0">
              <a:latin typeface="+mj-lt"/>
            </a:endParaRP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12</a:t>
            </a:fld>
            <a:endParaRPr lang="es-ES"/>
          </a:p>
        </p:txBody>
      </p:sp>
    </p:spTree>
    <p:extLst>
      <p:ext uri="{BB962C8B-B14F-4D97-AF65-F5344CB8AC3E}">
        <p14:creationId xmlns="" xmlns:p14="http://schemas.microsoft.com/office/powerpoint/2010/main" val="2628430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260648"/>
            <a:ext cx="7931224" cy="5865515"/>
          </a:xfrm>
        </p:spPr>
        <p:txBody>
          <a:bodyPr>
            <a:normAutofit fontScale="92500" lnSpcReduction="20000"/>
          </a:bodyPr>
          <a:lstStyle/>
          <a:p>
            <a:pPr>
              <a:buNone/>
            </a:pPr>
            <a:r>
              <a:rPr lang="tr-TR" b="1" dirty="0">
                <a:solidFill>
                  <a:srgbClr val="000099"/>
                </a:solidFill>
                <a:latin typeface="+mj-lt"/>
              </a:rPr>
              <a:t>Çalışanların yükümlülük ve sorumlulukları</a:t>
            </a:r>
          </a:p>
          <a:p>
            <a:pPr>
              <a:buNone/>
            </a:pPr>
            <a:endParaRPr lang="tr-TR" dirty="0">
              <a:solidFill>
                <a:srgbClr val="FF0000"/>
              </a:solidFill>
              <a:latin typeface="+mj-lt"/>
            </a:endParaRPr>
          </a:p>
          <a:p>
            <a:pPr>
              <a:buNone/>
            </a:pPr>
            <a:r>
              <a:rPr lang="tr-TR" dirty="0">
                <a:latin typeface="+mj-lt"/>
              </a:rPr>
              <a:t>a) Acil durum planında belirtilen hususlar dahilinde alınan önleyici ve sınırlandırıcı tedbirlere uymak.</a:t>
            </a:r>
          </a:p>
          <a:p>
            <a:pPr>
              <a:buNone/>
            </a:pPr>
            <a:r>
              <a:rPr lang="tr-TR" dirty="0">
                <a:latin typeface="+mj-lt"/>
              </a:rPr>
              <a:t>b) İşyerindeki makine, cihaz, araç, gereç, tesis ve binalarda kendileri ve diğer kişilerin sağlık ve güvenliğini tehlikeye düşürecek acil durum ile karşılaştıklarında; hemen  en yakın amirine, acil durumla ilgili görevlendirilen sorumluya veya çalışan temsilcisine haber vermek.</a:t>
            </a:r>
          </a:p>
          <a:p>
            <a:pPr>
              <a:buNone/>
            </a:pPr>
            <a:r>
              <a:rPr lang="tr-TR" dirty="0">
                <a:latin typeface="+mj-lt"/>
              </a:rPr>
              <a:t>c) Acil durumun giderilmesi için, işveren ile işyeri dışındaki ilgili kuruluşlardan olay yerine intikal eden ekiplerin talimatlarına uymak.</a:t>
            </a:r>
          </a:p>
          <a:p>
            <a:pPr>
              <a:buNone/>
            </a:pPr>
            <a:r>
              <a:rPr lang="tr-TR" dirty="0">
                <a:latin typeface="+mj-lt"/>
              </a:rPr>
              <a:t>ç) Acil durumlar sırasında kendisinin ve çalışma arkadaşlarının hayatını tehlikeye düşürmeyecek şekilde davranmak.</a:t>
            </a:r>
          </a:p>
          <a:p>
            <a:pPr>
              <a:buNone/>
            </a:pPr>
            <a:r>
              <a:rPr lang="tr-TR" dirty="0">
                <a:latin typeface="+mj-lt"/>
              </a:rPr>
              <a:t>(2) İşveren, çalışanların kendileri veya diğer kişilerin güvenliği için ciddi ve yakın bir tehlike ile karşılaştıkları ve amirine hemen haber veremedikleri durumlarda; istenmeyen sonuçların önlenmesi için, bilgileri ve mevcut teknik donanımları çerçevesinde müdahale edebilmelerine imkân sağlar</a:t>
            </a:r>
            <a:r>
              <a:rPr lang="tr-TR" dirty="0">
                <a:solidFill>
                  <a:srgbClr val="FF0000"/>
                </a:solidFill>
                <a:latin typeface="+mj-lt"/>
              </a:rPr>
              <a:t>. Böyle bir durumda çalışanlar, ihmal veya dikkatsiz davranışları olmadıkça yaptıkları müdahaleden dolayı sorumlu tutulamaz.</a:t>
            </a:r>
          </a:p>
          <a:p>
            <a:endParaRPr lang="tr-TR" dirty="0">
              <a:latin typeface="+mj-lt"/>
            </a:endParaRP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13</a:t>
            </a:fld>
            <a:endParaRPr lang="es-ES"/>
          </a:p>
        </p:txBody>
      </p:sp>
    </p:spTree>
    <p:extLst>
      <p:ext uri="{BB962C8B-B14F-4D97-AF65-F5344CB8AC3E}">
        <p14:creationId xmlns="" xmlns:p14="http://schemas.microsoft.com/office/powerpoint/2010/main" val="1546934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a:solidFill>
                  <a:srgbClr val="000099"/>
                </a:solidFill>
                <a:latin typeface="+mj-lt"/>
              </a:rPr>
              <a:t>Acil Durum Planının Hazırlanması</a:t>
            </a:r>
            <a:endParaRPr lang="tr-TR" dirty="0">
              <a:solidFill>
                <a:srgbClr val="000099"/>
              </a:solidFill>
              <a:latin typeface="+mj-lt"/>
            </a:endParaRPr>
          </a:p>
        </p:txBody>
      </p:sp>
      <p:sp>
        <p:nvSpPr>
          <p:cNvPr id="3" name="2 İçerik Yer Tutucusu"/>
          <p:cNvSpPr>
            <a:spLocks noGrp="1"/>
          </p:cNvSpPr>
          <p:nvPr>
            <p:ph idx="1"/>
          </p:nvPr>
        </p:nvSpPr>
        <p:spPr/>
        <p:txBody>
          <a:bodyPr>
            <a:normAutofit/>
          </a:bodyPr>
          <a:lstStyle/>
          <a:p>
            <a:r>
              <a:rPr lang="tr-TR" dirty="0">
                <a:latin typeface="+mj-lt"/>
              </a:rPr>
              <a:t> Acil durum planı, </a:t>
            </a:r>
          </a:p>
          <a:p>
            <a:r>
              <a:rPr lang="tr-TR" dirty="0">
                <a:latin typeface="+mj-lt"/>
              </a:rPr>
              <a:t>tüm işyerleri için tasarım veya kuruluş aşamasından başlamak üzere acil durumların belirlenmesi, </a:t>
            </a:r>
          </a:p>
          <a:p>
            <a:r>
              <a:rPr lang="tr-TR" dirty="0">
                <a:latin typeface="+mj-lt"/>
              </a:rPr>
              <a:t>bunların olumsuz etkilerini önleyici ve sınırlandırıcı tedbirlerin alınması,</a:t>
            </a:r>
          </a:p>
          <a:p>
            <a:r>
              <a:rPr lang="tr-TR" dirty="0">
                <a:latin typeface="+mj-lt"/>
              </a:rPr>
              <a:t> görevlendirilecek kişilerin belirlenmesi,</a:t>
            </a:r>
          </a:p>
          <a:p>
            <a:r>
              <a:rPr lang="tr-TR" dirty="0">
                <a:latin typeface="+mj-lt"/>
              </a:rPr>
              <a:t> acil durum müdahale ve tahliye yöntemlerinin oluşturulması, </a:t>
            </a:r>
          </a:p>
          <a:p>
            <a:r>
              <a:rPr lang="tr-TR" dirty="0">
                <a:latin typeface="+mj-lt"/>
              </a:rPr>
              <a:t>dokümantasyon, </a:t>
            </a:r>
          </a:p>
          <a:p>
            <a:r>
              <a:rPr lang="tr-TR" dirty="0">
                <a:latin typeface="+mj-lt"/>
              </a:rPr>
              <a:t>Tatbikat</a:t>
            </a:r>
          </a:p>
          <a:p>
            <a:r>
              <a:rPr lang="tr-TR" dirty="0">
                <a:latin typeface="+mj-lt"/>
              </a:rPr>
              <a:t> ve acil durum planının yenilenmesi </a:t>
            </a:r>
          </a:p>
          <a:p>
            <a:r>
              <a:rPr lang="tr-TR" dirty="0">
                <a:latin typeface="+mj-lt"/>
              </a:rPr>
              <a:t>aşamaları izlenerek hazırlanır.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14</a:t>
            </a:fld>
            <a:endParaRPr lang="es-ES"/>
          </a:p>
        </p:txBody>
      </p:sp>
    </p:spTree>
    <p:extLst>
      <p:ext uri="{BB962C8B-B14F-4D97-AF65-F5344CB8AC3E}">
        <p14:creationId xmlns="" xmlns:p14="http://schemas.microsoft.com/office/powerpoint/2010/main" val="6623202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a:solidFill>
                  <a:srgbClr val="000099"/>
                </a:solidFill>
                <a:latin typeface="+mj-lt"/>
              </a:rPr>
              <a:t>Acil durumların belirlenmesi</a:t>
            </a:r>
            <a:endParaRPr lang="tr-TR" dirty="0">
              <a:solidFill>
                <a:srgbClr val="000099"/>
              </a:solidFill>
              <a:latin typeface="+mj-lt"/>
            </a:endParaRPr>
          </a:p>
        </p:txBody>
      </p:sp>
      <p:sp>
        <p:nvSpPr>
          <p:cNvPr id="3" name="2 İçerik Yer Tutucusu"/>
          <p:cNvSpPr>
            <a:spLocks noGrp="1"/>
          </p:cNvSpPr>
          <p:nvPr>
            <p:ph idx="1"/>
          </p:nvPr>
        </p:nvSpPr>
        <p:spPr/>
        <p:txBody>
          <a:bodyPr>
            <a:normAutofit/>
          </a:bodyPr>
          <a:lstStyle/>
          <a:p>
            <a:pPr>
              <a:buNone/>
            </a:pPr>
            <a:endParaRPr lang="tr-TR" dirty="0">
              <a:latin typeface="+mj-lt"/>
            </a:endParaRPr>
          </a:p>
          <a:p>
            <a:r>
              <a:rPr lang="tr-TR" dirty="0">
                <a:latin typeface="+mj-lt"/>
              </a:rPr>
              <a:t>İşyerinde meydana gelebilecek acil durumlar aşağıdaki hususlar dikkate alınarak belirlenir:</a:t>
            </a:r>
          </a:p>
          <a:p>
            <a:endParaRPr lang="tr-TR" dirty="0">
              <a:latin typeface="+mj-lt"/>
            </a:endParaRPr>
          </a:p>
          <a:p>
            <a:r>
              <a:rPr lang="tr-TR" dirty="0">
                <a:solidFill>
                  <a:srgbClr val="FF0000"/>
                </a:solidFill>
                <a:latin typeface="+mj-lt"/>
              </a:rPr>
              <a:t>a) Risk değerlendirmesi sonuçları.</a:t>
            </a:r>
          </a:p>
          <a:p>
            <a:r>
              <a:rPr lang="tr-TR" dirty="0">
                <a:solidFill>
                  <a:srgbClr val="FF0000"/>
                </a:solidFill>
                <a:latin typeface="+mj-lt"/>
              </a:rPr>
              <a:t>b) Yangın, tehlikeli kimyasal maddelerden kaynaklanan yayılım ve patlama ihtimali.</a:t>
            </a:r>
          </a:p>
          <a:p>
            <a:r>
              <a:rPr lang="tr-TR" dirty="0">
                <a:solidFill>
                  <a:srgbClr val="FF0000"/>
                </a:solidFill>
                <a:latin typeface="+mj-lt"/>
              </a:rPr>
              <a:t>c) İlk yardım ve tahliye gerektirecek olaylar.</a:t>
            </a:r>
          </a:p>
          <a:p>
            <a:r>
              <a:rPr lang="tr-TR" dirty="0">
                <a:solidFill>
                  <a:srgbClr val="FF0000"/>
                </a:solidFill>
                <a:latin typeface="+mj-lt"/>
              </a:rPr>
              <a:t>ç) Doğal afetlerin meydana gelme ihtimali.</a:t>
            </a:r>
          </a:p>
          <a:p>
            <a:r>
              <a:rPr lang="tr-TR" dirty="0">
                <a:solidFill>
                  <a:srgbClr val="FF0000"/>
                </a:solidFill>
                <a:latin typeface="+mj-lt"/>
              </a:rPr>
              <a:t>d) Sabotaj ihtimali.</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15</a:t>
            </a:fld>
            <a:endParaRPr lang="es-ES"/>
          </a:p>
        </p:txBody>
      </p:sp>
    </p:spTree>
    <p:extLst>
      <p:ext uri="{BB962C8B-B14F-4D97-AF65-F5344CB8AC3E}">
        <p14:creationId xmlns="" xmlns:p14="http://schemas.microsoft.com/office/powerpoint/2010/main" val="3843745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188640"/>
            <a:ext cx="8229600" cy="1228998"/>
          </a:xfrm>
        </p:spPr>
        <p:txBody>
          <a:bodyPr>
            <a:normAutofit fontScale="90000"/>
          </a:bodyPr>
          <a:lstStyle/>
          <a:p>
            <a:r>
              <a:rPr lang="tr-TR" b="1" dirty="0">
                <a:latin typeface="+mj-lt"/>
              </a:rPr>
              <a:t/>
            </a:r>
            <a:br>
              <a:rPr lang="tr-TR" b="1" dirty="0">
                <a:latin typeface="+mj-lt"/>
              </a:rPr>
            </a:br>
            <a:r>
              <a:rPr lang="tr-TR" b="1" dirty="0">
                <a:solidFill>
                  <a:srgbClr val="000099"/>
                </a:solidFill>
                <a:latin typeface="+mj-lt"/>
              </a:rPr>
              <a:t>Acil durumlar için </a:t>
            </a:r>
            <a:br>
              <a:rPr lang="tr-TR" b="1" dirty="0">
                <a:solidFill>
                  <a:srgbClr val="000099"/>
                </a:solidFill>
                <a:latin typeface="+mj-lt"/>
              </a:rPr>
            </a:br>
            <a:r>
              <a:rPr lang="tr-TR" b="1" dirty="0">
                <a:solidFill>
                  <a:srgbClr val="000099"/>
                </a:solidFill>
                <a:latin typeface="+mj-lt"/>
              </a:rPr>
              <a:t>Önleyici ve sınırlandırıcı tedbirler</a:t>
            </a:r>
            <a:r>
              <a:rPr lang="tr-TR" dirty="0">
                <a:solidFill>
                  <a:srgbClr val="000099"/>
                </a:solidFill>
                <a:latin typeface="+mj-lt"/>
              </a:rPr>
              <a:t/>
            </a:r>
            <a:br>
              <a:rPr lang="tr-TR" dirty="0">
                <a:solidFill>
                  <a:srgbClr val="000099"/>
                </a:solidFill>
                <a:latin typeface="+mj-lt"/>
              </a:rPr>
            </a:br>
            <a:endParaRPr lang="tr-TR" dirty="0">
              <a:solidFill>
                <a:srgbClr val="000099"/>
              </a:solidFill>
              <a:latin typeface="+mj-lt"/>
            </a:endParaRPr>
          </a:p>
        </p:txBody>
      </p:sp>
      <p:sp>
        <p:nvSpPr>
          <p:cNvPr id="3" name="2 İçerik Yer Tutucusu"/>
          <p:cNvSpPr>
            <a:spLocks noGrp="1"/>
          </p:cNvSpPr>
          <p:nvPr>
            <p:ph idx="1"/>
          </p:nvPr>
        </p:nvSpPr>
        <p:spPr/>
        <p:txBody>
          <a:bodyPr>
            <a:normAutofit/>
          </a:bodyPr>
          <a:lstStyle/>
          <a:p>
            <a:r>
              <a:rPr lang="tr-TR" dirty="0">
                <a:latin typeface="+mj-lt"/>
              </a:rPr>
              <a:t>(1) İşveren, belirlediği mümkün ve muhtemel acil durumların oluşturabileceği zararları önlemek ve daha büyük etkilerini sınırlandırmak üzere gerekli tedbirleri alır.</a:t>
            </a:r>
          </a:p>
          <a:p>
            <a:r>
              <a:rPr lang="tr-TR" dirty="0">
                <a:latin typeface="+mj-lt"/>
              </a:rPr>
              <a:t>(2) Acil durumların olumsuz etkilerinden korunmak üzere tedbirler belirlenirken gerekli olduğu durumda ölçüm ve değerlendirmeler yapılır.</a:t>
            </a:r>
          </a:p>
          <a:p>
            <a:r>
              <a:rPr lang="tr-TR" dirty="0">
                <a:latin typeface="+mj-lt"/>
              </a:rPr>
              <a:t>(3) Alınacak tedbirler, risklerden korunma ilkelerine uygun olur ve </a:t>
            </a:r>
            <a:r>
              <a:rPr lang="tr-TR" dirty="0">
                <a:solidFill>
                  <a:srgbClr val="FF0000"/>
                </a:solidFill>
                <a:latin typeface="+mj-lt"/>
              </a:rPr>
              <a:t>toplu korumayı esas alır.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16</a:t>
            </a:fld>
            <a:endParaRPr lang="es-ES"/>
          </a:p>
        </p:txBody>
      </p:sp>
    </p:spTree>
    <p:extLst>
      <p:ext uri="{BB962C8B-B14F-4D97-AF65-F5344CB8AC3E}">
        <p14:creationId xmlns="" xmlns:p14="http://schemas.microsoft.com/office/powerpoint/2010/main" val="1541048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67544" y="260648"/>
            <a:ext cx="8229600" cy="1143000"/>
          </a:xfrm>
        </p:spPr>
        <p:txBody>
          <a:bodyPr>
            <a:normAutofit fontScale="90000"/>
          </a:bodyPr>
          <a:lstStyle/>
          <a:p>
            <a:r>
              <a:rPr lang="tr-TR" b="1" dirty="0">
                <a:solidFill>
                  <a:srgbClr val="000099"/>
                </a:solidFill>
                <a:latin typeface="+mj-lt"/>
              </a:rPr>
              <a:t>Acil durum müdahale ve tahliye yöntemleri</a:t>
            </a:r>
            <a:endParaRPr lang="tr-TR" dirty="0">
              <a:solidFill>
                <a:srgbClr val="000099"/>
              </a:solidFill>
              <a:latin typeface="+mj-lt"/>
            </a:endParaRPr>
          </a:p>
        </p:txBody>
      </p:sp>
      <p:sp>
        <p:nvSpPr>
          <p:cNvPr id="3" name="2 İçerik Yer Tutucusu"/>
          <p:cNvSpPr>
            <a:spLocks noGrp="1"/>
          </p:cNvSpPr>
          <p:nvPr>
            <p:ph idx="1"/>
          </p:nvPr>
        </p:nvSpPr>
        <p:spPr/>
        <p:txBody>
          <a:bodyPr>
            <a:normAutofit lnSpcReduction="10000"/>
          </a:bodyPr>
          <a:lstStyle/>
          <a:p>
            <a:r>
              <a:rPr lang="tr-TR" dirty="0">
                <a:latin typeface="+mj-lt"/>
              </a:rPr>
              <a:t> (1) İşverence acil durumların meydana gelmesi halinde uyarı verme, arama, kurtarma, tahliye, haberleşme, ilk yardım ve yangınla mücadele gibi uygulanması gereken acil durum müdahale yöntemleri belirlenir ve yazılı hale getirilir.</a:t>
            </a:r>
          </a:p>
          <a:p>
            <a:r>
              <a:rPr lang="tr-TR" dirty="0">
                <a:latin typeface="+mj-lt"/>
              </a:rPr>
              <a:t>(2) Tahliye sonrası, işyeri dâhilinde kalmış olabilecek çalışanların belirlenmesi için sayım da dâhil olmak üzere gerekli kontroller yapılır.</a:t>
            </a:r>
          </a:p>
          <a:p>
            <a:r>
              <a:rPr lang="tr-TR" dirty="0">
                <a:latin typeface="+mj-lt"/>
              </a:rPr>
              <a:t>(3) İşveren, işyerinde acil durumların meydana gelmesi halinde çalışanların bu durumun olumsuz etkilerinden korunması için bulundukları yerden güvenli bir yere gidebilmeleri amacıyla izlenebilecek uygun tahliye düzenlemelerini acil durum planında belirtir ve çalışanlara önceden gerekli talimatları verir.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17</a:t>
            </a:fld>
            <a:endParaRPr lang="es-ES"/>
          </a:p>
        </p:txBody>
      </p:sp>
    </p:spTree>
    <p:extLst>
      <p:ext uri="{BB962C8B-B14F-4D97-AF65-F5344CB8AC3E}">
        <p14:creationId xmlns="" xmlns:p14="http://schemas.microsoft.com/office/powerpoint/2010/main" val="12951472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980728"/>
            <a:ext cx="8229600" cy="5145435"/>
          </a:xfrm>
        </p:spPr>
        <p:txBody>
          <a:bodyPr>
            <a:normAutofit/>
          </a:bodyPr>
          <a:lstStyle/>
          <a:p>
            <a:r>
              <a:rPr lang="tr-TR" dirty="0">
                <a:latin typeface="+mj-lt"/>
              </a:rPr>
              <a:t>(4) İşyerlerinde yaşlı, engelli, gebe veya kreş var ise çocuklara tahliye esnasında refakat edilmesi için tedbirler alınır.</a:t>
            </a:r>
          </a:p>
          <a:p>
            <a:r>
              <a:rPr lang="tr-TR" dirty="0">
                <a:latin typeface="+mj-lt"/>
              </a:rPr>
              <a:t>(5) Acil durum müdahale ve tahliye yöntemleri oluşturulurken 27/11/2007 tarihli ve 2007/12937 sayılı Bakanlar Kurulu Kararıyla yürürlüğe konulan Binaların Yangından Korunması Hakkında Yönetmelik hükümleri dikkate alınır.</a:t>
            </a:r>
          </a:p>
          <a:p>
            <a:endParaRPr lang="tr-TR" dirty="0">
              <a:latin typeface="+mj-lt"/>
            </a:endParaRP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18</a:t>
            </a:fld>
            <a:endParaRPr lang="es-ES"/>
          </a:p>
        </p:txBody>
      </p:sp>
    </p:spTree>
    <p:extLst>
      <p:ext uri="{BB962C8B-B14F-4D97-AF65-F5344CB8AC3E}">
        <p14:creationId xmlns="" xmlns:p14="http://schemas.microsoft.com/office/powerpoint/2010/main" val="2390151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idx="1"/>
          </p:nvPr>
        </p:nvSpPr>
        <p:spPr>
          <a:xfrm>
            <a:off x="457200" y="620688"/>
            <a:ext cx="8229600" cy="5505475"/>
          </a:xfrm>
        </p:spPr>
        <p:txBody>
          <a:bodyPr>
            <a:normAutofit/>
          </a:bodyPr>
          <a:lstStyle/>
          <a:p>
            <a:pPr eaLnBrk="1" hangingPunct="1">
              <a:lnSpc>
                <a:spcPct val="90000"/>
              </a:lnSpc>
            </a:pPr>
            <a:r>
              <a:rPr lang="tr-TR" sz="3500" dirty="0">
                <a:solidFill>
                  <a:srgbClr val="000099"/>
                </a:solidFill>
                <a:latin typeface="+mj-lt"/>
              </a:rPr>
              <a:t>BİNALARIN YANGINDAN KORUNMASI HAKKINDA YÖNETMELİK</a:t>
            </a:r>
          </a:p>
          <a:p>
            <a:pPr eaLnBrk="1" hangingPunct="1">
              <a:lnSpc>
                <a:spcPct val="90000"/>
              </a:lnSpc>
            </a:pPr>
            <a:r>
              <a:rPr lang="tr-TR" sz="4400" dirty="0">
                <a:solidFill>
                  <a:schemeClr val="hlink"/>
                </a:solidFill>
                <a:latin typeface="+mj-lt"/>
              </a:rPr>
              <a:t>Madde 127-</a:t>
            </a:r>
            <a:r>
              <a:rPr lang="tr-TR" sz="4400" dirty="0">
                <a:latin typeface="+mj-lt"/>
              </a:rPr>
              <a:t> Yapı, bina, tesis ve işletmelerden; 10 bağımsız bölümü olan konutlar ile 50 kişiden fazla insan bulunan her türlü yapı, bina, tesis ve işletmelerde aşağıdaki ekipler oluşturulur.</a:t>
            </a: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19</a:t>
            </a:fld>
            <a:endParaRPr lang="es-ES"/>
          </a:p>
        </p:txBody>
      </p:sp>
    </p:spTree>
    <p:extLst>
      <p:ext uri="{BB962C8B-B14F-4D97-AF65-F5344CB8AC3E}">
        <p14:creationId xmlns="" xmlns:p14="http://schemas.microsoft.com/office/powerpoint/2010/main" val="1374179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3"/>
          <p:cNvSpPr>
            <a:spLocks noGrp="1" noChangeArrowheads="1"/>
          </p:cNvSpPr>
          <p:nvPr>
            <p:ph idx="1"/>
          </p:nvPr>
        </p:nvSpPr>
        <p:spPr/>
        <p:txBody>
          <a:bodyPr/>
          <a:lstStyle/>
          <a:p>
            <a:pPr eaLnBrk="1" hangingPunct="1">
              <a:buFontTx/>
              <a:buNone/>
            </a:pPr>
            <a:r>
              <a:rPr lang="tr-TR" sz="4000">
                <a:latin typeface="+mj-lt"/>
              </a:rPr>
              <a:t>-Söndürme Ekibi,</a:t>
            </a:r>
          </a:p>
          <a:p>
            <a:pPr eaLnBrk="1" hangingPunct="1">
              <a:buFontTx/>
              <a:buNone/>
            </a:pPr>
            <a:r>
              <a:rPr lang="tr-TR" sz="4000">
                <a:latin typeface="+mj-lt"/>
              </a:rPr>
              <a:t>-Kurtarma Ekibi,</a:t>
            </a:r>
          </a:p>
          <a:p>
            <a:pPr eaLnBrk="1" hangingPunct="1">
              <a:buFontTx/>
              <a:buNone/>
            </a:pPr>
            <a:r>
              <a:rPr lang="tr-TR" sz="4000">
                <a:latin typeface="+mj-lt"/>
              </a:rPr>
              <a:t>-Koruma Ekibi,</a:t>
            </a:r>
          </a:p>
          <a:p>
            <a:pPr eaLnBrk="1" hangingPunct="1">
              <a:buFontTx/>
              <a:buNone/>
            </a:pPr>
            <a:r>
              <a:rPr lang="tr-TR" sz="4000">
                <a:latin typeface="+mj-lt"/>
              </a:rPr>
              <a:t>-İlkyardım Ekibi,</a:t>
            </a:r>
          </a:p>
          <a:p>
            <a:pPr eaLnBrk="1" hangingPunct="1"/>
            <a:endParaRPr lang="tr-TR">
              <a:latin typeface="+mj-lt"/>
            </a:endParaRP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20</a:t>
            </a:fld>
            <a:endParaRPr lang="es-ES"/>
          </a:p>
        </p:txBody>
      </p:sp>
    </p:spTree>
    <p:extLst>
      <p:ext uri="{BB962C8B-B14F-4D97-AF65-F5344CB8AC3E}">
        <p14:creationId xmlns="" xmlns:p14="http://schemas.microsoft.com/office/powerpoint/2010/main" val="33424765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3"/>
          <p:cNvSpPr>
            <a:spLocks noGrp="1" noChangeArrowheads="1"/>
          </p:cNvSpPr>
          <p:nvPr>
            <p:ph idx="1"/>
          </p:nvPr>
        </p:nvSpPr>
        <p:spPr>
          <a:xfrm>
            <a:off x="107504" y="1052736"/>
            <a:ext cx="8229600" cy="5505450"/>
          </a:xfrm>
        </p:spPr>
        <p:txBody>
          <a:bodyPr/>
          <a:lstStyle/>
          <a:p>
            <a:pPr algn="just" eaLnBrk="1" hangingPunct="1">
              <a:lnSpc>
                <a:spcPct val="120000"/>
              </a:lnSpc>
            </a:pPr>
            <a:r>
              <a:rPr lang="tr-TR" sz="2800" dirty="0">
                <a:solidFill>
                  <a:schemeClr val="hlink"/>
                </a:solidFill>
                <a:latin typeface="+mj-lt"/>
              </a:rPr>
              <a:t>Söndürme ve kurtarma ekipleri en az 3'er</a:t>
            </a:r>
            <a:r>
              <a:rPr lang="tr-TR" sz="2800" dirty="0">
                <a:solidFill>
                  <a:schemeClr val="folHlink"/>
                </a:solidFill>
                <a:latin typeface="+mj-lt"/>
              </a:rPr>
              <a:t>, </a:t>
            </a:r>
            <a:r>
              <a:rPr lang="tr-TR" sz="2800" dirty="0">
                <a:latin typeface="+mj-lt"/>
              </a:rPr>
              <a:t>koruma ve ilk yardım ekipleri ise en az 2'şer</a:t>
            </a:r>
            <a:r>
              <a:rPr lang="tr-TR" sz="2800" dirty="0">
                <a:solidFill>
                  <a:schemeClr val="folHlink"/>
                </a:solidFill>
                <a:latin typeface="+mj-lt"/>
              </a:rPr>
              <a:t> kişiden oluşur. Kurumda sivil savunma servisleri kurulmuşsa; söz konusu ekiplerin görevleri, bu servislerce yürütülür. </a:t>
            </a:r>
          </a:p>
          <a:p>
            <a:pPr algn="just" eaLnBrk="1" hangingPunct="1">
              <a:lnSpc>
                <a:spcPct val="120000"/>
              </a:lnSpc>
              <a:buFontTx/>
              <a:buNone/>
            </a:pPr>
            <a:endParaRPr lang="tr-TR" sz="2800" b="1" i="1" dirty="0">
              <a:solidFill>
                <a:schemeClr val="folHlink"/>
              </a:solidFill>
              <a:latin typeface="+mj-lt"/>
            </a:endParaRPr>
          </a:p>
          <a:p>
            <a:pPr algn="just" eaLnBrk="1" hangingPunct="1">
              <a:lnSpc>
                <a:spcPct val="120000"/>
              </a:lnSpc>
            </a:pPr>
            <a:r>
              <a:rPr lang="tr-TR" sz="2800" dirty="0">
                <a:latin typeface="+mj-lt"/>
              </a:rPr>
              <a:t>Her ekipte bir ekip başı bulunur.</a:t>
            </a:r>
            <a:r>
              <a:rPr lang="tr-TR" sz="2800" dirty="0">
                <a:solidFill>
                  <a:schemeClr val="folHlink"/>
                </a:solidFill>
                <a:latin typeface="+mj-lt"/>
              </a:rPr>
              <a:t> Ekip başı, aynı zamanda yönergeyi uygulamakla görevli amirin yardımcısıdır.</a:t>
            </a:r>
          </a:p>
          <a:p>
            <a:pPr eaLnBrk="1" hangingPunct="1"/>
            <a:endParaRPr lang="tr-TR" sz="2800" dirty="0">
              <a:latin typeface="+mj-lt"/>
            </a:endParaRP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21</a:t>
            </a:fld>
            <a:endParaRPr lang="es-ES"/>
          </a:p>
        </p:txBody>
      </p:sp>
    </p:spTree>
    <p:extLst>
      <p:ext uri="{BB962C8B-B14F-4D97-AF65-F5344CB8AC3E}">
        <p14:creationId xmlns="" xmlns:p14="http://schemas.microsoft.com/office/powerpoint/2010/main" val="7374080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a:latin typeface="+mj-lt"/>
              </a:rPr>
              <a:t/>
            </a:r>
            <a:br>
              <a:rPr lang="tr-TR" b="1" dirty="0">
                <a:latin typeface="+mj-lt"/>
              </a:rPr>
            </a:br>
            <a:r>
              <a:rPr lang="tr-TR" b="1" dirty="0">
                <a:solidFill>
                  <a:srgbClr val="000099"/>
                </a:solidFill>
                <a:latin typeface="+mj-lt"/>
              </a:rPr>
              <a:t>Görevlendirilecek çalışanların belirlenmesi</a:t>
            </a:r>
            <a:r>
              <a:rPr lang="tr-TR" dirty="0">
                <a:latin typeface="+mj-lt"/>
              </a:rPr>
              <a:t/>
            </a:r>
            <a:br>
              <a:rPr lang="tr-TR" dirty="0">
                <a:latin typeface="+mj-lt"/>
              </a:rPr>
            </a:br>
            <a:endParaRPr lang="tr-TR" dirty="0">
              <a:latin typeface="+mj-lt"/>
            </a:endParaRPr>
          </a:p>
        </p:txBody>
      </p:sp>
      <p:sp>
        <p:nvSpPr>
          <p:cNvPr id="3" name="2 İçerik Yer Tutucusu"/>
          <p:cNvSpPr>
            <a:spLocks noGrp="1"/>
          </p:cNvSpPr>
          <p:nvPr>
            <p:ph idx="1"/>
          </p:nvPr>
        </p:nvSpPr>
        <p:spPr/>
        <p:txBody>
          <a:bodyPr>
            <a:normAutofit fontScale="92500" lnSpcReduction="10000"/>
          </a:bodyPr>
          <a:lstStyle/>
          <a:p>
            <a:r>
              <a:rPr lang="tr-TR" dirty="0">
                <a:latin typeface="+mj-lt"/>
              </a:rPr>
              <a:t> (1) İşveren; işyerlerinde tehlike sınıflarını tespit eden Tebliğde belirlenmiş olan </a:t>
            </a:r>
          </a:p>
          <a:p>
            <a:r>
              <a:rPr lang="tr-TR" b="1" dirty="0">
                <a:solidFill>
                  <a:srgbClr val="FF0000"/>
                </a:solidFill>
                <a:latin typeface="+mj-lt"/>
              </a:rPr>
              <a:t>çok tehlikeli </a:t>
            </a:r>
            <a:r>
              <a:rPr lang="tr-TR" dirty="0">
                <a:solidFill>
                  <a:srgbClr val="FF0000"/>
                </a:solidFill>
                <a:latin typeface="+mj-lt"/>
              </a:rPr>
              <a:t>sınıfta yer alan işyerlerinde 30 çalışana</a:t>
            </a:r>
            <a:r>
              <a:rPr lang="tr-TR" dirty="0">
                <a:latin typeface="+mj-lt"/>
              </a:rPr>
              <a:t>,</a:t>
            </a:r>
          </a:p>
          <a:p>
            <a:r>
              <a:rPr lang="tr-TR" b="1" dirty="0">
                <a:solidFill>
                  <a:srgbClr val="FF0000"/>
                </a:solidFill>
                <a:latin typeface="+mj-lt"/>
              </a:rPr>
              <a:t> tehlikeli sınıfta </a:t>
            </a:r>
            <a:r>
              <a:rPr lang="tr-TR" dirty="0">
                <a:solidFill>
                  <a:srgbClr val="FF0000"/>
                </a:solidFill>
                <a:latin typeface="+mj-lt"/>
              </a:rPr>
              <a:t>yer alan işyerlerinde 40 çalışana ve</a:t>
            </a:r>
          </a:p>
          <a:p>
            <a:r>
              <a:rPr lang="tr-TR" dirty="0">
                <a:solidFill>
                  <a:srgbClr val="FF0000"/>
                </a:solidFill>
                <a:latin typeface="+mj-lt"/>
              </a:rPr>
              <a:t> </a:t>
            </a:r>
            <a:r>
              <a:rPr lang="tr-TR" b="1" dirty="0">
                <a:solidFill>
                  <a:srgbClr val="FF0000"/>
                </a:solidFill>
                <a:latin typeface="+mj-lt"/>
              </a:rPr>
              <a:t>az tehlikeli </a:t>
            </a:r>
            <a:r>
              <a:rPr lang="tr-TR" dirty="0">
                <a:solidFill>
                  <a:srgbClr val="FF0000"/>
                </a:solidFill>
                <a:latin typeface="+mj-lt"/>
              </a:rPr>
              <a:t>sınıfta yer alan işyerlerinde 50 çalışana kadar;</a:t>
            </a:r>
          </a:p>
          <a:p>
            <a:r>
              <a:rPr lang="tr-TR" dirty="0">
                <a:latin typeface="+mj-lt"/>
              </a:rPr>
              <a:t>a) Arama, kurtarma ve tahliye,</a:t>
            </a:r>
          </a:p>
          <a:p>
            <a:r>
              <a:rPr lang="tr-TR" dirty="0">
                <a:latin typeface="+mj-lt"/>
              </a:rPr>
              <a:t>b) Yangınla mücadele,</a:t>
            </a:r>
          </a:p>
          <a:p>
            <a:r>
              <a:rPr lang="tr-TR" dirty="0">
                <a:latin typeface="+mj-lt"/>
              </a:rPr>
              <a:t>konularının her biri için uygun donanıma sahip ve özel eğitimli en az birer çalışanı </a:t>
            </a:r>
            <a:r>
              <a:rPr lang="tr-TR" b="1" dirty="0">
                <a:solidFill>
                  <a:srgbClr val="FF0000"/>
                </a:solidFill>
                <a:latin typeface="+mj-lt"/>
              </a:rPr>
              <a:t>destek elemanı </a:t>
            </a:r>
            <a:r>
              <a:rPr lang="tr-TR" dirty="0">
                <a:latin typeface="+mj-lt"/>
              </a:rPr>
              <a:t>olarak görevlendirir. İşyerinde bunları aşan sayılarda çalışanın bulunması halinde</a:t>
            </a:r>
            <a:r>
              <a:rPr lang="tr-TR" dirty="0">
                <a:solidFill>
                  <a:srgbClr val="FF0000"/>
                </a:solidFill>
                <a:latin typeface="+mj-lt"/>
              </a:rPr>
              <a:t>, tehlike sınıfına göre her 30, 40 ve 50’ye kadar çalışan için birer destek elemanı daha görevlendirir.</a:t>
            </a:r>
          </a:p>
          <a:p>
            <a:r>
              <a:rPr lang="tr-TR" dirty="0">
                <a:latin typeface="+mj-lt"/>
              </a:rPr>
              <a:t>(2) İşveren, ilkyardım konusunda 22/5/2002 tarihli ve 24762 sayılı Resmî Gazete’de yayımlanan </a:t>
            </a:r>
            <a:r>
              <a:rPr lang="tr-TR" dirty="0">
                <a:solidFill>
                  <a:srgbClr val="FF0000"/>
                </a:solidFill>
                <a:latin typeface="+mj-lt"/>
              </a:rPr>
              <a:t>İlkyardım Yönetmeliği esaslarına göre destek elemanı görevlendirir.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22</a:t>
            </a:fld>
            <a:endParaRPr lang="es-ES"/>
          </a:p>
        </p:txBody>
      </p:sp>
    </p:spTree>
    <p:extLst>
      <p:ext uri="{BB962C8B-B14F-4D97-AF65-F5344CB8AC3E}">
        <p14:creationId xmlns="" xmlns:p14="http://schemas.microsoft.com/office/powerpoint/2010/main" val="13192945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67544" y="1340768"/>
            <a:ext cx="8229600" cy="5217443"/>
          </a:xfrm>
        </p:spPr>
        <p:txBody>
          <a:bodyPr>
            <a:normAutofit/>
          </a:bodyPr>
          <a:lstStyle/>
          <a:p>
            <a:r>
              <a:rPr lang="tr-TR" dirty="0">
                <a:latin typeface="+mj-lt"/>
              </a:rPr>
              <a:t>(3) Her konu için birden fazla çalışanın görevlendirilmesi gereken işyerlerinde bu çalışanlar konularına göre ekipler halinde koordineli olarak görev yapar</a:t>
            </a:r>
            <a:r>
              <a:rPr lang="tr-TR" dirty="0">
                <a:solidFill>
                  <a:srgbClr val="FF0000"/>
                </a:solidFill>
                <a:latin typeface="+mj-lt"/>
              </a:rPr>
              <a:t>. Her ekipte bir ekip başı bulunur.</a:t>
            </a:r>
          </a:p>
          <a:p>
            <a:r>
              <a:rPr lang="tr-TR" dirty="0">
                <a:latin typeface="+mj-lt"/>
              </a:rPr>
              <a:t>(4) İşveren tarafından acil durumlarda ekipler arası gerekli koordinasyonu sağlamak üzere </a:t>
            </a:r>
            <a:r>
              <a:rPr lang="tr-TR" dirty="0">
                <a:solidFill>
                  <a:srgbClr val="FF0000"/>
                </a:solidFill>
                <a:latin typeface="+mj-lt"/>
              </a:rPr>
              <a:t>çalışanları arasından bir sorumlu görevlendirilir</a:t>
            </a:r>
            <a:r>
              <a:rPr lang="tr-TR" dirty="0">
                <a:latin typeface="+mj-lt"/>
              </a:rPr>
              <a:t>.</a:t>
            </a:r>
          </a:p>
          <a:p>
            <a:r>
              <a:rPr lang="tr-TR" dirty="0">
                <a:latin typeface="+mj-lt"/>
              </a:rPr>
              <a:t>(5) </a:t>
            </a:r>
            <a:r>
              <a:rPr lang="tr-TR" dirty="0">
                <a:solidFill>
                  <a:srgbClr val="FF0000"/>
                </a:solidFill>
                <a:latin typeface="+mj-lt"/>
              </a:rPr>
              <a:t>10’dan az çalışanı olan ve az tehlikeli sınıfta </a:t>
            </a:r>
            <a:r>
              <a:rPr lang="tr-TR" dirty="0">
                <a:latin typeface="+mj-lt"/>
              </a:rPr>
              <a:t>yer alan işyerlerinde birinci fıkrada belirtilen yükümlülüğü yerine getirmek </a:t>
            </a:r>
            <a:r>
              <a:rPr lang="tr-TR" dirty="0">
                <a:solidFill>
                  <a:srgbClr val="FF0000"/>
                </a:solidFill>
                <a:latin typeface="+mj-lt"/>
              </a:rPr>
              <a:t>üzere bir kişi görevlendirilmesi yeterlidir.</a:t>
            </a: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23</a:t>
            </a:fld>
            <a:endParaRPr lang="es-ES"/>
          </a:p>
        </p:txBody>
      </p:sp>
    </p:spTree>
    <p:extLst>
      <p:ext uri="{BB962C8B-B14F-4D97-AF65-F5344CB8AC3E}">
        <p14:creationId xmlns="" xmlns:p14="http://schemas.microsoft.com/office/powerpoint/2010/main" val="34632880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778098"/>
          </a:xfrm>
        </p:spPr>
        <p:txBody>
          <a:bodyPr/>
          <a:lstStyle/>
          <a:p>
            <a:r>
              <a:rPr lang="tr-TR" b="1" dirty="0">
                <a:latin typeface="+mj-lt"/>
              </a:rPr>
              <a:t>Dokümantasyon</a:t>
            </a:r>
            <a:endParaRPr lang="tr-TR" dirty="0">
              <a:latin typeface="+mj-lt"/>
            </a:endParaRPr>
          </a:p>
        </p:txBody>
      </p:sp>
      <p:sp>
        <p:nvSpPr>
          <p:cNvPr id="3" name="2 İçerik Yer Tutucusu"/>
          <p:cNvSpPr>
            <a:spLocks noGrp="1"/>
          </p:cNvSpPr>
          <p:nvPr>
            <p:ph idx="1"/>
          </p:nvPr>
        </p:nvSpPr>
        <p:spPr/>
        <p:txBody>
          <a:bodyPr>
            <a:normAutofit lnSpcReduction="10000"/>
          </a:bodyPr>
          <a:lstStyle/>
          <a:p>
            <a:r>
              <a:rPr lang="tr-TR" dirty="0">
                <a:latin typeface="+mj-lt"/>
              </a:rPr>
              <a:t>(1) Acil durum planı asgarî aşağıdaki hususları kapsayacak şekilde </a:t>
            </a:r>
            <a:r>
              <a:rPr lang="tr-TR" dirty="0" err="1">
                <a:latin typeface="+mj-lt"/>
              </a:rPr>
              <a:t>dokümante</a:t>
            </a:r>
            <a:r>
              <a:rPr lang="tr-TR" dirty="0">
                <a:latin typeface="+mj-lt"/>
              </a:rPr>
              <a:t> edilir:</a:t>
            </a:r>
          </a:p>
          <a:p>
            <a:endParaRPr lang="tr-TR" dirty="0">
              <a:latin typeface="+mj-lt"/>
            </a:endParaRPr>
          </a:p>
          <a:p>
            <a:r>
              <a:rPr lang="tr-TR" dirty="0">
                <a:latin typeface="+mj-lt"/>
              </a:rPr>
              <a:t>a) İşyerinin unvanı, adresi ve işverenin adı.</a:t>
            </a:r>
          </a:p>
          <a:p>
            <a:r>
              <a:rPr lang="tr-TR" dirty="0">
                <a:latin typeface="+mj-lt"/>
              </a:rPr>
              <a:t>b) Hazırlayanların adı, soyadı ve unvanı.</a:t>
            </a:r>
          </a:p>
          <a:p>
            <a:r>
              <a:rPr lang="tr-TR" dirty="0">
                <a:latin typeface="+mj-lt"/>
              </a:rPr>
              <a:t>c) Hazırlandığı tarih ve geçerlilik tarihi.</a:t>
            </a:r>
          </a:p>
          <a:p>
            <a:r>
              <a:rPr lang="tr-TR" dirty="0">
                <a:latin typeface="+mj-lt"/>
              </a:rPr>
              <a:t>ç) Belirlenen acil durumlar.</a:t>
            </a:r>
          </a:p>
          <a:p>
            <a:r>
              <a:rPr lang="tr-TR" dirty="0">
                <a:latin typeface="+mj-lt"/>
              </a:rPr>
              <a:t>d) Alınan önleyici ve sınırlandırıcı tedbirler.</a:t>
            </a:r>
          </a:p>
          <a:p>
            <a:r>
              <a:rPr lang="tr-TR" dirty="0">
                <a:latin typeface="+mj-lt"/>
              </a:rPr>
              <a:t>e) Acil durum müdahale ve tahliye yöntemleri.</a:t>
            </a:r>
          </a:p>
          <a:p>
            <a:r>
              <a:rPr lang="tr-TR" dirty="0">
                <a:latin typeface="+mj-lt"/>
              </a:rPr>
              <a:t>f) Aşağıdaki unsurları içeren işyerini veya işyerinin bölümlerini gösteren kroki:</a:t>
            </a:r>
          </a:p>
          <a:p>
            <a:r>
              <a:rPr lang="tr-TR" dirty="0">
                <a:latin typeface="+mj-lt"/>
              </a:rPr>
              <a:t>1) Yangın söndürme amaçlı kullanılacaklar da dâhil olmak üzere acil durum ekipmanlarının bulunduğu yerler.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24</a:t>
            </a:fld>
            <a:endParaRPr lang="es-ES"/>
          </a:p>
        </p:txBody>
      </p:sp>
    </p:spTree>
    <p:extLst>
      <p:ext uri="{BB962C8B-B14F-4D97-AF65-F5344CB8AC3E}">
        <p14:creationId xmlns="" xmlns:p14="http://schemas.microsoft.com/office/powerpoint/2010/main" val="4236292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548680"/>
            <a:ext cx="8229600" cy="5577483"/>
          </a:xfrm>
        </p:spPr>
        <p:txBody>
          <a:bodyPr>
            <a:normAutofit/>
          </a:bodyPr>
          <a:lstStyle/>
          <a:p>
            <a:pPr>
              <a:buNone/>
            </a:pPr>
            <a:r>
              <a:rPr lang="tr-TR" sz="2800" dirty="0">
                <a:latin typeface="+mj-lt"/>
              </a:rPr>
              <a:t>2) İlkyardım malzemelerinin bulunduğu yerler</a:t>
            </a:r>
            <a:r>
              <a:rPr lang="tr-TR" sz="2800" dirty="0" smtClean="0">
                <a:latin typeface="+mj-lt"/>
              </a:rPr>
              <a:t>.</a:t>
            </a:r>
          </a:p>
          <a:p>
            <a:pPr>
              <a:buNone/>
            </a:pPr>
            <a:endParaRPr lang="tr-TR" sz="2800" dirty="0">
              <a:latin typeface="+mj-lt"/>
            </a:endParaRPr>
          </a:p>
          <a:p>
            <a:pPr>
              <a:buNone/>
            </a:pPr>
            <a:r>
              <a:rPr lang="tr-TR" sz="2800" dirty="0">
                <a:latin typeface="+mj-lt"/>
              </a:rPr>
              <a:t>3) Kaçış yolları, toplanma yerleri ve bulunması halinde uyarı sistemlerinin de yer aldığı tahliye planı.</a:t>
            </a:r>
          </a:p>
          <a:p>
            <a:endParaRPr lang="tr-TR" dirty="0">
              <a:latin typeface="+mj-lt"/>
            </a:endParaRP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25</a:t>
            </a:fld>
            <a:endParaRPr lang="es-ES"/>
          </a:p>
        </p:txBody>
      </p:sp>
    </p:spTree>
    <p:extLst>
      <p:ext uri="{BB962C8B-B14F-4D97-AF65-F5344CB8AC3E}">
        <p14:creationId xmlns="" xmlns:p14="http://schemas.microsoft.com/office/powerpoint/2010/main" val="31227377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dirty="0">
                <a:latin typeface="+mj-lt"/>
              </a:rPr>
              <a:t>Planların hazırlanması</a:t>
            </a:r>
          </a:p>
        </p:txBody>
      </p:sp>
      <p:pic>
        <p:nvPicPr>
          <p:cNvPr id="4" name="Picture 2"/>
          <p:cNvPicPr>
            <a:picLocks noGrp="1" noChangeAspect="1" noChangeArrowheads="1"/>
          </p:cNvPicPr>
          <p:nvPr>
            <p:ph idx="1"/>
          </p:nvPr>
        </p:nvPicPr>
        <p:blipFill>
          <a:blip r:embed="rId2" cstate="print"/>
          <a:srcRect/>
          <a:stretch>
            <a:fillRect/>
          </a:stretch>
        </p:blipFill>
        <p:spPr bwMode="auto">
          <a:xfrm>
            <a:off x="467544" y="1556793"/>
            <a:ext cx="7848872" cy="4216152"/>
          </a:xfrm>
          <a:prstGeom prst="rect">
            <a:avLst/>
          </a:prstGeom>
          <a:noFill/>
          <a:ln w="9525">
            <a:noFill/>
            <a:miter lim="800000"/>
            <a:headEnd/>
            <a:tailEnd/>
          </a:ln>
        </p:spPr>
      </p:pic>
      <p:sp>
        <p:nvSpPr>
          <p:cNvPr id="3" name="Slayt Numarası Yer Tutucusu 2"/>
          <p:cNvSpPr>
            <a:spLocks noGrp="1"/>
          </p:cNvSpPr>
          <p:nvPr>
            <p:ph type="sldNum" sz="quarter" idx="12"/>
          </p:nvPr>
        </p:nvSpPr>
        <p:spPr/>
        <p:txBody>
          <a:bodyPr/>
          <a:lstStyle/>
          <a:p>
            <a:pPr>
              <a:defRPr/>
            </a:pPr>
            <a:fld id="{7289ED51-3D18-45F8-86FC-FD8561268021}" type="slidenum">
              <a:rPr lang="es-ES" smtClean="0"/>
              <a:pPr>
                <a:defRPr/>
              </a:pPr>
              <a:t>26</a:t>
            </a:fld>
            <a:endParaRPr lang="es-ES"/>
          </a:p>
        </p:txBody>
      </p:sp>
    </p:spTree>
    <p:extLst>
      <p:ext uri="{BB962C8B-B14F-4D97-AF65-F5344CB8AC3E}">
        <p14:creationId xmlns="" xmlns:p14="http://schemas.microsoft.com/office/powerpoint/2010/main" val="6199160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1"/>
          </p:nvPr>
        </p:nvSpPr>
        <p:spPr>
          <a:xfrm>
            <a:off x="457200" y="332656"/>
            <a:ext cx="8229600" cy="5793507"/>
          </a:xfrm>
        </p:spPr>
        <p:txBody>
          <a:bodyPr>
            <a:normAutofit/>
          </a:bodyPr>
          <a:lstStyle/>
          <a:p>
            <a:r>
              <a:rPr lang="tr-TR" dirty="0">
                <a:latin typeface="+mj-lt"/>
              </a:rPr>
              <a:t>4) Görevlendirilen çalışanların ve varsa yedeklerinin adı, soyadı, unvanı, sorumluluk alanı ve iletişim bilgileri.</a:t>
            </a:r>
          </a:p>
          <a:p>
            <a:r>
              <a:rPr lang="tr-TR" dirty="0">
                <a:latin typeface="+mj-lt"/>
              </a:rPr>
              <a:t>5) İlk yardım, acil tıbbi müdahale, kurtarma ve yangınla mücadele konularında işyeri dışındaki kuruluşların irtibat numaraları.</a:t>
            </a:r>
          </a:p>
          <a:p>
            <a:r>
              <a:rPr lang="tr-TR" dirty="0">
                <a:latin typeface="+mj-lt"/>
              </a:rPr>
              <a:t>(2) Acil durum planının sayfaları numaralandırılarak; hazırlayan kişiler tarafından her sayfası paraflanıp, son sayfası imzalanır ve söz konusu plan, acil durumla mücadele edecek ekiplerin kolayca ulaşabileceği şekilde işyerinde saklanır.</a:t>
            </a:r>
          </a:p>
          <a:p>
            <a:r>
              <a:rPr lang="tr-TR" dirty="0">
                <a:latin typeface="+mj-lt"/>
              </a:rPr>
              <a:t>(3) Acil durum planı kapsamında hazırlanan kroki bina içinde kolayca görülebilecek yerlerde asılı olarak bulundurulur.</a:t>
            </a:r>
          </a:p>
        </p:txBody>
      </p:sp>
      <p:sp>
        <p:nvSpPr>
          <p:cNvPr id="2" name="Slayt Numarası Yer Tutucusu 1"/>
          <p:cNvSpPr>
            <a:spLocks noGrp="1"/>
          </p:cNvSpPr>
          <p:nvPr>
            <p:ph type="sldNum" sz="quarter" idx="12"/>
          </p:nvPr>
        </p:nvSpPr>
        <p:spPr/>
        <p:txBody>
          <a:bodyPr/>
          <a:lstStyle/>
          <a:p>
            <a:pPr>
              <a:defRPr/>
            </a:pPr>
            <a:fld id="{7289ED51-3D18-45F8-86FC-FD8561268021}" type="slidenum">
              <a:rPr lang="es-ES" smtClean="0"/>
              <a:pPr>
                <a:defRPr/>
              </a:pPr>
              <a:t>27</a:t>
            </a:fld>
            <a:endParaRPr lang="es-ES"/>
          </a:p>
        </p:txBody>
      </p:sp>
    </p:spTree>
    <p:extLst>
      <p:ext uri="{BB962C8B-B14F-4D97-AF65-F5344CB8AC3E}">
        <p14:creationId xmlns="" xmlns:p14="http://schemas.microsoft.com/office/powerpoint/2010/main" val="31898971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a:solidFill>
                  <a:srgbClr val="000099"/>
                </a:solidFill>
                <a:latin typeface="+mj-lt"/>
              </a:rPr>
              <a:t>Tatbikat</a:t>
            </a:r>
            <a:r>
              <a:rPr lang="tr-TR" dirty="0">
                <a:solidFill>
                  <a:srgbClr val="000099"/>
                </a:solidFill>
                <a:latin typeface="+mj-lt"/>
              </a:rPr>
              <a:t/>
            </a:r>
            <a:br>
              <a:rPr lang="tr-TR" dirty="0">
                <a:solidFill>
                  <a:srgbClr val="000099"/>
                </a:solidFill>
                <a:latin typeface="+mj-lt"/>
              </a:rPr>
            </a:br>
            <a:endParaRPr lang="tr-TR" dirty="0">
              <a:solidFill>
                <a:srgbClr val="000099"/>
              </a:solidFill>
              <a:latin typeface="+mj-lt"/>
            </a:endParaRPr>
          </a:p>
        </p:txBody>
      </p:sp>
      <p:sp>
        <p:nvSpPr>
          <p:cNvPr id="3" name="2 İçerik Yer Tutucusu"/>
          <p:cNvSpPr>
            <a:spLocks noGrp="1"/>
          </p:cNvSpPr>
          <p:nvPr>
            <p:ph idx="1"/>
          </p:nvPr>
        </p:nvSpPr>
        <p:spPr/>
        <p:txBody>
          <a:bodyPr>
            <a:normAutofit lnSpcReduction="10000"/>
          </a:bodyPr>
          <a:lstStyle/>
          <a:p>
            <a:r>
              <a:rPr lang="tr-TR" dirty="0">
                <a:latin typeface="+mj-lt"/>
              </a:rPr>
              <a:t>(1) Hazırlanan acil durum  planının uygulama adımlarının  düzenli olarak takip edilebilmesi ve uygulanabilirliğinden emin olmak için </a:t>
            </a:r>
            <a:r>
              <a:rPr lang="tr-TR" dirty="0">
                <a:solidFill>
                  <a:srgbClr val="FF0000"/>
                </a:solidFill>
                <a:latin typeface="+mj-lt"/>
              </a:rPr>
              <a:t>işyerlerinde yılda en az bir defa olmak üzere tatbikat yapılır, </a:t>
            </a:r>
            <a:r>
              <a:rPr lang="tr-TR" dirty="0">
                <a:latin typeface="+mj-lt"/>
              </a:rPr>
              <a:t>denetlenir ve gözden geçirilerek gerekli düzeltici ve önleyici faaliyetler yapılır. </a:t>
            </a:r>
            <a:r>
              <a:rPr lang="tr-TR" dirty="0">
                <a:solidFill>
                  <a:srgbClr val="FF0000"/>
                </a:solidFill>
                <a:latin typeface="+mj-lt"/>
              </a:rPr>
              <a:t>Gerçekleştirilen tatbikatın tarihi, görülen eksiklikler ve bu eksiklikler doğrultusunda yapılacak düzenlemeleri içeren tatbikat raporu hazırlanır.</a:t>
            </a:r>
          </a:p>
          <a:p>
            <a:r>
              <a:rPr lang="tr-TR" dirty="0">
                <a:latin typeface="+mj-lt"/>
              </a:rPr>
              <a:t>(2) Gerçekleştirilen tatbikat neticesinde varsa aksayan yönler ve kazanılan deneyimlere göre acil durum planları gözden geçirilerek gerekli düzeltmeler yapılır.</a:t>
            </a:r>
          </a:p>
          <a:p>
            <a:r>
              <a:rPr lang="tr-TR" dirty="0">
                <a:latin typeface="+mj-lt"/>
              </a:rPr>
              <a:t>(3</a:t>
            </a:r>
            <a:r>
              <a:rPr lang="tr-TR" dirty="0">
                <a:solidFill>
                  <a:srgbClr val="FF0000"/>
                </a:solidFill>
                <a:latin typeface="+mj-lt"/>
              </a:rPr>
              <a:t>) Birden fazla işyerinin bulunduğu iş merkezleri, iş hanlarındaki işyerlerinde tatbikatlar yönetimin koordinasyonu ile yürütülür.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28</a:t>
            </a:fld>
            <a:endParaRPr lang="es-ES"/>
          </a:p>
        </p:txBody>
      </p:sp>
    </p:spTree>
    <p:extLst>
      <p:ext uri="{BB962C8B-B14F-4D97-AF65-F5344CB8AC3E}">
        <p14:creationId xmlns="" xmlns:p14="http://schemas.microsoft.com/office/powerpoint/2010/main" val="30808245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a:solidFill>
                  <a:srgbClr val="000099"/>
                </a:solidFill>
                <a:latin typeface="+mj-lt"/>
              </a:rPr>
              <a:t>Acil durum planının yenilenmesi</a:t>
            </a:r>
            <a:r>
              <a:rPr lang="tr-TR" dirty="0">
                <a:solidFill>
                  <a:srgbClr val="000099"/>
                </a:solidFill>
                <a:latin typeface="+mj-lt"/>
              </a:rPr>
              <a:t/>
            </a:r>
            <a:br>
              <a:rPr lang="tr-TR" dirty="0">
                <a:solidFill>
                  <a:srgbClr val="000099"/>
                </a:solidFill>
                <a:latin typeface="+mj-lt"/>
              </a:rPr>
            </a:br>
            <a:endParaRPr lang="tr-TR" dirty="0">
              <a:solidFill>
                <a:srgbClr val="000099"/>
              </a:solidFill>
              <a:latin typeface="+mj-lt"/>
            </a:endParaRPr>
          </a:p>
        </p:txBody>
      </p:sp>
      <p:sp>
        <p:nvSpPr>
          <p:cNvPr id="3" name="2 İçerik Yer Tutucusu"/>
          <p:cNvSpPr>
            <a:spLocks noGrp="1"/>
          </p:cNvSpPr>
          <p:nvPr>
            <p:ph idx="1"/>
          </p:nvPr>
        </p:nvSpPr>
        <p:spPr/>
        <p:txBody>
          <a:bodyPr>
            <a:normAutofit/>
          </a:bodyPr>
          <a:lstStyle/>
          <a:p>
            <a:r>
              <a:rPr lang="tr-TR" dirty="0">
                <a:latin typeface="+mj-lt"/>
              </a:rPr>
              <a:t>(1) İşyerinde, belirlenmiş olan acil durumları etkileyebilecek veya yeni acil durumların ortaya çıkmasına neden olacak değişikliklerin meydana gelmesi halinde etkinin büyüklüğüne </a:t>
            </a:r>
            <a:r>
              <a:rPr lang="tr-TR" dirty="0">
                <a:solidFill>
                  <a:srgbClr val="FF0000"/>
                </a:solidFill>
                <a:latin typeface="+mj-lt"/>
              </a:rPr>
              <a:t>göre acil durum planı tamamen veya kısmen yenilenir.</a:t>
            </a:r>
          </a:p>
          <a:p>
            <a:r>
              <a:rPr lang="tr-TR" dirty="0">
                <a:latin typeface="+mj-lt"/>
              </a:rPr>
              <a:t>(2) Birinci fıkrada belirtilen durumlardan bağımsız olarak, hazırlanmış olan acil durum planları; </a:t>
            </a:r>
            <a:r>
              <a:rPr lang="tr-TR" dirty="0">
                <a:solidFill>
                  <a:srgbClr val="FF0000"/>
                </a:solidFill>
                <a:latin typeface="+mj-lt"/>
              </a:rPr>
              <a:t>tehlike sınıfına göre çok tehlikeli, tehlikeli ve az tehlikeli işyerlerinde sırasıyla en geç iki, dört ve altı yılda bir yenilenir.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29</a:t>
            </a:fld>
            <a:endParaRPr lang="es-ES"/>
          </a:p>
        </p:txBody>
      </p:sp>
    </p:spTree>
    <p:extLst>
      <p:ext uri="{BB962C8B-B14F-4D97-AF65-F5344CB8AC3E}">
        <p14:creationId xmlns="" xmlns:p14="http://schemas.microsoft.com/office/powerpoint/2010/main" val="14406847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557808"/>
            <a:ext cx="7620000" cy="1143000"/>
          </a:xfrm>
        </p:spPr>
        <p:txBody>
          <a:bodyPr>
            <a:normAutofit fontScale="90000"/>
          </a:bodyPr>
          <a:lstStyle/>
          <a:p>
            <a:r>
              <a:rPr lang="tr-TR" b="1" dirty="0">
                <a:solidFill>
                  <a:srgbClr val="000099"/>
                </a:solidFill>
                <a:latin typeface="+mj-lt"/>
              </a:rPr>
              <a:t>Çalışanların bilgilendirilmesi ve eğitim</a:t>
            </a:r>
            <a:r>
              <a:rPr lang="tr-TR" dirty="0">
                <a:solidFill>
                  <a:srgbClr val="000099"/>
                </a:solidFill>
                <a:latin typeface="+mj-lt"/>
              </a:rPr>
              <a:t/>
            </a:r>
            <a:br>
              <a:rPr lang="tr-TR" dirty="0">
                <a:solidFill>
                  <a:srgbClr val="000099"/>
                </a:solidFill>
                <a:latin typeface="+mj-lt"/>
              </a:rPr>
            </a:br>
            <a:endParaRPr lang="tr-TR" dirty="0">
              <a:solidFill>
                <a:srgbClr val="000099"/>
              </a:solidFill>
              <a:latin typeface="+mj-lt"/>
            </a:endParaRPr>
          </a:p>
        </p:txBody>
      </p:sp>
      <p:sp>
        <p:nvSpPr>
          <p:cNvPr id="3" name="2 İçerik Yer Tutucusu"/>
          <p:cNvSpPr>
            <a:spLocks noGrp="1"/>
          </p:cNvSpPr>
          <p:nvPr>
            <p:ph idx="1"/>
          </p:nvPr>
        </p:nvSpPr>
        <p:spPr/>
        <p:txBody>
          <a:bodyPr>
            <a:normAutofit/>
          </a:bodyPr>
          <a:lstStyle/>
          <a:p>
            <a:r>
              <a:rPr lang="tr-TR" dirty="0">
                <a:latin typeface="+mj-lt"/>
              </a:rPr>
              <a:t>(1) Tüm çalışanlar acil durum planları ile arama, kurtarma ve tahliye, yangınla mücadele, ilkyardım konularında görevlendirilen kişiler hakkında bilgilendirilir.</a:t>
            </a:r>
          </a:p>
          <a:p>
            <a:r>
              <a:rPr lang="tr-TR" dirty="0">
                <a:latin typeface="+mj-lt"/>
              </a:rPr>
              <a:t>(2) İşe yeni alınan çalışana, iş sağlığı ve güvenliği eğitimlerine ilave olarak acil durum planları ile ilgili bilgilendirme yapılır.</a:t>
            </a:r>
          </a:p>
          <a:p>
            <a:r>
              <a:rPr lang="tr-TR" dirty="0">
                <a:latin typeface="+mj-lt"/>
              </a:rPr>
              <a:t>(3) Acil durum konularıyla ilgili özel olarak görevlendirilenler, yürütecekleri faaliyetler ile ilgili </a:t>
            </a:r>
            <a:r>
              <a:rPr lang="tr-TR" dirty="0">
                <a:solidFill>
                  <a:srgbClr val="FF0000"/>
                </a:solidFill>
                <a:latin typeface="+mj-lt"/>
              </a:rPr>
              <a:t>özel olarak eğitilir</a:t>
            </a:r>
            <a:r>
              <a:rPr lang="tr-TR" dirty="0">
                <a:latin typeface="+mj-lt"/>
              </a:rPr>
              <a:t>. 11 inci maddenin birinci fıkrası uyarınca görevlendirilen çalışanlara, eğitimlerin </a:t>
            </a:r>
            <a:r>
              <a:rPr lang="tr-TR" dirty="0">
                <a:solidFill>
                  <a:schemeClr val="tx2">
                    <a:lumMod val="60000"/>
                    <a:lumOff val="40000"/>
                  </a:schemeClr>
                </a:solidFill>
                <a:latin typeface="+mj-lt"/>
              </a:rPr>
              <a:t>işyerinde iş güvenliği uzmanı veya işyeri hekimi tarafından verilmesi halinde</a:t>
            </a:r>
            <a:r>
              <a:rPr lang="tr-TR" dirty="0">
                <a:latin typeface="+mj-lt"/>
              </a:rPr>
              <a:t>, </a:t>
            </a:r>
            <a:r>
              <a:rPr lang="tr-TR" dirty="0">
                <a:solidFill>
                  <a:srgbClr val="FF0000"/>
                </a:solidFill>
                <a:latin typeface="+mj-lt"/>
              </a:rPr>
              <a:t>bu durum işveren ile eğitim verenlerce imzalanarak belgelendirilir.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30</a:t>
            </a:fld>
            <a:endParaRPr lang="es-ES"/>
          </a:p>
        </p:txBody>
      </p:sp>
    </p:spTree>
    <p:extLst>
      <p:ext uri="{BB962C8B-B14F-4D97-AF65-F5344CB8AC3E}">
        <p14:creationId xmlns="" xmlns:p14="http://schemas.microsoft.com/office/powerpoint/2010/main" val="35481778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a:solidFill>
                  <a:srgbClr val="000099"/>
                </a:solidFill>
                <a:latin typeface="+mj-lt"/>
              </a:rPr>
              <a:t>Büyük endüstriyel tesislerde acil durum planı</a:t>
            </a:r>
            <a:endParaRPr lang="tr-TR" dirty="0">
              <a:solidFill>
                <a:srgbClr val="000099"/>
              </a:solidFill>
              <a:latin typeface="+mj-lt"/>
            </a:endParaRPr>
          </a:p>
        </p:txBody>
      </p:sp>
      <p:sp>
        <p:nvSpPr>
          <p:cNvPr id="3" name="2 İçerik Yer Tutucusu"/>
          <p:cNvSpPr>
            <a:spLocks noGrp="1"/>
          </p:cNvSpPr>
          <p:nvPr>
            <p:ph idx="1"/>
          </p:nvPr>
        </p:nvSpPr>
        <p:spPr/>
        <p:txBody>
          <a:bodyPr/>
          <a:lstStyle/>
          <a:p>
            <a:pPr>
              <a:buNone/>
            </a:pPr>
            <a:r>
              <a:rPr lang="tr-TR" dirty="0">
                <a:latin typeface="+mj-lt"/>
              </a:rPr>
              <a:t>   </a:t>
            </a:r>
          </a:p>
          <a:p>
            <a:pPr>
              <a:buNone/>
            </a:pPr>
            <a:r>
              <a:rPr lang="tr-TR" dirty="0">
                <a:latin typeface="+mj-lt"/>
              </a:rPr>
              <a:t>    </a:t>
            </a:r>
            <a:r>
              <a:rPr lang="tr-TR" sz="2400" dirty="0">
                <a:latin typeface="+mj-lt"/>
              </a:rPr>
              <a:t>İş Sağlığı ve Güvenliği Kanununun 29 uncu maddesi gereğince güvenlik raporu hazırlanan işyerlerinde hazırlanacak dahili acil durum planları bu Yönetmelikte belirtilen acil durum planı hazırlığında dikkate alınarak kullanılır.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31</a:t>
            </a:fld>
            <a:endParaRPr lang="es-ES"/>
          </a:p>
        </p:txBody>
      </p:sp>
    </p:spTree>
    <p:extLst>
      <p:ext uri="{BB962C8B-B14F-4D97-AF65-F5344CB8AC3E}">
        <p14:creationId xmlns="" xmlns:p14="http://schemas.microsoft.com/office/powerpoint/2010/main" val="23460289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Autofit/>
          </a:bodyPr>
          <a:lstStyle/>
          <a:p>
            <a:r>
              <a:rPr lang="tr-TR" sz="3600" b="1" dirty="0">
                <a:solidFill>
                  <a:srgbClr val="FF0000"/>
                </a:solidFill>
                <a:latin typeface="+mj-lt"/>
              </a:rPr>
              <a:t/>
            </a:r>
            <a:br>
              <a:rPr lang="tr-TR" sz="3600" b="1" dirty="0">
                <a:solidFill>
                  <a:srgbClr val="FF0000"/>
                </a:solidFill>
                <a:latin typeface="+mj-lt"/>
              </a:rPr>
            </a:br>
            <a:r>
              <a:rPr lang="tr-TR" sz="3600" b="1" dirty="0">
                <a:solidFill>
                  <a:srgbClr val="000099"/>
                </a:solidFill>
                <a:latin typeface="+mj-lt"/>
              </a:rPr>
              <a:t>Birden fazla işveren olması durumunda acil durum planları</a:t>
            </a:r>
            <a:r>
              <a:rPr lang="tr-TR" sz="3600" dirty="0">
                <a:solidFill>
                  <a:srgbClr val="000099"/>
                </a:solidFill>
                <a:latin typeface="+mj-lt"/>
              </a:rPr>
              <a:t/>
            </a:r>
            <a:br>
              <a:rPr lang="tr-TR" sz="3600" dirty="0">
                <a:solidFill>
                  <a:srgbClr val="000099"/>
                </a:solidFill>
                <a:latin typeface="+mj-lt"/>
              </a:rPr>
            </a:br>
            <a:endParaRPr lang="tr-TR" sz="3600" dirty="0">
              <a:solidFill>
                <a:srgbClr val="000099"/>
              </a:solidFill>
              <a:latin typeface="+mj-lt"/>
            </a:endParaRPr>
          </a:p>
        </p:txBody>
      </p:sp>
      <p:sp>
        <p:nvSpPr>
          <p:cNvPr id="3" name="2 İçerik Yer Tutucusu"/>
          <p:cNvSpPr>
            <a:spLocks noGrp="1"/>
          </p:cNvSpPr>
          <p:nvPr>
            <p:ph idx="1"/>
          </p:nvPr>
        </p:nvSpPr>
        <p:spPr/>
        <p:txBody>
          <a:bodyPr>
            <a:normAutofit/>
          </a:bodyPr>
          <a:lstStyle/>
          <a:p>
            <a:r>
              <a:rPr lang="tr-TR" sz="2400" dirty="0">
                <a:latin typeface="+mj-lt"/>
              </a:rPr>
              <a:t>(1) Aynı çalışma alanını birden fazla işverenin paylaşması durumunda, yürütülen işler için diğer işverenlerin yürüttüğü işler de göz önünde bulundurularak </a:t>
            </a:r>
            <a:r>
              <a:rPr lang="tr-TR" sz="2400" dirty="0">
                <a:solidFill>
                  <a:srgbClr val="FF0000"/>
                </a:solidFill>
                <a:latin typeface="+mj-lt"/>
              </a:rPr>
              <a:t>acil durum planı işverenlerce ortaklaşa hazırlanır.</a:t>
            </a:r>
          </a:p>
          <a:p>
            <a:r>
              <a:rPr lang="tr-TR" sz="2400" dirty="0">
                <a:latin typeface="+mj-lt"/>
              </a:rPr>
              <a:t>(2) Birden fazla işyerinin bulunduğu iş merkezleri, iş hanları, sanayi bölgeleri veya sitelerinin işyerlerince hazırlanan </a:t>
            </a:r>
            <a:r>
              <a:rPr lang="tr-TR" sz="2400" dirty="0">
                <a:solidFill>
                  <a:srgbClr val="FF0000"/>
                </a:solidFill>
                <a:latin typeface="+mj-lt"/>
              </a:rPr>
              <a:t>acil durum planlarının koordinasyonu yönetim tarafından yürütülür.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32</a:t>
            </a:fld>
            <a:endParaRPr lang="es-ES"/>
          </a:p>
        </p:txBody>
      </p:sp>
    </p:spTree>
    <p:extLst>
      <p:ext uri="{BB962C8B-B14F-4D97-AF65-F5344CB8AC3E}">
        <p14:creationId xmlns="" xmlns:p14="http://schemas.microsoft.com/office/powerpoint/2010/main" val="1047303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4638"/>
            <a:ext cx="8229600" cy="1786210"/>
          </a:xfrm>
        </p:spPr>
        <p:txBody>
          <a:bodyPr>
            <a:normAutofit fontScale="90000"/>
          </a:bodyPr>
          <a:lstStyle/>
          <a:p>
            <a:r>
              <a:rPr lang="tr-TR" sz="3100" b="1" dirty="0">
                <a:solidFill>
                  <a:srgbClr val="000099"/>
                </a:solidFill>
                <a:latin typeface="+mj-lt"/>
              </a:rPr>
              <a:t/>
            </a:r>
            <a:br>
              <a:rPr lang="tr-TR" sz="3100" b="1" dirty="0">
                <a:solidFill>
                  <a:srgbClr val="000099"/>
                </a:solidFill>
                <a:latin typeface="+mj-lt"/>
              </a:rPr>
            </a:br>
            <a:r>
              <a:rPr lang="tr-TR" sz="3100" b="1" dirty="0">
                <a:solidFill>
                  <a:srgbClr val="000099"/>
                </a:solidFill>
                <a:latin typeface="+mj-lt"/>
              </a:rPr>
              <a:t/>
            </a:r>
            <a:br>
              <a:rPr lang="tr-TR" sz="3100" b="1" dirty="0">
                <a:solidFill>
                  <a:srgbClr val="000099"/>
                </a:solidFill>
                <a:latin typeface="+mj-lt"/>
              </a:rPr>
            </a:br>
            <a:r>
              <a:rPr lang="tr-TR" sz="4000" b="1" dirty="0">
                <a:solidFill>
                  <a:srgbClr val="000099"/>
                </a:solidFill>
                <a:latin typeface="+mj-lt"/>
              </a:rPr>
              <a:t>Asıl işveren ve alt işveren ilişkisinin bulunduğu işyerlerinde acil durum planları</a:t>
            </a:r>
            <a:r>
              <a:rPr lang="tr-TR" sz="4000" dirty="0">
                <a:solidFill>
                  <a:srgbClr val="000099"/>
                </a:solidFill>
                <a:latin typeface="+mj-lt"/>
              </a:rPr>
              <a:t/>
            </a:r>
            <a:br>
              <a:rPr lang="tr-TR" sz="4000" dirty="0">
                <a:solidFill>
                  <a:srgbClr val="000099"/>
                </a:solidFill>
                <a:latin typeface="+mj-lt"/>
              </a:rPr>
            </a:br>
            <a:endParaRPr lang="tr-TR" sz="4000" dirty="0">
              <a:solidFill>
                <a:srgbClr val="000099"/>
              </a:solidFill>
              <a:latin typeface="+mj-lt"/>
            </a:endParaRPr>
          </a:p>
        </p:txBody>
      </p:sp>
      <p:sp>
        <p:nvSpPr>
          <p:cNvPr id="3" name="2 İçerik Yer Tutucusu"/>
          <p:cNvSpPr>
            <a:spLocks noGrp="1"/>
          </p:cNvSpPr>
          <p:nvPr>
            <p:ph idx="1"/>
          </p:nvPr>
        </p:nvSpPr>
        <p:spPr>
          <a:xfrm>
            <a:off x="457200" y="2564904"/>
            <a:ext cx="8229600" cy="3561259"/>
          </a:xfrm>
        </p:spPr>
        <p:txBody>
          <a:bodyPr/>
          <a:lstStyle/>
          <a:p>
            <a:pPr>
              <a:buNone/>
            </a:pPr>
            <a:r>
              <a:rPr lang="tr-TR" b="1" dirty="0">
                <a:latin typeface="+mj-lt"/>
              </a:rPr>
              <a:t>   </a:t>
            </a:r>
            <a:r>
              <a:rPr lang="tr-TR" sz="2400" dirty="0">
                <a:latin typeface="+mj-lt"/>
              </a:rPr>
              <a:t>Bir işyerinde bir veya daha fazla alt işveren bulunması halinde acil durum planlarının hazırlanması konusunda </a:t>
            </a:r>
            <a:r>
              <a:rPr lang="tr-TR" sz="2400" dirty="0">
                <a:solidFill>
                  <a:srgbClr val="FF0000"/>
                </a:solidFill>
                <a:latin typeface="+mj-lt"/>
              </a:rPr>
              <a:t>işyerinin bütünü için asıl işveren,</a:t>
            </a:r>
            <a:r>
              <a:rPr lang="tr-TR" sz="2400" dirty="0">
                <a:latin typeface="+mj-lt"/>
              </a:rPr>
              <a:t> </a:t>
            </a:r>
            <a:r>
              <a:rPr lang="tr-TR" sz="2400" dirty="0">
                <a:solidFill>
                  <a:schemeClr val="tx2">
                    <a:lumMod val="60000"/>
                    <a:lumOff val="40000"/>
                  </a:schemeClr>
                </a:solidFill>
                <a:latin typeface="+mj-lt"/>
              </a:rPr>
              <a:t>kendi çalışma alanı ve yaptıkları işler ile sınırlı olmak üzere alt işverenler sorumludur.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33</a:t>
            </a:fld>
            <a:endParaRPr lang="es-ES"/>
          </a:p>
        </p:txBody>
      </p:sp>
    </p:spTree>
    <p:extLst>
      <p:ext uri="{BB962C8B-B14F-4D97-AF65-F5344CB8AC3E}">
        <p14:creationId xmlns="" xmlns:p14="http://schemas.microsoft.com/office/powerpoint/2010/main" val="2031160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normAutofit fontScale="90000"/>
          </a:bodyPr>
          <a:lstStyle/>
          <a:p>
            <a:r>
              <a:rPr lang="tr-TR" b="1" dirty="0">
                <a:solidFill>
                  <a:srgbClr val="000099"/>
                </a:solidFill>
                <a:latin typeface="+mj-lt"/>
              </a:rPr>
              <a:t>Bir aydan kısa süreli geçici işlerde acil durum planlaması</a:t>
            </a:r>
            <a:endParaRPr lang="tr-TR" dirty="0">
              <a:solidFill>
                <a:srgbClr val="000099"/>
              </a:solidFill>
              <a:latin typeface="+mj-lt"/>
            </a:endParaRPr>
          </a:p>
        </p:txBody>
      </p:sp>
      <p:sp>
        <p:nvSpPr>
          <p:cNvPr id="3" name="2 İçerik Yer Tutucusu"/>
          <p:cNvSpPr>
            <a:spLocks noGrp="1"/>
          </p:cNvSpPr>
          <p:nvPr>
            <p:ph idx="1"/>
          </p:nvPr>
        </p:nvSpPr>
        <p:spPr/>
        <p:txBody>
          <a:bodyPr>
            <a:normAutofit/>
          </a:bodyPr>
          <a:lstStyle/>
          <a:p>
            <a:pPr>
              <a:buNone/>
            </a:pPr>
            <a:r>
              <a:rPr lang="tr-TR" sz="2400" b="1" dirty="0">
                <a:latin typeface="+mj-lt"/>
              </a:rPr>
              <a:t>   </a:t>
            </a:r>
            <a:r>
              <a:rPr lang="tr-TR" sz="2400" dirty="0">
                <a:latin typeface="+mj-lt"/>
              </a:rPr>
              <a:t> Bir aydan kısa süreli işlerde, işyerinin veya yapılacak işin mahiyeti itibarıyla çalışanları doğrudan etkilemesi muhtemel acil durumlar için bu Yönetmelik kapsamında yapılan </a:t>
            </a:r>
          </a:p>
          <a:p>
            <a:pPr>
              <a:buNone/>
            </a:pPr>
            <a:r>
              <a:rPr lang="tr-TR" sz="2400" dirty="0">
                <a:latin typeface="+mj-lt"/>
              </a:rPr>
              <a:t>   özel görevlendirmeler işverence yapılır</a:t>
            </a:r>
          </a:p>
          <a:p>
            <a:pPr>
              <a:buNone/>
            </a:pPr>
            <a:r>
              <a:rPr lang="tr-TR" sz="2400" dirty="0">
                <a:latin typeface="+mj-lt"/>
              </a:rPr>
              <a:t>  ve çalışanlar özel görevi bulunanlar ve acil durumlar ile ilgili bilgilendirilir.</a:t>
            </a:r>
          </a:p>
          <a:p>
            <a:endParaRPr lang="tr-TR" dirty="0">
              <a:latin typeface="+mj-lt"/>
            </a:endParaRPr>
          </a:p>
        </p:txBody>
      </p:sp>
      <p:sp>
        <p:nvSpPr>
          <p:cNvPr id="4" name="Slayt Numarası Yer Tutucusu 3"/>
          <p:cNvSpPr>
            <a:spLocks noGrp="1"/>
          </p:cNvSpPr>
          <p:nvPr>
            <p:ph type="sldNum" sz="quarter" idx="12"/>
          </p:nvPr>
        </p:nvSpPr>
        <p:spPr/>
        <p:txBody>
          <a:bodyPr/>
          <a:lstStyle/>
          <a:p>
            <a:pPr>
              <a:defRPr/>
            </a:pPr>
            <a:fld id="{7289ED51-3D18-45F8-86FC-FD8561268021}" type="slidenum">
              <a:rPr lang="es-ES" smtClean="0"/>
              <a:pPr>
                <a:defRPr/>
              </a:pPr>
              <a:t>34</a:t>
            </a:fld>
            <a:endParaRPr lang="es-ES"/>
          </a:p>
        </p:txBody>
      </p:sp>
    </p:spTree>
    <p:extLst>
      <p:ext uri="{BB962C8B-B14F-4D97-AF65-F5344CB8AC3E}">
        <p14:creationId xmlns="" xmlns:p14="http://schemas.microsoft.com/office/powerpoint/2010/main" val="12377363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itişiklik">
  <a:themeElements>
    <a:clrScheme name="Bitişiklik">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i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itişiklik">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5589</TotalTime>
  <Words>2060</Words>
  <Application>Microsoft Office PowerPoint</Application>
  <PresentationFormat>Ekran Gösterisi (4:3)</PresentationFormat>
  <Paragraphs>189</Paragraphs>
  <Slides>34</Slides>
  <Notes>1</Notes>
  <HiddenSlides>0</HiddenSlides>
  <MMClips>0</MMClips>
  <ScaleCrop>false</ScaleCrop>
  <HeadingPairs>
    <vt:vector size="4" baseType="variant">
      <vt:variant>
        <vt:lpstr>Tema</vt:lpstr>
      </vt:variant>
      <vt:variant>
        <vt:i4>1</vt:i4>
      </vt:variant>
      <vt:variant>
        <vt:lpstr>Slayt Başlıkları</vt:lpstr>
      </vt:variant>
      <vt:variant>
        <vt:i4>34</vt:i4>
      </vt:variant>
    </vt:vector>
  </HeadingPairs>
  <TitlesOfParts>
    <vt:vector size="35" baseType="lpstr">
      <vt:lpstr>Bitişiklik</vt:lpstr>
      <vt:lpstr>ACİL DURUM PLANLARI</vt:lpstr>
      <vt:lpstr>YASAL GEREKLİLİK</vt:lpstr>
      <vt:lpstr>Slayt 3</vt:lpstr>
      <vt:lpstr>Slayt 4</vt:lpstr>
      <vt:lpstr>Slayt 5</vt:lpstr>
      <vt:lpstr>    Kimyasal Maddelerle Çalışmalarda Sağlık ve Güvenlik Önlemleri Hakkında Yönetmelik    </vt:lpstr>
      <vt:lpstr>Slayt 7</vt:lpstr>
      <vt:lpstr>6331 SAYILI KANUN</vt:lpstr>
      <vt:lpstr>Slayt 9</vt:lpstr>
      <vt:lpstr>  İŞYERLERİNDE ACİL DURUMLAR HAKKINDA YÖNETMELİK  18.06.2013 </vt:lpstr>
      <vt:lpstr>Slayt 11</vt:lpstr>
      <vt:lpstr>Slayt 12</vt:lpstr>
      <vt:lpstr>Slayt 13</vt:lpstr>
      <vt:lpstr>Acil Durum Planının Hazırlanması</vt:lpstr>
      <vt:lpstr>Acil durumların belirlenmesi</vt:lpstr>
      <vt:lpstr> Acil durumlar için  Önleyici ve sınırlandırıcı tedbirler </vt:lpstr>
      <vt:lpstr>Acil durum müdahale ve tahliye yöntemleri</vt:lpstr>
      <vt:lpstr>Slayt 18</vt:lpstr>
      <vt:lpstr>Slayt 19</vt:lpstr>
      <vt:lpstr>Slayt 20</vt:lpstr>
      <vt:lpstr>Slayt 21</vt:lpstr>
      <vt:lpstr> Görevlendirilecek çalışanların belirlenmesi </vt:lpstr>
      <vt:lpstr>Slayt 23</vt:lpstr>
      <vt:lpstr>Dokümantasyon</vt:lpstr>
      <vt:lpstr>Slayt 25</vt:lpstr>
      <vt:lpstr>Planların hazırlanması</vt:lpstr>
      <vt:lpstr>Slayt 27</vt:lpstr>
      <vt:lpstr>Tatbikat </vt:lpstr>
      <vt:lpstr>Acil durum planının yenilenmesi </vt:lpstr>
      <vt:lpstr>Çalışanların bilgilendirilmesi ve eğitim </vt:lpstr>
      <vt:lpstr>Büyük endüstriyel tesislerde acil durum planı</vt:lpstr>
      <vt:lpstr> Birden fazla işveren olması durumunda acil durum planları </vt:lpstr>
      <vt:lpstr>  Asıl işveren ve alt işveren ilişkisinin bulunduğu işyerlerinde acil durum planları </vt:lpstr>
      <vt:lpstr>Bir aydan kısa süreli geçici işlerde acil durum planlaması</vt:lpstr>
    </vt:vector>
  </TitlesOfParts>
  <Company>Toshiba</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Toshiba</cp:lastModifiedBy>
  <cp:revision>676</cp:revision>
  <dcterms:created xsi:type="dcterms:W3CDTF">2010-05-23T14:28:12Z</dcterms:created>
  <dcterms:modified xsi:type="dcterms:W3CDTF">2017-12-22T10:10:39Z</dcterms:modified>
</cp:coreProperties>
</file>