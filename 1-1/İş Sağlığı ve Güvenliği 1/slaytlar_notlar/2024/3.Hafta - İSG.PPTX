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316" r:id="rId4"/>
    <p:sldId id="318" r:id="rId5"/>
    <p:sldId id="317" r:id="rId6"/>
    <p:sldId id="299" r:id="rId7"/>
    <p:sldId id="313" r:id="rId8"/>
    <p:sldId id="314" r:id="rId9"/>
    <p:sldId id="290" r:id="rId10"/>
    <p:sldId id="320" r:id="rId11"/>
    <p:sldId id="293" r:id="rId12"/>
    <p:sldId id="319" r:id="rId13"/>
    <p:sldId id="294" r:id="rId14"/>
    <p:sldId id="295" r:id="rId15"/>
    <p:sldId id="296" r:id="rId16"/>
    <p:sldId id="297" r:id="rId17"/>
    <p:sldId id="291" r:id="rId18"/>
    <p:sldId id="257" r:id="rId19"/>
    <p:sldId id="267" r:id="rId20"/>
    <p:sldId id="282" r:id="rId21"/>
    <p:sldId id="305" r:id="rId22"/>
    <p:sldId id="306" r:id="rId23"/>
    <p:sldId id="309" r:id="rId24"/>
    <p:sldId id="310" r:id="rId25"/>
    <p:sldId id="311" r:id="rId26"/>
    <p:sldId id="312" r:id="rId27"/>
    <p:sldId id="315" r:id="rId28"/>
    <p:sldId id="270" r:id="rId29"/>
    <p:sldId id="289" r:id="rId30"/>
    <p:sldId id="262" r:id="rId31"/>
    <p:sldId id="265" r:id="rId32"/>
    <p:sldId id="283" r:id="rId33"/>
    <p:sldId id="269" r:id="rId34"/>
    <p:sldId id="268" r:id="rId35"/>
    <p:sldId id="308" r:id="rId36"/>
    <p:sldId id="284" r:id="rId37"/>
    <p:sldId id="285" r:id="rId38"/>
    <p:sldId id="286" r:id="rId39"/>
    <p:sldId id="280" r:id="rId40"/>
    <p:sldId id="281" r:id="rId41"/>
    <p:sldId id="287" r:id="rId42"/>
    <p:sldId id="288" r:id="rId43"/>
    <p:sldId id="307" r:id="rId44"/>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04" autoAdjust="0"/>
    <p:restoredTop sz="94660"/>
  </p:normalViewPr>
  <p:slideViewPr>
    <p:cSldViewPr>
      <p:cViewPr varScale="1">
        <p:scale>
          <a:sx n="65" d="100"/>
          <a:sy n="65" d="100"/>
        </p:scale>
        <p:origin x="1458"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02.11.2022</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75050-0E15-4C5B-92B0-66D068882F1F}" type="datetimeFigureOut">
              <a:rPr lang="tr-TR" smtClean="0"/>
              <a:pPr/>
              <a:t>02.11.2022</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EFA8C-F947-479F-BE07-76B6B3F80BF1}"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www.ilo.org/public/english/index.htm" TargetMode="External"/><Relationship Id="rId2" Type="http://schemas.openxmlformats.org/officeDocument/2006/relationships/image" Target="../media/image17.wmf"/><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683568" y="908720"/>
            <a:ext cx="7772400" cy="1470025"/>
          </a:xfrm>
        </p:spPr>
        <p:txBody>
          <a:bodyPr>
            <a:normAutofit fontScale="90000"/>
          </a:bodyPr>
          <a:lstStyle/>
          <a:p>
            <a:r>
              <a:rPr lang="tr-TR" sz="5400" b="1" dirty="0">
                <a:solidFill>
                  <a:schemeClr val="accent1">
                    <a:lumMod val="50000"/>
                  </a:schemeClr>
                </a:solidFill>
              </a:rPr>
              <a:t>İş Sağlığı ve Güvenliği I</a:t>
            </a:r>
            <a:br>
              <a:rPr lang="tr-TR" sz="5400" b="1" dirty="0">
                <a:solidFill>
                  <a:schemeClr val="accent1">
                    <a:lumMod val="50000"/>
                  </a:schemeClr>
                </a:solidFill>
              </a:rPr>
            </a:br>
            <a:endParaRPr lang="tr-TR" b="1" dirty="0">
              <a:solidFill>
                <a:schemeClr val="accent1">
                  <a:lumMod val="50000"/>
                </a:schemeClr>
              </a:solidFill>
            </a:endParaRPr>
          </a:p>
        </p:txBody>
      </p:sp>
      <p:sp>
        <p:nvSpPr>
          <p:cNvPr id="3" name="2 Alt Başlık"/>
          <p:cNvSpPr>
            <a:spLocks noGrp="1"/>
          </p:cNvSpPr>
          <p:nvPr>
            <p:ph type="subTitle" idx="1"/>
          </p:nvPr>
        </p:nvSpPr>
        <p:spPr>
          <a:xfrm>
            <a:off x="1331640" y="2348880"/>
            <a:ext cx="6400800" cy="1752600"/>
          </a:xfrm>
        </p:spPr>
        <p:txBody>
          <a:bodyPr>
            <a:normAutofit/>
          </a:bodyPr>
          <a:lstStyle/>
          <a:p>
            <a:endParaRPr lang="tr-TR" sz="4000" dirty="0">
              <a:solidFill>
                <a:schemeClr val="accent1">
                  <a:lumMod val="50000"/>
                </a:schemeClr>
              </a:solidFill>
            </a:endParaRPr>
          </a:p>
          <a:p>
            <a:r>
              <a:rPr lang="tr-TR" sz="4000" dirty="0">
                <a:solidFill>
                  <a:schemeClr val="accent1">
                    <a:lumMod val="50000"/>
                  </a:schemeClr>
                </a:solidFill>
              </a:rPr>
              <a:t>Dr. Feride Ulu</a:t>
            </a:r>
          </a:p>
          <a:p>
            <a:endParaRPr lang="tr-TR" dirty="0">
              <a:solidFill>
                <a:schemeClr val="accent1">
                  <a:lumMod val="50000"/>
                </a:schemeClr>
              </a:solidFill>
            </a:endParaRPr>
          </a:p>
          <a:p>
            <a:endParaRPr lang="tr-TR" sz="2900" dirty="0">
              <a:solidFill>
                <a:schemeClr val="accent1">
                  <a:lumMod val="50000"/>
                </a:schemeClr>
              </a:solidFill>
            </a:endParaRPr>
          </a:p>
          <a:p>
            <a:endParaRPr lang="tr-TR" sz="2900" dirty="0">
              <a:solidFill>
                <a:schemeClr val="accent1">
                  <a:lumMod val="50000"/>
                </a:schemeClr>
              </a:solidFill>
            </a:endParaRPr>
          </a:p>
        </p:txBody>
      </p:sp>
      <p:pic>
        <p:nvPicPr>
          <p:cNvPr id="4" name="Picture 2" descr="http://www.izmirhaberler.net/wp-content/uploads/2013/02/i%C5%9F-gevenli%C4%9Fi.jpg"/>
          <p:cNvPicPr>
            <a:picLocks noChangeAspect="1" noChangeArrowheads="1"/>
          </p:cNvPicPr>
          <p:nvPr/>
        </p:nvPicPr>
        <p:blipFill>
          <a:blip r:embed="rId2" cstate="print"/>
          <a:srcRect/>
          <a:stretch>
            <a:fillRect/>
          </a:stretch>
        </p:blipFill>
        <p:spPr bwMode="auto">
          <a:xfrm>
            <a:off x="2339752" y="4110637"/>
            <a:ext cx="4952992" cy="2747363"/>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1331640" y="692696"/>
            <a:ext cx="6048672" cy="5128384"/>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827584" y="40324"/>
            <a:ext cx="7794828" cy="4365105"/>
          </a:xfrm>
          <a:prstGeom prst="rect">
            <a:avLst/>
          </a:prstGeom>
          <a:noFill/>
          <a:ln w="9525">
            <a:noFill/>
            <a:miter lim="800000"/>
            <a:headEnd/>
            <a:tailEnd/>
          </a:ln>
        </p:spPr>
      </p:pic>
      <p:sp>
        <p:nvSpPr>
          <p:cNvPr id="5" name="4 Dikdörtgen"/>
          <p:cNvSpPr/>
          <p:nvPr/>
        </p:nvSpPr>
        <p:spPr>
          <a:xfrm>
            <a:off x="251520" y="4549676"/>
            <a:ext cx="8415443" cy="2308324"/>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tr-TR"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İş güvenliği çalışmaları işletmelere ek maliyetler getirmez.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755577" y="980728"/>
            <a:ext cx="7363820" cy="566669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323528" y="692696"/>
            <a:ext cx="8157131" cy="5112568"/>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sz="quarter"/>
          </p:nvPr>
        </p:nvSpPr>
        <p:spPr>
          <a:xfrm>
            <a:off x="0" y="0"/>
            <a:ext cx="9144000" cy="981075"/>
          </a:xfrm>
        </p:spPr>
        <p:txBody>
          <a:bodyPr/>
          <a:lstStyle/>
          <a:p>
            <a:pPr>
              <a:defRPr/>
            </a:pPr>
            <a:r>
              <a:rPr lang="tr-TR" b="1" dirty="0" err="1"/>
              <a:t>Go</a:t>
            </a:r>
            <a:r>
              <a:rPr lang="tr-TR" b="1" dirty="0"/>
              <a:t>-kart faciasından trajedi çıktı</a:t>
            </a:r>
            <a:endParaRPr lang="tr-TR" dirty="0"/>
          </a:p>
        </p:txBody>
      </p:sp>
      <p:sp>
        <p:nvSpPr>
          <p:cNvPr id="3" name="2 Alt Başlık"/>
          <p:cNvSpPr>
            <a:spLocks noGrp="1"/>
          </p:cNvSpPr>
          <p:nvPr>
            <p:ph type="subTitle" sz="quarter" idx="1"/>
          </p:nvPr>
        </p:nvSpPr>
        <p:spPr>
          <a:xfrm>
            <a:off x="0" y="2033588"/>
            <a:ext cx="6048375" cy="4824412"/>
          </a:xfrm>
        </p:spPr>
        <p:txBody>
          <a:bodyPr/>
          <a:lstStyle/>
          <a:p>
            <a:pPr algn="just">
              <a:defRPr/>
            </a:pPr>
            <a:r>
              <a:rPr lang="tr-TR" sz="2800" dirty="0"/>
              <a:t>	Şeker Mahalle'deki bir alışveriş merkezinin bahçesinde dün </a:t>
            </a:r>
            <a:r>
              <a:rPr lang="tr-TR" sz="2800" dirty="0" err="1"/>
              <a:t>karting</a:t>
            </a:r>
            <a:r>
              <a:rPr lang="tr-TR" sz="2800" dirty="0"/>
              <a:t> aracına binen 24 yaşındaki Tuğba Erdoğan, arkadaşlarıyla yarıştı. Görgü tanıklarının ifadesine göre, arkadaşlarıyla birlikte </a:t>
            </a:r>
            <a:r>
              <a:rPr lang="tr-TR" sz="2800" dirty="0" err="1"/>
              <a:t>go</a:t>
            </a:r>
            <a:r>
              <a:rPr lang="tr-TR" sz="2800" dirty="0"/>
              <a:t>-karta binmek üzere piste gelen gelen Tuğba Erdoğan, araca binip tur atmaya başladı. Yarış sırasında </a:t>
            </a:r>
            <a:r>
              <a:rPr lang="tr-TR" sz="2800" dirty="0" err="1"/>
              <a:t>kaşkolu</a:t>
            </a:r>
            <a:r>
              <a:rPr lang="tr-TR" sz="2800" dirty="0"/>
              <a:t> aracın aksına dolanan Erdoğan'ın başı koptu.</a:t>
            </a:r>
          </a:p>
        </p:txBody>
      </p:sp>
      <p:sp>
        <p:nvSpPr>
          <p:cNvPr id="23556" name="7 Dikdörtgen"/>
          <p:cNvSpPr>
            <a:spLocks noChangeArrowheads="1"/>
          </p:cNvSpPr>
          <p:nvPr/>
        </p:nvSpPr>
        <p:spPr bwMode="auto">
          <a:xfrm>
            <a:off x="323850" y="1052513"/>
            <a:ext cx="8424863" cy="954087"/>
          </a:xfrm>
          <a:prstGeom prst="rect">
            <a:avLst/>
          </a:prstGeom>
          <a:noFill/>
          <a:ln w="9525">
            <a:noFill/>
            <a:miter lim="800000"/>
            <a:headEnd/>
            <a:tailEnd/>
          </a:ln>
        </p:spPr>
        <p:txBody>
          <a:bodyPr>
            <a:spAutoFit/>
          </a:bodyPr>
          <a:lstStyle/>
          <a:p>
            <a:r>
              <a:rPr lang="tr-TR" altLang="tr-TR" sz="2800" dirty="0"/>
              <a:t>Yarışa katılanların kask takması şart. Yarışçıların açık saç, şal ve </a:t>
            </a:r>
            <a:r>
              <a:rPr lang="tr-TR" altLang="tr-TR" sz="2800" dirty="0" err="1"/>
              <a:t>kaşkolla</a:t>
            </a:r>
            <a:r>
              <a:rPr lang="tr-TR" altLang="tr-TR" sz="2800" dirty="0"/>
              <a:t> araca binmeleri de yasak.</a:t>
            </a:r>
          </a:p>
        </p:txBody>
      </p:sp>
      <p:pic>
        <p:nvPicPr>
          <p:cNvPr id="23557" name="Picture 7" descr="Go Kart'ta facia 'Geliyorum' demiş!"/>
          <p:cNvPicPr>
            <a:picLocks noChangeAspect="1" noChangeArrowheads="1"/>
          </p:cNvPicPr>
          <p:nvPr/>
        </p:nvPicPr>
        <p:blipFill>
          <a:blip r:embed="rId2" cstate="print"/>
          <a:srcRect/>
          <a:stretch>
            <a:fillRect/>
          </a:stretch>
        </p:blipFill>
        <p:spPr bwMode="auto">
          <a:xfrm>
            <a:off x="6151563" y="2276475"/>
            <a:ext cx="2992437" cy="2016125"/>
          </a:xfrm>
          <a:prstGeom prst="rect">
            <a:avLst/>
          </a:prstGeom>
          <a:noFill/>
          <a:ln w="9525">
            <a:noFill/>
            <a:miter lim="800000"/>
            <a:headEnd/>
            <a:tailEnd/>
          </a:ln>
        </p:spPr>
      </p:pic>
      <p:pic>
        <p:nvPicPr>
          <p:cNvPr id="23558" name="Picture 9" descr="http://t0.gstatic.com/images?q=tbn:ANd9GcTh0vCMyUFSs-fX9wpA7rLb1zy6yezsERQHYYL5T_P8GXZqDfvl"/>
          <p:cNvPicPr>
            <a:picLocks noChangeAspect="1" noChangeArrowheads="1"/>
          </p:cNvPicPr>
          <p:nvPr/>
        </p:nvPicPr>
        <p:blipFill>
          <a:blip r:embed="rId3" cstate="print"/>
          <a:srcRect/>
          <a:stretch>
            <a:fillRect/>
          </a:stretch>
        </p:blipFill>
        <p:spPr bwMode="auto">
          <a:xfrm>
            <a:off x="6516688" y="4437063"/>
            <a:ext cx="2143125" cy="2143125"/>
          </a:xfrm>
          <a:prstGeom prst="rect">
            <a:avLst/>
          </a:prstGeom>
          <a:noFill/>
          <a:ln w="9525">
            <a:noFill/>
            <a:miter lim="800000"/>
            <a:headEnd/>
            <a:tailEnd/>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3"/>
          <p:cNvSpPr>
            <a:spLocks noGrp="1" noChangeArrowheads="1"/>
          </p:cNvSpPr>
          <p:nvPr>
            <p:ph idx="1"/>
          </p:nvPr>
        </p:nvSpPr>
        <p:spPr>
          <a:xfrm>
            <a:off x="468313" y="582613"/>
            <a:ext cx="8135937" cy="5726112"/>
          </a:xfrm>
        </p:spPr>
        <p:txBody>
          <a:bodyPr/>
          <a:lstStyle/>
          <a:p>
            <a:pPr algn="just" eaLnBrk="1" hangingPunct="1">
              <a:buFont typeface="Wingdings" pitchFamily="2" charset="2"/>
              <a:buNone/>
              <a:defRPr/>
            </a:pPr>
            <a:r>
              <a:rPr lang="tr-TR" b="1" dirty="0">
                <a:solidFill>
                  <a:srgbClr val="003300"/>
                </a:solidFill>
              </a:rPr>
              <a:t>BUGÜN DÜNYAMIZDA;</a:t>
            </a:r>
          </a:p>
          <a:p>
            <a:pPr algn="just" eaLnBrk="1" hangingPunct="1">
              <a:defRPr/>
            </a:pPr>
            <a:endParaRPr lang="tr-TR" dirty="0">
              <a:solidFill>
                <a:schemeClr val="hlink"/>
              </a:solidFill>
            </a:endParaRPr>
          </a:p>
          <a:p>
            <a:pPr lvl="1" algn="just">
              <a:buFont typeface="Wingdings" pitchFamily="2" charset="2"/>
              <a:buChar char="Ø"/>
              <a:defRPr/>
            </a:pPr>
            <a:r>
              <a:rPr lang="tr-TR" dirty="0"/>
              <a:t>DAKİKADA </a:t>
            </a:r>
            <a:r>
              <a:rPr lang="tr-TR" dirty="0">
                <a:solidFill>
                  <a:srgbClr val="FF0000"/>
                </a:solidFill>
              </a:rPr>
              <a:t>3</a:t>
            </a:r>
            <a:r>
              <a:rPr lang="tr-TR" dirty="0"/>
              <a:t> KİŞİ HAYATINI KAYBETMEKTEDİR. </a:t>
            </a:r>
          </a:p>
          <a:p>
            <a:pPr algn="just" eaLnBrk="1" hangingPunct="1">
              <a:defRPr/>
            </a:pPr>
            <a:endParaRPr lang="tr-TR" dirty="0"/>
          </a:p>
          <a:p>
            <a:pPr algn="just" eaLnBrk="1" hangingPunct="1">
              <a:buNone/>
              <a:defRPr/>
            </a:pPr>
            <a:r>
              <a:rPr lang="tr-TR" b="1" dirty="0"/>
              <a:t>ÜLKEMİZDE İSE; </a:t>
            </a:r>
          </a:p>
          <a:p>
            <a:pPr lvl="1" algn="just">
              <a:buFont typeface="Wingdings" pitchFamily="2" charset="2"/>
              <a:buChar char="Ø"/>
              <a:defRPr/>
            </a:pPr>
            <a:r>
              <a:rPr lang="tr-TR" dirty="0"/>
              <a:t>MEYDANA GELEN </a:t>
            </a:r>
            <a:r>
              <a:rPr lang="tr-TR" dirty="0">
                <a:solidFill>
                  <a:srgbClr val="FF0000"/>
                </a:solidFill>
              </a:rPr>
              <a:t>HER ÜÇ KAZADAN BİRİ ÖLÜMLE </a:t>
            </a:r>
            <a:r>
              <a:rPr lang="tr-TR" dirty="0"/>
              <a:t>SONUÇLANMAKTADIR. </a:t>
            </a:r>
          </a:p>
          <a:p>
            <a:pPr algn="just" eaLnBrk="1" hangingPunct="1">
              <a:buFont typeface="Wingdings" pitchFamily="2" charset="2"/>
              <a:buNone/>
              <a:defRPr/>
            </a:pPr>
            <a:endParaRPr lang="tr-TR"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2" name="Rectangle 4"/>
          <p:cNvSpPr>
            <a:spLocks noChangeArrowheads="1"/>
          </p:cNvSpPr>
          <p:nvPr/>
        </p:nvSpPr>
        <p:spPr bwMode="auto">
          <a:xfrm>
            <a:off x="611188" y="838200"/>
            <a:ext cx="7986712" cy="5543550"/>
          </a:xfrm>
          <a:prstGeom prst="rect">
            <a:avLst/>
          </a:prstGeom>
          <a:noFill/>
          <a:ln w="9525">
            <a:noFill/>
            <a:miter lim="800000"/>
            <a:headEnd/>
            <a:tailEnd/>
          </a:ln>
          <a:effectLst>
            <a:outerShdw dist="35921" dir="2700000" algn="ctr" rotWithShape="0">
              <a:schemeClr val="tx1"/>
            </a:outerShdw>
          </a:effectLst>
        </p:spPr>
        <p:txBody>
          <a:bodyPr/>
          <a:lstStyle/>
          <a:p>
            <a:pPr algn="ctr">
              <a:lnSpc>
                <a:spcPct val="120000"/>
              </a:lnSpc>
              <a:defRPr/>
            </a:pPr>
            <a:r>
              <a:rPr lang="en-AU" sz="4800" b="1" i="1">
                <a:solidFill>
                  <a:srgbClr val="000099"/>
                </a:solidFill>
                <a:latin typeface="Times New Roman" pitchFamily="18" charset="0"/>
              </a:rPr>
              <a:t>8 saatlik çalışma süresinde işbaşında 5 dakika koruyucusuz çalışmak hiç koruyucu kullanmamakla eşdeğerdir.</a:t>
            </a:r>
            <a:endParaRPr lang="en-AU" sz="4800">
              <a:solidFill>
                <a:srgbClr val="000099"/>
              </a:solidFill>
              <a:latin typeface="Times New Roman" pitchFamily="18" charset="0"/>
            </a:endParaRPr>
          </a:p>
        </p:txBody>
      </p:sp>
    </p:spTree>
  </p:cSld>
  <p:clrMapOvr>
    <a:masterClrMapping/>
  </p:clrMapOvr>
  <p:transition advClick="0" advTm="1000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br>
              <a:rPr lang="tr-TR" b="1" dirty="0"/>
            </a:br>
            <a:endParaRPr lang="tr-TR" b="1" dirty="0"/>
          </a:p>
        </p:txBody>
      </p:sp>
      <p:sp>
        <p:nvSpPr>
          <p:cNvPr id="4" name="3 Dikdörtgen"/>
          <p:cNvSpPr/>
          <p:nvPr/>
        </p:nvSpPr>
        <p:spPr>
          <a:xfrm>
            <a:off x="0" y="0"/>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grpSp>
        <p:nvGrpSpPr>
          <p:cNvPr id="3" name="Group 4"/>
          <p:cNvGrpSpPr>
            <a:grpSpLocks/>
          </p:cNvGrpSpPr>
          <p:nvPr/>
        </p:nvGrpSpPr>
        <p:grpSpPr bwMode="auto">
          <a:xfrm>
            <a:off x="1447800" y="1752600"/>
            <a:ext cx="6445250" cy="4765675"/>
            <a:chOff x="1216" y="1026"/>
            <a:chExt cx="4399" cy="3002"/>
          </a:xfrm>
        </p:grpSpPr>
        <p:sp>
          <p:nvSpPr>
            <p:cNvPr id="6" name="Rectangle 5"/>
            <p:cNvSpPr>
              <a:spLocks noChangeArrowheads="1"/>
            </p:cNvSpPr>
            <p:nvPr/>
          </p:nvSpPr>
          <p:spPr bwMode="auto">
            <a:xfrm>
              <a:off x="1220" y="1030"/>
              <a:ext cx="905" cy="45"/>
            </a:xfrm>
            <a:prstGeom prst="rect">
              <a:avLst/>
            </a:prstGeom>
            <a:solidFill>
              <a:srgbClr val="FFFF00"/>
            </a:solidFill>
            <a:ln w="9525">
              <a:noFill/>
              <a:miter lim="800000"/>
              <a:headEnd/>
              <a:tailEnd/>
            </a:ln>
          </p:spPr>
          <p:txBody>
            <a:bodyPr wrap="none" anchor="ctr"/>
            <a:lstStyle/>
            <a:p>
              <a:endParaRPr lang="tr-TR"/>
            </a:p>
          </p:txBody>
        </p:sp>
        <p:sp>
          <p:nvSpPr>
            <p:cNvPr id="7" name="Rectangle 6"/>
            <p:cNvSpPr>
              <a:spLocks noChangeArrowheads="1"/>
            </p:cNvSpPr>
            <p:nvPr/>
          </p:nvSpPr>
          <p:spPr bwMode="auto">
            <a:xfrm>
              <a:off x="1220" y="1075"/>
              <a:ext cx="905" cy="179"/>
            </a:xfrm>
            <a:prstGeom prst="rect">
              <a:avLst/>
            </a:prstGeom>
            <a:solidFill>
              <a:srgbClr val="FFFF00"/>
            </a:solidFill>
            <a:ln w="9525">
              <a:noFill/>
              <a:miter lim="800000"/>
              <a:headEnd/>
              <a:tailEnd/>
            </a:ln>
          </p:spPr>
          <p:txBody>
            <a:bodyPr wrap="none" anchor="ctr"/>
            <a:lstStyle/>
            <a:p>
              <a:endParaRPr lang="tr-TR"/>
            </a:p>
          </p:txBody>
        </p:sp>
        <p:sp>
          <p:nvSpPr>
            <p:cNvPr id="8" name="Rectangle 7"/>
            <p:cNvSpPr>
              <a:spLocks noChangeArrowheads="1"/>
            </p:cNvSpPr>
            <p:nvPr/>
          </p:nvSpPr>
          <p:spPr bwMode="auto">
            <a:xfrm>
              <a:off x="1241" y="1080"/>
              <a:ext cx="699" cy="182"/>
            </a:xfrm>
            <a:prstGeom prst="rect">
              <a:avLst/>
            </a:prstGeom>
            <a:noFill/>
            <a:ln w="9525">
              <a:noFill/>
              <a:miter lim="800000"/>
              <a:headEnd/>
              <a:tailEnd/>
            </a:ln>
          </p:spPr>
          <p:txBody>
            <a:bodyPr wrap="none" lIns="0" tIns="0" rIns="0" bIns="0">
              <a:spAutoFit/>
            </a:bodyPr>
            <a:lstStyle/>
            <a:p>
              <a:pPr algn="ctr" eaLnBrk="0" hangingPunct="0"/>
              <a:r>
                <a:rPr lang="tr-TR" sz="1900" b="1" i="1" dirty="0">
                  <a:solidFill>
                    <a:srgbClr val="000000"/>
                  </a:solidFill>
                  <a:latin typeface="Times New Roman" pitchFamily="18" charset="0"/>
                </a:rPr>
                <a:t>İş Saatleri</a:t>
              </a:r>
            </a:p>
          </p:txBody>
        </p:sp>
        <p:sp>
          <p:nvSpPr>
            <p:cNvPr id="9" name="Rectangle 8"/>
            <p:cNvSpPr>
              <a:spLocks noChangeArrowheads="1"/>
            </p:cNvSpPr>
            <p:nvPr/>
          </p:nvSpPr>
          <p:spPr bwMode="auto">
            <a:xfrm>
              <a:off x="1220" y="1254"/>
              <a:ext cx="905" cy="46"/>
            </a:xfrm>
            <a:prstGeom prst="rect">
              <a:avLst/>
            </a:prstGeom>
            <a:solidFill>
              <a:srgbClr val="FFFF00"/>
            </a:solidFill>
            <a:ln w="9525">
              <a:noFill/>
              <a:miter lim="800000"/>
              <a:headEnd/>
              <a:tailEnd/>
            </a:ln>
          </p:spPr>
          <p:txBody>
            <a:bodyPr wrap="none" anchor="ctr"/>
            <a:lstStyle/>
            <a:p>
              <a:endParaRPr lang="tr-TR"/>
            </a:p>
          </p:txBody>
        </p:sp>
        <p:sp>
          <p:nvSpPr>
            <p:cNvPr id="10" name="Rectangle 9"/>
            <p:cNvSpPr>
              <a:spLocks noChangeArrowheads="1"/>
            </p:cNvSpPr>
            <p:nvPr/>
          </p:nvSpPr>
          <p:spPr bwMode="auto">
            <a:xfrm>
              <a:off x="2129" y="1030"/>
              <a:ext cx="743" cy="45"/>
            </a:xfrm>
            <a:prstGeom prst="rect">
              <a:avLst/>
            </a:prstGeom>
            <a:solidFill>
              <a:srgbClr val="FFFF00"/>
            </a:solidFill>
            <a:ln w="9525">
              <a:noFill/>
              <a:miter lim="800000"/>
              <a:headEnd/>
              <a:tailEnd/>
            </a:ln>
          </p:spPr>
          <p:txBody>
            <a:bodyPr wrap="none" anchor="ctr"/>
            <a:lstStyle/>
            <a:p>
              <a:endParaRPr lang="tr-TR"/>
            </a:p>
          </p:txBody>
        </p:sp>
        <p:sp>
          <p:nvSpPr>
            <p:cNvPr id="11" name="Rectangle 10"/>
            <p:cNvSpPr>
              <a:spLocks noChangeArrowheads="1"/>
            </p:cNvSpPr>
            <p:nvPr/>
          </p:nvSpPr>
          <p:spPr bwMode="auto">
            <a:xfrm>
              <a:off x="2129" y="1075"/>
              <a:ext cx="743" cy="179"/>
            </a:xfrm>
            <a:prstGeom prst="rect">
              <a:avLst/>
            </a:prstGeom>
            <a:solidFill>
              <a:srgbClr val="FFFF00"/>
            </a:solidFill>
            <a:ln w="9525">
              <a:noFill/>
              <a:miter lim="800000"/>
              <a:headEnd/>
              <a:tailEnd/>
            </a:ln>
          </p:spPr>
          <p:txBody>
            <a:bodyPr wrap="none" anchor="ctr"/>
            <a:lstStyle/>
            <a:p>
              <a:endParaRPr lang="tr-TR"/>
            </a:p>
          </p:txBody>
        </p:sp>
        <p:sp>
          <p:nvSpPr>
            <p:cNvPr id="12" name="Rectangle 11"/>
            <p:cNvSpPr>
              <a:spLocks noChangeArrowheads="1"/>
            </p:cNvSpPr>
            <p:nvPr/>
          </p:nvSpPr>
          <p:spPr bwMode="auto">
            <a:xfrm>
              <a:off x="2328" y="1080"/>
              <a:ext cx="329"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00099"/>
                  </a:solidFill>
                  <a:latin typeface="Times New Roman" pitchFamily="18" charset="0"/>
                </a:rPr>
                <a:t>1993</a:t>
              </a:r>
            </a:p>
          </p:txBody>
        </p:sp>
        <p:sp>
          <p:nvSpPr>
            <p:cNvPr id="13" name="Rectangle 12"/>
            <p:cNvSpPr>
              <a:spLocks noChangeArrowheads="1"/>
            </p:cNvSpPr>
            <p:nvPr/>
          </p:nvSpPr>
          <p:spPr bwMode="auto">
            <a:xfrm>
              <a:off x="2129" y="1254"/>
              <a:ext cx="743" cy="46"/>
            </a:xfrm>
            <a:prstGeom prst="rect">
              <a:avLst/>
            </a:prstGeom>
            <a:solidFill>
              <a:srgbClr val="FFFF00"/>
            </a:solidFill>
            <a:ln w="9525">
              <a:noFill/>
              <a:miter lim="800000"/>
              <a:headEnd/>
              <a:tailEnd/>
            </a:ln>
          </p:spPr>
          <p:txBody>
            <a:bodyPr wrap="none" anchor="ctr"/>
            <a:lstStyle/>
            <a:p>
              <a:endParaRPr lang="tr-TR"/>
            </a:p>
          </p:txBody>
        </p:sp>
        <p:sp>
          <p:nvSpPr>
            <p:cNvPr id="14" name="Rectangle 13"/>
            <p:cNvSpPr>
              <a:spLocks noChangeArrowheads="1"/>
            </p:cNvSpPr>
            <p:nvPr/>
          </p:nvSpPr>
          <p:spPr bwMode="auto">
            <a:xfrm>
              <a:off x="2876" y="1030"/>
              <a:ext cx="617" cy="45"/>
            </a:xfrm>
            <a:prstGeom prst="rect">
              <a:avLst/>
            </a:prstGeom>
            <a:solidFill>
              <a:srgbClr val="FFFF00"/>
            </a:solidFill>
            <a:ln w="9525">
              <a:noFill/>
              <a:miter lim="800000"/>
              <a:headEnd/>
              <a:tailEnd/>
            </a:ln>
          </p:spPr>
          <p:txBody>
            <a:bodyPr wrap="none" anchor="ctr"/>
            <a:lstStyle/>
            <a:p>
              <a:endParaRPr lang="tr-TR"/>
            </a:p>
          </p:txBody>
        </p:sp>
        <p:sp>
          <p:nvSpPr>
            <p:cNvPr id="15" name="Rectangle 14"/>
            <p:cNvSpPr>
              <a:spLocks noChangeArrowheads="1"/>
            </p:cNvSpPr>
            <p:nvPr/>
          </p:nvSpPr>
          <p:spPr bwMode="auto">
            <a:xfrm>
              <a:off x="2876" y="1075"/>
              <a:ext cx="617" cy="179"/>
            </a:xfrm>
            <a:prstGeom prst="rect">
              <a:avLst/>
            </a:prstGeom>
            <a:solidFill>
              <a:srgbClr val="FFFF00"/>
            </a:solidFill>
            <a:ln w="9525">
              <a:noFill/>
              <a:miter lim="800000"/>
              <a:headEnd/>
              <a:tailEnd/>
            </a:ln>
          </p:spPr>
          <p:txBody>
            <a:bodyPr wrap="none" anchor="ctr"/>
            <a:lstStyle/>
            <a:p>
              <a:endParaRPr lang="tr-TR"/>
            </a:p>
          </p:txBody>
        </p:sp>
        <p:sp>
          <p:nvSpPr>
            <p:cNvPr id="16" name="Rectangle 15"/>
            <p:cNvSpPr>
              <a:spLocks noChangeArrowheads="1"/>
            </p:cNvSpPr>
            <p:nvPr/>
          </p:nvSpPr>
          <p:spPr bwMode="auto">
            <a:xfrm>
              <a:off x="3012" y="1080"/>
              <a:ext cx="330"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00099"/>
                  </a:solidFill>
                  <a:latin typeface="Times New Roman" pitchFamily="18" charset="0"/>
                </a:rPr>
                <a:t>1994</a:t>
              </a:r>
            </a:p>
          </p:txBody>
        </p:sp>
        <p:sp>
          <p:nvSpPr>
            <p:cNvPr id="17" name="Rectangle 16"/>
            <p:cNvSpPr>
              <a:spLocks noChangeArrowheads="1"/>
            </p:cNvSpPr>
            <p:nvPr/>
          </p:nvSpPr>
          <p:spPr bwMode="auto">
            <a:xfrm>
              <a:off x="2876" y="1254"/>
              <a:ext cx="617" cy="46"/>
            </a:xfrm>
            <a:prstGeom prst="rect">
              <a:avLst/>
            </a:prstGeom>
            <a:solidFill>
              <a:srgbClr val="FFFF00"/>
            </a:solidFill>
            <a:ln w="9525">
              <a:noFill/>
              <a:miter lim="800000"/>
              <a:headEnd/>
              <a:tailEnd/>
            </a:ln>
          </p:spPr>
          <p:txBody>
            <a:bodyPr wrap="none" anchor="ctr"/>
            <a:lstStyle/>
            <a:p>
              <a:endParaRPr lang="tr-TR"/>
            </a:p>
          </p:txBody>
        </p:sp>
        <p:sp>
          <p:nvSpPr>
            <p:cNvPr id="18" name="Rectangle 17"/>
            <p:cNvSpPr>
              <a:spLocks noChangeArrowheads="1"/>
            </p:cNvSpPr>
            <p:nvPr/>
          </p:nvSpPr>
          <p:spPr bwMode="auto">
            <a:xfrm>
              <a:off x="3497" y="1030"/>
              <a:ext cx="732" cy="45"/>
            </a:xfrm>
            <a:prstGeom prst="rect">
              <a:avLst/>
            </a:prstGeom>
            <a:solidFill>
              <a:srgbClr val="FFFF00"/>
            </a:solidFill>
            <a:ln w="9525">
              <a:noFill/>
              <a:miter lim="800000"/>
              <a:headEnd/>
              <a:tailEnd/>
            </a:ln>
          </p:spPr>
          <p:txBody>
            <a:bodyPr wrap="none" anchor="ctr"/>
            <a:lstStyle/>
            <a:p>
              <a:endParaRPr lang="tr-TR"/>
            </a:p>
          </p:txBody>
        </p:sp>
        <p:sp>
          <p:nvSpPr>
            <p:cNvPr id="19" name="Rectangle 18"/>
            <p:cNvSpPr>
              <a:spLocks noChangeArrowheads="1"/>
            </p:cNvSpPr>
            <p:nvPr/>
          </p:nvSpPr>
          <p:spPr bwMode="auto">
            <a:xfrm>
              <a:off x="3497" y="1075"/>
              <a:ext cx="732" cy="179"/>
            </a:xfrm>
            <a:prstGeom prst="rect">
              <a:avLst/>
            </a:prstGeom>
            <a:solidFill>
              <a:srgbClr val="FFFF00"/>
            </a:solidFill>
            <a:ln w="9525">
              <a:noFill/>
              <a:miter lim="800000"/>
              <a:headEnd/>
              <a:tailEnd/>
            </a:ln>
          </p:spPr>
          <p:txBody>
            <a:bodyPr wrap="none" anchor="ctr"/>
            <a:lstStyle/>
            <a:p>
              <a:endParaRPr lang="tr-TR"/>
            </a:p>
          </p:txBody>
        </p:sp>
        <p:sp>
          <p:nvSpPr>
            <p:cNvPr id="20" name="Rectangle 19"/>
            <p:cNvSpPr>
              <a:spLocks noChangeArrowheads="1"/>
            </p:cNvSpPr>
            <p:nvPr/>
          </p:nvSpPr>
          <p:spPr bwMode="auto">
            <a:xfrm>
              <a:off x="3687" y="1080"/>
              <a:ext cx="330"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00099"/>
                  </a:solidFill>
                  <a:latin typeface="Times New Roman" pitchFamily="18" charset="0"/>
                </a:rPr>
                <a:t>1995</a:t>
              </a:r>
            </a:p>
          </p:txBody>
        </p:sp>
        <p:sp>
          <p:nvSpPr>
            <p:cNvPr id="21" name="Rectangle 20"/>
            <p:cNvSpPr>
              <a:spLocks noChangeArrowheads="1"/>
            </p:cNvSpPr>
            <p:nvPr/>
          </p:nvSpPr>
          <p:spPr bwMode="auto">
            <a:xfrm>
              <a:off x="3497" y="1254"/>
              <a:ext cx="732" cy="46"/>
            </a:xfrm>
            <a:prstGeom prst="rect">
              <a:avLst/>
            </a:prstGeom>
            <a:solidFill>
              <a:srgbClr val="FFFF00"/>
            </a:solidFill>
            <a:ln w="9525">
              <a:noFill/>
              <a:miter lim="800000"/>
              <a:headEnd/>
              <a:tailEnd/>
            </a:ln>
          </p:spPr>
          <p:txBody>
            <a:bodyPr wrap="none" anchor="ctr"/>
            <a:lstStyle/>
            <a:p>
              <a:endParaRPr lang="tr-TR"/>
            </a:p>
          </p:txBody>
        </p:sp>
        <p:sp>
          <p:nvSpPr>
            <p:cNvPr id="22" name="Rectangle 21"/>
            <p:cNvSpPr>
              <a:spLocks noChangeArrowheads="1"/>
            </p:cNvSpPr>
            <p:nvPr/>
          </p:nvSpPr>
          <p:spPr bwMode="auto">
            <a:xfrm>
              <a:off x="4232" y="1030"/>
              <a:ext cx="674" cy="45"/>
            </a:xfrm>
            <a:prstGeom prst="rect">
              <a:avLst/>
            </a:prstGeom>
            <a:solidFill>
              <a:srgbClr val="FFFF00"/>
            </a:solidFill>
            <a:ln w="9525">
              <a:noFill/>
              <a:miter lim="800000"/>
              <a:headEnd/>
              <a:tailEnd/>
            </a:ln>
          </p:spPr>
          <p:txBody>
            <a:bodyPr wrap="none" anchor="ctr"/>
            <a:lstStyle/>
            <a:p>
              <a:endParaRPr lang="tr-TR"/>
            </a:p>
          </p:txBody>
        </p:sp>
        <p:sp>
          <p:nvSpPr>
            <p:cNvPr id="23" name="Rectangle 22"/>
            <p:cNvSpPr>
              <a:spLocks noChangeArrowheads="1"/>
            </p:cNvSpPr>
            <p:nvPr/>
          </p:nvSpPr>
          <p:spPr bwMode="auto">
            <a:xfrm>
              <a:off x="4232" y="1075"/>
              <a:ext cx="674" cy="179"/>
            </a:xfrm>
            <a:prstGeom prst="rect">
              <a:avLst/>
            </a:prstGeom>
            <a:solidFill>
              <a:srgbClr val="FFFF00"/>
            </a:solidFill>
            <a:ln w="9525">
              <a:noFill/>
              <a:miter lim="800000"/>
              <a:headEnd/>
              <a:tailEnd/>
            </a:ln>
          </p:spPr>
          <p:txBody>
            <a:bodyPr wrap="none" anchor="ctr"/>
            <a:lstStyle/>
            <a:p>
              <a:endParaRPr lang="tr-TR"/>
            </a:p>
          </p:txBody>
        </p:sp>
        <p:sp>
          <p:nvSpPr>
            <p:cNvPr id="24" name="Rectangle 23"/>
            <p:cNvSpPr>
              <a:spLocks noChangeArrowheads="1"/>
            </p:cNvSpPr>
            <p:nvPr/>
          </p:nvSpPr>
          <p:spPr bwMode="auto">
            <a:xfrm>
              <a:off x="4395" y="1080"/>
              <a:ext cx="329"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00099"/>
                  </a:solidFill>
                  <a:latin typeface="Times New Roman" pitchFamily="18" charset="0"/>
                </a:rPr>
                <a:t>1996</a:t>
              </a:r>
            </a:p>
          </p:txBody>
        </p:sp>
        <p:sp>
          <p:nvSpPr>
            <p:cNvPr id="25" name="Rectangle 24"/>
            <p:cNvSpPr>
              <a:spLocks noChangeArrowheads="1"/>
            </p:cNvSpPr>
            <p:nvPr/>
          </p:nvSpPr>
          <p:spPr bwMode="auto">
            <a:xfrm>
              <a:off x="4232" y="1254"/>
              <a:ext cx="674" cy="46"/>
            </a:xfrm>
            <a:prstGeom prst="rect">
              <a:avLst/>
            </a:prstGeom>
            <a:solidFill>
              <a:srgbClr val="FFFF00"/>
            </a:solidFill>
            <a:ln w="9525">
              <a:noFill/>
              <a:miter lim="800000"/>
              <a:headEnd/>
              <a:tailEnd/>
            </a:ln>
          </p:spPr>
          <p:txBody>
            <a:bodyPr wrap="none" anchor="ctr"/>
            <a:lstStyle/>
            <a:p>
              <a:endParaRPr lang="tr-TR"/>
            </a:p>
          </p:txBody>
        </p:sp>
        <p:sp>
          <p:nvSpPr>
            <p:cNvPr id="26" name="Rectangle 25"/>
            <p:cNvSpPr>
              <a:spLocks noChangeArrowheads="1"/>
            </p:cNvSpPr>
            <p:nvPr/>
          </p:nvSpPr>
          <p:spPr bwMode="auto">
            <a:xfrm>
              <a:off x="4910" y="1030"/>
              <a:ext cx="674" cy="45"/>
            </a:xfrm>
            <a:prstGeom prst="rect">
              <a:avLst/>
            </a:prstGeom>
            <a:solidFill>
              <a:srgbClr val="FFFF00"/>
            </a:solidFill>
            <a:ln w="9525">
              <a:noFill/>
              <a:miter lim="800000"/>
              <a:headEnd/>
              <a:tailEnd/>
            </a:ln>
          </p:spPr>
          <p:txBody>
            <a:bodyPr wrap="none" anchor="ctr"/>
            <a:lstStyle/>
            <a:p>
              <a:endParaRPr lang="tr-TR"/>
            </a:p>
          </p:txBody>
        </p:sp>
        <p:sp>
          <p:nvSpPr>
            <p:cNvPr id="27" name="Rectangle 26"/>
            <p:cNvSpPr>
              <a:spLocks noChangeArrowheads="1"/>
            </p:cNvSpPr>
            <p:nvPr/>
          </p:nvSpPr>
          <p:spPr bwMode="auto">
            <a:xfrm>
              <a:off x="4910" y="1075"/>
              <a:ext cx="674" cy="179"/>
            </a:xfrm>
            <a:prstGeom prst="rect">
              <a:avLst/>
            </a:prstGeom>
            <a:solidFill>
              <a:srgbClr val="FFFF00"/>
            </a:solidFill>
            <a:ln w="9525">
              <a:noFill/>
              <a:miter lim="800000"/>
              <a:headEnd/>
              <a:tailEnd/>
            </a:ln>
          </p:spPr>
          <p:txBody>
            <a:bodyPr wrap="none" anchor="ctr"/>
            <a:lstStyle/>
            <a:p>
              <a:endParaRPr lang="tr-TR"/>
            </a:p>
          </p:txBody>
        </p:sp>
        <p:sp>
          <p:nvSpPr>
            <p:cNvPr id="28" name="Rectangle 27"/>
            <p:cNvSpPr>
              <a:spLocks noChangeArrowheads="1"/>
            </p:cNvSpPr>
            <p:nvPr/>
          </p:nvSpPr>
          <p:spPr bwMode="auto">
            <a:xfrm>
              <a:off x="5073" y="1080"/>
              <a:ext cx="330"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00099"/>
                  </a:solidFill>
                  <a:latin typeface="Times New Roman" pitchFamily="18" charset="0"/>
                </a:rPr>
                <a:t>1999</a:t>
              </a:r>
            </a:p>
          </p:txBody>
        </p:sp>
        <p:sp>
          <p:nvSpPr>
            <p:cNvPr id="29" name="Rectangle 28"/>
            <p:cNvSpPr>
              <a:spLocks noChangeArrowheads="1"/>
            </p:cNvSpPr>
            <p:nvPr/>
          </p:nvSpPr>
          <p:spPr bwMode="auto">
            <a:xfrm>
              <a:off x="4910" y="1254"/>
              <a:ext cx="674" cy="46"/>
            </a:xfrm>
            <a:prstGeom prst="rect">
              <a:avLst/>
            </a:prstGeom>
            <a:solidFill>
              <a:srgbClr val="FFFF00"/>
            </a:solidFill>
            <a:ln w="9525">
              <a:noFill/>
              <a:miter lim="800000"/>
              <a:headEnd/>
              <a:tailEnd/>
            </a:ln>
          </p:spPr>
          <p:txBody>
            <a:bodyPr wrap="none" anchor="ctr"/>
            <a:lstStyle/>
            <a:p>
              <a:endParaRPr lang="tr-TR"/>
            </a:p>
          </p:txBody>
        </p:sp>
        <p:sp>
          <p:nvSpPr>
            <p:cNvPr id="30" name="Rectangle 29"/>
            <p:cNvSpPr>
              <a:spLocks noChangeArrowheads="1"/>
            </p:cNvSpPr>
            <p:nvPr/>
          </p:nvSpPr>
          <p:spPr bwMode="auto">
            <a:xfrm>
              <a:off x="1216" y="1026"/>
              <a:ext cx="4" cy="4"/>
            </a:xfrm>
            <a:prstGeom prst="rect">
              <a:avLst/>
            </a:prstGeom>
            <a:solidFill>
              <a:srgbClr val="000000"/>
            </a:solidFill>
            <a:ln w="9525">
              <a:noFill/>
              <a:miter lim="800000"/>
              <a:headEnd/>
              <a:tailEnd/>
            </a:ln>
          </p:spPr>
          <p:txBody>
            <a:bodyPr wrap="none" anchor="ctr"/>
            <a:lstStyle/>
            <a:p>
              <a:endParaRPr lang="tr-TR"/>
            </a:p>
          </p:txBody>
        </p:sp>
        <p:sp>
          <p:nvSpPr>
            <p:cNvPr id="31" name="Rectangle 30"/>
            <p:cNvSpPr>
              <a:spLocks noChangeArrowheads="1"/>
            </p:cNvSpPr>
            <p:nvPr/>
          </p:nvSpPr>
          <p:spPr bwMode="auto">
            <a:xfrm>
              <a:off x="1216" y="1026"/>
              <a:ext cx="4" cy="4"/>
            </a:xfrm>
            <a:prstGeom prst="rect">
              <a:avLst/>
            </a:prstGeom>
            <a:solidFill>
              <a:srgbClr val="000000"/>
            </a:solidFill>
            <a:ln w="9525">
              <a:noFill/>
              <a:miter lim="800000"/>
              <a:headEnd/>
              <a:tailEnd/>
            </a:ln>
          </p:spPr>
          <p:txBody>
            <a:bodyPr wrap="none" anchor="ctr"/>
            <a:lstStyle/>
            <a:p>
              <a:endParaRPr lang="tr-TR"/>
            </a:p>
          </p:txBody>
        </p:sp>
        <p:sp>
          <p:nvSpPr>
            <p:cNvPr id="32" name="Rectangle 31"/>
            <p:cNvSpPr>
              <a:spLocks noChangeArrowheads="1"/>
            </p:cNvSpPr>
            <p:nvPr/>
          </p:nvSpPr>
          <p:spPr bwMode="auto">
            <a:xfrm>
              <a:off x="1220" y="1026"/>
              <a:ext cx="905" cy="4"/>
            </a:xfrm>
            <a:prstGeom prst="rect">
              <a:avLst/>
            </a:prstGeom>
            <a:solidFill>
              <a:srgbClr val="000000"/>
            </a:solidFill>
            <a:ln w="9525">
              <a:noFill/>
              <a:miter lim="800000"/>
              <a:headEnd/>
              <a:tailEnd/>
            </a:ln>
          </p:spPr>
          <p:txBody>
            <a:bodyPr wrap="none" anchor="ctr"/>
            <a:lstStyle/>
            <a:p>
              <a:endParaRPr lang="tr-TR"/>
            </a:p>
          </p:txBody>
        </p:sp>
        <p:sp>
          <p:nvSpPr>
            <p:cNvPr id="33" name="Rectangle 32"/>
            <p:cNvSpPr>
              <a:spLocks noChangeArrowheads="1"/>
            </p:cNvSpPr>
            <p:nvPr/>
          </p:nvSpPr>
          <p:spPr bwMode="auto">
            <a:xfrm>
              <a:off x="2125" y="1026"/>
              <a:ext cx="4" cy="4"/>
            </a:xfrm>
            <a:prstGeom prst="rect">
              <a:avLst/>
            </a:prstGeom>
            <a:solidFill>
              <a:srgbClr val="000000"/>
            </a:solidFill>
            <a:ln w="9525">
              <a:noFill/>
              <a:miter lim="800000"/>
              <a:headEnd/>
              <a:tailEnd/>
            </a:ln>
          </p:spPr>
          <p:txBody>
            <a:bodyPr wrap="none" anchor="ctr"/>
            <a:lstStyle/>
            <a:p>
              <a:endParaRPr lang="tr-TR"/>
            </a:p>
          </p:txBody>
        </p:sp>
        <p:sp>
          <p:nvSpPr>
            <p:cNvPr id="34" name="Rectangle 33"/>
            <p:cNvSpPr>
              <a:spLocks noChangeArrowheads="1"/>
            </p:cNvSpPr>
            <p:nvPr/>
          </p:nvSpPr>
          <p:spPr bwMode="auto">
            <a:xfrm>
              <a:off x="2129" y="1026"/>
              <a:ext cx="743" cy="4"/>
            </a:xfrm>
            <a:prstGeom prst="rect">
              <a:avLst/>
            </a:prstGeom>
            <a:solidFill>
              <a:srgbClr val="000000"/>
            </a:solidFill>
            <a:ln w="9525">
              <a:noFill/>
              <a:miter lim="800000"/>
              <a:headEnd/>
              <a:tailEnd/>
            </a:ln>
          </p:spPr>
          <p:txBody>
            <a:bodyPr wrap="none" anchor="ctr"/>
            <a:lstStyle/>
            <a:p>
              <a:endParaRPr lang="tr-TR"/>
            </a:p>
          </p:txBody>
        </p:sp>
        <p:sp>
          <p:nvSpPr>
            <p:cNvPr id="35" name="Rectangle 34"/>
            <p:cNvSpPr>
              <a:spLocks noChangeArrowheads="1"/>
            </p:cNvSpPr>
            <p:nvPr/>
          </p:nvSpPr>
          <p:spPr bwMode="auto">
            <a:xfrm>
              <a:off x="2872" y="1026"/>
              <a:ext cx="4" cy="4"/>
            </a:xfrm>
            <a:prstGeom prst="rect">
              <a:avLst/>
            </a:prstGeom>
            <a:solidFill>
              <a:srgbClr val="000000"/>
            </a:solidFill>
            <a:ln w="9525">
              <a:noFill/>
              <a:miter lim="800000"/>
              <a:headEnd/>
              <a:tailEnd/>
            </a:ln>
          </p:spPr>
          <p:txBody>
            <a:bodyPr wrap="none" anchor="ctr"/>
            <a:lstStyle/>
            <a:p>
              <a:endParaRPr lang="tr-TR"/>
            </a:p>
          </p:txBody>
        </p:sp>
        <p:sp>
          <p:nvSpPr>
            <p:cNvPr id="36" name="Rectangle 35"/>
            <p:cNvSpPr>
              <a:spLocks noChangeArrowheads="1"/>
            </p:cNvSpPr>
            <p:nvPr/>
          </p:nvSpPr>
          <p:spPr bwMode="auto">
            <a:xfrm>
              <a:off x="2876" y="1026"/>
              <a:ext cx="617" cy="4"/>
            </a:xfrm>
            <a:prstGeom prst="rect">
              <a:avLst/>
            </a:prstGeom>
            <a:solidFill>
              <a:srgbClr val="000000"/>
            </a:solidFill>
            <a:ln w="9525">
              <a:noFill/>
              <a:miter lim="800000"/>
              <a:headEnd/>
              <a:tailEnd/>
            </a:ln>
          </p:spPr>
          <p:txBody>
            <a:bodyPr wrap="none" anchor="ctr"/>
            <a:lstStyle/>
            <a:p>
              <a:endParaRPr lang="tr-TR"/>
            </a:p>
          </p:txBody>
        </p:sp>
        <p:sp>
          <p:nvSpPr>
            <p:cNvPr id="37" name="Rectangle 36"/>
            <p:cNvSpPr>
              <a:spLocks noChangeArrowheads="1"/>
            </p:cNvSpPr>
            <p:nvPr/>
          </p:nvSpPr>
          <p:spPr bwMode="auto">
            <a:xfrm>
              <a:off x="3493" y="1026"/>
              <a:ext cx="4" cy="4"/>
            </a:xfrm>
            <a:prstGeom prst="rect">
              <a:avLst/>
            </a:prstGeom>
            <a:solidFill>
              <a:srgbClr val="000000"/>
            </a:solidFill>
            <a:ln w="9525">
              <a:noFill/>
              <a:miter lim="800000"/>
              <a:headEnd/>
              <a:tailEnd/>
            </a:ln>
          </p:spPr>
          <p:txBody>
            <a:bodyPr wrap="none" anchor="ctr"/>
            <a:lstStyle/>
            <a:p>
              <a:endParaRPr lang="tr-TR"/>
            </a:p>
          </p:txBody>
        </p:sp>
        <p:sp>
          <p:nvSpPr>
            <p:cNvPr id="38" name="Rectangle 37"/>
            <p:cNvSpPr>
              <a:spLocks noChangeArrowheads="1"/>
            </p:cNvSpPr>
            <p:nvPr/>
          </p:nvSpPr>
          <p:spPr bwMode="auto">
            <a:xfrm>
              <a:off x="3497" y="1026"/>
              <a:ext cx="732" cy="4"/>
            </a:xfrm>
            <a:prstGeom prst="rect">
              <a:avLst/>
            </a:prstGeom>
            <a:solidFill>
              <a:srgbClr val="000000"/>
            </a:solidFill>
            <a:ln w="9525">
              <a:noFill/>
              <a:miter lim="800000"/>
              <a:headEnd/>
              <a:tailEnd/>
            </a:ln>
          </p:spPr>
          <p:txBody>
            <a:bodyPr wrap="none" anchor="ctr"/>
            <a:lstStyle/>
            <a:p>
              <a:endParaRPr lang="tr-TR"/>
            </a:p>
          </p:txBody>
        </p:sp>
        <p:sp>
          <p:nvSpPr>
            <p:cNvPr id="39" name="Rectangle 38"/>
            <p:cNvSpPr>
              <a:spLocks noChangeArrowheads="1"/>
            </p:cNvSpPr>
            <p:nvPr/>
          </p:nvSpPr>
          <p:spPr bwMode="auto">
            <a:xfrm>
              <a:off x="4229" y="1026"/>
              <a:ext cx="3" cy="4"/>
            </a:xfrm>
            <a:prstGeom prst="rect">
              <a:avLst/>
            </a:prstGeom>
            <a:solidFill>
              <a:srgbClr val="000000"/>
            </a:solidFill>
            <a:ln w="9525">
              <a:noFill/>
              <a:miter lim="800000"/>
              <a:headEnd/>
              <a:tailEnd/>
            </a:ln>
          </p:spPr>
          <p:txBody>
            <a:bodyPr wrap="none" anchor="ctr"/>
            <a:lstStyle/>
            <a:p>
              <a:endParaRPr lang="tr-TR"/>
            </a:p>
          </p:txBody>
        </p:sp>
        <p:sp>
          <p:nvSpPr>
            <p:cNvPr id="40" name="Rectangle 39"/>
            <p:cNvSpPr>
              <a:spLocks noChangeArrowheads="1"/>
            </p:cNvSpPr>
            <p:nvPr/>
          </p:nvSpPr>
          <p:spPr bwMode="auto">
            <a:xfrm>
              <a:off x="4232" y="1026"/>
              <a:ext cx="674" cy="4"/>
            </a:xfrm>
            <a:prstGeom prst="rect">
              <a:avLst/>
            </a:prstGeom>
            <a:solidFill>
              <a:srgbClr val="000000"/>
            </a:solidFill>
            <a:ln w="9525">
              <a:noFill/>
              <a:miter lim="800000"/>
              <a:headEnd/>
              <a:tailEnd/>
            </a:ln>
          </p:spPr>
          <p:txBody>
            <a:bodyPr wrap="none" anchor="ctr"/>
            <a:lstStyle/>
            <a:p>
              <a:endParaRPr lang="tr-TR"/>
            </a:p>
          </p:txBody>
        </p:sp>
        <p:sp>
          <p:nvSpPr>
            <p:cNvPr id="41" name="Rectangle 40"/>
            <p:cNvSpPr>
              <a:spLocks noChangeArrowheads="1"/>
            </p:cNvSpPr>
            <p:nvPr/>
          </p:nvSpPr>
          <p:spPr bwMode="auto">
            <a:xfrm>
              <a:off x="4906" y="1026"/>
              <a:ext cx="4" cy="4"/>
            </a:xfrm>
            <a:prstGeom prst="rect">
              <a:avLst/>
            </a:prstGeom>
            <a:solidFill>
              <a:srgbClr val="000000"/>
            </a:solidFill>
            <a:ln w="9525">
              <a:noFill/>
              <a:miter lim="800000"/>
              <a:headEnd/>
              <a:tailEnd/>
            </a:ln>
          </p:spPr>
          <p:txBody>
            <a:bodyPr wrap="none" anchor="ctr"/>
            <a:lstStyle/>
            <a:p>
              <a:endParaRPr lang="tr-TR"/>
            </a:p>
          </p:txBody>
        </p:sp>
        <p:sp>
          <p:nvSpPr>
            <p:cNvPr id="42" name="Rectangle 41"/>
            <p:cNvSpPr>
              <a:spLocks noChangeArrowheads="1"/>
            </p:cNvSpPr>
            <p:nvPr/>
          </p:nvSpPr>
          <p:spPr bwMode="auto">
            <a:xfrm>
              <a:off x="4910" y="1026"/>
              <a:ext cx="674" cy="4"/>
            </a:xfrm>
            <a:prstGeom prst="rect">
              <a:avLst/>
            </a:prstGeom>
            <a:solidFill>
              <a:srgbClr val="000000"/>
            </a:solidFill>
            <a:ln w="9525">
              <a:noFill/>
              <a:miter lim="800000"/>
              <a:headEnd/>
              <a:tailEnd/>
            </a:ln>
          </p:spPr>
          <p:txBody>
            <a:bodyPr wrap="none" anchor="ctr"/>
            <a:lstStyle/>
            <a:p>
              <a:endParaRPr lang="tr-TR"/>
            </a:p>
          </p:txBody>
        </p:sp>
        <p:sp>
          <p:nvSpPr>
            <p:cNvPr id="43" name="Rectangle 42"/>
            <p:cNvSpPr>
              <a:spLocks noChangeArrowheads="1"/>
            </p:cNvSpPr>
            <p:nvPr/>
          </p:nvSpPr>
          <p:spPr bwMode="auto">
            <a:xfrm>
              <a:off x="5584" y="1026"/>
              <a:ext cx="4" cy="4"/>
            </a:xfrm>
            <a:prstGeom prst="rect">
              <a:avLst/>
            </a:prstGeom>
            <a:solidFill>
              <a:srgbClr val="000000"/>
            </a:solidFill>
            <a:ln w="9525">
              <a:noFill/>
              <a:miter lim="800000"/>
              <a:headEnd/>
              <a:tailEnd/>
            </a:ln>
          </p:spPr>
          <p:txBody>
            <a:bodyPr wrap="none" anchor="ctr"/>
            <a:lstStyle/>
            <a:p>
              <a:endParaRPr lang="tr-TR"/>
            </a:p>
          </p:txBody>
        </p:sp>
        <p:sp>
          <p:nvSpPr>
            <p:cNvPr id="44" name="Rectangle 43"/>
            <p:cNvSpPr>
              <a:spLocks noChangeArrowheads="1"/>
            </p:cNvSpPr>
            <p:nvPr/>
          </p:nvSpPr>
          <p:spPr bwMode="auto">
            <a:xfrm>
              <a:off x="5584" y="1026"/>
              <a:ext cx="4" cy="4"/>
            </a:xfrm>
            <a:prstGeom prst="rect">
              <a:avLst/>
            </a:prstGeom>
            <a:solidFill>
              <a:srgbClr val="000000"/>
            </a:solidFill>
            <a:ln w="9525">
              <a:noFill/>
              <a:miter lim="800000"/>
              <a:headEnd/>
              <a:tailEnd/>
            </a:ln>
          </p:spPr>
          <p:txBody>
            <a:bodyPr wrap="none" anchor="ctr"/>
            <a:lstStyle/>
            <a:p>
              <a:endParaRPr lang="tr-TR"/>
            </a:p>
          </p:txBody>
        </p:sp>
        <p:sp>
          <p:nvSpPr>
            <p:cNvPr id="45" name="Rectangle 44"/>
            <p:cNvSpPr>
              <a:spLocks noChangeArrowheads="1"/>
            </p:cNvSpPr>
            <p:nvPr/>
          </p:nvSpPr>
          <p:spPr bwMode="auto">
            <a:xfrm>
              <a:off x="1216" y="1030"/>
              <a:ext cx="4" cy="270"/>
            </a:xfrm>
            <a:prstGeom prst="rect">
              <a:avLst/>
            </a:prstGeom>
            <a:solidFill>
              <a:srgbClr val="000000"/>
            </a:solidFill>
            <a:ln w="9525">
              <a:noFill/>
              <a:miter lim="800000"/>
              <a:headEnd/>
              <a:tailEnd/>
            </a:ln>
          </p:spPr>
          <p:txBody>
            <a:bodyPr wrap="none" anchor="ctr"/>
            <a:lstStyle/>
            <a:p>
              <a:endParaRPr lang="tr-TR"/>
            </a:p>
          </p:txBody>
        </p:sp>
        <p:sp>
          <p:nvSpPr>
            <p:cNvPr id="46" name="Rectangle 45"/>
            <p:cNvSpPr>
              <a:spLocks noChangeArrowheads="1"/>
            </p:cNvSpPr>
            <p:nvPr/>
          </p:nvSpPr>
          <p:spPr bwMode="auto">
            <a:xfrm>
              <a:off x="2125" y="1030"/>
              <a:ext cx="4" cy="270"/>
            </a:xfrm>
            <a:prstGeom prst="rect">
              <a:avLst/>
            </a:prstGeom>
            <a:solidFill>
              <a:srgbClr val="000000"/>
            </a:solidFill>
            <a:ln w="9525">
              <a:noFill/>
              <a:miter lim="800000"/>
              <a:headEnd/>
              <a:tailEnd/>
            </a:ln>
          </p:spPr>
          <p:txBody>
            <a:bodyPr wrap="none" anchor="ctr"/>
            <a:lstStyle/>
            <a:p>
              <a:endParaRPr lang="tr-TR"/>
            </a:p>
          </p:txBody>
        </p:sp>
        <p:sp>
          <p:nvSpPr>
            <p:cNvPr id="47" name="Rectangle 46"/>
            <p:cNvSpPr>
              <a:spLocks noChangeArrowheads="1"/>
            </p:cNvSpPr>
            <p:nvPr/>
          </p:nvSpPr>
          <p:spPr bwMode="auto">
            <a:xfrm>
              <a:off x="2872" y="1030"/>
              <a:ext cx="4" cy="270"/>
            </a:xfrm>
            <a:prstGeom prst="rect">
              <a:avLst/>
            </a:prstGeom>
            <a:solidFill>
              <a:srgbClr val="000000"/>
            </a:solidFill>
            <a:ln w="9525">
              <a:noFill/>
              <a:miter lim="800000"/>
              <a:headEnd/>
              <a:tailEnd/>
            </a:ln>
          </p:spPr>
          <p:txBody>
            <a:bodyPr wrap="none" anchor="ctr"/>
            <a:lstStyle/>
            <a:p>
              <a:endParaRPr lang="tr-TR"/>
            </a:p>
          </p:txBody>
        </p:sp>
        <p:sp>
          <p:nvSpPr>
            <p:cNvPr id="48" name="Rectangle 47"/>
            <p:cNvSpPr>
              <a:spLocks noChangeArrowheads="1"/>
            </p:cNvSpPr>
            <p:nvPr/>
          </p:nvSpPr>
          <p:spPr bwMode="auto">
            <a:xfrm>
              <a:off x="3493" y="1030"/>
              <a:ext cx="4" cy="270"/>
            </a:xfrm>
            <a:prstGeom prst="rect">
              <a:avLst/>
            </a:prstGeom>
            <a:solidFill>
              <a:srgbClr val="000000"/>
            </a:solidFill>
            <a:ln w="9525">
              <a:noFill/>
              <a:miter lim="800000"/>
              <a:headEnd/>
              <a:tailEnd/>
            </a:ln>
          </p:spPr>
          <p:txBody>
            <a:bodyPr wrap="none" anchor="ctr"/>
            <a:lstStyle/>
            <a:p>
              <a:endParaRPr lang="tr-TR"/>
            </a:p>
          </p:txBody>
        </p:sp>
        <p:sp>
          <p:nvSpPr>
            <p:cNvPr id="49" name="Rectangle 48"/>
            <p:cNvSpPr>
              <a:spLocks noChangeArrowheads="1"/>
            </p:cNvSpPr>
            <p:nvPr/>
          </p:nvSpPr>
          <p:spPr bwMode="auto">
            <a:xfrm>
              <a:off x="4229" y="1030"/>
              <a:ext cx="3" cy="270"/>
            </a:xfrm>
            <a:prstGeom prst="rect">
              <a:avLst/>
            </a:prstGeom>
            <a:solidFill>
              <a:srgbClr val="000000"/>
            </a:solidFill>
            <a:ln w="9525">
              <a:noFill/>
              <a:miter lim="800000"/>
              <a:headEnd/>
              <a:tailEnd/>
            </a:ln>
          </p:spPr>
          <p:txBody>
            <a:bodyPr wrap="none" anchor="ctr"/>
            <a:lstStyle/>
            <a:p>
              <a:endParaRPr lang="tr-TR"/>
            </a:p>
          </p:txBody>
        </p:sp>
        <p:sp>
          <p:nvSpPr>
            <p:cNvPr id="50" name="Rectangle 49"/>
            <p:cNvSpPr>
              <a:spLocks noChangeArrowheads="1"/>
            </p:cNvSpPr>
            <p:nvPr/>
          </p:nvSpPr>
          <p:spPr bwMode="auto">
            <a:xfrm>
              <a:off x="4906" y="1030"/>
              <a:ext cx="4" cy="270"/>
            </a:xfrm>
            <a:prstGeom prst="rect">
              <a:avLst/>
            </a:prstGeom>
            <a:solidFill>
              <a:srgbClr val="000000"/>
            </a:solidFill>
            <a:ln w="9525">
              <a:noFill/>
              <a:miter lim="800000"/>
              <a:headEnd/>
              <a:tailEnd/>
            </a:ln>
          </p:spPr>
          <p:txBody>
            <a:bodyPr wrap="none" anchor="ctr"/>
            <a:lstStyle/>
            <a:p>
              <a:endParaRPr lang="tr-TR"/>
            </a:p>
          </p:txBody>
        </p:sp>
        <p:sp>
          <p:nvSpPr>
            <p:cNvPr id="51" name="Rectangle 50"/>
            <p:cNvSpPr>
              <a:spLocks noChangeArrowheads="1"/>
            </p:cNvSpPr>
            <p:nvPr/>
          </p:nvSpPr>
          <p:spPr bwMode="auto">
            <a:xfrm>
              <a:off x="5584" y="1030"/>
              <a:ext cx="4" cy="270"/>
            </a:xfrm>
            <a:prstGeom prst="rect">
              <a:avLst/>
            </a:prstGeom>
            <a:solidFill>
              <a:srgbClr val="000000"/>
            </a:solidFill>
            <a:ln w="9525">
              <a:noFill/>
              <a:miter lim="800000"/>
              <a:headEnd/>
              <a:tailEnd/>
            </a:ln>
          </p:spPr>
          <p:txBody>
            <a:bodyPr wrap="none" anchor="ctr"/>
            <a:lstStyle/>
            <a:p>
              <a:endParaRPr lang="tr-TR"/>
            </a:p>
          </p:txBody>
        </p:sp>
        <p:sp>
          <p:nvSpPr>
            <p:cNvPr id="52" name="Rectangle 51"/>
            <p:cNvSpPr>
              <a:spLocks noChangeArrowheads="1"/>
            </p:cNvSpPr>
            <p:nvPr/>
          </p:nvSpPr>
          <p:spPr bwMode="auto">
            <a:xfrm>
              <a:off x="1245" y="1355"/>
              <a:ext cx="433"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1.Saat</a:t>
              </a:r>
            </a:p>
          </p:txBody>
        </p:sp>
        <p:sp>
          <p:nvSpPr>
            <p:cNvPr id="53" name="Rectangle 52"/>
            <p:cNvSpPr>
              <a:spLocks noChangeArrowheads="1"/>
            </p:cNvSpPr>
            <p:nvPr/>
          </p:nvSpPr>
          <p:spPr bwMode="auto">
            <a:xfrm>
              <a:off x="2259" y="1355"/>
              <a:ext cx="460" cy="188"/>
            </a:xfrm>
            <a:prstGeom prst="rect">
              <a:avLst/>
            </a:prstGeom>
            <a:solidFill>
              <a:srgbClr val="FFFF66"/>
            </a:solidFill>
            <a:ln w="9525">
              <a:solidFill>
                <a:srgbClr val="333333"/>
              </a:solidFill>
              <a:miter lim="800000"/>
              <a:headEnd/>
              <a:tailEnd/>
            </a:ln>
          </p:spPr>
          <p:txBody>
            <a:bodyPr wrap="none" lIns="0" tIns="0" rIns="0" bIns="0">
              <a:spAutoFit/>
            </a:bodyPr>
            <a:lstStyle/>
            <a:p>
              <a:pPr algn="ctr" eaLnBrk="0" hangingPunct="0"/>
              <a:r>
                <a:rPr lang="tr-TR" sz="1900" b="1" i="1">
                  <a:solidFill>
                    <a:srgbClr val="3366FF"/>
                  </a:solidFill>
                  <a:latin typeface="Times New Roman" pitchFamily="18" charset="0"/>
                </a:rPr>
                <a:t>35.624</a:t>
              </a:r>
            </a:p>
          </p:txBody>
        </p:sp>
        <p:sp>
          <p:nvSpPr>
            <p:cNvPr id="54" name="Rectangle 53"/>
            <p:cNvSpPr>
              <a:spLocks noChangeArrowheads="1"/>
            </p:cNvSpPr>
            <p:nvPr/>
          </p:nvSpPr>
          <p:spPr bwMode="auto">
            <a:xfrm>
              <a:off x="2945" y="1355"/>
              <a:ext cx="460" cy="188"/>
            </a:xfrm>
            <a:prstGeom prst="rect">
              <a:avLst/>
            </a:prstGeom>
            <a:solidFill>
              <a:srgbClr val="FFFF66"/>
            </a:solidFill>
            <a:ln w="9525">
              <a:solidFill>
                <a:srgbClr val="333333"/>
              </a:solidFill>
              <a:miter lim="800000"/>
              <a:headEnd/>
              <a:tailEnd/>
            </a:ln>
          </p:spPr>
          <p:txBody>
            <a:bodyPr wrap="none" lIns="0" tIns="0" rIns="0" bIns="0">
              <a:spAutoFit/>
            </a:bodyPr>
            <a:lstStyle/>
            <a:p>
              <a:pPr algn="ctr" eaLnBrk="0" hangingPunct="0"/>
              <a:r>
                <a:rPr lang="tr-TR" sz="1900" b="1" i="1">
                  <a:solidFill>
                    <a:srgbClr val="3366FF"/>
                  </a:solidFill>
                  <a:latin typeface="Times New Roman" pitchFamily="18" charset="0"/>
                </a:rPr>
                <a:t>34.404</a:t>
              </a:r>
            </a:p>
          </p:txBody>
        </p:sp>
        <p:sp>
          <p:nvSpPr>
            <p:cNvPr id="55" name="Rectangle 54"/>
            <p:cNvSpPr>
              <a:spLocks noChangeArrowheads="1"/>
            </p:cNvSpPr>
            <p:nvPr/>
          </p:nvSpPr>
          <p:spPr bwMode="auto">
            <a:xfrm>
              <a:off x="3620" y="1355"/>
              <a:ext cx="460" cy="188"/>
            </a:xfrm>
            <a:prstGeom prst="rect">
              <a:avLst/>
            </a:prstGeom>
            <a:solidFill>
              <a:srgbClr val="FFFF66"/>
            </a:solidFill>
            <a:ln w="9525">
              <a:solidFill>
                <a:srgbClr val="333333"/>
              </a:solidFill>
              <a:miter lim="800000"/>
              <a:headEnd/>
              <a:tailEnd/>
            </a:ln>
          </p:spPr>
          <p:txBody>
            <a:bodyPr wrap="none" lIns="0" tIns="0" rIns="0" bIns="0">
              <a:spAutoFit/>
            </a:bodyPr>
            <a:lstStyle/>
            <a:p>
              <a:pPr algn="ctr" eaLnBrk="0" hangingPunct="0"/>
              <a:r>
                <a:rPr lang="tr-TR" sz="1900" b="1" i="1">
                  <a:solidFill>
                    <a:srgbClr val="3366FF"/>
                  </a:solidFill>
                  <a:latin typeface="Times New Roman" pitchFamily="18" charset="0"/>
                </a:rPr>
                <a:t>35.575</a:t>
              </a:r>
            </a:p>
          </p:txBody>
        </p:sp>
        <p:sp>
          <p:nvSpPr>
            <p:cNvPr id="56" name="Rectangle 55"/>
            <p:cNvSpPr>
              <a:spLocks noChangeArrowheads="1"/>
            </p:cNvSpPr>
            <p:nvPr/>
          </p:nvSpPr>
          <p:spPr bwMode="auto">
            <a:xfrm>
              <a:off x="4327" y="1355"/>
              <a:ext cx="459" cy="188"/>
            </a:xfrm>
            <a:prstGeom prst="rect">
              <a:avLst/>
            </a:prstGeom>
            <a:solidFill>
              <a:srgbClr val="FFFF66"/>
            </a:solidFill>
            <a:ln w="9525">
              <a:solidFill>
                <a:srgbClr val="333333"/>
              </a:solidFill>
              <a:miter lim="800000"/>
              <a:headEnd/>
              <a:tailEnd/>
            </a:ln>
          </p:spPr>
          <p:txBody>
            <a:bodyPr wrap="none" lIns="0" tIns="0" rIns="0" bIns="0">
              <a:spAutoFit/>
            </a:bodyPr>
            <a:lstStyle/>
            <a:p>
              <a:pPr algn="ctr" eaLnBrk="0" hangingPunct="0"/>
              <a:r>
                <a:rPr lang="tr-TR" sz="1900" b="1" i="1">
                  <a:solidFill>
                    <a:srgbClr val="3366FF"/>
                  </a:solidFill>
                  <a:latin typeface="Times New Roman" pitchFamily="18" charset="0"/>
                </a:rPr>
                <a:t>37.878</a:t>
              </a:r>
            </a:p>
          </p:txBody>
        </p:sp>
        <p:sp>
          <p:nvSpPr>
            <p:cNvPr id="57" name="Rectangle 56"/>
            <p:cNvSpPr>
              <a:spLocks noChangeArrowheads="1"/>
            </p:cNvSpPr>
            <p:nvPr/>
          </p:nvSpPr>
          <p:spPr bwMode="auto">
            <a:xfrm>
              <a:off x="5007" y="1355"/>
              <a:ext cx="460" cy="188"/>
            </a:xfrm>
            <a:prstGeom prst="rect">
              <a:avLst/>
            </a:prstGeom>
            <a:solidFill>
              <a:srgbClr val="FFFF66"/>
            </a:solidFill>
            <a:ln w="9525">
              <a:solidFill>
                <a:srgbClr val="333333"/>
              </a:solidFill>
              <a:miter lim="800000"/>
              <a:headEnd/>
              <a:tailEnd/>
            </a:ln>
          </p:spPr>
          <p:txBody>
            <a:bodyPr wrap="none" lIns="0" tIns="0" rIns="0" bIns="0">
              <a:spAutoFit/>
            </a:bodyPr>
            <a:lstStyle/>
            <a:p>
              <a:pPr algn="ctr" eaLnBrk="0" hangingPunct="0"/>
              <a:r>
                <a:rPr lang="tr-TR" sz="1900" b="1" i="1">
                  <a:solidFill>
                    <a:srgbClr val="3366FF"/>
                  </a:solidFill>
                  <a:latin typeface="Times New Roman" pitchFamily="18" charset="0"/>
                </a:rPr>
                <a:t>33.226</a:t>
              </a:r>
            </a:p>
          </p:txBody>
        </p:sp>
        <p:sp>
          <p:nvSpPr>
            <p:cNvPr id="58" name="Rectangle 57"/>
            <p:cNvSpPr>
              <a:spLocks noChangeArrowheads="1"/>
            </p:cNvSpPr>
            <p:nvPr/>
          </p:nvSpPr>
          <p:spPr bwMode="auto">
            <a:xfrm>
              <a:off x="1216" y="1300"/>
              <a:ext cx="4" cy="4"/>
            </a:xfrm>
            <a:prstGeom prst="rect">
              <a:avLst/>
            </a:prstGeom>
            <a:solidFill>
              <a:srgbClr val="000000"/>
            </a:solidFill>
            <a:ln w="9525">
              <a:noFill/>
              <a:miter lim="800000"/>
              <a:headEnd/>
              <a:tailEnd/>
            </a:ln>
          </p:spPr>
          <p:txBody>
            <a:bodyPr wrap="none" anchor="ctr"/>
            <a:lstStyle/>
            <a:p>
              <a:endParaRPr lang="tr-TR"/>
            </a:p>
          </p:txBody>
        </p:sp>
        <p:sp>
          <p:nvSpPr>
            <p:cNvPr id="59" name="Rectangle 58"/>
            <p:cNvSpPr>
              <a:spLocks noChangeArrowheads="1"/>
            </p:cNvSpPr>
            <p:nvPr/>
          </p:nvSpPr>
          <p:spPr bwMode="auto">
            <a:xfrm>
              <a:off x="1220" y="1300"/>
              <a:ext cx="905" cy="4"/>
            </a:xfrm>
            <a:prstGeom prst="rect">
              <a:avLst/>
            </a:prstGeom>
            <a:solidFill>
              <a:srgbClr val="000000"/>
            </a:solidFill>
            <a:ln w="9525">
              <a:noFill/>
              <a:miter lim="800000"/>
              <a:headEnd/>
              <a:tailEnd/>
            </a:ln>
          </p:spPr>
          <p:txBody>
            <a:bodyPr wrap="none" anchor="ctr"/>
            <a:lstStyle/>
            <a:p>
              <a:endParaRPr lang="tr-TR"/>
            </a:p>
          </p:txBody>
        </p:sp>
        <p:sp>
          <p:nvSpPr>
            <p:cNvPr id="60" name="Rectangle 59"/>
            <p:cNvSpPr>
              <a:spLocks noChangeArrowheads="1"/>
            </p:cNvSpPr>
            <p:nvPr/>
          </p:nvSpPr>
          <p:spPr bwMode="auto">
            <a:xfrm>
              <a:off x="2125" y="1300"/>
              <a:ext cx="4" cy="4"/>
            </a:xfrm>
            <a:prstGeom prst="rect">
              <a:avLst/>
            </a:prstGeom>
            <a:solidFill>
              <a:srgbClr val="000000"/>
            </a:solidFill>
            <a:ln w="9525">
              <a:noFill/>
              <a:miter lim="800000"/>
              <a:headEnd/>
              <a:tailEnd/>
            </a:ln>
          </p:spPr>
          <p:txBody>
            <a:bodyPr wrap="none" anchor="ctr"/>
            <a:lstStyle/>
            <a:p>
              <a:endParaRPr lang="tr-TR"/>
            </a:p>
          </p:txBody>
        </p:sp>
        <p:sp>
          <p:nvSpPr>
            <p:cNvPr id="61" name="Rectangle 60"/>
            <p:cNvSpPr>
              <a:spLocks noChangeArrowheads="1"/>
            </p:cNvSpPr>
            <p:nvPr/>
          </p:nvSpPr>
          <p:spPr bwMode="auto">
            <a:xfrm>
              <a:off x="2129" y="1300"/>
              <a:ext cx="743" cy="4"/>
            </a:xfrm>
            <a:prstGeom prst="rect">
              <a:avLst/>
            </a:prstGeom>
            <a:solidFill>
              <a:srgbClr val="000000"/>
            </a:solidFill>
            <a:ln w="9525">
              <a:noFill/>
              <a:miter lim="800000"/>
              <a:headEnd/>
              <a:tailEnd/>
            </a:ln>
          </p:spPr>
          <p:txBody>
            <a:bodyPr wrap="none" anchor="ctr"/>
            <a:lstStyle/>
            <a:p>
              <a:endParaRPr lang="tr-TR"/>
            </a:p>
          </p:txBody>
        </p:sp>
        <p:sp>
          <p:nvSpPr>
            <p:cNvPr id="62" name="Rectangle 61"/>
            <p:cNvSpPr>
              <a:spLocks noChangeArrowheads="1"/>
            </p:cNvSpPr>
            <p:nvPr/>
          </p:nvSpPr>
          <p:spPr bwMode="auto">
            <a:xfrm>
              <a:off x="2872" y="1300"/>
              <a:ext cx="4" cy="4"/>
            </a:xfrm>
            <a:prstGeom prst="rect">
              <a:avLst/>
            </a:prstGeom>
            <a:solidFill>
              <a:srgbClr val="000000"/>
            </a:solidFill>
            <a:ln w="9525">
              <a:noFill/>
              <a:miter lim="800000"/>
              <a:headEnd/>
              <a:tailEnd/>
            </a:ln>
          </p:spPr>
          <p:txBody>
            <a:bodyPr wrap="none" anchor="ctr"/>
            <a:lstStyle/>
            <a:p>
              <a:endParaRPr lang="tr-TR"/>
            </a:p>
          </p:txBody>
        </p:sp>
        <p:sp>
          <p:nvSpPr>
            <p:cNvPr id="63" name="Rectangle 62"/>
            <p:cNvSpPr>
              <a:spLocks noChangeArrowheads="1"/>
            </p:cNvSpPr>
            <p:nvPr/>
          </p:nvSpPr>
          <p:spPr bwMode="auto">
            <a:xfrm>
              <a:off x="2876" y="1300"/>
              <a:ext cx="617" cy="4"/>
            </a:xfrm>
            <a:prstGeom prst="rect">
              <a:avLst/>
            </a:prstGeom>
            <a:solidFill>
              <a:srgbClr val="000000"/>
            </a:solidFill>
            <a:ln w="9525">
              <a:noFill/>
              <a:miter lim="800000"/>
              <a:headEnd/>
              <a:tailEnd/>
            </a:ln>
          </p:spPr>
          <p:txBody>
            <a:bodyPr wrap="none" anchor="ctr"/>
            <a:lstStyle/>
            <a:p>
              <a:endParaRPr lang="tr-TR"/>
            </a:p>
          </p:txBody>
        </p:sp>
        <p:sp>
          <p:nvSpPr>
            <p:cNvPr id="64" name="Rectangle 63"/>
            <p:cNvSpPr>
              <a:spLocks noChangeArrowheads="1"/>
            </p:cNvSpPr>
            <p:nvPr/>
          </p:nvSpPr>
          <p:spPr bwMode="auto">
            <a:xfrm>
              <a:off x="3493" y="1300"/>
              <a:ext cx="4" cy="4"/>
            </a:xfrm>
            <a:prstGeom prst="rect">
              <a:avLst/>
            </a:prstGeom>
            <a:solidFill>
              <a:srgbClr val="000000"/>
            </a:solidFill>
            <a:ln w="9525">
              <a:noFill/>
              <a:miter lim="800000"/>
              <a:headEnd/>
              <a:tailEnd/>
            </a:ln>
          </p:spPr>
          <p:txBody>
            <a:bodyPr wrap="none" anchor="ctr"/>
            <a:lstStyle/>
            <a:p>
              <a:endParaRPr lang="tr-TR"/>
            </a:p>
          </p:txBody>
        </p:sp>
        <p:sp>
          <p:nvSpPr>
            <p:cNvPr id="65" name="Rectangle 64"/>
            <p:cNvSpPr>
              <a:spLocks noChangeArrowheads="1"/>
            </p:cNvSpPr>
            <p:nvPr/>
          </p:nvSpPr>
          <p:spPr bwMode="auto">
            <a:xfrm>
              <a:off x="3497" y="1300"/>
              <a:ext cx="732" cy="4"/>
            </a:xfrm>
            <a:prstGeom prst="rect">
              <a:avLst/>
            </a:prstGeom>
            <a:solidFill>
              <a:srgbClr val="000000"/>
            </a:solidFill>
            <a:ln w="9525">
              <a:noFill/>
              <a:miter lim="800000"/>
              <a:headEnd/>
              <a:tailEnd/>
            </a:ln>
          </p:spPr>
          <p:txBody>
            <a:bodyPr wrap="none" anchor="ctr"/>
            <a:lstStyle/>
            <a:p>
              <a:endParaRPr lang="tr-TR"/>
            </a:p>
          </p:txBody>
        </p:sp>
        <p:sp>
          <p:nvSpPr>
            <p:cNvPr id="66" name="Rectangle 65"/>
            <p:cNvSpPr>
              <a:spLocks noChangeArrowheads="1"/>
            </p:cNvSpPr>
            <p:nvPr/>
          </p:nvSpPr>
          <p:spPr bwMode="auto">
            <a:xfrm>
              <a:off x="4229" y="1300"/>
              <a:ext cx="3" cy="4"/>
            </a:xfrm>
            <a:prstGeom prst="rect">
              <a:avLst/>
            </a:prstGeom>
            <a:solidFill>
              <a:srgbClr val="000000"/>
            </a:solidFill>
            <a:ln w="9525">
              <a:noFill/>
              <a:miter lim="800000"/>
              <a:headEnd/>
              <a:tailEnd/>
            </a:ln>
          </p:spPr>
          <p:txBody>
            <a:bodyPr wrap="none" anchor="ctr"/>
            <a:lstStyle/>
            <a:p>
              <a:endParaRPr lang="tr-TR"/>
            </a:p>
          </p:txBody>
        </p:sp>
        <p:sp>
          <p:nvSpPr>
            <p:cNvPr id="67" name="Rectangle 66"/>
            <p:cNvSpPr>
              <a:spLocks noChangeArrowheads="1"/>
            </p:cNvSpPr>
            <p:nvPr/>
          </p:nvSpPr>
          <p:spPr bwMode="auto">
            <a:xfrm>
              <a:off x="4232" y="1300"/>
              <a:ext cx="674" cy="4"/>
            </a:xfrm>
            <a:prstGeom prst="rect">
              <a:avLst/>
            </a:prstGeom>
            <a:solidFill>
              <a:srgbClr val="000000"/>
            </a:solidFill>
            <a:ln w="9525">
              <a:noFill/>
              <a:miter lim="800000"/>
              <a:headEnd/>
              <a:tailEnd/>
            </a:ln>
          </p:spPr>
          <p:txBody>
            <a:bodyPr wrap="none" anchor="ctr"/>
            <a:lstStyle/>
            <a:p>
              <a:endParaRPr lang="tr-TR"/>
            </a:p>
          </p:txBody>
        </p:sp>
        <p:sp>
          <p:nvSpPr>
            <p:cNvPr id="68" name="Rectangle 67"/>
            <p:cNvSpPr>
              <a:spLocks noChangeArrowheads="1"/>
            </p:cNvSpPr>
            <p:nvPr/>
          </p:nvSpPr>
          <p:spPr bwMode="auto">
            <a:xfrm>
              <a:off x="4906" y="1300"/>
              <a:ext cx="4" cy="4"/>
            </a:xfrm>
            <a:prstGeom prst="rect">
              <a:avLst/>
            </a:prstGeom>
            <a:solidFill>
              <a:srgbClr val="000000"/>
            </a:solidFill>
            <a:ln w="9525">
              <a:noFill/>
              <a:miter lim="800000"/>
              <a:headEnd/>
              <a:tailEnd/>
            </a:ln>
          </p:spPr>
          <p:txBody>
            <a:bodyPr wrap="none" anchor="ctr"/>
            <a:lstStyle/>
            <a:p>
              <a:endParaRPr lang="tr-TR"/>
            </a:p>
          </p:txBody>
        </p:sp>
        <p:sp>
          <p:nvSpPr>
            <p:cNvPr id="69" name="Rectangle 68"/>
            <p:cNvSpPr>
              <a:spLocks noChangeArrowheads="1"/>
            </p:cNvSpPr>
            <p:nvPr/>
          </p:nvSpPr>
          <p:spPr bwMode="auto">
            <a:xfrm>
              <a:off x="4910" y="1300"/>
              <a:ext cx="674" cy="4"/>
            </a:xfrm>
            <a:prstGeom prst="rect">
              <a:avLst/>
            </a:prstGeom>
            <a:solidFill>
              <a:srgbClr val="000000"/>
            </a:solidFill>
            <a:ln w="9525">
              <a:noFill/>
              <a:miter lim="800000"/>
              <a:headEnd/>
              <a:tailEnd/>
            </a:ln>
          </p:spPr>
          <p:txBody>
            <a:bodyPr wrap="none" anchor="ctr"/>
            <a:lstStyle/>
            <a:p>
              <a:endParaRPr lang="tr-TR"/>
            </a:p>
          </p:txBody>
        </p:sp>
        <p:sp>
          <p:nvSpPr>
            <p:cNvPr id="70" name="Rectangle 69"/>
            <p:cNvSpPr>
              <a:spLocks noChangeArrowheads="1"/>
            </p:cNvSpPr>
            <p:nvPr/>
          </p:nvSpPr>
          <p:spPr bwMode="auto">
            <a:xfrm>
              <a:off x="5584" y="1300"/>
              <a:ext cx="4" cy="4"/>
            </a:xfrm>
            <a:prstGeom prst="rect">
              <a:avLst/>
            </a:prstGeom>
            <a:solidFill>
              <a:srgbClr val="000000"/>
            </a:solidFill>
            <a:ln w="9525">
              <a:noFill/>
              <a:miter lim="800000"/>
              <a:headEnd/>
              <a:tailEnd/>
            </a:ln>
          </p:spPr>
          <p:txBody>
            <a:bodyPr wrap="none" anchor="ctr"/>
            <a:lstStyle/>
            <a:p>
              <a:endParaRPr lang="tr-TR"/>
            </a:p>
          </p:txBody>
        </p:sp>
        <p:sp>
          <p:nvSpPr>
            <p:cNvPr id="71" name="Rectangle 70"/>
            <p:cNvSpPr>
              <a:spLocks noChangeArrowheads="1"/>
            </p:cNvSpPr>
            <p:nvPr/>
          </p:nvSpPr>
          <p:spPr bwMode="auto">
            <a:xfrm>
              <a:off x="1216" y="1304"/>
              <a:ext cx="4" cy="269"/>
            </a:xfrm>
            <a:prstGeom prst="rect">
              <a:avLst/>
            </a:prstGeom>
            <a:solidFill>
              <a:srgbClr val="000000"/>
            </a:solidFill>
            <a:ln w="9525">
              <a:noFill/>
              <a:miter lim="800000"/>
              <a:headEnd/>
              <a:tailEnd/>
            </a:ln>
          </p:spPr>
          <p:txBody>
            <a:bodyPr wrap="none" anchor="ctr"/>
            <a:lstStyle/>
            <a:p>
              <a:endParaRPr lang="tr-TR"/>
            </a:p>
          </p:txBody>
        </p:sp>
        <p:sp>
          <p:nvSpPr>
            <p:cNvPr id="72" name="Rectangle 71"/>
            <p:cNvSpPr>
              <a:spLocks noChangeArrowheads="1"/>
            </p:cNvSpPr>
            <p:nvPr/>
          </p:nvSpPr>
          <p:spPr bwMode="auto">
            <a:xfrm>
              <a:off x="2125" y="1304"/>
              <a:ext cx="4" cy="269"/>
            </a:xfrm>
            <a:prstGeom prst="rect">
              <a:avLst/>
            </a:prstGeom>
            <a:solidFill>
              <a:srgbClr val="000000"/>
            </a:solidFill>
            <a:ln w="9525">
              <a:noFill/>
              <a:miter lim="800000"/>
              <a:headEnd/>
              <a:tailEnd/>
            </a:ln>
          </p:spPr>
          <p:txBody>
            <a:bodyPr wrap="none" anchor="ctr"/>
            <a:lstStyle/>
            <a:p>
              <a:endParaRPr lang="tr-TR"/>
            </a:p>
          </p:txBody>
        </p:sp>
        <p:sp>
          <p:nvSpPr>
            <p:cNvPr id="73" name="Rectangle 72"/>
            <p:cNvSpPr>
              <a:spLocks noChangeArrowheads="1"/>
            </p:cNvSpPr>
            <p:nvPr/>
          </p:nvSpPr>
          <p:spPr bwMode="auto">
            <a:xfrm>
              <a:off x="2872" y="1304"/>
              <a:ext cx="4" cy="269"/>
            </a:xfrm>
            <a:prstGeom prst="rect">
              <a:avLst/>
            </a:prstGeom>
            <a:solidFill>
              <a:srgbClr val="000000"/>
            </a:solidFill>
            <a:ln w="9525">
              <a:noFill/>
              <a:miter lim="800000"/>
              <a:headEnd/>
              <a:tailEnd/>
            </a:ln>
          </p:spPr>
          <p:txBody>
            <a:bodyPr wrap="none" anchor="ctr"/>
            <a:lstStyle/>
            <a:p>
              <a:endParaRPr lang="tr-TR"/>
            </a:p>
          </p:txBody>
        </p:sp>
        <p:sp>
          <p:nvSpPr>
            <p:cNvPr id="74" name="Rectangle 73"/>
            <p:cNvSpPr>
              <a:spLocks noChangeArrowheads="1"/>
            </p:cNvSpPr>
            <p:nvPr/>
          </p:nvSpPr>
          <p:spPr bwMode="auto">
            <a:xfrm>
              <a:off x="3493" y="1304"/>
              <a:ext cx="4" cy="269"/>
            </a:xfrm>
            <a:prstGeom prst="rect">
              <a:avLst/>
            </a:prstGeom>
            <a:solidFill>
              <a:srgbClr val="000000"/>
            </a:solidFill>
            <a:ln w="9525">
              <a:noFill/>
              <a:miter lim="800000"/>
              <a:headEnd/>
              <a:tailEnd/>
            </a:ln>
          </p:spPr>
          <p:txBody>
            <a:bodyPr wrap="none" anchor="ctr"/>
            <a:lstStyle/>
            <a:p>
              <a:endParaRPr lang="tr-TR"/>
            </a:p>
          </p:txBody>
        </p:sp>
        <p:sp>
          <p:nvSpPr>
            <p:cNvPr id="75" name="Rectangle 74"/>
            <p:cNvSpPr>
              <a:spLocks noChangeArrowheads="1"/>
            </p:cNvSpPr>
            <p:nvPr/>
          </p:nvSpPr>
          <p:spPr bwMode="auto">
            <a:xfrm>
              <a:off x="4229" y="1304"/>
              <a:ext cx="3" cy="269"/>
            </a:xfrm>
            <a:prstGeom prst="rect">
              <a:avLst/>
            </a:prstGeom>
            <a:solidFill>
              <a:srgbClr val="000000"/>
            </a:solidFill>
            <a:ln w="9525">
              <a:noFill/>
              <a:miter lim="800000"/>
              <a:headEnd/>
              <a:tailEnd/>
            </a:ln>
          </p:spPr>
          <p:txBody>
            <a:bodyPr wrap="none" anchor="ctr"/>
            <a:lstStyle/>
            <a:p>
              <a:endParaRPr lang="tr-TR"/>
            </a:p>
          </p:txBody>
        </p:sp>
        <p:sp>
          <p:nvSpPr>
            <p:cNvPr id="76" name="Rectangle 75"/>
            <p:cNvSpPr>
              <a:spLocks noChangeArrowheads="1"/>
            </p:cNvSpPr>
            <p:nvPr/>
          </p:nvSpPr>
          <p:spPr bwMode="auto">
            <a:xfrm>
              <a:off x="4906" y="1304"/>
              <a:ext cx="4" cy="269"/>
            </a:xfrm>
            <a:prstGeom prst="rect">
              <a:avLst/>
            </a:prstGeom>
            <a:solidFill>
              <a:srgbClr val="000000"/>
            </a:solidFill>
            <a:ln w="9525">
              <a:noFill/>
              <a:miter lim="800000"/>
              <a:headEnd/>
              <a:tailEnd/>
            </a:ln>
          </p:spPr>
          <p:txBody>
            <a:bodyPr wrap="none" anchor="ctr"/>
            <a:lstStyle/>
            <a:p>
              <a:endParaRPr lang="tr-TR"/>
            </a:p>
          </p:txBody>
        </p:sp>
        <p:sp>
          <p:nvSpPr>
            <p:cNvPr id="77" name="Rectangle 76"/>
            <p:cNvSpPr>
              <a:spLocks noChangeArrowheads="1"/>
            </p:cNvSpPr>
            <p:nvPr/>
          </p:nvSpPr>
          <p:spPr bwMode="auto">
            <a:xfrm>
              <a:off x="5584" y="1304"/>
              <a:ext cx="4" cy="269"/>
            </a:xfrm>
            <a:prstGeom prst="rect">
              <a:avLst/>
            </a:prstGeom>
            <a:solidFill>
              <a:srgbClr val="000000"/>
            </a:solidFill>
            <a:ln w="9525">
              <a:noFill/>
              <a:miter lim="800000"/>
              <a:headEnd/>
              <a:tailEnd/>
            </a:ln>
          </p:spPr>
          <p:txBody>
            <a:bodyPr wrap="none" anchor="ctr"/>
            <a:lstStyle/>
            <a:p>
              <a:endParaRPr lang="tr-TR"/>
            </a:p>
          </p:txBody>
        </p:sp>
        <p:sp>
          <p:nvSpPr>
            <p:cNvPr id="78" name="Rectangle 77"/>
            <p:cNvSpPr>
              <a:spLocks noChangeArrowheads="1"/>
            </p:cNvSpPr>
            <p:nvPr/>
          </p:nvSpPr>
          <p:spPr bwMode="auto">
            <a:xfrm>
              <a:off x="1245" y="1631"/>
              <a:ext cx="433"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2.Saat</a:t>
              </a:r>
            </a:p>
          </p:txBody>
        </p:sp>
        <p:sp>
          <p:nvSpPr>
            <p:cNvPr id="79" name="Rectangle 78"/>
            <p:cNvSpPr>
              <a:spLocks noChangeArrowheads="1"/>
            </p:cNvSpPr>
            <p:nvPr/>
          </p:nvSpPr>
          <p:spPr bwMode="auto">
            <a:xfrm>
              <a:off x="2259" y="1631"/>
              <a:ext cx="460"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15.980</a:t>
              </a:r>
            </a:p>
          </p:txBody>
        </p:sp>
        <p:sp>
          <p:nvSpPr>
            <p:cNvPr id="80" name="Rectangle 79"/>
            <p:cNvSpPr>
              <a:spLocks noChangeArrowheads="1"/>
            </p:cNvSpPr>
            <p:nvPr/>
          </p:nvSpPr>
          <p:spPr bwMode="auto">
            <a:xfrm>
              <a:off x="2945" y="1631"/>
              <a:ext cx="460"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12.014</a:t>
              </a:r>
            </a:p>
          </p:txBody>
        </p:sp>
        <p:sp>
          <p:nvSpPr>
            <p:cNvPr id="81" name="Rectangle 80"/>
            <p:cNvSpPr>
              <a:spLocks noChangeArrowheads="1"/>
            </p:cNvSpPr>
            <p:nvPr/>
          </p:nvSpPr>
          <p:spPr bwMode="auto">
            <a:xfrm>
              <a:off x="3620" y="1631"/>
              <a:ext cx="460"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10.435</a:t>
              </a:r>
            </a:p>
          </p:txBody>
        </p:sp>
        <p:sp>
          <p:nvSpPr>
            <p:cNvPr id="82" name="Rectangle 81"/>
            <p:cNvSpPr>
              <a:spLocks noChangeArrowheads="1"/>
            </p:cNvSpPr>
            <p:nvPr/>
          </p:nvSpPr>
          <p:spPr bwMode="auto">
            <a:xfrm>
              <a:off x="4371" y="1631"/>
              <a:ext cx="377"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8.961</a:t>
              </a:r>
            </a:p>
          </p:txBody>
        </p:sp>
        <p:sp>
          <p:nvSpPr>
            <p:cNvPr id="83" name="Rectangle 82"/>
            <p:cNvSpPr>
              <a:spLocks noChangeArrowheads="1"/>
            </p:cNvSpPr>
            <p:nvPr/>
          </p:nvSpPr>
          <p:spPr bwMode="auto">
            <a:xfrm>
              <a:off x="5010" y="1631"/>
              <a:ext cx="377"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8.549</a:t>
              </a:r>
            </a:p>
          </p:txBody>
        </p:sp>
        <p:sp>
          <p:nvSpPr>
            <p:cNvPr id="84" name="Rectangle 83"/>
            <p:cNvSpPr>
              <a:spLocks noChangeArrowheads="1"/>
            </p:cNvSpPr>
            <p:nvPr/>
          </p:nvSpPr>
          <p:spPr bwMode="auto">
            <a:xfrm>
              <a:off x="1216" y="1575"/>
              <a:ext cx="4" cy="4"/>
            </a:xfrm>
            <a:prstGeom prst="rect">
              <a:avLst/>
            </a:prstGeom>
            <a:solidFill>
              <a:srgbClr val="000000"/>
            </a:solidFill>
            <a:ln w="9525">
              <a:noFill/>
              <a:miter lim="800000"/>
              <a:headEnd/>
              <a:tailEnd/>
            </a:ln>
          </p:spPr>
          <p:txBody>
            <a:bodyPr wrap="none" anchor="ctr"/>
            <a:lstStyle/>
            <a:p>
              <a:endParaRPr lang="tr-TR"/>
            </a:p>
          </p:txBody>
        </p:sp>
        <p:sp>
          <p:nvSpPr>
            <p:cNvPr id="85" name="Rectangle 84"/>
            <p:cNvSpPr>
              <a:spLocks noChangeArrowheads="1"/>
            </p:cNvSpPr>
            <p:nvPr/>
          </p:nvSpPr>
          <p:spPr bwMode="auto">
            <a:xfrm>
              <a:off x="1220" y="1575"/>
              <a:ext cx="905" cy="4"/>
            </a:xfrm>
            <a:prstGeom prst="rect">
              <a:avLst/>
            </a:prstGeom>
            <a:solidFill>
              <a:srgbClr val="000000"/>
            </a:solidFill>
            <a:ln w="9525">
              <a:noFill/>
              <a:miter lim="800000"/>
              <a:headEnd/>
              <a:tailEnd/>
            </a:ln>
          </p:spPr>
          <p:txBody>
            <a:bodyPr wrap="none" anchor="ctr"/>
            <a:lstStyle/>
            <a:p>
              <a:endParaRPr lang="tr-TR"/>
            </a:p>
          </p:txBody>
        </p:sp>
        <p:sp>
          <p:nvSpPr>
            <p:cNvPr id="86" name="Rectangle 85"/>
            <p:cNvSpPr>
              <a:spLocks noChangeArrowheads="1"/>
            </p:cNvSpPr>
            <p:nvPr/>
          </p:nvSpPr>
          <p:spPr bwMode="auto">
            <a:xfrm>
              <a:off x="2125" y="1575"/>
              <a:ext cx="4" cy="4"/>
            </a:xfrm>
            <a:prstGeom prst="rect">
              <a:avLst/>
            </a:prstGeom>
            <a:solidFill>
              <a:srgbClr val="000000"/>
            </a:solidFill>
            <a:ln w="9525">
              <a:noFill/>
              <a:miter lim="800000"/>
              <a:headEnd/>
              <a:tailEnd/>
            </a:ln>
          </p:spPr>
          <p:txBody>
            <a:bodyPr wrap="none" anchor="ctr"/>
            <a:lstStyle/>
            <a:p>
              <a:endParaRPr lang="tr-TR"/>
            </a:p>
          </p:txBody>
        </p:sp>
        <p:sp>
          <p:nvSpPr>
            <p:cNvPr id="87" name="Rectangle 86"/>
            <p:cNvSpPr>
              <a:spLocks noChangeArrowheads="1"/>
            </p:cNvSpPr>
            <p:nvPr/>
          </p:nvSpPr>
          <p:spPr bwMode="auto">
            <a:xfrm>
              <a:off x="2129" y="1575"/>
              <a:ext cx="743" cy="4"/>
            </a:xfrm>
            <a:prstGeom prst="rect">
              <a:avLst/>
            </a:prstGeom>
            <a:solidFill>
              <a:srgbClr val="000000"/>
            </a:solidFill>
            <a:ln w="9525">
              <a:noFill/>
              <a:miter lim="800000"/>
              <a:headEnd/>
              <a:tailEnd/>
            </a:ln>
          </p:spPr>
          <p:txBody>
            <a:bodyPr wrap="none" anchor="ctr"/>
            <a:lstStyle/>
            <a:p>
              <a:endParaRPr lang="tr-TR"/>
            </a:p>
          </p:txBody>
        </p:sp>
        <p:sp>
          <p:nvSpPr>
            <p:cNvPr id="88" name="Rectangle 87"/>
            <p:cNvSpPr>
              <a:spLocks noChangeArrowheads="1"/>
            </p:cNvSpPr>
            <p:nvPr/>
          </p:nvSpPr>
          <p:spPr bwMode="auto">
            <a:xfrm>
              <a:off x="2872" y="1575"/>
              <a:ext cx="4" cy="4"/>
            </a:xfrm>
            <a:prstGeom prst="rect">
              <a:avLst/>
            </a:prstGeom>
            <a:solidFill>
              <a:srgbClr val="000000"/>
            </a:solidFill>
            <a:ln w="9525">
              <a:noFill/>
              <a:miter lim="800000"/>
              <a:headEnd/>
              <a:tailEnd/>
            </a:ln>
          </p:spPr>
          <p:txBody>
            <a:bodyPr wrap="none" anchor="ctr"/>
            <a:lstStyle/>
            <a:p>
              <a:endParaRPr lang="tr-TR"/>
            </a:p>
          </p:txBody>
        </p:sp>
        <p:sp>
          <p:nvSpPr>
            <p:cNvPr id="89" name="Rectangle 88"/>
            <p:cNvSpPr>
              <a:spLocks noChangeArrowheads="1"/>
            </p:cNvSpPr>
            <p:nvPr/>
          </p:nvSpPr>
          <p:spPr bwMode="auto">
            <a:xfrm>
              <a:off x="2876" y="1575"/>
              <a:ext cx="617" cy="4"/>
            </a:xfrm>
            <a:prstGeom prst="rect">
              <a:avLst/>
            </a:prstGeom>
            <a:solidFill>
              <a:srgbClr val="000000"/>
            </a:solidFill>
            <a:ln w="9525">
              <a:noFill/>
              <a:miter lim="800000"/>
              <a:headEnd/>
              <a:tailEnd/>
            </a:ln>
          </p:spPr>
          <p:txBody>
            <a:bodyPr wrap="none" anchor="ctr"/>
            <a:lstStyle/>
            <a:p>
              <a:endParaRPr lang="tr-TR"/>
            </a:p>
          </p:txBody>
        </p:sp>
        <p:sp>
          <p:nvSpPr>
            <p:cNvPr id="90" name="Rectangle 89"/>
            <p:cNvSpPr>
              <a:spLocks noChangeArrowheads="1"/>
            </p:cNvSpPr>
            <p:nvPr/>
          </p:nvSpPr>
          <p:spPr bwMode="auto">
            <a:xfrm>
              <a:off x="3493" y="1575"/>
              <a:ext cx="4" cy="4"/>
            </a:xfrm>
            <a:prstGeom prst="rect">
              <a:avLst/>
            </a:prstGeom>
            <a:solidFill>
              <a:srgbClr val="000000"/>
            </a:solidFill>
            <a:ln w="9525">
              <a:noFill/>
              <a:miter lim="800000"/>
              <a:headEnd/>
              <a:tailEnd/>
            </a:ln>
          </p:spPr>
          <p:txBody>
            <a:bodyPr wrap="none" anchor="ctr"/>
            <a:lstStyle/>
            <a:p>
              <a:endParaRPr lang="tr-TR"/>
            </a:p>
          </p:txBody>
        </p:sp>
        <p:sp>
          <p:nvSpPr>
            <p:cNvPr id="91" name="Rectangle 90"/>
            <p:cNvSpPr>
              <a:spLocks noChangeArrowheads="1"/>
            </p:cNvSpPr>
            <p:nvPr/>
          </p:nvSpPr>
          <p:spPr bwMode="auto">
            <a:xfrm>
              <a:off x="3497" y="1575"/>
              <a:ext cx="732" cy="4"/>
            </a:xfrm>
            <a:prstGeom prst="rect">
              <a:avLst/>
            </a:prstGeom>
            <a:solidFill>
              <a:srgbClr val="000000"/>
            </a:solidFill>
            <a:ln w="9525">
              <a:noFill/>
              <a:miter lim="800000"/>
              <a:headEnd/>
              <a:tailEnd/>
            </a:ln>
          </p:spPr>
          <p:txBody>
            <a:bodyPr wrap="none" anchor="ctr"/>
            <a:lstStyle/>
            <a:p>
              <a:endParaRPr lang="tr-TR"/>
            </a:p>
          </p:txBody>
        </p:sp>
        <p:sp>
          <p:nvSpPr>
            <p:cNvPr id="92" name="Rectangle 91"/>
            <p:cNvSpPr>
              <a:spLocks noChangeArrowheads="1"/>
            </p:cNvSpPr>
            <p:nvPr/>
          </p:nvSpPr>
          <p:spPr bwMode="auto">
            <a:xfrm>
              <a:off x="4229" y="1575"/>
              <a:ext cx="3" cy="4"/>
            </a:xfrm>
            <a:prstGeom prst="rect">
              <a:avLst/>
            </a:prstGeom>
            <a:solidFill>
              <a:srgbClr val="000000"/>
            </a:solidFill>
            <a:ln w="9525">
              <a:noFill/>
              <a:miter lim="800000"/>
              <a:headEnd/>
              <a:tailEnd/>
            </a:ln>
          </p:spPr>
          <p:txBody>
            <a:bodyPr wrap="none" anchor="ctr"/>
            <a:lstStyle/>
            <a:p>
              <a:endParaRPr lang="tr-TR"/>
            </a:p>
          </p:txBody>
        </p:sp>
        <p:sp>
          <p:nvSpPr>
            <p:cNvPr id="93" name="Rectangle 92"/>
            <p:cNvSpPr>
              <a:spLocks noChangeArrowheads="1"/>
            </p:cNvSpPr>
            <p:nvPr/>
          </p:nvSpPr>
          <p:spPr bwMode="auto">
            <a:xfrm>
              <a:off x="4232" y="1575"/>
              <a:ext cx="674" cy="4"/>
            </a:xfrm>
            <a:prstGeom prst="rect">
              <a:avLst/>
            </a:prstGeom>
            <a:solidFill>
              <a:srgbClr val="000000"/>
            </a:solidFill>
            <a:ln w="9525">
              <a:noFill/>
              <a:miter lim="800000"/>
              <a:headEnd/>
              <a:tailEnd/>
            </a:ln>
          </p:spPr>
          <p:txBody>
            <a:bodyPr wrap="none" anchor="ctr"/>
            <a:lstStyle/>
            <a:p>
              <a:endParaRPr lang="tr-TR"/>
            </a:p>
          </p:txBody>
        </p:sp>
        <p:sp>
          <p:nvSpPr>
            <p:cNvPr id="94" name="Rectangle 93"/>
            <p:cNvSpPr>
              <a:spLocks noChangeArrowheads="1"/>
            </p:cNvSpPr>
            <p:nvPr/>
          </p:nvSpPr>
          <p:spPr bwMode="auto">
            <a:xfrm>
              <a:off x="4906" y="1575"/>
              <a:ext cx="4" cy="4"/>
            </a:xfrm>
            <a:prstGeom prst="rect">
              <a:avLst/>
            </a:prstGeom>
            <a:solidFill>
              <a:srgbClr val="000000"/>
            </a:solidFill>
            <a:ln w="9525">
              <a:noFill/>
              <a:miter lim="800000"/>
              <a:headEnd/>
              <a:tailEnd/>
            </a:ln>
          </p:spPr>
          <p:txBody>
            <a:bodyPr wrap="none" anchor="ctr"/>
            <a:lstStyle/>
            <a:p>
              <a:endParaRPr lang="tr-TR"/>
            </a:p>
          </p:txBody>
        </p:sp>
        <p:sp>
          <p:nvSpPr>
            <p:cNvPr id="95" name="Rectangle 94"/>
            <p:cNvSpPr>
              <a:spLocks noChangeArrowheads="1"/>
            </p:cNvSpPr>
            <p:nvPr/>
          </p:nvSpPr>
          <p:spPr bwMode="auto">
            <a:xfrm>
              <a:off x="4910" y="1575"/>
              <a:ext cx="674" cy="4"/>
            </a:xfrm>
            <a:prstGeom prst="rect">
              <a:avLst/>
            </a:prstGeom>
            <a:solidFill>
              <a:srgbClr val="000000"/>
            </a:solidFill>
            <a:ln w="9525">
              <a:noFill/>
              <a:miter lim="800000"/>
              <a:headEnd/>
              <a:tailEnd/>
            </a:ln>
          </p:spPr>
          <p:txBody>
            <a:bodyPr wrap="none" anchor="ctr"/>
            <a:lstStyle/>
            <a:p>
              <a:endParaRPr lang="tr-TR"/>
            </a:p>
          </p:txBody>
        </p:sp>
        <p:sp>
          <p:nvSpPr>
            <p:cNvPr id="96" name="Rectangle 95"/>
            <p:cNvSpPr>
              <a:spLocks noChangeArrowheads="1"/>
            </p:cNvSpPr>
            <p:nvPr/>
          </p:nvSpPr>
          <p:spPr bwMode="auto">
            <a:xfrm>
              <a:off x="5584" y="1575"/>
              <a:ext cx="4" cy="4"/>
            </a:xfrm>
            <a:prstGeom prst="rect">
              <a:avLst/>
            </a:prstGeom>
            <a:solidFill>
              <a:srgbClr val="000000"/>
            </a:solidFill>
            <a:ln w="9525">
              <a:noFill/>
              <a:miter lim="800000"/>
              <a:headEnd/>
              <a:tailEnd/>
            </a:ln>
          </p:spPr>
          <p:txBody>
            <a:bodyPr wrap="none" anchor="ctr"/>
            <a:lstStyle/>
            <a:p>
              <a:endParaRPr lang="tr-TR"/>
            </a:p>
          </p:txBody>
        </p:sp>
        <p:sp>
          <p:nvSpPr>
            <p:cNvPr id="97" name="Rectangle 96"/>
            <p:cNvSpPr>
              <a:spLocks noChangeArrowheads="1"/>
            </p:cNvSpPr>
            <p:nvPr/>
          </p:nvSpPr>
          <p:spPr bwMode="auto">
            <a:xfrm>
              <a:off x="1216" y="1579"/>
              <a:ext cx="4" cy="274"/>
            </a:xfrm>
            <a:prstGeom prst="rect">
              <a:avLst/>
            </a:prstGeom>
            <a:solidFill>
              <a:srgbClr val="000000"/>
            </a:solidFill>
            <a:ln w="9525">
              <a:noFill/>
              <a:miter lim="800000"/>
              <a:headEnd/>
              <a:tailEnd/>
            </a:ln>
          </p:spPr>
          <p:txBody>
            <a:bodyPr wrap="none" anchor="ctr"/>
            <a:lstStyle/>
            <a:p>
              <a:endParaRPr lang="tr-TR"/>
            </a:p>
          </p:txBody>
        </p:sp>
        <p:sp>
          <p:nvSpPr>
            <p:cNvPr id="98" name="Rectangle 97"/>
            <p:cNvSpPr>
              <a:spLocks noChangeArrowheads="1"/>
            </p:cNvSpPr>
            <p:nvPr/>
          </p:nvSpPr>
          <p:spPr bwMode="auto">
            <a:xfrm>
              <a:off x="2125" y="1579"/>
              <a:ext cx="4" cy="274"/>
            </a:xfrm>
            <a:prstGeom prst="rect">
              <a:avLst/>
            </a:prstGeom>
            <a:solidFill>
              <a:srgbClr val="000000"/>
            </a:solidFill>
            <a:ln w="9525">
              <a:noFill/>
              <a:miter lim="800000"/>
              <a:headEnd/>
              <a:tailEnd/>
            </a:ln>
          </p:spPr>
          <p:txBody>
            <a:bodyPr wrap="none" anchor="ctr"/>
            <a:lstStyle/>
            <a:p>
              <a:endParaRPr lang="tr-TR"/>
            </a:p>
          </p:txBody>
        </p:sp>
        <p:sp>
          <p:nvSpPr>
            <p:cNvPr id="99" name="Rectangle 98"/>
            <p:cNvSpPr>
              <a:spLocks noChangeArrowheads="1"/>
            </p:cNvSpPr>
            <p:nvPr/>
          </p:nvSpPr>
          <p:spPr bwMode="auto">
            <a:xfrm>
              <a:off x="2872" y="1579"/>
              <a:ext cx="4" cy="274"/>
            </a:xfrm>
            <a:prstGeom prst="rect">
              <a:avLst/>
            </a:prstGeom>
            <a:solidFill>
              <a:srgbClr val="000000"/>
            </a:solidFill>
            <a:ln w="9525">
              <a:noFill/>
              <a:miter lim="800000"/>
              <a:headEnd/>
              <a:tailEnd/>
            </a:ln>
          </p:spPr>
          <p:txBody>
            <a:bodyPr wrap="none" anchor="ctr"/>
            <a:lstStyle/>
            <a:p>
              <a:endParaRPr lang="tr-TR"/>
            </a:p>
          </p:txBody>
        </p:sp>
        <p:sp>
          <p:nvSpPr>
            <p:cNvPr id="100" name="Rectangle 99"/>
            <p:cNvSpPr>
              <a:spLocks noChangeArrowheads="1"/>
            </p:cNvSpPr>
            <p:nvPr/>
          </p:nvSpPr>
          <p:spPr bwMode="auto">
            <a:xfrm>
              <a:off x="3493" y="1579"/>
              <a:ext cx="4" cy="274"/>
            </a:xfrm>
            <a:prstGeom prst="rect">
              <a:avLst/>
            </a:prstGeom>
            <a:solidFill>
              <a:srgbClr val="000000"/>
            </a:solidFill>
            <a:ln w="9525">
              <a:noFill/>
              <a:miter lim="800000"/>
              <a:headEnd/>
              <a:tailEnd/>
            </a:ln>
          </p:spPr>
          <p:txBody>
            <a:bodyPr wrap="none" anchor="ctr"/>
            <a:lstStyle/>
            <a:p>
              <a:endParaRPr lang="tr-TR"/>
            </a:p>
          </p:txBody>
        </p:sp>
        <p:sp>
          <p:nvSpPr>
            <p:cNvPr id="101" name="Rectangle 100"/>
            <p:cNvSpPr>
              <a:spLocks noChangeArrowheads="1"/>
            </p:cNvSpPr>
            <p:nvPr/>
          </p:nvSpPr>
          <p:spPr bwMode="auto">
            <a:xfrm>
              <a:off x="4229" y="1579"/>
              <a:ext cx="3" cy="274"/>
            </a:xfrm>
            <a:prstGeom prst="rect">
              <a:avLst/>
            </a:prstGeom>
            <a:solidFill>
              <a:srgbClr val="000000"/>
            </a:solidFill>
            <a:ln w="9525">
              <a:noFill/>
              <a:miter lim="800000"/>
              <a:headEnd/>
              <a:tailEnd/>
            </a:ln>
          </p:spPr>
          <p:txBody>
            <a:bodyPr wrap="none" anchor="ctr"/>
            <a:lstStyle/>
            <a:p>
              <a:endParaRPr lang="tr-TR"/>
            </a:p>
          </p:txBody>
        </p:sp>
        <p:sp>
          <p:nvSpPr>
            <p:cNvPr id="102" name="Rectangle 101"/>
            <p:cNvSpPr>
              <a:spLocks noChangeArrowheads="1"/>
            </p:cNvSpPr>
            <p:nvPr/>
          </p:nvSpPr>
          <p:spPr bwMode="auto">
            <a:xfrm>
              <a:off x="4906" y="1579"/>
              <a:ext cx="4" cy="274"/>
            </a:xfrm>
            <a:prstGeom prst="rect">
              <a:avLst/>
            </a:prstGeom>
            <a:solidFill>
              <a:srgbClr val="000000"/>
            </a:solidFill>
            <a:ln w="9525">
              <a:noFill/>
              <a:miter lim="800000"/>
              <a:headEnd/>
              <a:tailEnd/>
            </a:ln>
          </p:spPr>
          <p:txBody>
            <a:bodyPr wrap="none" anchor="ctr"/>
            <a:lstStyle/>
            <a:p>
              <a:endParaRPr lang="tr-TR"/>
            </a:p>
          </p:txBody>
        </p:sp>
        <p:sp>
          <p:nvSpPr>
            <p:cNvPr id="103" name="Rectangle 102"/>
            <p:cNvSpPr>
              <a:spLocks noChangeArrowheads="1"/>
            </p:cNvSpPr>
            <p:nvPr/>
          </p:nvSpPr>
          <p:spPr bwMode="auto">
            <a:xfrm>
              <a:off x="5584" y="1579"/>
              <a:ext cx="4" cy="274"/>
            </a:xfrm>
            <a:prstGeom prst="rect">
              <a:avLst/>
            </a:prstGeom>
            <a:solidFill>
              <a:srgbClr val="000000"/>
            </a:solidFill>
            <a:ln w="9525">
              <a:noFill/>
              <a:miter lim="800000"/>
              <a:headEnd/>
              <a:tailEnd/>
            </a:ln>
          </p:spPr>
          <p:txBody>
            <a:bodyPr wrap="none" anchor="ctr"/>
            <a:lstStyle/>
            <a:p>
              <a:endParaRPr lang="tr-TR"/>
            </a:p>
          </p:txBody>
        </p:sp>
        <p:sp>
          <p:nvSpPr>
            <p:cNvPr id="104" name="Rectangle 103"/>
            <p:cNvSpPr>
              <a:spLocks noChangeArrowheads="1"/>
            </p:cNvSpPr>
            <p:nvPr/>
          </p:nvSpPr>
          <p:spPr bwMode="auto">
            <a:xfrm>
              <a:off x="1245" y="1907"/>
              <a:ext cx="433"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3.Saat</a:t>
              </a:r>
            </a:p>
          </p:txBody>
        </p:sp>
        <p:sp>
          <p:nvSpPr>
            <p:cNvPr id="105" name="Rectangle 104"/>
            <p:cNvSpPr>
              <a:spLocks noChangeArrowheads="1"/>
            </p:cNvSpPr>
            <p:nvPr/>
          </p:nvSpPr>
          <p:spPr bwMode="auto">
            <a:xfrm>
              <a:off x="2259" y="1907"/>
              <a:ext cx="460"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12.618</a:t>
              </a:r>
            </a:p>
          </p:txBody>
        </p:sp>
        <p:sp>
          <p:nvSpPr>
            <p:cNvPr id="106" name="Rectangle 105"/>
            <p:cNvSpPr>
              <a:spLocks noChangeArrowheads="1"/>
            </p:cNvSpPr>
            <p:nvPr/>
          </p:nvSpPr>
          <p:spPr bwMode="auto">
            <a:xfrm>
              <a:off x="2945" y="1907"/>
              <a:ext cx="460"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10.794</a:t>
              </a:r>
            </a:p>
          </p:txBody>
        </p:sp>
        <p:sp>
          <p:nvSpPr>
            <p:cNvPr id="107" name="Rectangle 106"/>
            <p:cNvSpPr>
              <a:spLocks noChangeArrowheads="1"/>
            </p:cNvSpPr>
            <p:nvPr/>
          </p:nvSpPr>
          <p:spPr bwMode="auto">
            <a:xfrm>
              <a:off x="3620" y="1907"/>
              <a:ext cx="460"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11.237</a:t>
              </a:r>
            </a:p>
          </p:txBody>
        </p:sp>
        <p:sp>
          <p:nvSpPr>
            <p:cNvPr id="108" name="Rectangle 107"/>
            <p:cNvSpPr>
              <a:spLocks noChangeArrowheads="1"/>
            </p:cNvSpPr>
            <p:nvPr/>
          </p:nvSpPr>
          <p:spPr bwMode="auto">
            <a:xfrm>
              <a:off x="4327" y="1907"/>
              <a:ext cx="459"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11.302</a:t>
              </a:r>
            </a:p>
          </p:txBody>
        </p:sp>
        <p:sp>
          <p:nvSpPr>
            <p:cNvPr id="109" name="Rectangle 108"/>
            <p:cNvSpPr>
              <a:spLocks noChangeArrowheads="1"/>
            </p:cNvSpPr>
            <p:nvPr/>
          </p:nvSpPr>
          <p:spPr bwMode="auto">
            <a:xfrm>
              <a:off x="5049" y="1907"/>
              <a:ext cx="377"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8.204</a:t>
              </a:r>
            </a:p>
          </p:txBody>
        </p:sp>
        <p:sp>
          <p:nvSpPr>
            <p:cNvPr id="110" name="Rectangle 109"/>
            <p:cNvSpPr>
              <a:spLocks noChangeArrowheads="1"/>
            </p:cNvSpPr>
            <p:nvPr/>
          </p:nvSpPr>
          <p:spPr bwMode="auto">
            <a:xfrm>
              <a:off x="1216" y="1851"/>
              <a:ext cx="4" cy="4"/>
            </a:xfrm>
            <a:prstGeom prst="rect">
              <a:avLst/>
            </a:prstGeom>
            <a:solidFill>
              <a:srgbClr val="000000"/>
            </a:solidFill>
            <a:ln w="9525">
              <a:noFill/>
              <a:miter lim="800000"/>
              <a:headEnd/>
              <a:tailEnd/>
            </a:ln>
          </p:spPr>
          <p:txBody>
            <a:bodyPr wrap="none" anchor="ctr"/>
            <a:lstStyle/>
            <a:p>
              <a:endParaRPr lang="tr-TR"/>
            </a:p>
          </p:txBody>
        </p:sp>
        <p:sp>
          <p:nvSpPr>
            <p:cNvPr id="111" name="Rectangle 110"/>
            <p:cNvSpPr>
              <a:spLocks noChangeArrowheads="1"/>
            </p:cNvSpPr>
            <p:nvPr/>
          </p:nvSpPr>
          <p:spPr bwMode="auto">
            <a:xfrm>
              <a:off x="1220" y="1851"/>
              <a:ext cx="905" cy="4"/>
            </a:xfrm>
            <a:prstGeom prst="rect">
              <a:avLst/>
            </a:prstGeom>
            <a:solidFill>
              <a:srgbClr val="000000"/>
            </a:solidFill>
            <a:ln w="9525">
              <a:noFill/>
              <a:miter lim="800000"/>
              <a:headEnd/>
              <a:tailEnd/>
            </a:ln>
          </p:spPr>
          <p:txBody>
            <a:bodyPr wrap="none" anchor="ctr"/>
            <a:lstStyle/>
            <a:p>
              <a:endParaRPr lang="tr-TR"/>
            </a:p>
          </p:txBody>
        </p:sp>
        <p:sp>
          <p:nvSpPr>
            <p:cNvPr id="112" name="Rectangle 111"/>
            <p:cNvSpPr>
              <a:spLocks noChangeArrowheads="1"/>
            </p:cNvSpPr>
            <p:nvPr/>
          </p:nvSpPr>
          <p:spPr bwMode="auto">
            <a:xfrm>
              <a:off x="2125" y="1851"/>
              <a:ext cx="4" cy="4"/>
            </a:xfrm>
            <a:prstGeom prst="rect">
              <a:avLst/>
            </a:prstGeom>
            <a:solidFill>
              <a:srgbClr val="000000"/>
            </a:solidFill>
            <a:ln w="9525">
              <a:noFill/>
              <a:miter lim="800000"/>
              <a:headEnd/>
              <a:tailEnd/>
            </a:ln>
          </p:spPr>
          <p:txBody>
            <a:bodyPr wrap="none" anchor="ctr"/>
            <a:lstStyle/>
            <a:p>
              <a:endParaRPr lang="tr-TR"/>
            </a:p>
          </p:txBody>
        </p:sp>
        <p:sp>
          <p:nvSpPr>
            <p:cNvPr id="113" name="Rectangle 112"/>
            <p:cNvSpPr>
              <a:spLocks noChangeArrowheads="1"/>
            </p:cNvSpPr>
            <p:nvPr/>
          </p:nvSpPr>
          <p:spPr bwMode="auto">
            <a:xfrm>
              <a:off x="2129" y="1851"/>
              <a:ext cx="743" cy="4"/>
            </a:xfrm>
            <a:prstGeom prst="rect">
              <a:avLst/>
            </a:prstGeom>
            <a:solidFill>
              <a:srgbClr val="000000"/>
            </a:solidFill>
            <a:ln w="9525">
              <a:noFill/>
              <a:miter lim="800000"/>
              <a:headEnd/>
              <a:tailEnd/>
            </a:ln>
          </p:spPr>
          <p:txBody>
            <a:bodyPr wrap="none" anchor="ctr"/>
            <a:lstStyle/>
            <a:p>
              <a:endParaRPr lang="tr-TR"/>
            </a:p>
          </p:txBody>
        </p:sp>
        <p:sp>
          <p:nvSpPr>
            <p:cNvPr id="114" name="Rectangle 113"/>
            <p:cNvSpPr>
              <a:spLocks noChangeArrowheads="1"/>
            </p:cNvSpPr>
            <p:nvPr/>
          </p:nvSpPr>
          <p:spPr bwMode="auto">
            <a:xfrm>
              <a:off x="2872" y="1851"/>
              <a:ext cx="4" cy="4"/>
            </a:xfrm>
            <a:prstGeom prst="rect">
              <a:avLst/>
            </a:prstGeom>
            <a:solidFill>
              <a:srgbClr val="000000"/>
            </a:solidFill>
            <a:ln w="9525">
              <a:noFill/>
              <a:miter lim="800000"/>
              <a:headEnd/>
              <a:tailEnd/>
            </a:ln>
          </p:spPr>
          <p:txBody>
            <a:bodyPr wrap="none" anchor="ctr"/>
            <a:lstStyle/>
            <a:p>
              <a:endParaRPr lang="tr-TR"/>
            </a:p>
          </p:txBody>
        </p:sp>
        <p:sp>
          <p:nvSpPr>
            <p:cNvPr id="115" name="Rectangle 114"/>
            <p:cNvSpPr>
              <a:spLocks noChangeArrowheads="1"/>
            </p:cNvSpPr>
            <p:nvPr/>
          </p:nvSpPr>
          <p:spPr bwMode="auto">
            <a:xfrm>
              <a:off x="2876" y="1851"/>
              <a:ext cx="617" cy="4"/>
            </a:xfrm>
            <a:prstGeom prst="rect">
              <a:avLst/>
            </a:prstGeom>
            <a:solidFill>
              <a:srgbClr val="000000"/>
            </a:solidFill>
            <a:ln w="9525">
              <a:noFill/>
              <a:miter lim="800000"/>
              <a:headEnd/>
              <a:tailEnd/>
            </a:ln>
          </p:spPr>
          <p:txBody>
            <a:bodyPr wrap="none" anchor="ctr"/>
            <a:lstStyle/>
            <a:p>
              <a:endParaRPr lang="tr-TR"/>
            </a:p>
          </p:txBody>
        </p:sp>
        <p:sp>
          <p:nvSpPr>
            <p:cNvPr id="116" name="Rectangle 115"/>
            <p:cNvSpPr>
              <a:spLocks noChangeArrowheads="1"/>
            </p:cNvSpPr>
            <p:nvPr/>
          </p:nvSpPr>
          <p:spPr bwMode="auto">
            <a:xfrm>
              <a:off x="3493" y="1851"/>
              <a:ext cx="4" cy="4"/>
            </a:xfrm>
            <a:prstGeom prst="rect">
              <a:avLst/>
            </a:prstGeom>
            <a:solidFill>
              <a:srgbClr val="000000"/>
            </a:solidFill>
            <a:ln w="9525">
              <a:noFill/>
              <a:miter lim="800000"/>
              <a:headEnd/>
              <a:tailEnd/>
            </a:ln>
          </p:spPr>
          <p:txBody>
            <a:bodyPr wrap="none" anchor="ctr"/>
            <a:lstStyle/>
            <a:p>
              <a:endParaRPr lang="tr-TR"/>
            </a:p>
          </p:txBody>
        </p:sp>
        <p:sp>
          <p:nvSpPr>
            <p:cNvPr id="117" name="Rectangle 116"/>
            <p:cNvSpPr>
              <a:spLocks noChangeArrowheads="1"/>
            </p:cNvSpPr>
            <p:nvPr/>
          </p:nvSpPr>
          <p:spPr bwMode="auto">
            <a:xfrm>
              <a:off x="3497" y="1851"/>
              <a:ext cx="732" cy="4"/>
            </a:xfrm>
            <a:prstGeom prst="rect">
              <a:avLst/>
            </a:prstGeom>
            <a:solidFill>
              <a:srgbClr val="000000"/>
            </a:solidFill>
            <a:ln w="9525">
              <a:noFill/>
              <a:miter lim="800000"/>
              <a:headEnd/>
              <a:tailEnd/>
            </a:ln>
          </p:spPr>
          <p:txBody>
            <a:bodyPr wrap="none" anchor="ctr"/>
            <a:lstStyle/>
            <a:p>
              <a:endParaRPr lang="tr-TR"/>
            </a:p>
          </p:txBody>
        </p:sp>
        <p:sp>
          <p:nvSpPr>
            <p:cNvPr id="118" name="Rectangle 117"/>
            <p:cNvSpPr>
              <a:spLocks noChangeArrowheads="1"/>
            </p:cNvSpPr>
            <p:nvPr/>
          </p:nvSpPr>
          <p:spPr bwMode="auto">
            <a:xfrm>
              <a:off x="4229" y="1851"/>
              <a:ext cx="3" cy="4"/>
            </a:xfrm>
            <a:prstGeom prst="rect">
              <a:avLst/>
            </a:prstGeom>
            <a:solidFill>
              <a:srgbClr val="000000"/>
            </a:solidFill>
            <a:ln w="9525">
              <a:noFill/>
              <a:miter lim="800000"/>
              <a:headEnd/>
              <a:tailEnd/>
            </a:ln>
          </p:spPr>
          <p:txBody>
            <a:bodyPr wrap="none" anchor="ctr"/>
            <a:lstStyle/>
            <a:p>
              <a:endParaRPr lang="tr-TR"/>
            </a:p>
          </p:txBody>
        </p:sp>
        <p:sp>
          <p:nvSpPr>
            <p:cNvPr id="119" name="Rectangle 118"/>
            <p:cNvSpPr>
              <a:spLocks noChangeArrowheads="1"/>
            </p:cNvSpPr>
            <p:nvPr/>
          </p:nvSpPr>
          <p:spPr bwMode="auto">
            <a:xfrm>
              <a:off x="4232" y="1851"/>
              <a:ext cx="674" cy="4"/>
            </a:xfrm>
            <a:prstGeom prst="rect">
              <a:avLst/>
            </a:prstGeom>
            <a:solidFill>
              <a:srgbClr val="000000"/>
            </a:solidFill>
            <a:ln w="9525">
              <a:noFill/>
              <a:miter lim="800000"/>
              <a:headEnd/>
              <a:tailEnd/>
            </a:ln>
          </p:spPr>
          <p:txBody>
            <a:bodyPr wrap="none" anchor="ctr"/>
            <a:lstStyle/>
            <a:p>
              <a:endParaRPr lang="tr-TR"/>
            </a:p>
          </p:txBody>
        </p:sp>
        <p:sp>
          <p:nvSpPr>
            <p:cNvPr id="120" name="Rectangle 119"/>
            <p:cNvSpPr>
              <a:spLocks noChangeArrowheads="1"/>
            </p:cNvSpPr>
            <p:nvPr/>
          </p:nvSpPr>
          <p:spPr bwMode="auto">
            <a:xfrm>
              <a:off x="4906" y="1851"/>
              <a:ext cx="4" cy="4"/>
            </a:xfrm>
            <a:prstGeom prst="rect">
              <a:avLst/>
            </a:prstGeom>
            <a:solidFill>
              <a:srgbClr val="000000"/>
            </a:solidFill>
            <a:ln w="9525">
              <a:noFill/>
              <a:miter lim="800000"/>
              <a:headEnd/>
              <a:tailEnd/>
            </a:ln>
          </p:spPr>
          <p:txBody>
            <a:bodyPr wrap="none" anchor="ctr"/>
            <a:lstStyle/>
            <a:p>
              <a:endParaRPr lang="tr-TR"/>
            </a:p>
          </p:txBody>
        </p:sp>
        <p:sp>
          <p:nvSpPr>
            <p:cNvPr id="121" name="Rectangle 120"/>
            <p:cNvSpPr>
              <a:spLocks noChangeArrowheads="1"/>
            </p:cNvSpPr>
            <p:nvPr/>
          </p:nvSpPr>
          <p:spPr bwMode="auto">
            <a:xfrm>
              <a:off x="4910" y="1851"/>
              <a:ext cx="674" cy="4"/>
            </a:xfrm>
            <a:prstGeom prst="rect">
              <a:avLst/>
            </a:prstGeom>
            <a:solidFill>
              <a:srgbClr val="000000"/>
            </a:solidFill>
            <a:ln w="9525">
              <a:noFill/>
              <a:miter lim="800000"/>
              <a:headEnd/>
              <a:tailEnd/>
            </a:ln>
          </p:spPr>
          <p:txBody>
            <a:bodyPr wrap="none" anchor="ctr"/>
            <a:lstStyle/>
            <a:p>
              <a:endParaRPr lang="tr-TR"/>
            </a:p>
          </p:txBody>
        </p:sp>
        <p:sp>
          <p:nvSpPr>
            <p:cNvPr id="122" name="Rectangle 121"/>
            <p:cNvSpPr>
              <a:spLocks noChangeArrowheads="1"/>
            </p:cNvSpPr>
            <p:nvPr/>
          </p:nvSpPr>
          <p:spPr bwMode="auto">
            <a:xfrm>
              <a:off x="5584" y="1851"/>
              <a:ext cx="4" cy="4"/>
            </a:xfrm>
            <a:prstGeom prst="rect">
              <a:avLst/>
            </a:prstGeom>
            <a:solidFill>
              <a:srgbClr val="000000"/>
            </a:solidFill>
            <a:ln w="9525">
              <a:noFill/>
              <a:miter lim="800000"/>
              <a:headEnd/>
              <a:tailEnd/>
            </a:ln>
          </p:spPr>
          <p:txBody>
            <a:bodyPr wrap="none" anchor="ctr"/>
            <a:lstStyle/>
            <a:p>
              <a:endParaRPr lang="tr-TR"/>
            </a:p>
          </p:txBody>
        </p:sp>
        <p:sp>
          <p:nvSpPr>
            <p:cNvPr id="123" name="Rectangle 122"/>
            <p:cNvSpPr>
              <a:spLocks noChangeArrowheads="1"/>
            </p:cNvSpPr>
            <p:nvPr/>
          </p:nvSpPr>
          <p:spPr bwMode="auto">
            <a:xfrm>
              <a:off x="1216" y="1855"/>
              <a:ext cx="4" cy="273"/>
            </a:xfrm>
            <a:prstGeom prst="rect">
              <a:avLst/>
            </a:prstGeom>
            <a:solidFill>
              <a:srgbClr val="000000"/>
            </a:solidFill>
            <a:ln w="9525">
              <a:noFill/>
              <a:miter lim="800000"/>
              <a:headEnd/>
              <a:tailEnd/>
            </a:ln>
          </p:spPr>
          <p:txBody>
            <a:bodyPr wrap="none" anchor="ctr"/>
            <a:lstStyle/>
            <a:p>
              <a:endParaRPr lang="tr-TR"/>
            </a:p>
          </p:txBody>
        </p:sp>
        <p:sp>
          <p:nvSpPr>
            <p:cNvPr id="124" name="Rectangle 123"/>
            <p:cNvSpPr>
              <a:spLocks noChangeArrowheads="1"/>
            </p:cNvSpPr>
            <p:nvPr/>
          </p:nvSpPr>
          <p:spPr bwMode="auto">
            <a:xfrm>
              <a:off x="2125" y="1855"/>
              <a:ext cx="4" cy="273"/>
            </a:xfrm>
            <a:prstGeom prst="rect">
              <a:avLst/>
            </a:prstGeom>
            <a:solidFill>
              <a:srgbClr val="000000"/>
            </a:solidFill>
            <a:ln w="9525">
              <a:noFill/>
              <a:miter lim="800000"/>
              <a:headEnd/>
              <a:tailEnd/>
            </a:ln>
          </p:spPr>
          <p:txBody>
            <a:bodyPr wrap="none" anchor="ctr"/>
            <a:lstStyle/>
            <a:p>
              <a:endParaRPr lang="tr-TR"/>
            </a:p>
          </p:txBody>
        </p:sp>
        <p:sp>
          <p:nvSpPr>
            <p:cNvPr id="125" name="Rectangle 124"/>
            <p:cNvSpPr>
              <a:spLocks noChangeArrowheads="1"/>
            </p:cNvSpPr>
            <p:nvPr/>
          </p:nvSpPr>
          <p:spPr bwMode="auto">
            <a:xfrm>
              <a:off x="2872" y="1855"/>
              <a:ext cx="4" cy="273"/>
            </a:xfrm>
            <a:prstGeom prst="rect">
              <a:avLst/>
            </a:prstGeom>
            <a:solidFill>
              <a:srgbClr val="000000"/>
            </a:solidFill>
            <a:ln w="9525">
              <a:noFill/>
              <a:miter lim="800000"/>
              <a:headEnd/>
              <a:tailEnd/>
            </a:ln>
          </p:spPr>
          <p:txBody>
            <a:bodyPr wrap="none" anchor="ctr"/>
            <a:lstStyle/>
            <a:p>
              <a:endParaRPr lang="tr-TR"/>
            </a:p>
          </p:txBody>
        </p:sp>
        <p:sp>
          <p:nvSpPr>
            <p:cNvPr id="126" name="Rectangle 125"/>
            <p:cNvSpPr>
              <a:spLocks noChangeArrowheads="1"/>
            </p:cNvSpPr>
            <p:nvPr/>
          </p:nvSpPr>
          <p:spPr bwMode="auto">
            <a:xfrm>
              <a:off x="3493" y="1855"/>
              <a:ext cx="4" cy="273"/>
            </a:xfrm>
            <a:prstGeom prst="rect">
              <a:avLst/>
            </a:prstGeom>
            <a:solidFill>
              <a:srgbClr val="000000"/>
            </a:solidFill>
            <a:ln w="9525">
              <a:noFill/>
              <a:miter lim="800000"/>
              <a:headEnd/>
              <a:tailEnd/>
            </a:ln>
          </p:spPr>
          <p:txBody>
            <a:bodyPr wrap="none" anchor="ctr"/>
            <a:lstStyle/>
            <a:p>
              <a:endParaRPr lang="tr-TR"/>
            </a:p>
          </p:txBody>
        </p:sp>
        <p:sp>
          <p:nvSpPr>
            <p:cNvPr id="127" name="Rectangle 126"/>
            <p:cNvSpPr>
              <a:spLocks noChangeArrowheads="1"/>
            </p:cNvSpPr>
            <p:nvPr/>
          </p:nvSpPr>
          <p:spPr bwMode="auto">
            <a:xfrm>
              <a:off x="4229" y="1855"/>
              <a:ext cx="3" cy="273"/>
            </a:xfrm>
            <a:prstGeom prst="rect">
              <a:avLst/>
            </a:prstGeom>
            <a:solidFill>
              <a:srgbClr val="000000"/>
            </a:solidFill>
            <a:ln w="9525">
              <a:noFill/>
              <a:miter lim="800000"/>
              <a:headEnd/>
              <a:tailEnd/>
            </a:ln>
          </p:spPr>
          <p:txBody>
            <a:bodyPr wrap="none" anchor="ctr"/>
            <a:lstStyle/>
            <a:p>
              <a:endParaRPr lang="tr-TR"/>
            </a:p>
          </p:txBody>
        </p:sp>
        <p:sp>
          <p:nvSpPr>
            <p:cNvPr id="128" name="Rectangle 127"/>
            <p:cNvSpPr>
              <a:spLocks noChangeArrowheads="1"/>
            </p:cNvSpPr>
            <p:nvPr/>
          </p:nvSpPr>
          <p:spPr bwMode="auto">
            <a:xfrm>
              <a:off x="4906" y="1855"/>
              <a:ext cx="4" cy="273"/>
            </a:xfrm>
            <a:prstGeom prst="rect">
              <a:avLst/>
            </a:prstGeom>
            <a:solidFill>
              <a:srgbClr val="000000"/>
            </a:solidFill>
            <a:ln w="9525">
              <a:noFill/>
              <a:miter lim="800000"/>
              <a:headEnd/>
              <a:tailEnd/>
            </a:ln>
          </p:spPr>
          <p:txBody>
            <a:bodyPr wrap="none" anchor="ctr"/>
            <a:lstStyle/>
            <a:p>
              <a:endParaRPr lang="tr-TR"/>
            </a:p>
          </p:txBody>
        </p:sp>
        <p:sp>
          <p:nvSpPr>
            <p:cNvPr id="129" name="Rectangle 128"/>
            <p:cNvSpPr>
              <a:spLocks noChangeArrowheads="1"/>
            </p:cNvSpPr>
            <p:nvPr/>
          </p:nvSpPr>
          <p:spPr bwMode="auto">
            <a:xfrm>
              <a:off x="5584" y="1855"/>
              <a:ext cx="4" cy="273"/>
            </a:xfrm>
            <a:prstGeom prst="rect">
              <a:avLst/>
            </a:prstGeom>
            <a:solidFill>
              <a:srgbClr val="000000"/>
            </a:solidFill>
            <a:ln w="9525">
              <a:noFill/>
              <a:miter lim="800000"/>
              <a:headEnd/>
              <a:tailEnd/>
            </a:ln>
          </p:spPr>
          <p:txBody>
            <a:bodyPr wrap="none" anchor="ctr"/>
            <a:lstStyle/>
            <a:p>
              <a:endParaRPr lang="tr-TR"/>
            </a:p>
          </p:txBody>
        </p:sp>
        <p:sp>
          <p:nvSpPr>
            <p:cNvPr id="130" name="Rectangle 129"/>
            <p:cNvSpPr>
              <a:spLocks noChangeArrowheads="1"/>
            </p:cNvSpPr>
            <p:nvPr/>
          </p:nvSpPr>
          <p:spPr bwMode="auto">
            <a:xfrm>
              <a:off x="1245" y="2185"/>
              <a:ext cx="433"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4.Saat</a:t>
              </a:r>
            </a:p>
          </p:txBody>
        </p:sp>
        <p:sp>
          <p:nvSpPr>
            <p:cNvPr id="131" name="Rectangle 130"/>
            <p:cNvSpPr>
              <a:spLocks noChangeArrowheads="1"/>
            </p:cNvSpPr>
            <p:nvPr/>
          </p:nvSpPr>
          <p:spPr bwMode="auto">
            <a:xfrm>
              <a:off x="2259" y="2185"/>
              <a:ext cx="460"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11.927</a:t>
              </a:r>
            </a:p>
          </p:txBody>
        </p:sp>
        <p:sp>
          <p:nvSpPr>
            <p:cNvPr id="132" name="Rectangle 131"/>
            <p:cNvSpPr>
              <a:spLocks noChangeArrowheads="1"/>
            </p:cNvSpPr>
            <p:nvPr/>
          </p:nvSpPr>
          <p:spPr bwMode="auto">
            <a:xfrm>
              <a:off x="2989" y="2185"/>
              <a:ext cx="377"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9.059</a:t>
              </a:r>
            </a:p>
          </p:txBody>
        </p:sp>
        <p:sp>
          <p:nvSpPr>
            <p:cNvPr id="133" name="Rectangle 132"/>
            <p:cNvSpPr>
              <a:spLocks noChangeArrowheads="1"/>
            </p:cNvSpPr>
            <p:nvPr/>
          </p:nvSpPr>
          <p:spPr bwMode="auto">
            <a:xfrm>
              <a:off x="3664" y="2185"/>
              <a:ext cx="377"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7.814</a:t>
              </a:r>
            </a:p>
          </p:txBody>
        </p:sp>
        <p:sp>
          <p:nvSpPr>
            <p:cNvPr id="134" name="Rectangle 133"/>
            <p:cNvSpPr>
              <a:spLocks noChangeArrowheads="1"/>
            </p:cNvSpPr>
            <p:nvPr/>
          </p:nvSpPr>
          <p:spPr bwMode="auto">
            <a:xfrm>
              <a:off x="4371" y="2185"/>
              <a:ext cx="377"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7.259</a:t>
              </a:r>
            </a:p>
          </p:txBody>
        </p:sp>
        <p:sp>
          <p:nvSpPr>
            <p:cNvPr id="135" name="Rectangle 134"/>
            <p:cNvSpPr>
              <a:spLocks noChangeArrowheads="1"/>
            </p:cNvSpPr>
            <p:nvPr/>
          </p:nvSpPr>
          <p:spPr bwMode="auto">
            <a:xfrm>
              <a:off x="5049" y="2185"/>
              <a:ext cx="377" cy="188"/>
            </a:xfrm>
            <a:prstGeom prst="rect">
              <a:avLst/>
            </a:prstGeom>
            <a:noFill/>
            <a:ln w="9525">
              <a:solidFill>
                <a:srgbClr val="333333"/>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7.189</a:t>
              </a:r>
            </a:p>
          </p:txBody>
        </p:sp>
        <p:sp>
          <p:nvSpPr>
            <p:cNvPr id="136" name="Rectangle 135"/>
            <p:cNvSpPr>
              <a:spLocks noChangeArrowheads="1"/>
            </p:cNvSpPr>
            <p:nvPr/>
          </p:nvSpPr>
          <p:spPr bwMode="auto">
            <a:xfrm>
              <a:off x="1216" y="2128"/>
              <a:ext cx="4" cy="3"/>
            </a:xfrm>
            <a:prstGeom prst="rect">
              <a:avLst/>
            </a:prstGeom>
            <a:solidFill>
              <a:srgbClr val="000000"/>
            </a:solidFill>
            <a:ln w="9525">
              <a:noFill/>
              <a:miter lim="800000"/>
              <a:headEnd/>
              <a:tailEnd/>
            </a:ln>
          </p:spPr>
          <p:txBody>
            <a:bodyPr wrap="none" anchor="ctr"/>
            <a:lstStyle/>
            <a:p>
              <a:endParaRPr lang="tr-TR"/>
            </a:p>
          </p:txBody>
        </p:sp>
        <p:sp>
          <p:nvSpPr>
            <p:cNvPr id="137" name="Rectangle 136"/>
            <p:cNvSpPr>
              <a:spLocks noChangeArrowheads="1"/>
            </p:cNvSpPr>
            <p:nvPr/>
          </p:nvSpPr>
          <p:spPr bwMode="auto">
            <a:xfrm>
              <a:off x="1220" y="2128"/>
              <a:ext cx="905" cy="3"/>
            </a:xfrm>
            <a:prstGeom prst="rect">
              <a:avLst/>
            </a:prstGeom>
            <a:solidFill>
              <a:srgbClr val="000000"/>
            </a:solidFill>
            <a:ln w="9525">
              <a:noFill/>
              <a:miter lim="800000"/>
              <a:headEnd/>
              <a:tailEnd/>
            </a:ln>
          </p:spPr>
          <p:txBody>
            <a:bodyPr wrap="none" anchor="ctr"/>
            <a:lstStyle/>
            <a:p>
              <a:endParaRPr lang="tr-TR"/>
            </a:p>
          </p:txBody>
        </p:sp>
        <p:sp>
          <p:nvSpPr>
            <p:cNvPr id="138" name="Rectangle 137"/>
            <p:cNvSpPr>
              <a:spLocks noChangeArrowheads="1"/>
            </p:cNvSpPr>
            <p:nvPr/>
          </p:nvSpPr>
          <p:spPr bwMode="auto">
            <a:xfrm>
              <a:off x="2125" y="2128"/>
              <a:ext cx="4" cy="3"/>
            </a:xfrm>
            <a:prstGeom prst="rect">
              <a:avLst/>
            </a:prstGeom>
            <a:solidFill>
              <a:srgbClr val="000000"/>
            </a:solidFill>
            <a:ln w="9525">
              <a:noFill/>
              <a:miter lim="800000"/>
              <a:headEnd/>
              <a:tailEnd/>
            </a:ln>
          </p:spPr>
          <p:txBody>
            <a:bodyPr wrap="none" anchor="ctr"/>
            <a:lstStyle/>
            <a:p>
              <a:endParaRPr lang="tr-TR"/>
            </a:p>
          </p:txBody>
        </p:sp>
        <p:sp>
          <p:nvSpPr>
            <p:cNvPr id="139" name="Rectangle 138"/>
            <p:cNvSpPr>
              <a:spLocks noChangeArrowheads="1"/>
            </p:cNvSpPr>
            <p:nvPr/>
          </p:nvSpPr>
          <p:spPr bwMode="auto">
            <a:xfrm>
              <a:off x="2129" y="2128"/>
              <a:ext cx="743" cy="3"/>
            </a:xfrm>
            <a:prstGeom prst="rect">
              <a:avLst/>
            </a:prstGeom>
            <a:solidFill>
              <a:srgbClr val="000000"/>
            </a:solidFill>
            <a:ln w="9525">
              <a:noFill/>
              <a:miter lim="800000"/>
              <a:headEnd/>
              <a:tailEnd/>
            </a:ln>
          </p:spPr>
          <p:txBody>
            <a:bodyPr wrap="none" anchor="ctr"/>
            <a:lstStyle/>
            <a:p>
              <a:endParaRPr lang="tr-TR"/>
            </a:p>
          </p:txBody>
        </p:sp>
        <p:sp>
          <p:nvSpPr>
            <p:cNvPr id="140" name="Rectangle 139"/>
            <p:cNvSpPr>
              <a:spLocks noChangeArrowheads="1"/>
            </p:cNvSpPr>
            <p:nvPr/>
          </p:nvSpPr>
          <p:spPr bwMode="auto">
            <a:xfrm>
              <a:off x="2872" y="2128"/>
              <a:ext cx="4" cy="3"/>
            </a:xfrm>
            <a:prstGeom prst="rect">
              <a:avLst/>
            </a:prstGeom>
            <a:solidFill>
              <a:srgbClr val="000000"/>
            </a:solidFill>
            <a:ln w="9525">
              <a:noFill/>
              <a:miter lim="800000"/>
              <a:headEnd/>
              <a:tailEnd/>
            </a:ln>
          </p:spPr>
          <p:txBody>
            <a:bodyPr wrap="none" anchor="ctr"/>
            <a:lstStyle/>
            <a:p>
              <a:endParaRPr lang="tr-TR"/>
            </a:p>
          </p:txBody>
        </p:sp>
        <p:sp>
          <p:nvSpPr>
            <p:cNvPr id="141" name="Rectangle 140"/>
            <p:cNvSpPr>
              <a:spLocks noChangeArrowheads="1"/>
            </p:cNvSpPr>
            <p:nvPr/>
          </p:nvSpPr>
          <p:spPr bwMode="auto">
            <a:xfrm>
              <a:off x="2876" y="2128"/>
              <a:ext cx="617" cy="3"/>
            </a:xfrm>
            <a:prstGeom prst="rect">
              <a:avLst/>
            </a:prstGeom>
            <a:solidFill>
              <a:srgbClr val="000000"/>
            </a:solidFill>
            <a:ln w="9525">
              <a:noFill/>
              <a:miter lim="800000"/>
              <a:headEnd/>
              <a:tailEnd/>
            </a:ln>
          </p:spPr>
          <p:txBody>
            <a:bodyPr wrap="none" anchor="ctr"/>
            <a:lstStyle/>
            <a:p>
              <a:endParaRPr lang="tr-TR"/>
            </a:p>
          </p:txBody>
        </p:sp>
        <p:sp>
          <p:nvSpPr>
            <p:cNvPr id="142" name="Rectangle 141"/>
            <p:cNvSpPr>
              <a:spLocks noChangeArrowheads="1"/>
            </p:cNvSpPr>
            <p:nvPr/>
          </p:nvSpPr>
          <p:spPr bwMode="auto">
            <a:xfrm>
              <a:off x="3493" y="2128"/>
              <a:ext cx="4" cy="3"/>
            </a:xfrm>
            <a:prstGeom prst="rect">
              <a:avLst/>
            </a:prstGeom>
            <a:solidFill>
              <a:srgbClr val="000000"/>
            </a:solidFill>
            <a:ln w="9525">
              <a:noFill/>
              <a:miter lim="800000"/>
              <a:headEnd/>
              <a:tailEnd/>
            </a:ln>
          </p:spPr>
          <p:txBody>
            <a:bodyPr wrap="none" anchor="ctr"/>
            <a:lstStyle/>
            <a:p>
              <a:endParaRPr lang="tr-TR"/>
            </a:p>
          </p:txBody>
        </p:sp>
        <p:sp>
          <p:nvSpPr>
            <p:cNvPr id="143" name="Rectangle 142"/>
            <p:cNvSpPr>
              <a:spLocks noChangeArrowheads="1"/>
            </p:cNvSpPr>
            <p:nvPr/>
          </p:nvSpPr>
          <p:spPr bwMode="auto">
            <a:xfrm>
              <a:off x="3497" y="2128"/>
              <a:ext cx="732" cy="3"/>
            </a:xfrm>
            <a:prstGeom prst="rect">
              <a:avLst/>
            </a:prstGeom>
            <a:solidFill>
              <a:srgbClr val="000000"/>
            </a:solidFill>
            <a:ln w="9525">
              <a:noFill/>
              <a:miter lim="800000"/>
              <a:headEnd/>
              <a:tailEnd/>
            </a:ln>
          </p:spPr>
          <p:txBody>
            <a:bodyPr wrap="none" anchor="ctr"/>
            <a:lstStyle/>
            <a:p>
              <a:endParaRPr lang="tr-TR"/>
            </a:p>
          </p:txBody>
        </p:sp>
        <p:sp>
          <p:nvSpPr>
            <p:cNvPr id="144" name="Rectangle 143"/>
            <p:cNvSpPr>
              <a:spLocks noChangeArrowheads="1"/>
            </p:cNvSpPr>
            <p:nvPr/>
          </p:nvSpPr>
          <p:spPr bwMode="auto">
            <a:xfrm>
              <a:off x="4229" y="2128"/>
              <a:ext cx="3" cy="3"/>
            </a:xfrm>
            <a:prstGeom prst="rect">
              <a:avLst/>
            </a:prstGeom>
            <a:solidFill>
              <a:srgbClr val="000000"/>
            </a:solidFill>
            <a:ln w="9525">
              <a:noFill/>
              <a:miter lim="800000"/>
              <a:headEnd/>
              <a:tailEnd/>
            </a:ln>
          </p:spPr>
          <p:txBody>
            <a:bodyPr wrap="none" anchor="ctr"/>
            <a:lstStyle/>
            <a:p>
              <a:endParaRPr lang="tr-TR"/>
            </a:p>
          </p:txBody>
        </p:sp>
        <p:sp>
          <p:nvSpPr>
            <p:cNvPr id="145" name="Rectangle 144"/>
            <p:cNvSpPr>
              <a:spLocks noChangeArrowheads="1"/>
            </p:cNvSpPr>
            <p:nvPr/>
          </p:nvSpPr>
          <p:spPr bwMode="auto">
            <a:xfrm>
              <a:off x="4232" y="2128"/>
              <a:ext cx="674" cy="3"/>
            </a:xfrm>
            <a:prstGeom prst="rect">
              <a:avLst/>
            </a:prstGeom>
            <a:solidFill>
              <a:srgbClr val="000000"/>
            </a:solidFill>
            <a:ln w="9525">
              <a:noFill/>
              <a:miter lim="800000"/>
              <a:headEnd/>
              <a:tailEnd/>
            </a:ln>
          </p:spPr>
          <p:txBody>
            <a:bodyPr wrap="none" anchor="ctr"/>
            <a:lstStyle/>
            <a:p>
              <a:endParaRPr lang="tr-TR"/>
            </a:p>
          </p:txBody>
        </p:sp>
        <p:sp>
          <p:nvSpPr>
            <p:cNvPr id="146" name="Rectangle 145"/>
            <p:cNvSpPr>
              <a:spLocks noChangeArrowheads="1"/>
            </p:cNvSpPr>
            <p:nvPr/>
          </p:nvSpPr>
          <p:spPr bwMode="auto">
            <a:xfrm>
              <a:off x="4906" y="2128"/>
              <a:ext cx="4" cy="3"/>
            </a:xfrm>
            <a:prstGeom prst="rect">
              <a:avLst/>
            </a:prstGeom>
            <a:solidFill>
              <a:srgbClr val="000000"/>
            </a:solidFill>
            <a:ln w="9525">
              <a:noFill/>
              <a:miter lim="800000"/>
              <a:headEnd/>
              <a:tailEnd/>
            </a:ln>
          </p:spPr>
          <p:txBody>
            <a:bodyPr wrap="none" anchor="ctr"/>
            <a:lstStyle/>
            <a:p>
              <a:endParaRPr lang="tr-TR"/>
            </a:p>
          </p:txBody>
        </p:sp>
        <p:sp>
          <p:nvSpPr>
            <p:cNvPr id="147" name="Rectangle 146"/>
            <p:cNvSpPr>
              <a:spLocks noChangeArrowheads="1"/>
            </p:cNvSpPr>
            <p:nvPr/>
          </p:nvSpPr>
          <p:spPr bwMode="auto">
            <a:xfrm>
              <a:off x="4910" y="2128"/>
              <a:ext cx="674" cy="3"/>
            </a:xfrm>
            <a:prstGeom prst="rect">
              <a:avLst/>
            </a:prstGeom>
            <a:solidFill>
              <a:srgbClr val="000000"/>
            </a:solidFill>
            <a:ln w="9525">
              <a:noFill/>
              <a:miter lim="800000"/>
              <a:headEnd/>
              <a:tailEnd/>
            </a:ln>
          </p:spPr>
          <p:txBody>
            <a:bodyPr wrap="none" anchor="ctr"/>
            <a:lstStyle/>
            <a:p>
              <a:endParaRPr lang="tr-TR"/>
            </a:p>
          </p:txBody>
        </p:sp>
        <p:sp>
          <p:nvSpPr>
            <p:cNvPr id="148" name="Rectangle 147"/>
            <p:cNvSpPr>
              <a:spLocks noChangeArrowheads="1"/>
            </p:cNvSpPr>
            <p:nvPr/>
          </p:nvSpPr>
          <p:spPr bwMode="auto">
            <a:xfrm>
              <a:off x="5584" y="2128"/>
              <a:ext cx="4" cy="3"/>
            </a:xfrm>
            <a:prstGeom prst="rect">
              <a:avLst/>
            </a:prstGeom>
            <a:solidFill>
              <a:srgbClr val="000000"/>
            </a:solidFill>
            <a:ln w="9525">
              <a:noFill/>
              <a:miter lim="800000"/>
              <a:headEnd/>
              <a:tailEnd/>
            </a:ln>
          </p:spPr>
          <p:txBody>
            <a:bodyPr wrap="none" anchor="ctr"/>
            <a:lstStyle/>
            <a:p>
              <a:endParaRPr lang="tr-TR"/>
            </a:p>
          </p:txBody>
        </p:sp>
        <p:sp>
          <p:nvSpPr>
            <p:cNvPr id="149" name="Rectangle 148"/>
            <p:cNvSpPr>
              <a:spLocks noChangeArrowheads="1"/>
            </p:cNvSpPr>
            <p:nvPr/>
          </p:nvSpPr>
          <p:spPr bwMode="auto">
            <a:xfrm>
              <a:off x="1216" y="2131"/>
              <a:ext cx="4" cy="277"/>
            </a:xfrm>
            <a:prstGeom prst="rect">
              <a:avLst/>
            </a:prstGeom>
            <a:solidFill>
              <a:srgbClr val="000000"/>
            </a:solidFill>
            <a:ln w="9525">
              <a:noFill/>
              <a:miter lim="800000"/>
              <a:headEnd/>
              <a:tailEnd/>
            </a:ln>
          </p:spPr>
          <p:txBody>
            <a:bodyPr wrap="none" anchor="ctr"/>
            <a:lstStyle/>
            <a:p>
              <a:endParaRPr lang="tr-TR"/>
            </a:p>
          </p:txBody>
        </p:sp>
        <p:sp>
          <p:nvSpPr>
            <p:cNvPr id="150" name="Rectangle 149"/>
            <p:cNvSpPr>
              <a:spLocks noChangeArrowheads="1"/>
            </p:cNvSpPr>
            <p:nvPr/>
          </p:nvSpPr>
          <p:spPr bwMode="auto">
            <a:xfrm>
              <a:off x="2125" y="2131"/>
              <a:ext cx="4" cy="277"/>
            </a:xfrm>
            <a:prstGeom prst="rect">
              <a:avLst/>
            </a:prstGeom>
            <a:solidFill>
              <a:srgbClr val="000000"/>
            </a:solidFill>
            <a:ln w="9525">
              <a:noFill/>
              <a:miter lim="800000"/>
              <a:headEnd/>
              <a:tailEnd/>
            </a:ln>
          </p:spPr>
          <p:txBody>
            <a:bodyPr wrap="none" anchor="ctr"/>
            <a:lstStyle/>
            <a:p>
              <a:endParaRPr lang="tr-TR"/>
            </a:p>
          </p:txBody>
        </p:sp>
        <p:sp>
          <p:nvSpPr>
            <p:cNvPr id="151" name="Rectangle 150"/>
            <p:cNvSpPr>
              <a:spLocks noChangeArrowheads="1"/>
            </p:cNvSpPr>
            <p:nvPr/>
          </p:nvSpPr>
          <p:spPr bwMode="auto">
            <a:xfrm>
              <a:off x="2872" y="2131"/>
              <a:ext cx="4" cy="277"/>
            </a:xfrm>
            <a:prstGeom prst="rect">
              <a:avLst/>
            </a:prstGeom>
            <a:solidFill>
              <a:srgbClr val="000000"/>
            </a:solidFill>
            <a:ln w="9525">
              <a:noFill/>
              <a:miter lim="800000"/>
              <a:headEnd/>
              <a:tailEnd/>
            </a:ln>
          </p:spPr>
          <p:txBody>
            <a:bodyPr wrap="none" anchor="ctr"/>
            <a:lstStyle/>
            <a:p>
              <a:endParaRPr lang="tr-TR"/>
            </a:p>
          </p:txBody>
        </p:sp>
        <p:sp>
          <p:nvSpPr>
            <p:cNvPr id="152" name="Rectangle 151"/>
            <p:cNvSpPr>
              <a:spLocks noChangeArrowheads="1"/>
            </p:cNvSpPr>
            <p:nvPr/>
          </p:nvSpPr>
          <p:spPr bwMode="auto">
            <a:xfrm>
              <a:off x="3493" y="2131"/>
              <a:ext cx="4" cy="277"/>
            </a:xfrm>
            <a:prstGeom prst="rect">
              <a:avLst/>
            </a:prstGeom>
            <a:solidFill>
              <a:srgbClr val="000000"/>
            </a:solidFill>
            <a:ln w="9525">
              <a:noFill/>
              <a:miter lim="800000"/>
              <a:headEnd/>
              <a:tailEnd/>
            </a:ln>
          </p:spPr>
          <p:txBody>
            <a:bodyPr wrap="none" anchor="ctr"/>
            <a:lstStyle/>
            <a:p>
              <a:endParaRPr lang="tr-TR"/>
            </a:p>
          </p:txBody>
        </p:sp>
        <p:sp>
          <p:nvSpPr>
            <p:cNvPr id="153" name="Rectangle 152"/>
            <p:cNvSpPr>
              <a:spLocks noChangeArrowheads="1"/>
            </p:cNvSpPr>
            <p:nvPr/>
          </p:nvSpPr>
          <p:spPr bwMode="auto">
            <a:xfrm>
              <a:off x="4229" y="2131"/>
              <a:ext cx="3" cy="277"/>
            </a:xfrm>
            <a:prstGeom prst="rect">
              <a:avLst/>
            </a:prstGeom>
            <a:solidFill>
              <a:srgbClr val="000000"/>
            </a:solidFill>
            <a:ln w="9525">
              <a:noFill/>
              <a:miter lim="800000"/>
              <a:headEnd/>
              <a:tailEnd/>
            </a:ln>
          </p:spPr>
          <p:txBody>
            <a:bodyPr wrap="none" anchor="ctr"/>
            <a:lstStyle/>
            <a:p>
              <a:endParaRPr lang="tr-TR"/>
            </a:p>
          </p:txBody>
        </p:sp>
        <p:sp>
          <p:nvSpPr>
            <p:cNvPr id="154" name="Rectangle 153"/>
            <p:cNvSpPr>
              <a:spLocks noChangeArrowheads="1"/>
            </p:cNvSpPr>
            <p:nvPr/>
          </p:nvSpPr>
          <p:spPr bwMode="auto">
            <a:xfrm>
              <a:off x="4906" y="2131"/>
              <a:ext cx="4" cy="277"/>
            </a:xfrm>
            <a:prstGeom prst="rect">
              <a:avLst/>
            </a:prstGeom>
            <a:solidFill>
              <a:srgbClr val="000000"/>
            </a:solidFill>
            <a:ln w="9525">
              <a:noFill/>
              <a:miter lim="800000"/>
              <a:headEnd/>
              <a:tailEnd/>
            </a:ln>
          </p:spPr>
          <p:txBody>
            <a:bodyPr wrap="none" anchor="ctr"/>
            <a:lstStyle/>
            <a:p>
              <a:endParaRPr lang="tr-TR"/>
            </a:p>
          </p:txBody>
        </p:sp>
        <p:sp>
          <p:nvSpPr>
            <p:cNvPr id="155" name="Rectangle 154"/>
            <p:cNvSpPr>
              <a:spLocks noChangeArrowheads="1"/>
            </p:cNvSpPr>
            <p:nvPr/>
          </p:nvSpPr>
          <p:spPr bwMode="auto">
            <a:xfrm>
              <a:off x="5584" y="2131"/>
              <a:ext cx="4" cy="277"/>
            </a:xfrm>
            <a:prstGeom prst="rect">
              <a:avLst/>
            </a:prstGeom>
            <a:solidFill>
              <a:srgbClr val="000000"/>
            </a:solidFill>
            <a:ln w="9525">
              <a:noFill/>
              <a:miter lim="800000"/>
              <a:headEnd/>
              <a:tailEnd/>
            </a:ln>
          </p:spPr>
          <p:txBody>
            <a:bodyPr wrap="none" anchor="ctr"/>
            <a:lstStyle/>
            <a:p>
              <a:endParaRPr lang="tr-TR"/>
            </a:p>
          </p:txBody>
        </p:sp>
        <p:sp>
          <p:nvSpPr>
            <p:cNvPr id="156" name="Rectangle 155"/>
            <p:cNvSpPr>
              <a:spLocks noChangeArrowheads="1"/>
            </p:cNvSpPr>
            <p:nvPr/>
          </p:nvSpPr>
          <p:spPr bwMode="auto">
            <a:xfrm>
              <a:off x="1245" y="2464"/>
              <a:ext cx="433"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5.Saat</a:t>
              </a:r>
            </a:p>
          </p:txBody>
        </p:sp>
        <p:sp>
          <p:nvSpPr>
            <p:cNvPr id="157" name="Rectangle 156"/>
            <p:cNvSpPr>
              <a:spLocks noChangeArrowheads="1"/>
            </p:cNvSpPr>
            <p:nvPr/>
          </p:nvSpPr>
          <p:spPr bwMode="auto">
            <a:xfrm>
              <a:off x="2304" y="2464"/>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6.073</a:t>
              </a:r>
            </a:p>
          </p:txBody>
        </p:sp>
        <p:sp>
          <p:nvSpPr>
            <p:cNvPr id="158" name="Rectangle 157"/>
            <p:cNvSpPr>
              <a:spLocks noChangeArrowheads="1"/>
            </p:cNvSpPr>
            <p:nvPr/>
          </p:nvSpPr>
          <p:spPr bwMode="auto">
            <a:xfrm>
              <a:off x="2989" y="2464"/>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4.219</a:t>
              </a:r>
            </a:p>
          </p:txBody>
        </p:sp>
        <p:sp>
          <p:nvSpPr>
            <p:cNvPr id="159" name="Rectangle 158"/>
            <p:cNvSpPr>
              <a:spLocks noChangeArrowheads="1"/>
            </p:cNvSpPr>
            <p:nvPr/>
          </p:nvSpPr>
          <p:spPr bwMode="auto">
            <a:xfrm>
              <a:off x="3664" y="2464"/>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4.399</a:t>
              </a:r>
            </a:p>
          </p:txBody>
        </p:sp>
        <p:sp>
          <p:nvSpPr>
            <p:cNvPr id="160" name="Rectangle 159"/>
            <p:cNvSpPr>
              <a:spLocks noChangeArrowheads="1"/>
            </p:cNvSpPr>
            <p:nvPr/>
          </p:nvSpPr>
          <p:spPr bwMode="auto">
            <a:xfrm>
              <a:off x="4371" y="2464"/>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4.210</a:t>
              </a:r>
            </a:p>
          </p:txBody>
        </p:sp>
        <p:sp>
          <p:nvSpPr>
            <p:cNvPr id="161" name="Rectangle 160"/>
            <p:cNvSpPr>
              <a:spLocks noChangeArrowheads="1"/>
            </p:cNvSpPr>
            <p:nvPr/>
          </p:nvSpPr>
          <p:spPr bwMode="auto">
            <a:xfrm>
              <a:off x="5049" y="2464"/>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4.187</a:t>
              </a:r>
            </a:p>
          </p:txBody>
        </p:sp>
        <p:sp>
          <p:nvSpPr>
            <p:cNvPr id="162" name="Rectangle 161"/>
            <p:cNvSpPr>
              <a:spLocks noChangeArrowheads="1"/>
            </p:cNvSpPr>
            <p:nvPr/>
          </p:nvSpPr>
          <p:spPr bwMode="auto">
            <a:xfrm>
              <a:off x="1216" y="2408"/>
              <a:ext cx="4" cy="3"/>
            </a:xfrm>
            <a:prstGeom prst="rect">
              <a:avLst/>
            </a:prstGeom>
            <a:solidFill>
              <a:srgbClr val="000000"/>
            </a:solidFill>
            <a:ln w="9525">
              <a:noFill/>
              <a:miter lim="800000"/>
              <a:headEnd/>
              <a:tailEnd/>
            </a:ln>
          </p:spPr>
          <p:txBody>
            <a:bodyPr wrap="none" anchor="ctr"/>
            <a:lstStyle/>
            <a:p>
              <a:endParaRPr lang="tr-TR"/>
            </a:p>
          </p:txBody>
        </p:sp>
        <p:sp>
          <p:nvSpPr>
            <p:cNvPr id="163" name="Rectangle 162"/>
            <p:cNvSpPr>
              <a:spLocks noChangeArrowheads="1"/>
            </p:cNvSpPr>
            <p:nvPr/>
          </p:nvSpPr>
          <p:spPr bwMode="auto">
            <a:xfrm>
              <a:off x="1220" y="2408"/>
              <a:ext cx="905" cy="3"/>
            </a:xfrm>
            <a:prstGeom prst="rect">
              <a:avLst/>
            </a:prstGeom>
            <a:solidFill>
              <a:srgbClr val="000000"/>
            </a:solidFill>
            <a:ln w="9525">
              <a:noFill/>
              <a:miter lim="800000"/>
              <a:headEnd/>
              <a:tailEnd/>
            </a:ln>
          </p:spPr>
          <p:txBody>
            <a:bodyPr wrap="none" anchor="ctr"/>
            <a:lstStyle/>
            <a:p>
              <a:endParaRPr lang="tr-TR"/>
            </a:p>
          </p:txBody>
        </p:sp>
        <p:sp>
          <p:nvSpPr>
            <p:cNvPr id="164" name="Rectangle 163"/>
            <p:cNvSpPr>
              <a:spLocks noChangeArrowheads="1"/>
            </p:cNvSpPr>
            <p:nvPr/>
          </p:nvSpPr>
          <p:spPr bwMode="auto">
            <a:xfrm>
              <a:off x="2125" y="2408"/>
              <a:ext cx="4" cy="3"/>
            </a:xfrm>
            <a:prstGeom prst="rect">
              <a:avLst/>
            </a:prstGeom>
            <a:solidFill>
              <a:srgbClr val="000000"/>
            </a:solidFill>
            <a:ln w="9525">
              <a:noFill/>
              <a:miter lim="800000"/>
              <a:headEnd/>
              <a:tailEnd/>
            </a:ln>
          </p:spPr>
          <p:txBody>
            <a:bodyPr wrap="none" anchor="ctr"/>
            <a:lstStyle/>
            <a:p>
              <a:endParaRPr lang="tr-TR"/>
            </a:p>
          </p:txBody>
        </p:sp>
        <p:sp>
          <p:nvSpPr>
            <p:cNvPr id="165" name="Rectangle 164"/>
            <p:cNvSpPr>
              <a:spLocks noChangeArrowheads="1"/>
            </p:cNvSpPr>
            <p:nvPr/>
          </p:nvSpPr>
          <p:spPr bwMode="auto">
            <a:xfrm>
              <a:off x="2129" y="2408"/>
              <a:ext cx="743" cy="3"/>
            </a:xfrm>
            <a:prstGeom prst="rect">
              <a:avLst/>
            </a:prstGeom>
            <a:solidFill>
              <a:srgbClr val="000000"/>
            </a:solidFill>
            <a:ln w="9525">
              <a:noFill/>
              <a:miter lim="800000"/>
              <a:headEnd/>
              <a:tailEnd/>
            </a:ln>
          </p:spPr>
          <p:txBody>
            <a:bodyPr wrap="none" anchor="ctr"/>
            <a:lstStyle/>
            <a:p>
              <a:endParaRPr lang="tr-TR"/>
            </a:p>
          </p:txBody>
        </p:sp>
        <p:sp>
          <p:nvSpPr>
            <p:cNvPr id="166" name="Rectangle 165"/>
            <p:cNvSpPr>
              <a:spLocks noChangeArrowheads="1"/>
            </p:cNvSpPr>
            <p:nvPr/>
          </p:nvSpPr>
          <p:spPr bwMode="auto">
            <a:xfrm>
              <a:off x="2872" y="2408"/>
              <a:ext cx="4" cy="3"/>
            </a:xfrm>
            <a:prstGeom prst="rect">
              <a:avLst/>
            </a:prstGeom>
            <a:solidFill>
              <a:srgbClr val="000000"/>
            </a:solidFill>
            <a:ln w="9525">
              <a:noFill/>
              <a:miter lim="800000"/>
              <a:headEnd/>
              <a:tailEnd/>
            </a:ln>
          </p:spPr>
          <p:txBody>
            <a:bodyPr wrap="none" anchor="ctr"/>
            <a:lstStyle/>
            <a:p>
              <a:endParaRPr lang="tr-TR"/>
            </a:p>
          </p:txBody>
        </p:sp>
        <p:sp>
          <p:nvSpPr>
            <p:cNvPr id="167" name="Rectangle 166"/>
            <p:cNvSpPr>
              <a:spLocks noChangeArrowheads="1"/>
            </p:cNvSpPr>
            <p:nvPr/>
          </p:nvSpPr>
          <p:spPr bwMode="auto">
            <a:xfrm>
              <a:off x="2876" y="2408"/>
              <a:ext cx="617" cy="3"/>
            </a:xfrm>
            <a:prstGeom prst="rect">
              <a:avLst/>
            </a:prstGeom>
            <a:solidFill>
              <a:srgbClr val="000000"/>
            </a:solidFill>
            <a:ln w="9525">
              <a:noFill/>
              <a:miter lim="800000"/>
              <a:headEnd/>
              <a:tailEnd/>
            </a:ln>
          </p:spPr>
          <p:txBody>
            <a:bodyPr wrap="none" anchor="ctr"/>
            <a:lstStyle/>
            <a:p>
              <a:endParaRPr lang="tr-TR"/>
            </a:p>
          </p:txBody>
        </p:sp>
        <p:sp>
          <p:nvSpPr>
            <p:cNvPr id="168" name="Rectangle 167"/>
            <p:cNvSpPr>
              <a:spLocks noChangeArrowheads="1"/>
            </p:cNvSpPr>
            <p:nvPr/>
          </p:nvSpPr>
          <p:spPr bwMode="auto">
            <a:xfrm>
              <a:off x="3493" y="2408"/>
              <a:ext cx="4" cy="3"/>
            </a:xfrm>
            <a:prstGeom prst="rect">
              <a:avLst/>
            </a:prstGeom>
            <a:solidFill>
              <a:srgbClr val="000000"/>
            </a:solidFill>
            <a:ln w="9525">
              <a:noFill/>
              <a:miter lim="800000"/>
              <a:headEnd/>
              <a:tailEnd/>
            </a:ln>
          </p:spPr>
          <p:txBody>
            <a:bodyPr wrap="none" anchor="ctr"/>
            <a:lstStyle/>
            <a:p>
              <a:endParaRPr lang="tr-TR"/>
            </a:p>
          </p:txBody>
        </p:sp>
        <p:sp>
          <p:nvSpPr>
            <p:cNvPr id="169" name="Rectangle 168"/>
            <p:cNvSpPr>
              <a:spLocks noChangeArrowheads="1"/>
            </p:cNvSpPr>
            <p:nvPr/>
          </p:nvSpPr>
          <p:spPr bwMode="auto">
            <a:xfrm>
              <a:off x="3497" y="2408"/>
              <a:ext cx="732" cy="3"/>
            </a:xfrm>
            <a:prstGeom prst="rect">
              <a:avLst/>
            </a:prstGeom>
            <a:solidFill>
              <a:srgbClr val="000000"/>
            </a:solidFill>
            <a:ln w="9525">
              <a:noFill/>
              <a:miter lim="800000"/>
              <a:headEnd/>
              <a:tailEnd/>
            </a:ln>
          </p:spPr>
          <p:txBody>
            <a:bodyPr wrap="none" anchor="ctr"/>
            <a:lstStyle/>
            <a:p>
              <a:endParaRPr lang="tr-TR"/>
            </a:p>
          </p:txBody>
        </p:sp>
        <p:sp>
          <p:nvSpPr>
            <p:cNvPr id="170" name="Rectangle 169"/>
            <p:cNvSpPr>
              <a:spLocks noChangeArrowheads="1"/>
            </p:cNvSpPr>
            <p:nvPr/>
          </p:nvSpPr>
          <p:spPr bwMode="auto">
            <a:xfrm>
              <a:off x="4229" y="2408"/>
              <a:ext cx="3" cy="3"/>
            </a:xfrm>
            <a:prstGeom prst="rect">
              <a:avLst/>
            </a:prstGeom>
            <a:solidFill>
              <a:srgbClr val="000000"/>
            </a:solidFill>
            <a:ln w="9525">
              <a:noFill/>
              <a:miter lim="800000"/>
              <a:headEnd/>
              <a:tailEnd/>
            </a:ln>
          </p:spPr>
          <p:txBody>
            <a:bodyPr wrap="none" anchor="ctr"/>
            <a:lstStyle/>
            <a:p>
              <a:endParaRPr lang="tr-TR"/>
            </a:p>
          </p:txBody>
        </p:sp>
        <p:sp>
          <p:nvSpPr>
            <p:cNvPr id="171" name="Rectangle 170"/>
            <p:cNvSpPr>
              <a:spLocks noChangeArrowheads="1"/>
            </p:cNvSpPr>
            <p:nvPr/>
          </p:nvSpPr>
          <p:spPr bwMode="auto">
            <a:xfrm>
              <a:off x="4232" y="2408"/>
              <a:ext cx="674" cy="3"/>
            </a:xfrm>
            <a:prstGeom prst="rect">
              <a:avLst/>
            </a:prstGeom>
            <a:solidFill>
              <a:srgbClr val="000000"/>
            </a:solidFill>
            <a:ln w="9525">
              <a:noFill/>
              <a:miter lim="800000"/>
              <a:headEnd/>
              <a:tailEnd/>
            </a:ln>
          </p:spPr>
          <p:txBody>
            <a:bodyPr wrap="none" anchor="ctr"/>
            <a:lstStyle/>
            <a:p>
              <a:endParaRPr lang="tr-TR"/>
            </a:p>
          </p:txBody>
        </p:sp>
        <p:sp>
          <p:nvSpPr>
            <p:cNvPr id="172" name="Rectangle 171"/>
            <p:cNvSpPr>
              <a:spLocks noChangeArrowheads="1"/>
            </p:cNvSpPr>
            <p:nvPr/>
          </p:nvSpPr>
          <p:spPr bwMode="auto">
            <a:xfrm>
              <a:off x="4906" y="2408"/>
              <a:ext cx="4" cy="3"/>
            </a:xfrm>
            <a:prstGeom prst="rect">
              <a:avLst/>
            </a:prstGeom>
            <a:solidFill>
              <a:srgbClr val="000000"/>
            </a:solidFill>
            <a:ln w="9525">
              <a:noFill/>
              <a:miter lim="800000"/>
              <a:headEnd/>
              <a:tailEnd/>
            </a:ln>
          </p:spPr>
          <p:txBody>
            <a:bodyPr wrap="none" anchor="ctr"/>
            <a:lstStyle/>
            <a:p>
              <a:endParaRPr lang="tr-TR"/>
            </a:p>
          </p:txBody>
        </p:sp>
        <p:sp>
          <p:nvSpPr>
            <p:cNvPr id="173" name="Rectangle 172"/>
            <p:cNvSpPr>
              <a:spLocks noChangeArrowheads="1"/>
            </p:cNvSpPr>
            <p:nvPr/>
          </p:nvSpPr>
          <p:spPr bwMode="auto">
            <a:xfrm>
              <a:off x="4910" y="2408"/>
              <a:ext cx="674" cy="3"/>
            </a:xfrm>
            <a:prstGeom prst="rect">
              <a:avLst/>
            </a:prstGeom>
            <a:solidFill>
              <a:srgbClr val="000000"/>
            </a:solidFill>
            <a:ln w="9525">
              <a:noFill/>
              <a:miter lim="800000"/>
              <a:headEnd/>
              <a:tailEnd/>
            </a:ln>
          </p:spPr>
          <p:txBody>
            <a:bodyPr wrap="none" anchor="ctr"/>
            <a:lstStyle/>
            <a:p>
              <a:endParaRPr lang="tr-TR"/>
            </a:p>
          </p:txBody>
        </p:sp>
        <p:sp>
          <p:nvSpPr>
            <p:cNvPr id="174" name="Rectangle 173"/>
            <p:cNvSpPr>
              <a:spLocks noChangeArrowheads="1"/>
            </p:cNvSpPr>
            <p:nvPr/>
          </p:nvSpPr>
          <p:spPr bwMode="auto">
            <a:xfrm>
              <a:off x="5584" y="2408"/>
              <a:ext cx="4" cy="3"/>
            </a:xfrm>
            <a:prstGeom prst="rect">
              <a:avLst/>
            </a:prstGeom>
            <a:solidFill>
              <a:srgbClr val="000000"/>
            </a:solidFill>
            <a:ln w="9525">
              <a:noFill/>
              <a:miter lim="800000"/>
              <a:headEnd/>
              <a:tailEnd/>
            </a:ln>
          </p:spPr>
          <p:txBody>
            <a:bodyPr wrap="none" anchor="ctr"/>
            <a:lstStyle/>
            <a:p>
              <a:endParaRPr lang="tr-TR"/>
            </a:p>
          </p:txBody>
        </p:sp>
        <p:sp>
          <p:nvSpPr>
            <p:cNvPr id="175" name="Rectangle 174"/>
            <p:cNvSpPr>
              <a:spLocks noChangeArrowheads="1"/>
            </p:cNvSpPr>
            <p:nvPr/>
          </p:nvSpPr>
          <p:spPr bwMode="auto">
            <a:xfrm>
              <a:off x="1216" y="2411"/>
              <a:ext cx="4" cy="275"/>
            </a:xfrm>
            <a:prstGeom prst="rect">
              <a:avLst/>
            </a:prstGeom>
            <a:solidFill>
              <a:srgbClr val="000000"/>
            </a:solidFill>
            <a:ln w="9525">
              <a:noFill/>
              <a:miter lim="800000"/>
              <a:headEnd/>
              <a:tailEnd/>
            </a:ln>
          </p:spPr>
          <p:txBody>
            <a:bodyPr wrap="none" anchor="ctr"/>
            <a:lstStyle/>
            <a:p>
              <a:endParaRPr lang="tr-TR"/>
            </a:p>
          </p:txBody>
        </p:sp>
        <p:sp>
          <p:nvSpPr>
            <p:cNvPr id="176" name="Rectangle 175"/>
            <p:cNvSpPr>
              <a:spLocks noChangeArrowheads="1"/>
            </p:cNvSpPr>
            <p:nvPr/>
          </p:nvSpPr>
          <p:spPr bwMode="auto">
            <a:xfrm>
              <a:off x="2125" y="2411"/>
              <a:ext cx="4" cy="275"/>
            </a:xfrm>
            <a:prstGeom prst="rect">
              <a:avLst/>
            </a:prstGeom>
            <a:solidFill>
              <a:srgbClr val="000000"/>
            </a:solidFill>
            <a:ln w="9525">
              <a:noFill/>
              <a:miter lim="800000"/>
              <a:headEnd/>
              <a:tailEnd/>
            </a:ln>
          </p:spPr>
          <p:txBody>
            <a:bodyPr wrap="none" anchor="ctr"/>
            <a:lstStyle/>
            <a:p>
              <a:endParaRPr lang="tr-TR"/>
            </a:p>
          </p:txBody>
        </p:sp>
        <p:sp>
          <p:nvSpPr>
            <p:cNvPr id="177" name="Rectangle 176"/>
            <p:cNvSpPr>
              <a:spLocks noChangeArrowheads="1"/>
            </p:cNvSpPr>
            <p:nvPr/>
          </p:nvSpPr>
          <p:spPr bwMode="auto">
            <a:xfrm>
              <a:off x="2872" y="2411"/>
              <a:ext cx="4" cy="275"/>
            </a:xfrm>
            <a:prstGeom prst="rect">
              <a:avLst/>
            </a:prstGeom>
            <a:solidFill>
              <a:srgbClr val="000000"/>
            </a:solidFill>
            <a:ln w="9525">
              <a:noFill/>
              <a:miter lim="800000"/>
              <a:headEnd/>
              <a:tailEnd/>
            </a:ln>
          </p:spPr>
          <p:txBody>
            <a:bodyPr wrap="none" anchor="ctr"/>
            <a:lstStyle/>
            <a:p>
              <a:endParaRPr lang="tr-TR"/>
            </a:p>
          </p:txBody>
        </p:sp>
        <p:sp>
          <p:nvSpPr>
            <p:cNvPr id="178" name="Rectangle 177"/>
            <p:cNvSpPr>
              <a:spLocks noChangeArrowheads="1"/>
            </p:cNvSpPr>
            <p:nvPr/>
          </p:nvSpPr>
          <p:spPr bwMode="auto">
            <a:xfrm>
              <a:off x="3493" y="2411"/>
              <a:ext cx="4" cy="275"/>
            </a:xfrm>
            <a:prstGeom prst="rect">
              <a:avLst/>
            </a:prstGeom>
            <a:solidFill>
              <a:srgbClr val="000000"/>
            </a:solidFill>
            <a:ln w="9525">
              <a:noFill/>
              <a:miter lim="800000"/>
              <a:headEnd/>
              <a:tailEnd/>
            </a:ln>
          </p:spPr>
          <p:txBody>
            <a:bodyPr wrap="none" anchor="ctr"/>
            <a:lstStyle/>
            <a:p>
              <a:endParaRPr lang="tr-TR"/>
            </a:p>
          </p:txBody>
        </p:sp>
        <p:sp>
          <p:nvSpPr>
            <p:cNvPr id="179" name="Rectangle 178"/>
            <p:cNvSpPr>
              <a:spLocks noChangeArrowheads="1"/>
            </p:cNvSpPr>
            <p:nvPr/>
          </p:nvSpPr>
          <p:spPr bwMode="auto">
            <a:xfrm>
              <a:off x="4229" y="2411"/>
              <a:ext cx="3" cy="275"/>
            </a:xfrm>
            <a:prstGeom prst="rect">
              <a:avLst/>
            </a:prstGeom>
            <a:solidFill>
              <a:srgbClr val="000000"/>
            </a:solidFill>
            <a:ln w="9525">
              <a:noFill/>
              <a:miter lim="800000"/>
              <a:headEnd/>
              <a:tailEnd/>
            </a:ln>
          </p:spPr>
          <p:txBody>
            <a:bodyPr wrap="none" anchor="ctr"/>
            <a:lstStyle/>
            <a:p>
              <a:endParaRPr lang="tr-TR"/>
            </a:p>
          </p:txBody>
        </p:sp>
        <p:sp>
          <p:nvSpPr>
            <p:cNvPr id="180" name="Rectangle 179"/>
            <p:cNvSpPr>
              <a:spLocks noChangeArrowheads="1"/>
            </p:cNvSpPr>
            <p:nvPr/>
          </p:nvSpPr>
          <p:spPr bwMode="auto">
            <a:xfrm>
              <a:off x="4906" y="2411"/>
              <a:ext cx="4" cy="275"/>
            </a:xfrm>
            <a:prstGeom prst="rect">
              <a:avLst/>
            </a:prstGeom>
            <a:solidFill>
              <a:srgbClr val="000000"/>
            </a:solidFill>
            <a:ln w="9525">
              <a:noFill/>
              <a:miter lim="800000"/>
              <a:headEnd/>
              <a:tailEnd/>
            </a:ln>
          </p:spPr>
          <p:txBody>
            <a:bodyPr wrap="none" anchor="ctr"/>
            <a:lstStyle/>
            <a:p>
              <a:endParaRPr lang="tr-TR"/>
            </a:p>
          </p:txBody>
        </p:sp>
        <p:sp>
          <p:nvSpPr>
            <p:cNvPr id="181" name="Rectangle 180"/>
            <p:cNvSpPr>
              <a:spLocks noChangeArrowheads="1"/>
            </p:cNvSpPr>
            <p:nvPr/>
          </p:nvSpPr>
          <p:spPr bwMode="auto">
            <a:xfrm>
              <a:off x="5584" y="2411"/>
              <a:ext cx="4" cy="275"/>
            </a:xfrm>
            <a:prstGeom prst="rect">
              <a:avLst/>
            </a:prstGeom>
            <a:solidFill>
              <a:srgbClr val="000000"/>
            </a:solidFill>
            <a:ln w="9525">
              <a:noFill/>
              <a:miter lim="800000"/>
              <a:headEnd/>
              <a:tailEnd/>
            </a:ln>
          </p:spPr>
          <p:txBody>
            <a:bodyPr wrap="none" anchor="ctr"/>
            <a:lstStyle/>
            <a:p>
              <a:endParaRPr lang="tr-TR"/>
            </a:p>
          </p:txBody>
        </p:sp>
        <p:sp>
          <p:nvSpPr>
            <p:cNvPr id="182" name="Rectangle 181"/>
            <p:cNvSpPr>
              <a:spLocks noChangeArrowheads="1"/>
            </p:cNvSpPr>
            <p:nvPr/>
          </p:nvSpPr>
          <p:spPr bwMode="auto">
            <a:xfrm>
              <a:off x="1245" y="2736"/>
              <a:ext cx="433"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6.Saat</a:t>
              </a:r>
            </a:p>
          </p:txBody>
        </p:sp>
        <p:sp>
          <p:nvSpPr>
            <p:cNvPr id="183" name="Rectangle 182"/>
            <p:cNvSpPr>
              <a:spLocks noChangeArrowheads="1"/>
            </p:cNvSpPr>
            <p:nvPr/>
          </p:nvSpPr>
          <p:spPr bwMode="auto">
            <a:xfrm>
              <a:off x="2304" y="2736"/>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6.545</a:t>
              </a:r>
            </a:p>
          </p:txBody>
        </p:sp>
        <p:sp>
          <p:nvSpPr>
            <p:cNvPr id="184" name="Rectangle 183"/>
            <p:cNvSpPr>
              <a:spLocks noChangeArrowheads="1"/>
            </p:cNvSpPr>
            <p:nvPr/>
          </p:nvSpPr>
          <p:spPr bwMode="auto">
            <a:xfrm>
              <a:off x="2989" y="2736"/>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4.882</a:t>
              </a:r>
            </a:p>
          </p:txBody>
        </p:sp>
        <p:sp>
          <p:nvSpPr>
            <p:cNvPr id="185" name="Rectangle 184"/>
            <p:cNvSpPr>
              <a:spLocks noChangeArrowheads="1"/>
            </p:cNvSpPr>
            <p:nvPr/>
          </p:nvSpPr>
          <p:spPr bwMode="auto">
            <a:xfrm>
              <a:off x="3664" y="2736"/>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4.587</a:t>
              </a:r>
            </a:p>
          </p:txBody>
        </p:sp>
        <p:sp>
          <p:nvSpPr>
            <p:cNvPr id="186" name="Rectangle 185"/>
            <p:cNvSpPr>
              <a:spLocks noChangeArrowheads="1"/>
            </p:cNvSpPr>
            <p:nvPr/>
          </p:nvSpPr>
          <p:spPr bwMode="auto">
            <a:xfrm>
              <a:off x="4371" y="2736"/>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4.146</a:t>
              </a:r>
            </a:p>
          </p:txBody>
        </p:sp>
        <p:sp>
          <p:nvSpPr>
            <p:cNvPr id="187" name="Rectangle 186"/>
            <p:cNvSpPr>
              <a:spLocks noChangeArrowheads="1"/>
            </p:cNvSpPr>
            <p:nvPr/>
          </p:nvSpPr>
          <p:spPr bwMode="auto">
            <a:xfrm>
              <a:off x="5049" y="2736"/>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3.355</a:t>
              </a:r>
            </a:p>
          </p:txBody>
        </p:sp>
        <p:sp>
          <p:nvSpPr>
            <p:cNvPr id="188" name="Rectangle 187"/>
            <p:cNvSpPr>
              <a:spLocks noChangeArrowheads="1"/>
            </p:cNvSpPr>
            <p:nvPr/>
          </p:nvSpPr>
          <p:spPr bwMode="auto">
            <a:xfrm>
              <a:off x="1216" y="2684"/>
              <a:ext cx="4" cy="4"/>
            </a:xfrm>
            <a:prstGeom prst="rect">
              <a:avLst/>
            </a:prstGeom>
            <a:solidFill>
              <a:srgbClr val="000000"/>
            </a:solidFill>
            <a:ln w="9525">
              <a:noFill/>
              <a:miter lim="800000"/>
              <a:headEnd/>
              <a:tailEnd/>
            </a:ln>
          </p:spPr>
          <p:txBody>
            <a:bodyPr wrap="none" anchor="ctr"/>
            <a:lstStyle/>
            <a:p>
              <a:endParaRPr lang="tr-TR"/>
            </a:p>
          </p:txBody>
        </p:sp>
        <p:sp>
          <p:nvSpPr>
            <p:cNvPr id="189" name="Rectangle 188"/>
            <p:cNvSpPr>
              <a:spLocks noChangeArrowheads="1"/>
            </p:cNvSpPr>
            <p:nvPr/>
          </p:nvSpPr>
          <p:spPr bwMode="auto">
            <a:xfrm>
              <a:off x="1220" y="2684"/>
              <a:ext cx="905" cy="4"/>
            </a:xfrm>
            <a:prstGeom prst="rect">
              <a:avLst/>
            </a:prstGeom>
            <a:solidFill>
              <a:srgbClr val="000000"/>
            </a:solidFill>
            <a:ln w="9525">
              <a:noFill/>
              <a:miter lim="800000"/>
              <a:headEnd/>
              <a:tailEnd/>
            </a:ln>
          </p:spPr>
          <p:txBody>
            <a:bodyPr wrap="none" anchor="ctr"/>
            <a:lstStyle/>
            <a:p>
              <a:endParaRPr lang="tr-TR"/>
            </a:p>
          </p:txBody>
        </p:sp>
        <p:sp>
          <p:nvSpPr>
            <p:cNvPr id="190" name="Rectangle 189"/>
            <p:cNvSpPr>
              <a:spLocks noChangeArrowheads="1"/>
            </p:cNvSpPr>
            <p:nvPr/>
          </p:nvSpPr>
          <p:spPr bwMode="auto">
            <a:xfrm>
              <a:off x="2125" y="2684"/>
              <a:ext cx="4" cy="4"/>
            </a:xfrm>
            <a:prstGeom prst="rect">
              <a:avLst/>
            </a:prstGeom>
            <a:solidFill>
              <a:srgbClr val="000000"/>
            </a:solidFill>
            <a:ln w="9525">
              <a:noFill/>
              <a:miter lim="800000"/>
              <a:headEnd/>
              <a:tailEnd/>
            </a:ln>
          </p:spPr>
          <p:txBody>
            <a:bodyPr wrap="none" anchor="ctr"/>
            <a:lstStyle/>
            <a:p>
              <a:endParaRPr lang="tr-TR"/>
            </a:p>
          </p:txBody>
        </p:sp>
        <p:sp>
          <p:nvSpPr>
            <p:cNvPr id="191" name="Rectangle 190"/>
            <p:cNvSpPr>
              <a:spLocks noChangeArrowheads="1"/>
            </p:cNvSpPr>
            <p:nvPr/>
          </p:nvSpPr>
          <p:spPr bwMode="auto">
            <a:xfrm>
              <a:off x="2129" y="2684"/>
              <a:ext cx="743" cy="4"/>
            </a:xfrm>
            <a:prstGeom prst="rect">
              <a:avLst/>
            </a:prstGeom>
            <a:solidFill>
              <a:srgbClr val="000000"/>
            </a:solidFill>
            <a:ln w="9525">
              <a:noFill/>
              <a:miter lim="800000"/>
              <a:headEnd/>
              <a:tailEnd/>
            </a:ln>
          </p:spPr>
          <p:txBody>
            <a:bodyPr wrap="none" anchor="ctr"/>
            <a:lstStyle/>
            <a:p>
              <a:endParaRPr lang="tr-TR"/>
            </a:p>
          </p:txBody>
        </p:sp>
        <p:sp>
          <p:nvSpPr>
            <p:cNvPr id="192" name="Rectangle 191"/>
            <p:cNvSpPr>
              <a:spLocks noChangeArrowheads="1"/>
            </p:cNvSpPr>
            <p:nvPr/>
          </p:nvSpPr>
          <p:spPr bwMode="auto">
            <a:xfrm>
              <a:off x="2872" y="2684"/>
              <a:ext cx="4" cy="4"/>
            </a:xfrm>
            <a:prstGeom prst="rect">
              <a:avLst/>
            </a:prstGeom>
            <a:solidFill>
              <a:srgbClr val="000000"/>
            </a:solidFill>
            <a:ln w="9525">
              <a:noFill/>
              <a:miter lim="800000"/>
              <a:headEnd/>
              <a:tailEnd/>
            </a:ln>
          </p:spPr>
          <p:txBody>
            <a:bodyPr wrap="none" anchor="ctr"/>
            <a:lstStyle/>
            <a:p>
              <a:endParaRPr lang="tr-TR"/>
            </a:p>
          </p:txBody>
        </p:sp>
        <p:sp>
          <p:nvSpPr>
            <p:cNvPr id="193" name="Rectangle 192"/>
            <p:cNvSpPr>
              <a:spLocks noChangeArrowheads="1"/>
            </p:cNvSpPr>
            <p:nvPr/>
          </p:nvSpPr>
          <p:spPr bwMode="auto">
            <a:xfrm>
              <a:off x="2876" y="2684"/>
              <a:ext cx="617" cy="4"/>
            </a:xfrm>
            <a:prstGeom prst="rect">
              <a:avLst/>
            </a:prstGeom>
            <a:solidFill>
              <a:srgbClr val="000000"/>
            </a:solidFill>
            <a:ln w="9525">
              <a:noFill/>
              <a:miter lim="800000"/>
              <a:headEnd/>
              <a:tailEnd/>
            </a:ln>
          </p:spPr>
          <p:txBody>
            <a:bodyPr wrap="none" anchor="ctr"/>
            <a:lstStyle/>
            <a:p>
              <a:endParaRPr lang="tr-TR"/>
            </a:p>
          </p:txBody>
        </p:sp>
        <p:sp>
          <p:nvSpPr>
            <p:cNvPr id="194" name="Rectangle 193"/>
            <p:cNvSpPr>
              <a:spLocks noChangeArrowheads="1"/>
            </p:cNvSpPr>
            <p:nvPr/>
          </p:nvSpPr>
          <p:spPr bwMode="auto">
            <a:xfrm>
              <a:off x="3493" y="2684"/>
              <a:ext cx="4" cy="4"/>
            </a:xfrm>
            <a:prstGeom prst="rect">
              <a:avLst/>
            </a:prstGeom>
            <a:solidFill>
              <a:srgbClr val="000000"/>
            </a:solidFill>
            <a:ln w="9525">
              <a:noFill/>
              <a:miter lim="800000"/>
              <a:headEnd/>
              <a:tailEnd/>
            </a:ln>
          </p:spPr>
          <p:txBody>
            <a:bodyPr wrap="none" anchor="ctr"/>
            <a:lstStyle/>
            <a:p>
              <a:endParaRPr lang="tr-TR"/>
            </a:p>
          </p:txBody>
        </p:sp>
        <p:sp>
          <p:nvSpPr>
            <p:cNvPr id="195" name="Rectangle 194"/>
            <p:cNvSpPr>
              <a:spLocks noChangeArrowheads="1"/>
            </p:cNvSpPr>
            <p:nvPr/>
          </p:nvSpPr>
          <p:spPr bwMode="auto">
            <a:xfrm>
              <a:off x="3497" y="2684"/>
              <a:ext cx="732" cy="4"/>
            </a:xfrm>
            <a:prstGeom prst="rect">
              <a:avLst/>
            </a:prstGeom>
            <a:solidFill>
              <a:srgbClr val="000000"/>
            </a:solidFill>
            <a:ln w="9525">
              <a:noFill/>
              <a:miter lim="800000"/>
              <a:headEnd/>
              <a:tailEnd/>
            </a:ln>
          </p:spPr>
          <p:txBody>
            <a:bodyPr wrap="none" anchor="ctr"/>
            <a:lstStyle/>
            <a:p>
              <a:endParaRPr lang="tr-TR"/>
            </a:p>
          </p:txBody>
        </p:sp>
        <p:sp>
          <p:nvSpPr>
            <p:cNvPr id="196" name="Rectangle 195"/>
            <p:cNvSpPr>
              <a:spLocks noChangeArrowheads="1"/>
            </p:cNvSpPr>
            <p:nvPr/>
          </p:nvSpPr>
          <p:spPr bwMode="auto">
            <a:xfrm>
              <a:off x="4229" y="2684"/>
              <a:ext cx="3" cy="4"/>
            </a:xfrm>
            <a:prstGeom prst="rect">
              <a:avLst/>
            </a:prstGeom>
            <a:solidFill>
              <a:srgbClr val="000000"/>
            </a:solidFill>
            <a:ln w="9525">
              <a:noFill/>
              <a:miter lim="800000"/>
              <a:headEnd/>
              <a:tailEnd/>
            </a:ln>
          </p:spPr>
          <p:txBody>
            <a:bodyPr wrap="none" anchor="ctr"/>
            <a:lstStyle/>
            <a:p>
              <a:endParaRPr lang="tr-TR"/>
            </a:p>
          </p:txBody>
        </p:sp>
        <p:sp>
          <p:nvSpPr>
            <p:cNvPr id="197" name="Rectangle 196"/>
            <p:cNvSpPr>
              <a:spLocks noChangeArrowheads="1"/>
            </p:cNvSpPr>
            <p:nvPr/>
          </p:nvSpPr>
          <p:spPr bwMode="auto">
            <a:xfrm>
              <a:off x="4232" y="2684"/>
              <a:ext cx="674" cy="4"/>
            </a:xfrm>
            <a:prstGeom prst="rect">
              <a:avLst/>
            </a:prstGeom>
            <a:solidFill>
              <a:srgbClr val="000000"/>
            </a:solidFill>
            <a:ln w="9525">
              <a:noFill/>
              <a:miter lim="800000"/>
              <a:headEnd/>
              <a:tailEnd/>
            </a:ln>
          </p:spPr>
          <p:txBody>
            <a:bodyPr wrap="none" anchor="ctr"/>
            <a:lstStyle/>
            <a:p>
              <a:endParaRPr lang="tr-TR"/>
            </a:p>
          </p:txBody>
        </p:sp>
        <p:sp>
          <p:nvSpPr>
            <p:cNvPr id="198" name="Rectangle 197"/>
            <p:cNvSpPr>
              <a:spLocks noChangeArrowheads="1"/>
            </p:cNvSpPr>
            <p:nvPr/>
          </p:nvSpPr>
          <p:spPr bwMode="auto">
            <a:xfrm>
              <a:off x="4906" y="2684"/>
              <a:ext cx="4" cy="4"/>
            </a:xfrm>
            <a:prstGeom prst="rect">
              <a:avLst/>
            </a:prstGeom>
            <a:solidFill>
              <a:srgbClr val="000000"/>
            </a:solidFill>
            <a:ln w="9525">
              <a:noFill/>
              <a:miter lim="800000"/>
              <a:headEnd/>
              <a:tailEnd/>
            </a:ln>
          </p:spPr>
          <p:txBody>
            <a:bodyPr wrap="none" anchor="ctr"/>
            <a:lstStyle/>
            <a:p>
              <a:endParaRPr lang="tr-TR"/>
            </a:p>
          </p:txBody>
        </p:sp>
        <p:sp>
          <p:nvSpPr>
            <p:cNvPr id="199" name="Rectangle 198"/>
            <p:cNvSpPr>
              <a:spLocks noChangeArrowheads="1"/>
            </p:cNvSpPr>
            <p:nvPr/>
          </p:nvSpPr>
          <p:spPr bwMode="auto">
            <a:xfrm>
              <a:off x="4910" y="2684"/>
              <a:ext cx="674" cy="4"/>
            </a:xfrm>
            <a:prstGeom prst="rect">
              <a:avLst/>
            </a:prstGeom>
            <a:solidFill>
              <a:srgbClr val="000000"/>
            </a:solidFill>
            <a:ln w="9525">
              <a:noFill/>
              <a:miter lim="800000"/>
              <a:headEnd/>
              <a:tailEnd/>
            </a:ln>
          </p:spPr>
          <p:txBody>
            <a:bodyPr wrap="none" anchor="ctr"/>
            <a:lstStyle/>
            <a:p>
              <a:endParaRPr lang="tr-TR"/>
            </a:p>
          </p:txBody>
        </p:sp>
        <p:sp>
          <p:nvSpPr>
            <p:cNvPr id="200" name="Rectangle 199"/>
            <p:cNvSpPr>
              <a:spLocks noChangeArrowheads="1"/>
            </p:cNvSpPr>
            <p:nvPr/>
          </p:nvSpPr>
          <p:spPr bwMode="auto">
            <a:xfrm>
              <a:off x="5584" y="2684"/>
              <a:ext cx="4" cy="4"/>
            </a:xfrm>
            <a:prstGeom prst="rect">
              <a:avLst/>
            </a:prstGeom>
            <a:solidFill>
              <a:srgbClr val="000000"/>
            </a:solidFill>
            <a:ln w="9525">
              <a:noFill/>
              <a:miter lim="800000"/>
              <a:headEnd/>
              <a:tailEnd/>
            </a:ln>
          </p:spPr>
          <p:txBody>
            <a:bodyPr wrap="none" anchor="ctr"/>
            <a:lstStyle/>
            <a:p>
              <a:endParaRPr lang="tr-TR"/>
            </a:p>
          </p:txBody>
        </p:sp>
        <p:sp>
          <p:nvSpPr>
            <p:cNvPr id="201" name="Rectangle 200"/>
            <p:cNvSpPr>
              <a:spLocks noChangeArrowheads="1"/>
            </p:cNvSpPr>
            <p:nvPr/>
          </p:nvSpPr>
          <p:spPr bwMode="auto">
            <a:xfrm>
              <a:off x="1216" y="2688"/>
              <a:ext cx="4" cy="267"/>
            </a:xfrm>
            <a:prstGeom prst="rect">
              <a:avLst/>
            </a:prstGeom>
            <a:solidFill>
              <a:srgbClr val="000000"/>
            </a:solidFill>
            <a:ln w="9525">
              <a:noFill/>
              <a:miter lim="800000"/>
              <a:headEnd/>
              <a:tailEnd/>
            </a:ln>
          </p:spPr>
          <p:txBody>
            <a:bodyPr wrap="none" anchor="ctr"/>
            <a:lstStyle/>
            <a:p>
              <a:endParaRPr lang="tr-TR"/>
            </a:p>
          </p:txBody>
        </p:sp>
        <p:sp>
          <p:nvSpPr>
            <p:cNvPr id="202" name="Rectangle 201"/>
            <p:cNvSpPr>
              <a:spLocks noChangeArrowheads="1"/>
            </p:cNvSpPr>
            <p:nvPr/>
          </p:nvSpPr>
          <p:spPr bwMode="auto">
            <a:xfrm>
              <a:off x="2125" y="2688"/>
              <a:ext cx="4" cy="267"/>
            </a:xfrm>
            <a:prstGeom prst="rect">
              <a:avLst/>
            </a:prstGeom>
            <a:solidFill>
              <a:srgbClr val="000000"/>
            </a:solidFill>
            <a:ln w="9525">
              <a:noFill/>
              <a:miter lim="800000"/>
              <a:headEnd/>
              <a:tailEnd/>
            </a:ln>
          </p:spPr>
          <p:txBody>
            <a:bodyPr wrap="none" anchor="ctr"/>
            <a:lstStyle/>
            <a:p>
              <a:endParaRPr lang="tr-TR"/>
            </a:p>
          </p:txBody>
        </p:sp>
        <p:sp>
          <p:nvSpPr>
            <p:cNvPr id="203" name="Rectangle 202"/>
            <p:cNvSpPr>
              <a:spLocks noChangeArrowheads="1"/>
            </p:cNvSpPr>
            <p:nvPr/>
          </p:nvSpPr>
          <p:spPr bwMode="auto">
            <a:xfrm>
              <a:off x="2872" y="2688"/>
              <a:ext cx="4" cy="267"/>
            </a:xfrm>
            <a:prstGeom prst="rect">
              <a:avLst/>
            </a:prstGeom>
            <a:solidFill>
              <a:srgbClr val="000000"/>
            </a:solidFill>
            <a:ln w="9525">
              <a:noFill/>
              <a:miter lim="800000"/>
              <a:headEnd/>
              <a:tailEnd/>
            </a:ln>
          </p:spPr>
          <p:txBody>
            <a:bodyPr wrap="none" anchor="ctr"/>
            <a:lstStyle/>
            <a:p>
              <a:endParaRPr lang="tr-TR"/>
            </a:p>
          </p:txBody>
        </p:sp>
        <p:sp>
          <p:nvSpPr>
            <p:cNvPr id="204" name="Rectangle 203"/>
            <p:cNvSpPr>
              <a:spLocks noChangeArrowheads="1"/>
            </p:cNvSpPr>
            <p:nvPr/>
          </p:nvSpPr>
          <p:spPr bwMode="auto">
            <a:xfrm>
              <a:off x="3493" y="2688"/>
              <a:ext cx="4" cy="267"/>
            </a:xfrm>
            <a:prstGeom prst="rect">
              <a:avLst/>
            </a:prstGeom>
            <a:solidFill>
              <a:srgbClr val="000000"/>
            </a:solidFill>
            <a:ln w="9525">
              <a:noFill/>
              <a:miter lim="800000"/>
              <a:headEnd/>
              <a:tailEnd/>
            </a:ln>
          </p:spPr>
          <p:txBody>
            <a:bodyPr wrap="none" anchor="ctr"/>
            <a:lstStyle/>
            <a:p>
              <a:endParaRPr lang="tr-TR"/>
            </a:p>
          </p:txBody>
        </p:sp>
        <p:sp>
          <p:nvSpPr>
            <p:cNvPr id="205" name="Rectangle 204"/>
            <p:cNvSpPr>
              <a:spLocks noChangeArrowheads="1"/>
            </p:cNvSpPr>
            <p:nvPr/>
          </p:nvSpPr>
          <p:spPr bwMode="auto">
            <a:xfrm>
              <a:off x="4229" y="2688"/>
              <a:ext cx="3" cy="267"/>
            </a:xfrm>
            <a:prstGeom prst="rect">
              <a:avLst/>
            </a:prstGeom>
            <a:solidFill>
              <a:srgbClr val="000000"/>
            </a:solidFill>
            <a:ln w="9525">
              <a:noFill/>
              <a:miter lim="800000"/>
              <a:headEnd/>
              <a:tailEnd/>
            </a:ln>
          </p:spPr>
          <p:txBody>
            <a:bodyPr wrap="none" anchor="ctr"/>
            <a:lstStyle/>
            <a:p>
              <a:endParaRPr lang="tr-TR"/>
            </a:p>
          </p:txBody>
        </p:sp>
        <p:sp>
          <p:nvSpPr>
            <p:cNvPr id="206" name="Rectangle 205"/>
            <p:cNvSpPr>
              <a:spLocks noChangeArrowheads="1"/>
            </p:cNvSpPr>
            <p:nvPr/>
          </p:nvSpPr>
          <p:spPr bwMode="auto">
            <a:xfrm>
              <a:off x="4906" y="2688"/>
              <a:ext cx="4" cy="267"/>
            </a:xfrm>
            <a:prstGeom prst="rect">
              <a:avLst/>
            </a:prstGeom>
            <a:solidFill>
              <a:srgbClr val="000000"/>
            </a:solidFill>
            <a:ln w="9525">
              <a:noFill/>
              <a:miter lim="800000"/>
              <a:headEnd/>
              <a:tailEnd/>
            </a:ln>
          </p:spPr>
          <p:txBody>
            <a:bodyPr wrap="none" anchor="ctr"/>
            <a:lstStyle/>
            <a:p>
              <a:endParaRPr lang="tr-TR"/>
            </a:p>
          </p:txBody>
        </p:sp>
        <p:sp>
          <p:nvSpPr>
            <p:cNvPr id="207" name="Rectangle 206"/>
            <p:cNvSpPr>
              <a:spLocks noChangeArrowheads="1"/>
            </p:cNvSpPr>
            <p:nvPr/>
          </p:nvSpPr>
          <p:spPr bwMode="auto">
            <a:xfrm>
              <a:off x="1245" y="3013"/>
              <a:ext cx="433"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7.Saat</a:t>
              </a:r>
            </a:p>
          </p:txBody>
        </p:sp>
        <p:sp>
          <p:nvSpPr>
            <p:cNvPr id="208" name="Rectangle 207"/>
            <p:cNvSpPr>
              <a:spLocks noChangeArrowheads="1"/>
            </p:cNvSpPr>
            <p:nvPr/>
          </p:nvSpPr>
          <p:spPr bwMode="auto">
            <a:xfrm>
              <a:off x="2304" y="3013"/>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9.686</a:t>
              </a:r>
            </a:p>
          </p:txBody>
        </p:sp>
        <p:sp>
          <p:nvSpPr>
            <p:cNvPr id="209" name="Rectangle 208"/>
            <p:cNvSpPr>
              <a:spLocks noChangeArrowheads="1"/>
            </p:cNvSpPr>
            <p:nvPr/>
          </p:nvSpPr>
          <p:spPr bwMode="auto">
            <a:xfrm>
              <a:off x="2989" y="3013"/>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7.006</a:t>
              </a:r>
            </a:p>
          </p:txBody>
        </p:sp>
        <p:sp>
          <p:nvSpPr>
            <p:cNvPr id="210" name="Rectangle 209"/>
            <p:cNvSpPr>
              <a:spLocks noChangeArrowheads="1"/>
            </p:cNvSpPr>
            <p:nvPr/>
          </p:nvSpPr>
          <p:spPr bwMode="auto">
            <a:xfrm>
              <a:off x="3664" y="3013"/>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6.100</a:t>
              </a:r>
            </a:p>
          </p:txBody>
        </p:sp>
        <p:sp>
          <p:nvSpPr>
            <p:cNvPr id="211" name="Rectangle 210"/>
            <p:cNvSpPr>
              <a:spLocks noChangeArrowheads="1"/>
            </p:cNvSpPr>
            <p:nvPr/>
          </p:nvSpPr>
          <p:spPr bwMode="auto">
            <a:xfrm>
              <a:off x="4371" y="3013"/>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5.829</a:t>
              </a:r>
            </a:p>
          </p:txBody>
        </p:sp>
        <p:sp>
          <p:nvSpPr>
            <p:cNvPr id="212" name="Rectangle 211"/>
            <p:cNvSpPr>
              <a:spLocks noChangeArrowheads="1"/>
            </p:cNvSpPr>
            <p:nvPr/>
          </p:nvSpPr>
          <p:spPr bwMode="auto">
            <a:xfrm>
              <a:off x="5049" y="3013"/>
              <a:ext cx="37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5.378</a:t>
              </a:r>
            </a:p>
          </p:txBody>
        </p:sp>
        <p:sp>
          <p:nvSpPr>
            <p:cNvPr id="213" name="Rectangle 212"/>
            <p:cNvSpPr>
              <a:spLocks noChangeArrowheads="1"/>
            </p:cNvSpPr>
            <p:nvPr/>
          </p:nvSpPr>
          <p:spPr bwMode="auto">
            <a:xfrm>
              <a:off x="2125" y="2958"/>
              <a:ext cx="4" cy="277"/>
            </a:xfrm>
            <a:prstGeom prst="rect">
              <a:avLst/>
            </a:prstGeom>
            <a:solidFill>
              <a:srgbClr val="000000"/>
            </a:solidFill>
            <a:ln w="9525">
              <a:noFill/>
              <a:miter lim="800000"/>
              <a:headEnd/>
              <a:tailEnd/>
            </a:ln>
          </p:spPr>
          <p:txBody>
            <a:bodyPr wrap="none" anchor="ctr"/>
            <a:lstStyle/>
            <a:p>
              <a:endParaRPr lang="tr-TR"/>
            </a:p>
          </p:txBody>
        </p:sp>
        <p:sp>
          <p:nvSpPr>
            <p:cNvPr id="214" name="Rectangle 213"/>
            <p:cNvSpPr>
              <a:spLocks noChangeArrowheads="1"/>
            </p:cNvSpPr>
            <p:nvPr/>
          </p:nvSpPr>
          <p:spPr bwMode="auto">
            <a:xfrm>
              <a:off x="4906" y="2958"/>
              <a:ext cx="4" cy="277"/>
            </a:xfrm>
            <a:prstGeom prst="rect">
              <a:avLst/>
            </a:prstGeom>
            <a:solidFill>
              <a:srgbClr val="000000"/>
            </a:solidFill>
            <a:ln w="9525">
              <a:noFill/>
              <a:miter lim="800000"/>
              <a:headEnd/>
              <a:tailEnd/>
            </a:ln>
          </p:spPr>
          <p:txBody>
            <a:bodyPr wrap="none" anchor="ctr"/>
            <a:lstStyle/>
            <a:p>
              <a:endParaRPr lang="tr-TR"/>
            </a:p>
          </p:txBody>
        </p:sp>
        <p:sp>
          <p:nvSpPr>
            <p:cNvPr id="215" name="Rectangle 214"/>
            <p:cNvSpPr>
              <a:spLocks noChangeArrowheads="1"/>
            </p:cNvSpPr>
            <p:nvPr/>
          </p:nvSpPr>
          <p:spPr bwMode="auto">
            <a:xfrm>
              <a:off x="1245" y="3265"/>
              <a:ext cx="433"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8.Saat</a:t>
              </a:r>
            </a:p>
          </p:txBody>
        </p:sp>
        <p:sp>
          <p:nvSpPr>
            <p:cNvPr id="216" name="Rectangle 215"/>
            <p:cNvSpPr>
              <a:spLocks noChangeArrowheads="1"/>
            </p:cNvSpPr>
            <p:nvPr/>
          </p:nvSpPr>
          <p:spPr bwMode="auto">
            <a:xfrm>
              <a:off x="2259" y="3265"/>
              <a:ext cx="460" cy="188"/>
            </a:xfrm>
            <a:prstGeom prst="rect">
              <a:avLst/>
            </a:prstGeom>
            <a:solidFill>
              <a:srgbClr val="FFFF66"/>
            </a:solidFill>
            <a:ln w="9525">
              <a:solidFill>
                <a:schemeClr val="tx1"/>
              </a:solidFill>
              <a:miter lim="800000"/>
              <a:headEnd/>
              <a:tailEnd/>
            </a:ln>
          </p:spPr>
          <p:txBody>
            <a:bodyPr wrap="none" lIns="0" tIns="0" rIns="0" bIns="0">
              <a:spAutoFit/>
            </a:bodyPr>
            <a:lstStyle/>
            <a:p>
              <a:pPr algn="ctr" eaLnBrk="0" hangingPunct="0"/>
              <a:r>
                <a:rPr lang="tr-TR" sz="1900" b="1" i="1">
                  <a:solidFill>
                    <a:srgbClr val="9933FF"/>
                  </a:solidFill>
                  <a:latin typeface="Times New Roman" pitchFamily="18" charset="0"/>
                </a:rPr>
                <a:t>11.066</a:t>
              </a:r>
            </a:p>
          </p:txBody>
        </p:sp>
        <p:sp>
          <p:nvSpPr>
            <p:cNvPr id="217" name="Rectangle 216"/>
            <p:cNvSpPr>
              <a:spLocks noChangeArrowheads="1"/>
            </p:cNvSpPr>
            <p:nvPr/>
          </p:nvSpPr>
          <p:spPr bwMode="auto">
            <a:xfrm>
              <a:off x="2989" y="3265"/>
              <a:ext cx="377" cy="188"/>
            </a:xfrm>
            <a:prstGeom prst="rect">
              <a:avLst/>
            </a:prstGeom>
            <a:solidFill>
              <a:srgbClr val="FFFF66"/>
            </a:solidFill>
            <a:ln w="9525">
              <a:solidFill>
                <a:schemeClr val="tx1"/>
              </a:solidFill>
              <a:miter lim="800000"/>
              <a:headEnd/>
              <a:tailEnd/>
            </a:ln>
          </p:spPr>
          <p:txBody>
            <a:bodyPr wrap="none" lIns="0" tIns="0" rIns="0" bIns="0">
              <a:spAutoFit/>
            </a:bodyPr>
            <a:lstStyle/>
            <a:p>
              <a:pPr algn="ctr" eaLnBrk="0" hangingPunct="0"/>
              <a:r>
                <a:rPr lang="tr-TR" sz="1900" b="1" i="1">
                  <a:solidFill>
                    <a:srgbClr val="9933FF"/>
                  </a:solidFill>
                  <a:latin typeface="Times New Roman" pitchFamily="18" charset="0"/>
                </a:rPr>
                <a:t>9.676</a:t>
              </a:r>
            </a:p>
          </p:txBody>
        </p:sp>
        <p:sp>
          <p:nvSpPr>
            <p:cNvPr id="218" name="Rectangle 217"/>
            <p:cNvSpPr>
              <a:spLocks noChangeArrowheads="1"/>
            </p:cNvSpPr>
            <p:nvPr/>
          </p:nvSpPr>
          <p:spPr bwMode="auto">
            <a:xfrm>
              <a:off x="3664" y="3265"/>
              <a:ext cx="377" cy="188"/>
            </a:xfrm>
            <a:prstGeom prst="rect">
              <a:avLst/>
            </a:prstGeom>
            <a:solidFill>
              <a:srgbClr val="FFFF66"/>
            </a:solidFill>
            <a:ln w="9525">
              <a:solidFill>
                <a:schemeClr val="tx1"/>
              </a:solidFill>
              <a:miter lim="800000"/>
              <a:headEnd/>
              <a:tailEnd/>
            </a:ln>
          </p:spPr>
          <p:txBody>
            <a:bodyPr wrap="none" lIns="0" tIns="0" rIns="0" bIns="0">
              <a:spAutoFit/>
            </a:bodyPr>
            <a:lstStyle/>
            <a:p>
              <a:pPr algn="ctr" eaLnBrk="0" hangingPunct="0"/>
              <a:r>
                <a:rPr lang="tr-TR" sz="1900" b="1" i="1">
                  <a:solidFill>
                    <a:srgbClr val="9933FF"/>
                  </a:solidFill>
                  <a:latin typeface="Times New Roman" pitchFamily="18" charset="0"/>
                </a:rPr>
                <a:t>7.741</a:t>
              </a:r>
            </a:p>
          </p:txBody>
        </p:sp>
        <p:sp>
          <p:nvSpPr>
            <p:cNvPr id="219" name="Rectangle 218"/>
            <p:cNvSpPr>
              <a:spLocks noChangeArrowheads="1"/>
            </p:cNvSpPr>
            <p:nvPr/>
          </p:nvSpPr>
          <p:spPr bwMode="auto">
            <a:xfrm>
              <a:off x="4371" y="3265"/>
              <a:ext cx="377" cy="188"/>
            </a:xfrm>
            <a:prstGeom prst="rect">
              <a:avLst/>
            </a:prstGeom>
            <a:solidFill>
              <a:srgbClr val="FFFF66"/>
            </a:solidFill>
            <a:ln w="9525">
              <a:solidFill>
                <a:schemeClr val="tx1"/>
              </a:solidFill>
              <a:miter lim="800000"/>
              <a:headEnd/>
              <a:tailEnd/>
            </a:ln>
          </p:spPr>
          <p:txBody>
            <a:bodyPr wrap="none" lIns="0" tIns="0" rIns="0" bIns="0">
              <a:spAutoFit/>
            </a:bodyPr>
            <a:lstStyle/>
            <a:p>
              <a:pPr algn="ctr" eaLnBrk="0" hangingPunct="0"/>
              <a:r>
                <a:rPr lang="tr-TR" sz="1900" b="1" i="1">
                  <a:solidFill>
                    <a:srgbClr val="9933FF"/>
                  </a:solidFill>
                  <a:latin typeface="Times New Roman" pitchFamily="18" charset="0"/>
                </a:rPr>
                <a:t>7.205</a:t>
              </a:r>
            </a:p>
          </p:txBody>
        </p:sp>
        <p:sp>
          <p:nvSpPr>
            <p:cNvPr id="220" name="Rectangle 219"/>
            <p:cNvSpPr>
              <a:spLocks noChangeArrowheads="1"/>
            </p:cNvSpPr>
            <p:nvPr/>
          </p:nvSpPr>
          <p:spPr bwMode="auto">
            <a:xfrm>
              <a:off x="5049" y="3265"/>
              <a:ext cx="377" cy="188"/>
            </a:xfrm>
            <a:prstGeom prst="rect">
              <a:avLst/>
            </a:prstGeom>
            <a:solidFill>
              <a:srgbClr val="FFFF66"/>
            </a:solidFill>
            <a:ln w="9525">
              <a:solidFill>
                <a:schemeClr val="tx1"/>
              </a:solidFill>
              <a:miter lim="800000"/>
              <a:headEnd/>
              <a:tailEnd/>
            </a:ln>
          </p:spPr>
          <p:txBody>
            <a:bodyPr wrap="none" lIns="0" tIns="0" rIns="0" bIns="0">
              <a:spAutoFit/>
            </a:bodyPr>
            <a:lstStyle/>
            <a:p>
              <a:pPr algn="ctr" eaLnBrk="0" hangingPunct="0"/>
              <a:r>
                <a:rPr lang="tr-TR" sz="1900" b="1" i="1">
                  <a:solidFill>
                    <a:srgbClr val="9933FF"/>
                  </a:solidFill>
                  <a:latin typeface="Times New Roman" pitchFamily="18" charset="0"/>
                </a:rPr>
                <a:t>7.833</a:t>
              </a:r>
            </a:p>
          </p:txBody>
        </p:sp>
        <p:sp>
          <p:nvSpPr>
            <p:cNvPr id="221" name="Rectangle 220"/>
            <p:cNvSpPr>
              <a:spLocks noChangeArrowheads="1"/>
            </p:cNvSpPr>
            <p:nvPr/>
          </p:nvSpPr>
          <p:spPr bwMode="auto">
            <a:xfrm>
              <a:off x="2125" y="3238"/>
              <a:ext cx="4" cy="221"/>
            </a:xfrm>
            <a:prstGeom prst="rect">
              <a:avLst/>
            </a:prstGeom>
            <a:solidFill>
              <a:srgbClr val="000000"/>
            </a:solidFill>
            <a:ln w="9525">
              <a:noFill/>
              <a:miter lim="800000"/>
              <a:headEnd/>
              <a:tailEnd/>
            </a:ln>
          </p:spPr>
          <p:txBody>
            <a:bodyPr wrap="none" anchor="ctr"/>
            <a:lstStyle/>
            <a:p>
              <a:endParaRPr lang="tr-TR"/>
            </a:p>
          </p:txBody>
        </p:sp>
        <p:sp>
          <p:nvSpPr>
            <p:cNvPr id="222" name="Rectangle 221"/>
            <p:cNvSpPr>
              <a:spLocks noChangeArrowheads="1"/>
            </p:cNvSpPr>
            <p:nvPr/>
          </p:nvSpPr>
          <p:spPr bwMode="auto">
            <a:xfrm>
              <a:off x="4906" y="3238"/>
              <a:ext cx="4" cy="221"/>
            </a:xfrm>
            <a:prstGeom prst="rect">
              <a:avLst/>
            </a:prstGeom>
            <a:solidFill>
              <a:srgbClr val="000000"/>
            </a:solidFill>
            <a:ln w="9525">
              <a:noFill/>
              <a:miter lim="800000"/>
              <a:headEnd/>
              <a:tailEnd/>
            </a:ln>
          </p:spPr>
          <p:txBody>
            <a:bodyPr wrap="none" anchor="ctr"/>
            <a:lstStyle/>
            <a:p>
              <a:endParaRPr lang="tr-TR"/>
            </a:p>
          </p:txBody>
        </p:sp>
        <p:sp>
          <p:nvSpPr>
            <p:cNvPr id="223" name="Rectangle 222"/>
            <p:cNvSpPr>
              <a:spLocks noChangeArrowheads="1"/>
            </p:cNvSpPr>
            <p:nvPr/>
          </p:nvSpPr>
          <p:spPr bwMode="auto">
            <a:xfrm>
              <a:off x="1241" y="3509"/>
              <a:ext cx="527"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9.Saat+</a:t>
              </a:r>
            </a:p>
          </p:txBody>
        </p:sp>
        <p:sp>
          <p:nvSpPr>
            <p:cNvPr id="224" name="Rectangle 223"/>
            <p:cNvSpPr>
              <a:spLocks noChangeArrowheads="1"/>
            </p:cNvSpPr>
            <p:nvPr/>
          </p:nvSpPr>
          <p:spPr bwMode="auto">
            <a:xfrm>
              <a:off x="2410" y="3509"/>
              <a:ext cx="171"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44</a:t>
              </a:r>
            </a:p>
          </p:txBody>
        </p:sp>
        <p:sp>
          <p:nvSpPr>
            <p:cNvPr id="225" name="Rectangle 224"/>
            <p:cNvSpPr>
              <a:spLocks noChangeArrowheads="1"/>
            </p:cNvSpPr>
            <p:nvPr/>
          </p:nvSpPr>
          <p:spPr bwMode="auto">
            <a:xfrm>
              <a:off x="3097" y="3509"/>
              <a:ext cx="171"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33</a:t>
              </a:r>
            </a:p>
          </p:txBody>
        </p:sp>
        <p:sp>
          <p:nvSpPr>
            <p:cNvPr id="226" name="Rectangle 225"/>
            <p:cNvSpPr>
              <a:spLocks noChangeArrowheads="1"/>
            </p:cNvSpPr>
            <p:nvPr/>
          </p:nvSpPr>
          <p:spPr bwMode="auto">
            <a:xfrm>
              <a:off x="3772" y="3509"/>
              <a:ext cx="171"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72</a:t>
              </a:r>
            </a:p>
          </p:txBody>
        </p:sp>
        <p:sp>
          <p:nvSpPr>
            <p:cNvPr id="227" name="Rectangle 226"/>
            <p:cNvSpPr>
              <a:spLocks noChangeArrowheads="1"/>
            </p:cNvSpPr>
            <p:nvPr/>
          </p:nvSpPr>
          <p:spPr bwMode="auto">
            <a:xfrm>
              <a:off x="4477" y="3509"/>
              <a:ext cx="172"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17</a:t>
              </a:r>
            </a:p>
          </p:txBody>
        </p:sp>
        <p:sp>
          <p:nvSpPr>
            <p:cNvPr id="228" name="Rectangle 227"/>
            <p:cNvSpPr>
              <a:spLocks noChangeArrowheads="1"/>
            </p:cNvSpPr>
            <p:nvPr/>
          </p:nvSpPr>
          <p:spPr bwMode="auto">
            <a:xfrm>
              <a:off x="5158" y="3509"/>
              <a:ext cx="171" cy="188"/>
            </a:xfrm>
            <a:prstGeom prst="rect">
              <a:avLst/>
            </a:prstGeom>
            <a:noFill/>
            <a:ln w="9525">
              <a:solidFill>
                <a:schemeClr val="tx1"/>
              </a:solid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34</a:t>
              </a:r>
            </a:p>
          </p:txBody>
        </p:sp>
        <p:sp>
          <p:nvSpPr>
            <p:cNvPr id="229" name="Rectangle 228"/>
            <p:cNvSpPr>
              <a:spLocks noChangeArrowheads="1"/>
            </p:cNvSpPr>
            <p:nvPr/>
          </p:nvSpPr>
          <p:spPr bwMode="auto">
            <a:xfrm>
              <a:off x="2125" y="3462"/>
              <a:ext cx="4" cy="262"/>
            </a:xfrm>
            <a:prstGeom prst="rect">
              <a:avLst/>
            </a:prstGeom>
            <a:solidFill>
              <a:srgbClr val="000000"/>
            </a:solidFill>
            <a:ln w="9525">
              <a:noFill/>
              <a:miter lim="800000"/>
              <a:headEnd/>
              <a:tailEnd/>
            </a:ln>
          </p:spPr>
          <p:txBody>
            <a:bodyPr wrap="none" anchor="ctr"/>
            <a:lstStyle/>
            <a:p>
              <a:endParaRPr lang="tr-TR"/>
            </a:p>
          </p:txBody>
        </p:sp>
        <p:sp>
          <p:nvSpPr>
            <p:cNvPr id="230" name="Rectangle 229"/>
            <p:cNvSpPr>
              <a:spLocks noChangeArrowheads="1"/>
            </p:cNvSpPr>
            <p:nvPr/>
          </p:nvSpPr>
          <p:spPr bwMode="auto">
            <a:xfrm>
              <a:off x="4906" y="3462"/>
              <a:ext cx="4" cy="262"/>
            </a:xfrm>
            <a:prstGeom prst="rect">
              <a:avLst/>
            </a:prstGeom>
            <a:solidFill>
              <a:srgbClr val="000000"/>
            </a:solidFill>
            <a:ln w="9525">
              <a:noFill/>
              <a:miter lim="800000"/>
              <a:headEnd/>
              <a:tailEnd/>
            </a:ln>
          </p:spPr>
          <p:txBody>
            <a:bodyPr wrap="none" anchor="ctr"/>
            <a:lstStyle/>
            <a:p>
              <a:endParaRPr lang="tr-TR"/>
            </a:p>
          </p:txBody>
        </p:sp>
        <p:sp>
          <p:nvSpPr>
            <p:cNvPr id="231" name="Rectangle 230"/>
            <p:cNvSpPr>
              <a:spLocks noChangeArrowheads="1"/>
            </p:cNvSpPr>
            <p:nvPr/>
          </p:nvSpPr>
          <p:spPr bwMode="auto">
            <a:xfrm>
              <a:off x="1254" y="3778"/>
              <a:ext cx="677"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FF0000"/>
                  </a:solidFill>
                  <a:latin typeface="Times New Roman" pitchFamily="18" charset="0"/>
                </a:rPr>
                <a:t>TOPLAM</a:t>
              </a:r>
            </a:p>
          </p:txBody>
        </p:sp>
        <p:sp>
          <p:nvSpPr>
            <p:cNvPr id="232" name="Rectangle 231"/>
            <p:cNvSpPr>
              <a:spLocks noChangeArrowheads="1"/>
            </p:cNvSpPr>
            <p:nvPr/>
          </p:nvSpPr>
          <p:spPr bwMode="auto">
            <a:xfrm>
              <a:off x="2219" y="3778"/>
              <a:ext cx="536"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109.563</a:t>
              </a:r>
            </a:p>
          </p:txBody>
        </p:sp>
        <p:sp>
          <p:nvSpPr>
            <p:cNvPr id="233" name="Rectangle 232"/>
            <p:cNvSpPr>
              <a:spLocks noChangeArrowheads="1"/>
            </p:cNvSpPr>
            <p:nvPr/>
          </p:nvSpPr>
          <p:spPr bwMode="auto">
            <a:xfrm>
              <a:off x="2949" y="3778"/>
              <a:ext cx="452"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92.087</a:t>
              </a:r>
            </a:p>
          </p:txBody>
        </p:sp>
        <p:sp>
          <p:nvSpPr>
            <p:cNvPr id="234" name="Rectangle 233"/>
            <p:cNvSpPr>
              <a:spLocks noChangeArrowheads="1"/>
            </p:cNvSpPr>
            <p:nvPr/>
          </p:nvSpPr>
          <p:spPr bwMode="auto">
            <a:xfrm>
              <a:off x="3624" y="3778"/>
              <a:ext cx="452"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87.960</a:t>
              </a:r>
            </a:p>
          </p:txBody>
        </p:sp>
        <p:sp>
          <p:nvSpPr>
            <p:cNvPr id="235" name="Rectangle 234"/>
            <p:cNvSpPr>
              <a:spLocks noChangeArrowheads="1"/>
            </p:cNvSpPr>
            <p:nvPr/>
          </p:nvSpPr>
          <p:spPr bwMode="auto">
            <a:xfrm>
              <a:off x="4330" y="3778"/>
              <a:ext cx="453"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86.807</a:t>
              </a:r>
            </a:p>
          </p:txBody>
        </p:sp>
        <p:sp>
          <p:nvSpPr>
            <p:cNvPr id="236" name="Rectangle 235"/>
            <p:cNvSpPr>
              <a:spLocks noChangeArrowheads="1"/>
            </p:cNvSpPr>
            <p:nvPr/>
          </p:nvSpPr>
          <p:spPr bwMode="auto">
            <a:xfrm>
              <a:off x="5009" y="3778"/>
              <a:ext cx="453" cy="182"/>
            </a:xfrm>
            <a:prstGeom prst="rect">
              <a:avLst/>
            </a:prstGeom>
            <a:noFill/>
            <a:ln w="9525">
              <a:noFill/>
              <a:miter lim="800000"/>
              <a:headEnd/>
              <a:tailEnd/>
            </a:ln>
          </p:spPr>
          <p:txBody>
            <a:bodyPr wrap="none" lIns="0" tIns="0" rIns="0" bIns="0">
              <a:spAutoFit/>
            </a:bodyPr>
            <a:lstStyle/>
            <a:p>
              <a:pPr algn="ctr" eaLnBrk="0" hangingPunct="0"/>
              <a:r>
                <a:rPr lang="tr-TR" sz="1900" b="1" i="1">
                  <a:solidFill>
                    <a:srgbClr val="010000"/>
                  </a:solidFill>
                  <a:latin typeface="Times New Roman" pitchFamily="18" charset="0"/>
                </a:rPr>
                <a:t>77.955</a:t>
              </a:r>
            </a:p>
          </p:txBody>
        </p:sp>
        <p:sp>
          <p:nvSpPr>
            <p:cNvPr id="237" name="Rectangle 236"/>
            <p:cNvSpPr>
              <a:spLocks noChangeArrowheads="1"/>
            </p:cNvSpPr>
            <p:nvPr/>
          </p:nvSpPr>
          <p:spPr bwMode="auto">
            <a:xfrm>
              <a:off x="2125" y="3728"/>
              <a:ext cx="4" cy="270"/>
            </a:xfrm>
            <a:prstGeom prst="rect">
              <a:avLst/>
            </a:prstGeom>
            <a:solidFill>
              <a:srgbClr val="000000"/>
            </a:solidFill>
            <a:ln w="9525">
              <a:noFill/>
              <a:miter lim="800000"/>
              <a:headEnd/>
              <a:tailEnd/>
            </a:ln>
          </p:spPr>
          <p:txBody>
            <a:bodyPr wrap="none" anchor="ctr"/>
            <a:lstStyle/>
            <a:p>
              <a:endParaRPr lang="tr-TR"/>
            </a:p>
          </p:txBody>
        </p:sp>
        <p:sp>
          <p:nvSpPr>
            <p:cNvPr id="238" name="Rectangle 237"/>
            <p:cNvSpPr>
              <a:spLocks noChangeArrowheads="1"/>
            </p:cNvSpPr>
            <p:nvPr/>
          </p:nvSpPr>
          <p:spPr bwMode="auto">
            <a:xfrm>
              <a:off x="4906" y="3728"/>
              <a:ext cx="4" cy="270"/>
            </a:xfrm>
            <a:prstGeom prst="rect">
              <a:avLst/>
            </a:prstGeom>
            <a:solidFill>
              <a:srgbClr val="000000"/>
            </a:solidFill>
            <a:ln w="9525">
              <a:noFill/>
              <a:miter lim="800000"/>
              <a:headEnd/>
              <a:tailEnd/>
            </a:ln>
          </p:spPr>
          <p:txBody>
            <a:bodyPr wrap="none" anchor="ctr"/>
            <a:lstStyle/>
            <a:p>
              <a:endParaRPr lang="tr-TR"/>
            </a:p>
          </p:txBody>
        </p:sp>
        <p:sp>
          <p:nvSpPr>
            <p:cNvPr id="239" name="Rectangle 238"/>
            <p:cNvSpPr>
              <a:spLocks noChangeArrowheads="1"/>
            </p:cNvSpPr>
            <p:nvPr/>
          </p:nvSpPr>
          <p:spPr bwMode="auto">
            <a:xfrm>
              <a:off x="2122" y="1298"/>
              <a:ext cx="3493" cy="2404"/>
            </a:xfrm>
            <a:prstGeom prst="rect">
              <a:avLst/>
            </a:prstGeom>
            <a:noFill/>
            <a:ln w="9525">
              <a:noFill/>
              <a:miter lim="800000"/>
              <a:headEnd/>
              <a:tailEnd/>
            </a:ln>
          </p:spPr>
          <p:txBody>
            <a:bodyPr/>
            <a:lstStyle/>
            <a:p>
              <a:pPr>
                <a:spcBef>
                  <a:spcPct val="20000"/>
                </a:spcBef>
              </a:pPr>
              <a:endParaRPr lang="tr-TR" sz="2800"/>
            </a:p>
          </p:txBody>
        </p:sp>
        <p:sp>
          <p:nvSpPr>
            <p:cNvPr id="240" name="Line 239"/>
            <p:cNvSpPr>
              <a:spLocks noChangeShapeType="1"/>
            </p:cNvSpPr>
            <p:nvPr/>
          </p:nvSpPr>
          <p:spPr bwMode="auto">
            <a:xfrm>
              <a:off x="2122" y="1298"/>
              <a:ext cx="3493" cy="0"/>
            </a:xfrm>
            <a:prstGeom prst="line">
              <a:avLst/>
            </a:prstGeom>
            <a:noFill/>
            <a:ln w="28575" cap="sq">
              <a:solidFill>
                <a:schemeClr val="tx1"/>
              </a:solidFill>
              <a:round/>
              <a:headEnd/>
              <a:tailEnd/>
            </a:ln>
          </p:spPr>
          <p:txBody>
            <a:bodyPr wrap="none"/>
            <a:lstStyle/>
            <a:p>
              <a:endParaRPr lang="tr-TR"/>
            </a:p>
          </p:txBody>
        </p:sp>
        <p:sp>
          <p:nvSpPr>
            <p:cNvPr id="241" name="Line 240"/>
            <p:cNvSpPr>
              <a:spLocks noChangeShapeType="1"/>
            </p:cNvSpPr>
            <p:nvPr/>
          </p:nvSpPr>
          <p:spPr bwMode="auto">
            <a:xfrm>
              <a:off x="2122" y="3702"/>
              <a:ext cx="3493" cy="0"/>
            </a:xfrm>
            <a:prstGeom prst="line">
              <a:avLst/>
            </a:prstGeom>
            <a:noFill/>
            <a:ln w="28575" cap="sq">
              <a:solidFill>
                <a:schemeClr val="tx1"/>
              </a:solidFill>
              <a:round/>
              <a:headEnd/>
              <a:tailEnd/>
            </a:ln>
          </p:spPr>
          <p:txBody>
            <a:bodyPr wrap="none"/>
            <a:lstStyle/>
            <a:p>
              <a:endParaRPr lang="tr-TR"/>
            </a:p>
          </p:txBody>
        </p:sp>
        <p:sp>
          <p:nvSpPr>
            <p:cNvPr id="242" name="Line 241"/>
            <p:cNvSpPr>
              <a:spLocks noChangeShapeType="1"/>
            </p:cNvSpPr>
            <p:nvPr/>
          </p:nvSpPr>
          <p:spPr bwMode="auto">
            <a:xfrm>
              <a:off x="2122" y="1298"/>
              <a:ext cx="0" cy="2404"/>
            </a:xfrm>
            <a:prstGeom prst="line">
              <a:avLst/>
            </a:prstGeom>
            <a:noFill/>
            <a:ln w="28575" cap="sq">
              <a:solidFill>
                <a:schemeClr val="tx1"/>
              </a:solidFill>
              <a:round/>
              <a:headEnd/>
              <a:tailEnd/>
            </a:ln>
          </p:spPr>
          <p:txBody>
            <a:bodyPr wrap="none"/>
            <a:lstStyle/>
            <a:p>
              <a:endParaRPr lang="tr-TR"/>
            </a:p>
          </p:txBody>
        </p:sp>
        <p:sp>
          <p:nvSpPr>
            <p:cNvPr id="243" name="Line 242"/>
            <p:cNvSpPr>
              <a:spLocks noChangeShapeType="1"/>
            </p:cNvSpPr>
            <p:nvPr/>
          </p:nvSpPr>
          <p:spPr bwMode="auto">
            <a:xfrm>
              <a:off x="5615" y="1298"/>
              <a:ext cx="0" cy="2404"/>
            </a:xfrm>
            <a:prstGeom prst="line">
              <a:avLst/>
            </a:prstGeom>
            <a:noFill/>
            <a:ln w="28575" cap="sq">
              <a:solidFill>
                <a:schemeClr val="tx1"/>
              </a:solidFill>
              <a:round/>
              <a:headEnd/>
              <a:tailEnd/>
            </a:ln>
          </p:spPr>
          <p:txBody>
            <a:bodyPr wrap="none"/>
            <a:lstStyle/>
            <a:p>
              <a:endParaRPr lang="tr-TR"/>
            </a:p>
          </p:txBody>
        </p:sp>
        <p:sp>
          <p:nvSpPr>
            <p:cNvPr id="244" name="Rectangle 243"/>
            <p:cNvSpPr>
              <a:spLocks noChangeArrowheads="1"/>
            </p:cNvSpPr>
            <p:nvPr/>
          </p:nvSpPr>
          <p:spPr bwMode="auto">
            <a:xfrm>
              <a:off x="2893" y="1026"/>
              <a:ext cx="590" cy="2994"/>
            </a:xfrm>
            <a:prstGeom prst="rect">
              <a:avLst/>
            </a:prstGeom>
            <a:noFill/>
            <a:ln w="9525">
              <a:noFill/>
              <a:miter lim="800000"/>
              <a:headEnd/>
              <a:tailEnd/>
            </a:ln>
          </p:spPr>
          <p:txBody>
            <a:bodyPr/>
            <a:lstStyle/>
            <a:p>
              <a:pPr>
                <a:spcBef>
                  <a:spcPct val="20000"/>
                </a:spcBef>
              </a:pPr>
              <a:endParaRPr lang="tr-TR" sz="2800"/>
            </a:p>
          </p:txBody>
        </p:sp>
        <p:sp>
          <p:nvSpPr>
            <p:cNvPr id="245" name="Line 244"/>
            <p:cNvSpPr>
              <a:spLocks noChangeShapeType="1"/>
            </p:cNvSpPr>
            <p:nvPr/>
          </p:nvSpPr>
          <p:spPr bwMode="auto">
            <a:xfrm>
              <a:off x="2893" y="1026"/>
              <a:ext cx="590" cy="0"/>
            </a:xfrm>
            <a:prstGeom prst="line">
              <a:avLst/>
            </a:prstGeom>
            <a:noFill/>
            <a:ln w="28575" cap="sq">
              <a:solidFill>
                <a:schemeClr val="tx1"/>
              </a:solidFill>
              <a:round/>
              <a:headEnd/>
              <a:tailEnd/>
            </a:ln>
          </p:spPr>
          <p:txBody>
            <a:bodyPr wrap="none"/>
            <a:lstStyle/>
            <a:p>
              <a:endParaRPr lang="tr-TR"/>
            </a:p>
          </p:txBody>
        </p:sp>
        <p:sp>
          <p:nvSpPr>
            <p:cNvPr id="246" name="Line 245"/>
            <p:cNvSpPr>
              <a:spLocks noChangeShapeType="1"/>
            </p:cNvSpPr>
            <p:nvPr/>
          </p:nvSpPr>
          <p:spPr bwMode="auto">
            <a:xfrm>
              <a:off x="2893" y="4020"/>
              <a:ext cx="590" cy="0"/>
            </a:xfrm>
            <a:prstGeom prst="line">
              <a:avLst/>
            </a:prstGeom>
            <a:noFill/>
            <a:ln w="28575" cap="sq">
              <a:solidFill>
                <a:schemeClr val="tx1"/>
              </a:solidFill>
              <a:round/>
              <a:headEnd/>
              <a:tailEnd/>
            </a:ln>
          </p:spPr>
          <p:txBody>
            <a:bodyPr wrap="none"/>
            <a:lstStyle/>
            <a:p>
              <a:endParaRPr lang="tr-TR"/>
            </a:p>
          </p:txBody>
        </p:sp>
        <p:sp>
          <p:nvSpPr>
            <p:cNvPr id="247" name="Line 246"/>
            <p:cNvSpPr>
              <a:spLocks noChangeShapeType="1"/>
            </p:cNvSpPr>
            <p:nvPr/>
          </p:nvSpPr>
          <p:spPr bwMode="auto">
            <a:xfrm>
              <a:off x="2893" y="1026"/>
              <a:ext cx="0" cy="2994"/>
            </a:xfrm>
            <a:prstGeom prst="line">
              <a:avLst/>
            </a:prstGeom>
            <a:noFill/>
            <a:ln w="28575" cap="sq">
              <a:solidFill>
                <a:schemeClr val="tx1"/>
              </a:solidFill>
              <a:round/>
              <a:headEnd/>
              <a:tailEnd/>
            </a:ln>
          </p:spPr>
          <p:txBody>
            <a:bodyPr wrap="none"/>
            <a:lstStyle/>
            <a:p>
              <a:endParaRPr lang="tr-TR"/>
            </a:p>
          </p:txBody>
        </p:sp>
        <p:sp>
          <p:nvSpPr>
            <p:cNvPr id="248" name="Line 247"/>
            <p:cNvSpPr>
              <a:spLocks noChangeShapeType="1"/>
            </p:cNvSpPr>
            <p:nvPr/>
          </p:nvSpPr>
          <p:spPr bwMode="auto">
            <a:xfrm>
              <a:off x="3483" y="1026"/>
              <a:ext cx="0" cy="2994"/>
            </a:xfrm>
            <a:prstGeom prst="line">
              <a:avLst/>
            </a:prstGeom>
            <a:noFill/>
            <a:ln w="28575" cap="sq">
              <a:solidFill>
                <a:schemeClr val="tx1"/>
              </a:solidFill>
              <a:round/>
              <a:headEnd/>
              <a:tailEnd/>
            </a:ln>
          </p:spPr>
          <p:txBody>
            <a:bodyPr wrap="none"/>
            <a:lstStyle/>
            <a:p>
              <a:endParaRPr lang="tr-TR"/>
            </a:p>
          </p:txBody>
        </p:sp>
        <p:sp>
          <p:nvSpPr>
            <p:cNvPr id="249" name="Rectangle 248"/>
            <p:cNvSpPr>
              <a:spLocks noChangeArrowheads="1"/>
            </p:cNvSpPr>
            <p:nvPr/>
          </p:nvSpPr>
          <p:spPr bwMode="auto">
            <a:xfrm>
              <a:off x="1216" y="3702"/>
              <a:ext cx="4399" cy="326"/>
            </a:xfrm>
            <a:prstGeom prst="rect">
              <a:avLst/>
            </a:prstGeom>
            <a:noFill/>
            <a:ln w="9525">
              <a:noFill/>
              <a:miter lim="800000"/>
              <a:headEnd/>
              <a:tailEnd/>
            </a:ln>
          </p:spPr>
          <p:txBody>
            <a:bodyPr/>
            <a:lstStyle/>
            <a:p>
              <a:pPr>
                <a:spcBef>
                  <a:spcPct val="20000"/>
                </a:spcBef>
              </a:pPr>
              <a:endParaRPr lang="tr-TR" sz="2800"/>
            </a:p>
          </p:txBody>
        </p:sp>
        <p:sp>
          <p:nvSpPr>
            <p:cNvPr id="250" name="Line 249"/>
            <p:cNvSpPr>
              <a:spLocks noChangeShapeType="1"/>
            </p:cNvSpPr>
            <p:nvPr/>
          </p:nvSpPr>
          <p:spPr bwMode="auto">
            <a:xfrm>
              <a:off x="1216" y="3702"/>
              <a:ext cx="4399" cy="0"/>
            </a:xfrm>
            <a:prstGeom prst="line">
              <a:avLst/>
            </a:prstGeom>
            <a:noFill/>
            <a:ln w="28575" cap="sq">
              <a:solidFill>
                <a:schemeClr val="tx1"/>
              </a:solidFill>
              <a:round/>
              <a:headEnd/>
              <a:tailEnd/>
            </a:ln>
          </p:spPr>
          <p:txBody>
            <a:bodyPr wrap="none"/>
            <a:lstStyle/>
            <a:p>
              <a:endParaRPr lang="tr-TR"/>
            </a:p>
          </p:txBody>
        </p:sp>
        <p:sp>
          <p:nvSpPr>
            <p:cNvPr id="251" name="Line 250"/>
            <p:cNvSpPr>
              <a:spLocks noChangeShapeType="1"/>
            </p:cNvSpPr>
            <p:nvPr/>
          </p:nvSpPr>
          <p:spPr bwMode="auto">
            <a:xfrm>
              <a:off x="1216" y="4028"/>
              <a:ext cx="4399" cy="0"/>
            </a:xfrm>
            <a:prstGeom prst="line">
              <a:avLst/>
            </a:prstGeom>
            <a:noFill/>
            <a:ln w="28575" cap="sq">
              <a:solidFill>
                <a:schemeClr val="tx1"/>
              </a:solidFill>
              <a:round/>
              <a:headEnd/>
              <a:tailEnd/>
            </a:ln>
          </p:spPr>
          <p:txBody>
            <a:bodyPr wrap="none"/>
            <a:lstStyle/>
            <a:p>
              <a:endParaRPr lang="tr-TR"/>
            </a:p>
          </p:txBody>
        </p:sp>
        <p:sp>
          <p:nvSpPr>
            <p:cNvPr id="252" name="Line 251"/>
            <p:cNvSpPr>
              <a:spLocks noChangeShapeType="1"/>
            </p:cNvSpPr>
            <p:nvPr/>
          </p:nvSpPr>
          <p:spPr bwMode="auto">
            <a:xfrm>
              <a:off x="1216" y="3702"/>
              <a:ext cx="0" cy="326"/>
            </a:xfrm>
            <a:prstGeom prst="line">
              <a:avLst/>
            </a:prstGeom>
            <a:noFill/>
            <a:ln w="28575" cap="sq">
              <a:solidFill>
                <a:schemeClr val="tx1"/>
              </a:solidFill>
              <a:round/>
              <a:headEnd/>
              <a:tailEnd/>
            </a:ln>
          </p:spPr>
          <p:txBody>
            <a:bodyPr wrap="none"/>
            <a:lstStyle/>
            <a:p>
              <a:endParaRPr lang="tr-TR"/>
            </a:p>
          </p:txBody>
        </p:sp>
        <p:sp>
          <p:nvSpPr>
            <p:cNvPr id="253" name="Line 252"/>
            <p:cNvSpPr>
              <a:spLocks noChangeShapeType="1"/>
            </p:cNvSpPr>
            <p:nvPr/>
          </p:nvSpPr>
          <p:spPr bwMode="auto">
            <a:xfrm>
              <a:off x="5615" y="3702"/>
              <a:ext cx="0" cy="326"/>
            </a:xfrm>
            <a:prstGeom prst="line">
              <a:avLst/>
            </a:prstGeom>
            <a:noFill/>
            <a:ln w="28575" cap="sq">
              <a:solidFill>
                <a:schemeClr val="tx1"/>
              </a:solidFill>
              <a:round/>
              <a:headEnd/>
              <a:tailEnd/>
            </a:ln>
          </p:spPr>
          <p:txBody>
            <a:bodyPr wrap="none"/>
            <a:lstStyle/>
            <a:p>
              <a:endParaRPr lang="tr-TR"/>
            </a:p>
          </p:txBody>
        </p:sp>
        <p:sp>
          <p:nvSpPr>
            <p:cNvPr id="254" name="Rectangle 253"/>
            <p:cNvSpPr>
              <a:spLocks noChangeArrowheads="1"/>
            </p:cNvSpPr>
            <p:nvPr/>
          </p:nvSpPr>
          <p:spPr bwMode="auto">
            <a:xfrm>
              <a:off x="4254" y="1026"/>
              <a:ext cx="622" cy="3000"/>
            </a:xfrm>
            <a:prstGeom prst="rect">
              <a:avLst/>
            </a:prstGeom>
            <a:noFill/>
            <a:ln w="9525">
              <a:noFill/>
              <a:miter lim="800000"/>
              <a:headEnd/>
              <a:tailEnd/>
            </a:ln>
          </p:spPr>
          <p:txBody>
            <a:bodyPr/>
            <a:lstStyle/>
            <a:p>
              <a:pPr>
                <a:spcBef>
                  <a:spcPct val="20000"/>
                </a:spcBef>
              </a:pPr>
              <a:endParaRPr lang="tr-TR" sz="2800"/>
            </a:p>
          </p:txBody>
        </p:sp>
        <p:sp>
          <p:nvSpPr>
            <p:cNvPr id="255" name="Line 254"/>
            <p:cNvSpPr>
              <a:spLocks noChangeShapeType="1"/>
            </p:cNvSpPr>
            <p:nvPr/>
          </p:nvSpPr>
          <p:spPr bwMode="auto">
            <a:xfrm>
              <a:off x="4254" y="1026"/>
              <a:ext cx="622" cy="0"/>
            </a:xfrm>
            <a:prstGeom prst="line">
              <a:avLst/>
            </a:prstGeom>
            <a:noFill/>
            <a:ln w="28575" cap="sq">
              <a:solidFill>
                <a:schemeClr val="tx1"/>
              </a:solidFill>
              <a:round/>
              <a:headEnd/>
              <a:tailEnd/>
            </a:ln>
          </p:spPr>
          <p:txBody>
            <a:bodyPr wrap="none"/>
            <a:lstStyle/>
            <a:p>
              <a:endParaRPr lang="tr-TR"/>
            </a:p>
          </p:txBody>
        </p:sp>
        <p:sp>
          <p:nvSpPr>
            <p:cNvPr id="256" name="Line 255"/>
            <p:cNvSpPr>
              <a:spLocks noChangeShapeType="1"/>
            </p:cNvSpPr>
            <p:nvPr/>
          </p:nvSpPr>
          <p:spPr bwMode="auto">
            <a:xfrm>
              <a:off x="4254" y="4026"/>
              <a:ext cx="622" cy="0"/>
            </a:xfrm>
            <a:prstGeom prst="line">
              <a:avLst/>
            </a:prstGeom>
            <a:noFill/>
            <a:ln w="28575" cap="sq">
              <a:solidFill>
                <a:schemeClr val="tx1"/>
              </a:solidFill>
              <a:round/>
              <a:headEnd/>
              <a:tailEnd/>
            </a:ln>
          </p:spPr>
          <p:txBody>
            <a:bodyPr wrap="none"/>
            <a:lstStyle/>
            <a:p>
              <a:endParaRPr lang="tr-TR"/>
            </a:p>
          </p:txBody>
        </p:sp>
        <p:sp>
          <p:nvSpPr>
            <p:cNvPr id="257" name="Line 256"/>
            <p:cNvSpPr>
              <a:spLocks noChangeShapeType="1"/>
            </p:cNvSpPr>
            <p:nvPr/>
          </p:nvSpPr>
          <p:spPr bwMode="auto">
            <a:xfrm>
              <a:off x="4254" y="1026"/>
              <a:ext cx="0" cy="3000"/>
            </a:xfrm>
            <a:prstGeom prst="line">
              <a:avLst/>
            </a:prstGeom>
            <a:noFill/>
            <a:ln w="28575" cap="sq">
              <a:solidFill>
                <a:schemeClr val="tx1"/>
              </a:solidFill>
              <a:round/>
              <a:headEnd/>
              <a:tailEnd/>
            </a:ln>
          </p:spPr>
          <p:txBody>
            <a:bodyPr wrap="none"/>
            <a:lstStyle/>
            <a:p>
              <a:endParaRPr lang="tr-TR"/>
            </a:p>
          </p:txBody>
        </p:sp>
        <p:sp>
          <p:nvSpPr>
            <p:cNvPr id="258" name="Line 257"/>
            <p:cNvSpPr>
              <a:spLocks noChangeShapeType="1"/>
            </p:cNvSpPr>
            <p:nvPr/>
          </p:nvSpPr>
          <p:spPr bwMode="auto">
            <a:xfrm>
              <a:off x="4876" y="1026"/>
              <a:ext cx="0" cy="3000"/>
            </a:xfrm>
            <a:prstGeom prst="line">
              <a:avLst/>
            </a:prstGeom>
            <a:noFill/>
            <a:ln w="28575" cap="sq">
              <a:solidFill>
                <a:schemeClr val="tx1"/>
              </a:solidFill>
              <a:round/>
              <a:headEnd/>
              <a:tailEnd/>
            </a:ln>
          </p:spPr>
          <p:txBody>
            <a:bodyPr wrap="none"/>
            <a:lstStyle/>
            <a:p>
              <a:endParaRPr lang="tr-TR"/>
            </a:p>
          </p:txBody>
        </p:sp>
      </p:grpSp>
      <p:sp>
        <p:nvSpPr>
          <p:cNvPr id="259" name="Rectangle 3" descr="Beyaz mermer"/>
          <p:cNvSpPr>
            <a:spLocks noChangeArrowheads="1"/>
          </p:cNvSpPr>
          <p:nvPr/>
        </p:nvSpPr>
        <p:spPr bwMode="auto">
          <a:xfrm>
            <a:off x="857224" y="0"/>
            <a:ext cx="7689850" cy="1323975"/>
          </a:xfrm>
          <a:prstGeom prst="rect">
            <a:avLst/>
          </a:prstGeom>
          <a:noFill/>
          <a:ln w="9525">
            <a:noFill/>
            <a:miter lim="800000"/>
            <a:headEnd/>
            <a:tailEnd/>
          </a:ln>
        </p:spPr>
        <p:txBody>
          <a:bodyPr>
            <a:spAutoFit/>
          </a:bodyPr>
          <a:lstStyle/>
          <a:p>
            <a:pPr algn="ctr"/>
            <a:r>
              <a:rPr lang="tr-TR" sz="4000" b="1" dirty="0">
                <a:solidFill>
                  <a:schemeClr val="bg1"/>
                </a:solidFill>
                <a:latin typeface="Calibri" pitchFamily="34" charset="0"/>
              </a:rPr>
              <a:t>İş Kazalarının Meydana Geldiği </a:t>
            </a:r>
          </a:p>
          <a:p>
            <a:pPr algn="ctr"/>
            <a:r>
              <a:rPr lang="tr-TR" sz="4000" b="1" dirty="0">
                <a:solidFill>
                  <a:schemeClr val="bg1"/>
                </a:solidFill>
                <a:latin typeface="Calibri" pitchFamily="34" charset="0"/>
              </a:rPr>
              <a:t>İş Saatlerine Göre Dağılımı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afterEffect">
                                  <p:stCondLst>
                                    <p:cond delay="0"/>
                                  </p:stCondLst>
                                  <p:childTnLst>
                                    <p:set>
                                      <p:cBhvr>
                                        <p:cTn id="6" dur="1" fill="hold">
                                          <p:stCondLst>
                                            <p:cond delay="0"/>
                                          </p:stCondLst>
                                        </p:cTn>
                                        <p:tgtEl>
                                          <p:spTgt spid="259">
                                            <p:txEl>
                                              <p:pRg st="0" end="0"/>
                                            </p:txEl>
                                          </p:spTgt>
                                        </p:tgtEl>
                                        <p:attrNameLst>
                                          <p:attrName>style.visibility</p:attrName>
                                        </p:attrNameLst>
                                      </p:cBhvr>
                                      <p:to>
                                        <p:strVal val="visible"/>
                                      </p:to>
                                    </p:set>
                                    <p:animEffect transition="in" filter="diamond(out)">
                                      <p:cBhvr>
                                        <p:cTn id="7" dur="2000"/>
                                        <p:tgtEl>
                                          <p:spTgt spid="259">
                                            <p:txEl>
                                              <p:pRg st="0" end="0"/>
                                            </p:txEl>
                                          </p:spTgt>
                                        </p:tgtEl>
                                      </p:cBhvr>
                                    </p:animEffect>
                                  </p:childTnLst>
                                </p:cTn>
                              </p:par>
                            </p:childTnLst>
                          </p:cTn>
                        </p:par>
                        <p:par>
                          <p:cTn id="8" fill="hold">
                            <p:stCondLst>
                              <p:cond delay="2000"/>
                            </p:stCondLst>
                            <p:childTnLst>
                              <p:par>
                                <p:cTn id="9" presetID="8" presetClass="entr" presetSubtype="32" fill="hold" nodeType="afterEffect">
                                  <p:stCondLst>
                                    <p:cond delay="0"/>
                                  </p:stCondLst>
                                  <p:childTnLst>
                                    <p:set>
                                      <p:cBhvr>
                                        <p:cTn id="10" dur="1" fill="hold">
                                          <p:stCondLst>
                                            <p:cond delay="0"/>
                                          </p:stCondLst>
                                        </p:cTn>
                                        <p:tgtEl>
                                          <p:spTgt spid="259">
                                            <p:txEl>
                                              <p:pRg st="1" end="1"/>
                                            </p:txEl>
                                          </p:spTgt>
                                        </p:tgtEl>
                                        <p:attrNameLst>
                                          <p:attrName>style.visibility</p:attrName>
                                        </p:attrNameLst>
                                      </p:cBhvr>
                                      <p:to>
                                        <p:strVal val="visible"/>
                                      </p:to>
                                    </p:set>
                                    <p:animEffect transition="in" filter="diamond(out)">
                                      <p:cBhvr>
                                        <p:cTn id="11" dur="2000"/>
                                        <p:tgtEl>
                                          <p:spTgt spid="2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pic>
        <p:nvPicPr>
          <p:cNvPr id="1026" name="Picture 2" descr="https://player.slideplayer.biz.tr/98/17008132/slides/slide_5.jpg"/>
          <p:cNvPicPr>
            <a:picLocks noChangeAspect="1" noChangeArrowheads="1"/>
          </p:cNvPicPr>
          <p:nvPr/>
        </p:nvPicPr>
        <p:blipFill>
          <a:blip r:embed="rId2" cstate="print"/>
          <a:srcRect/>
          <a:stretch>
            <a:fillRect/>
          </a:stretch>
        </p:blipFill>
        <p:spPr bwMode="auto">
          <a:xfrm>
            <a:off x="35496" y="-99392"/>
            <a:ext cx="9753600" cy="73152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4"/>
          <p:cNvPicPr>
            <a:picLocks noChangeAspect="1" noChangeArrowheads="1"/>
          </p:cNvPicPr>
          <p:nvPr/>
        </p:nvPicPr>
        <p:blipFill>
          <a:blip r:embed="rId2" cstate="print"/>
          <a:srcRect/>
          <a:stretch>
            <a:fillRect/>
          </a:stretch>
        </p:blipFill>
        <p:spPr bwMode="auto">
          <a:xfrm>
            <a:off x="1331913" y="1557338"/>
            <a:ext cx="6191250" cy="352425"/>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1476375" y="2057400"/>
            <a:ext cx="5762625" cy="4800600"/>
          </a:xfrm>
          <a:prstGeom prst="rect">
            <a:avLst/>
          </a:prstGeom>
          <a:noFill/>
          <a:ln w="9525">
            <a:noFill/>
            <a:miter lim="800000"/>
            <a:headEnd/>
            <a:tailEnd/>
          </a:ln>
        </p:spPr>
      </p:pic>
      <p:pic>
        <p:nvPicPr>
          <p:cNvPr id="5124" name="Picture 6"/>
          <p:cNvPicPr>
            <a:picLocks noChangeAspect="1" noChangeArrowheads="1"/>
          </p:cNvPicPr>
          <p:nvPr/>
        </p:nvPicPr>
        <p:blipFill>
          <a:blip r:embed="rId4" cstate="print"/>
          <a:srcRect/>
          <a:stretch>
            <a:fillRect/>
          </a:stretch>
        </p:blipFill>
        <p:spPr bwMode="auto">
          <a:xfrm>
            <a:off x="1547813" y="304800"/>
            <a:ext cx="5472112" cy="990600"/>
          </a:xfrm>
          <a:prstGeom prst="rect">
            <a:avLst/>
          </a:prstGeom>
          <a:noFill/>
          <a:ln w="9525">
            <a:noFill/>
            <a:miter lim="800000"/>
            <a:headEnd/>
            <a:tailEnd/>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1043608" y="0"/>
            <a:ext cx="7056784" cy="6595117"/>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 Başlık"/>
          <p:cNvSpPr txBox="1">
            <a:spLocks noGrp="1" noChangeArrowheads="1"/>
          </p:cNvSpPr>
          <p:nvPr>
            <p:ph type="subTitle" sz="quarter" idx="1"/>
          </p:nvPr>
        </p:nvSpPr>
        <p:spPr>
          <a:xfrm>
            <a:off x="323850" y="476250"/>
            <a:ext cx="8207375" cy="2898775"/>
          </a:xfrm>
        </p:spPr>
        <p:txBody>
          <a:bodyPr>
            <a:spAutoFit/>
          </a:bodyPr>
          <a:lstStyle/>
          <a:p>
            <a:pPr algn="just">
              <a:defRPr/>
            </a:pPr>
            <a:r>
              <a:rPr lang="tr-TR" sz="2400" b="1" dirty="0"/>
              <a:t>	2010 yılında gerçekleşen iş kazası ve meslek hastalığı nedeniyle toplam 1.466.146 gün ayakta 49.878 gün hastanede yatılması nedeniyle toplamda 1.516.024 günlük iş gücü kaybı oluşmuş bu sürelerde işçilere geçici iş göremezlik ödeneği ödenmiştir.</a:t>
            </a:r>
          </a:p>
          <a:p>
            <a:pPr>
              <a:defRPr/>
            </a:pPr>
            <a:endParaRPr lang="tr-TR" dirty="0">
              <a:solidFill>
                <a:schemeClr val="bg1"/>
              </a:solidFill>
            </a:endParaRPr>
          </a:p>
        </p:txBody>
      </p:sp>
      <p:pic>
        <p:nvPicPr>
          <p:cNvPr id="22533" name="Picture 1036" descr="MMj02830830000[1]"/>
          <p:cNvPicPr>
            <a:picLocks noChangeAspect="1" noChangeArrowheads="1" noCrop="1"/>
          </p:cNvPicPr>
          <p:nvPr/>
        </p:nvPicPr>
        <p:blipFill>
          <a:blip r:embed="rId2" cstate="print"/>
          <a:srcRect/>
          <a:stretch>
            <a:fillRect/>
          </a:stretch>
        </p:blipFill>
        <p:spPr bwMode="auto">
          <a:xfrm>
            <a:off x="5940425" y="3573463"/>
            <a:ext cx="2008188" cy="19685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strips(downLeft)">
                                      <p:cBhvr>
                                        <p:cTn id="7" dur="500"/>
                                        <p:tgtEl>
                                          <p:spTgt spid="22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KTIPC147\Pictures\Resim20.jpg"/>
          <p:cNvPicPr>
            <a:picLocks noChangeAspect="1" noChangeArrowheads="1"/>
          </p:cNvPicPr>
          <p:nvPr/>
        </p:nvPicPr>
        <p:blipFill>
          <a:blip r:embed="rId2" cstate="print"/>
          <a:srcRect/>
          <a:stretch>
            <a:fillRect/>
          </a:stretch>
        </p:blipFill>
        <p:spPr bwMode="auto">
          <a:xfrm>
            <a:off x="-9525" y="0"/>
            <a:ext cx="9163050" cy="6715125"/>
          </a:xfrm>
          <a:prstGeom prst="rect">
            <a:avLst/>
          </a:prstGeom>
          <a:noFill/>
          <a:ln w="9525">
            <a:noFill/>
            <a:miter lim="800000"/>
            <a:headEnd/>
            <a:tailEnd/>
          </a:ln>
        </p:spPr>
      </p:pic>
      <p:graphicFrame>
        <p:nvGraphicFramePr>
          <p:cNvPr id="4" name="Group 37"/>
          <p:cNvGraphicFramePr>
            <a:graphicFrameLocks/>
          </p:cNvGraphicFramePr>
          <p:nvPr/>
        </p:nvGraphicFramePr>
        <p:xfrm>
          <a:off x="0" y="4221163"/>
          <a:ext cx="9143999" cy="2636837"/>
        </p:xfrm>
        <a:graphic>
          <a:graphicData uri="http://schemas.openxmlformats.org/drawingml/2006/table">
            <a:tbl>
              <a:tblPr/>
              <a:tblGrid>
                <a:gridCol w="1221088">
                  <a:extLst>
                    <a:ext uri="{9D8B030D-6E8A-4147-A177-3AD203B41FA5}">
                      <a16:colId xmlns:a16="http://schemas.microsoft.com/office/drawing/2014/main" val="20000"/>
                    </a:ext>
                  </a:extLst>
                </a:gridCol>
                <a:gridCol w="879583">
                  <a:extLst>
                    <a:ext uri="{9D8B030D-6E8A-4147-A177-3AD203B41FA5}">
                      <a16:colId xmlns:a16="http://schemas.microsoft.com/office/drawing/2014/main" val="20001"/>
                    </a:ext>
                  </a:extLst>
                </a:gridCol>
                <a:gridCol w="807950">
                  <a:extLst>
                    <a:ext uri="{9D8B030D-6E8A-4147-A177-3AD203B41FA5}">
                      <a16:colId xmlns:a16="http://schemas.microsoft.com/office/drawing/2014/main" val="20002"/>
                    </a:ext>
                  </a:extLst>
                </a:gridCol>
                <a:gridCol w="1522612">
                  <a:extLst>
                    <a:ext uri="{9D8B030D-6E8A-4147-A177-3AD203B41FA5}">
                      <a16:colId xmlns:a16="http://schemas.microsoft.com/office/drawing/2014/main" val="20003"/>
                    </a:ext>
                  </a:extLst>
                </a:gridCol>
                <a:gridCol w="1189436">
                  <a:extLst>
                    <a:ext uri="{9D8B030D-6E8A-4147-A177-3AD203B41FA5}">
                      <a16:colId xmlns:a16="http://schemas.microsoft.com/office/drawing/2014/main" val="20004"/>
                    </a:ext>
                  </a:extLst>
                </a:gridCol>
                <a:gridCol w="1662545">
                  <a:extLst>
                    <a:ext uri="{9D8B030D-6E8A-4147-A177-3AD203B41FA5}">
                      <a16:colId xmlns:a16="http://schemas.microsoft.com/office/drawing/2014/main" val="20005"/>
                    </a:ext>
                  </a:extLst>
                </a:gridCol>
                <a:gridCol w="1132796">
                  <a:extLst>
                    <a:ext uri="{9D8B030D-6E8A-4147-A177-3AD203B41FA5}">
                      <a16:colId xmlns:a16="http://schemas.microsoft.com/office/drawing/2014/main" val="20006"/>
                    </a:ext>
                  </a:extLst>
                </a:gridCol>
                <a:gridCol w="727989">
                  <a:extLst>
                    <a:ext uri="{9D8B030D-6E8A-4147-A177-3AD203B41FA5}">
                      <a16:colId xmlns:a16="http://schemas.microsoft.com/office/drawing/2014/main" val="20007"/>
                    </a:ext>
                  </a:extLst>
                </a:gridCol>
              </a:tblGrid>
              <a:tr h="956729">
                <a:tc gridSpan="8">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3500" b="1" i="0" u="none" strike="noStrike" cap="none" normalizeH="0" baseline="0" dirty="0">
                          <a:ln>
                            <a:noFill/>
                          </a:ln>
                          <a:solidFill>
                            <a:srgbClr val="FFFFFF"/>
                          </a:solidFill>
                          <a:effectLst>
                            <a:outerShdw blurRad="38100" dist="38100" dir="2700000" algn="tl">
                              <a:srgbClr val="000000"/>
                            </a:outerShdw>
                          </a:effectLst>
                          <a:latin typeface="Arial" charset="0"/>
                        </a:rPr>
                        <a:t>2010</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0000"/>
                  </a:ext>
                </a:extLst>
              </a:tr>
              <a:tr h="840054">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1" i="0" u="none" strike="noStrike" cap="none" normalizeH="0" baseline="0">
                          <a:ln>
                            <a:noFill/>
                          </a:ln>
                          <a:solidFill>
                            <a:srgbClr val="000000"/>
                          </a:solidFill>
                          <a:effectLst>
                            <a:outerShdw blurRad="38100" dist="38100" dir="2700000" algn="tl">
                              <a:srgbClr val="FFFFFF"/>
                            </a:outerShdw>
                          </a:effectLst>
                          <a:latin typeface="Arial" charset="0"/>
                        </a:rPr>
                        <a:t>İŞ KAZASI SAYISI</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5DC"/>
                    </a:solidFill>
                  </a:tcPr>
                </a:tc>
                <a:tc hMerge="1">
                  <a:txBody>
                    <a:bodyPr/>
                    <a:lstStyle/>
                    <a:p>
                      <a:endParaRPr lang="tr-TR"/>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1" i="0" u="none" strike="noStrike" cap="none" normalizeH="0" baseline="0" dirty="0">
                          <a:ln>
                            <a:noFill/>
                          </a:ln>
                          <a:solidFill>
                            <a:srgbClr val="000000"/>
                          </a:solidFill>
                          <a:effectLst>
                            <a:outerShdw blurRad="38100" dist="38100" dir="2700000" algn="tl">
                              <a:srgbClr val="FFFFFF"/>
                            </a:outerShdw>
                          </a:effectLst>
                          <a:latin typeface="Arial" charset="0"/>
                        </a:rPr>
                        <a:t>MESLEK HASTALIĞI SAYISI</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5DC"/>
                    </a:solidFill>
                  </a:tcPr>
                </a:tc>
                <a:tc hMerge="1">
                  <a:txBody>
                    <a:bodyPr/>
                    <a:lstStyle/>
                    <a:p>
                      <a:endParaRPr lang="tr-TR"/>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1" i="0" u="none" strike="noStrike" cap="none" normalizeH="0" baseline="0">
                          <a:ln>
                            <a:noFill/>
                          </a:ln>
                          <a:solidFill>
                            <a:srgbClr val="000000"/>
                          </a:solidFill>
                          <a:effectLst>
                            <a:outerShdw blurRad="38100" dist="38100" dir="2700000" algn="tl">
                              <a:srgbClr val="FFFFFF"/>
                            </a:outerShdw>
                          </a:effectLst>
                          <a:latin typeface="Arial" charset="0"/>
                        </a:rPr>
                        <a:t>SÜREKLİ İŞ GÖREMEZLİK SAYISI</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5DC"/>
                    </a:solidFill>
                  </a:tcPr>
                </a:tc>
                <a:tc hMerge="1">
                  <a:txBody>
                    <a:bodyPr/>
                    <a:lstStyle/>
                    <a:p>
                      <a:endParaRPr lang="tr-TR"/>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1" i="0" u="none" strike="noStrike" cap="none" normalizeH="0" baseline="0">
                          <a:ln>
                            <a:noFill/>
                          </a:ln>
                          <a:solidFill>
                            <a:srgbClr val="000000"/>
                          </a:solidFill>
                          <a:effectLst>
                            <a:outerShdw blurRad="38100" dist="38100" dir="2700000" algn="tl">
                              <a:srgbClr val="FFFFFF"/>
                            </a:outerShdw>
                          </a:effectLst>
                          <a:latin typeface="Arial" charset="0"/>
                        </a:rPr>
                        <a:t>ÖLÜM SAYISI</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5DC"/>
                    </a:solidFill>
                  </a:tcPr>
                </a:tc>
                <a:tc hMerge="1">
                  <a:txBody>
                    <a:bodyPr/>
                    <a:lstStyle/>
                    <a:p>
                      <a:endParaRPr lang="tr-TR"/>
                    </a:p>
                  </a:txBody>
                  <a:tcPr/>
                </a:tc>
                <a:extLst>
                  <a:ext uri="{0D108BD9-81ED-4DB2-BD59-A6C34878D82A}">
                    <a16:rowId xmlns:a16="http://schemas.microsoft.com/office/drawing/2014/main" val="10001"/>
                  </a:ext>
                </a:extLst>
              </a:tr>
              <a:tr h="84005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62.903</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F3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%11 </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6.437</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F3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FF3300"/>
                          </a:solidFill>
                          <a:effectLst>
                            <a:outerShdw blurRad="38100" dist="38100" dir="2700000" algn="tl">
                              <a:srgbClr val="FFFFFF"/>
                            </a:outerShdw>
                          </a:effectLst>
                          <a:latin typeface="Arial" charset="0"/>
                        </a:rPr>
                        <a:t>533</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F3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%6</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31</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F3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2.085</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F3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%16</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319</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F3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1.454</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F3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%33</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sz="2000" b="1" i="0" u="none" strike="noStrike" cap="none" normalizeH="0" baseline="0" dirty="0">
                          <a:ln>
                            <a:noFill/>
                          </a:ln>
                          <a:solidFill>
                            <a:srgbClr val="000000"/>
                          </a:solidFill>
                          <a:effectLst>
                            <a:outerShdw blurRad="38100" dist="38100" dir="2700000" algn="tl">
                              <a:srgbClr val="FFFFFF"/>
                            </a:outerShdw>
                          </a:effectLst>
                          <a:latin typeface="Arial" charset="0"/>
                        </a:rPr>
                        <a:t>475</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0F3EE"/>
                    </a:solidFill>
                  </a:tcPr>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www.alabildigine.net/dosyalar/resim/buz_dagi_gorunen_gorunmeyen_kismi.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1 Başlık"/>
          <p:cNvSpPr txBox="1">
            <a:spLocks/>
          </p:cNvSpPr>
          <p:nvPr/>
        </p:nvSpPr>
        <p:spPr>
          <a:xfrm>
            <a:off x="395288" y="476250"/>
            <a:ext cx="8353425" cy="6121400"/>
          </a:xfrm>
          <a:prstGeom prst="rect">
            <a:avLst/>
          </a:prstGeom>
        </p:spPr>
        <p:txBody>
          <a:bodyPr/>
          <a:lstStyle/>
          <a:p>
            <a:pPr eaLnBrk="0" hangingPunct="0">
              <a:defRPr/>
            </a:pPr>
            <a:r>
              <a:rPr lang="tr-TR" sz="2800" kern="0" dirty="0">
                <a:solidFill>
                  <a:schemeClr val="tx2"/>
                </a:solidFill>
                <a:effectLst>
                  <a:outerShdw blurRad="38100" dist="38100" dir="2700000" algn="tl">
                    <a:srgbClr val="000000"/>
                  </a:outerShdw>
                </a:effectLst>
                <a:latin typeface="+mj-lt"/>
                <a:ea typeface="+mj-ea"/>
                <a:cs typeface="+mj-cs"/>
              </a:rPr>
              <a:t>	</a:t>
            </a:r>
            <a:r>
              <a:rPr lang="tr-TR" sz="3200" kern="0" dirty="0">
                <a:solidFill>
                  <a:srgbClr val="FFFF00"/>
                </a:solidFill>
                <a:effectLst>
                  <a:outerShdw blurRad="38100" dist="38100" dir="2700000" algn="tl">
                    <a:srgbClr val="000000"/>
                  </a:outerShdw>
                </a:effectLst>
                <a:latin typeface="+mj-lt"/>
                <a:ea typeface="+mj-ea"/>
                <a:cs typeface="+mj-cs"/>
              </a:rPr>
              <a:t>2010 yılında tespit edilen 533 meslek hastalığından;</a:t>
            </a:r>
          </a:p>
          <a:p>
            <a:pPr eaLnBrk="0" hangingPunct="0">
              <a:defRPr/>
            </a:pPr>
            <a:endParaRPr lang="tr-TR" sz="3200" kern="0" dirty="0">
              <a:solidFill>
                <a:srgbClr val="FFFF00"/>
              </a:solidFill>
              <a:effectLst>
                <a:outerShdw blurRad="38100" dist="38100" dir="2700000" algn="tl">
                  <a:srgbClr val="000000"/>
                </a:outerShdw>
              </a:effectLst>
              <a:latin typeface="+mj-lt"/>
              <a:ea typeface="+mj-ea"/>
              <a:cs typeface="+mj-cs"/>
            </a:endParaRPr>
          </a:p>
          <a:p>
            <a:pPr eaLnBrk="0" hangingPunct="0">
              <a:defRPr/>
            </a:pPr>
            <a:endParaRPr lang="tr-TR" sz="3200" kern="0" dirty="0">
              <a:solidFill>
                <a:srgbClr val="FFFF00"/>
              </a:solidFill>
              <a:effectLst>
                <a:outerShdw blurRad="38100" dist="38100" dir="2700000" algn="tl">
                  <a:srgbClr val="000000"/>
                </a:outerShdw>
              </a:effectLst>
              <a:latin typeface="+mj-lt"/>
              <a:ea typeface="+mj-ea"/>
              <a:cs typeface="+mj-cs"/>
            </a:endParaRPr>
          </a:p>
          <a:p>
            <a:pPr eaLnBrk="0" hangingPunct="0">
              <a:defRPr/>
            </a:pPr>
            <a:endParaRPr lang="tr-TR" sz="3200" kern="0" dirty="0">
              <a:solidFill>
                <a:srgbClr val="FFFF00"/>
              </a:solidFill>
              <a:effectLst>
                <a:outerShdw blurRad="38100" dist="38100" dir="2700000" algn="tl">
                  <a:srgbClr val="000000"/>
                </a:outerShdw>
              </a:effectLst>
              <a:latin typeface="+mj-lt"/>
              <a:ea typeface="+mj-ea"/>
              <a:cs typeface="+mj-cs"/>
            </a:endParaRPr>
          </a:p>
          <a:p>
            <a:pPr eaLnBrk="0" hangingPunct="0">
              <a:defRPr/>
            </a:pPr>
            <a:endParaRPr lang="tr-TR" sz="3200" kern="0" dirty="0">
              <a:solidFill>
                <a:srgbClr val="FFFF00"/>
              </a:solidFill>
              <a:effectLst>
                <a:outerShdw blurRad="38100" dist="38100" dir="2700000" algn="tl">
                  <a:srgbClr val="000000"/>
                </a:outerShdw>
              </a:effectLst>
              <a:latin typeface="+mj-lt"/>
              <a:ea typeface="+mj-ea"/>
              <a:cs typeface="+mj-cs"/>
            </a:endParaRPr>
          </a:p>
          <a:p>
            <a:pPr eaLnBrk="0" hangingPunct="0">
              <a:buFont typeface="Arial" pitchFamily="34" charset="0"/>
              <a:buChar char="•"/>
              <a:defRPr/>
            </a:pPr>
            <a:r>
              <a:rPr lang="tr-TR" sz="3200" kern="0" dirty="0">
                <a:solidFill>
                  <a:srgbClr val="FFFF00"/>
                </a:solidFill>
                <a:effectLst>
                  <a:outerShdw blurRad="38100" dist="38100" dir="2700000" algn="tl">
                    <a:srgbClr val="000000"/>
                  </a:outerShdw>
                </a:effectLst>
                <a:latin typeface="+mj-lt"/>
                <a:ea typeface="+mj-ea"/>
                <a:cs typeface="+mj-cs"/>
              </a:rPr>
              <a:t> 192’si (%38) Ankara’da,</a:t>
            </a:r>
          </a:p>
          <a:p>
            <a:pPr eaLnBrk="0" hangingPunct="0">
              <a:buFont typeface="Arial" pitchFamily="34" charset="0"/>
              <a:buChar char="•"/>
              <a:defRPr/>
            </a:pPr>
            <a:r>
              <a:rPr lang="tr-TR" sz="3200" kern="0" dirty="0">
                <a:solidFill>
                  <a:srgbClr val="FFFF00"/>
                </a:solidFill>
                <a:effectLst>
                  <a:outerShdw blurRad="38100" dist="38100" dir="2700000" algn="tl">
                    <a:srgbClr val="000000"/>
                  </a:outerShdw>
                </a:effectLst>
                <a:latin typeface="+mj-lt"/>
                <a:ea typeface="+mj-ea"/>
                <a:cs typeface="+mj-cs"/>
              </a:rPr>
              <a:t> 152’si İzmir’de meydana gelirken, </a:t>
            </a:r>
          </a:p>
          <a:p>
            <a:pPr eaLnBrk="0" hangingPunct="0">
              <a:buFont typeface="Arial" pitchFamily="34" charset="0"/>
              <a:buChar char="•"/>
              <a:defRPr/>
            </a:pPr>
            <a:r>
              <a:rPr lang="tr-TR" sz="3200" kern="0" dirty="0">
                <a:solidFill>
                  <a:srgbClr val="FFFF00"/>
                </a:solidFill>
                <a:effectLst>
                  <a:outerShdw blurRad="38100" dist="38100" dir="2700000" algn="tl">
                    <a:srgbClr val="000000"/>
                  </a:outerShdw>
                </a:effectLst>
                <a:latin typeface="+mj-lt"/>
                <a:ea typeface="+mj-ea"/>
                <a:cs typeface="+mj-cs"/>
              </a:rPr>
              <a:t> İstanbul’da tespit edilen meslek hastalığı  </a:t>
            </a:r>
          </a:p>
          <a:p>
            <a:pPr eaLnBrk="0" hangingPunct="0">
              <a:defRPr/>
            </a:pPr>
            <a:r>
              <a:rPr lang="tr-TR" sz="3200" kern="0" dirty="0">
                <a:solidFill>
                  <a:srgbClr val="FFFF00"/>
                </a:solidFill>
                <a:effectLst>
                  <a:outerShdw blurRad="38100" dist="38100" dir="2700000" algn="tl">
                    <a:srgbClr val="000000"/>
                  </a:outerShdw>
                </a:effectLst>
                <a:latin typeface="+mj-lt"/>
                <a:ea typeface="+mj-ea"/>
                <a:cs typeface="+mj-cs"/>
              </a:rPr>
              <a:t>   sayısı 27’de,</a:t>
            </a:r>
          </a:p>
          <a:p>
            <a:pPr eaLnBrk="0" hangingPunct="0">
              <a:buFont typeface="Arial" pitchFamily="34" charset="0"/>
              <a:buChar char="•"/>
              <a:defRPr/>
            </a:pPr>
            <a:r>
              <a:rPr lang="tr-TR" sz="3200" kern="0" dirty="0">
                <a:solidFill>
                  <a:srgbClr val="FFFF00"/>
                </a:solidFill>
                <a:effectLst>
                  <a:outerShdw blurRad="38100" dist="38100" dir="2700000" algn="tl">
                    <a:srgbClr val="000000"/>
                  </a:outerShdw>
                </a:effectLst>
                <a:latin typeface="+mj-lt"/>
                <a:ea typeface="+mj-ea"/>
                <a:cs typeface="+mj-cs"/>
              </a:rPr>
              <a:t> Kocaeli’nde tespit edilen meslek hastalığı   </a:t>
            </a:r>
          </a:p>
          <a:p>
            <a:pPr eaLnBrk="0" hangingPunct="0">
              <a:defRPr/>
            </a:pPr>
            <a:r>
              <a:rPr lang="tr-TR" sz="3200" kern="0" dirty="0">
                <a:solidFill>
                  <a:srgbClr val="FFFF00"/>
                </a:solidFill>
                <a:effectLst>
                  <a:outerShdw blurRad="38100" dist="38100" dir="2700000" algn="tl">
                    <a:srgbClr val="000000"/>
                  </a:outerShdw>
                </a:effectLst>
                <a:latin typeface="+mj-lt"/>
                <a:ea typeface="+mj-ea"/>
                <a:cs typeface="+mj-cs"/>
              </a:rPr>
              <a:t>   sayısı 23’te kaldı.</a:t>
            </a:r>
            <a:br>
              <a:rPr lang="tr-TR" sz="3200" kern="0" dirty="0">
                <a:solidFill>
                  <a:srgbClr val="FF0000"/>
                </a:solidFill>
                <a:effectLst>
                  <a:outerShdw blurRad="38100" dist="38100" dir="2700000" algn="tl">
                    <a:srgbClr val="000000"/>
                  </a:outerShdw>
                </a:effectLst>
                <a:latin typeface="+mj-lt"/>
                <a:ea typeface="+mj-ea"/>
                <a:cs typeface="+mj-cs"/>
              </a:rPr>
            </a:br>
            <a:endParaRPr lang="tr-TR" sz="3200" kern="0" dirty="0">
              <a:solidFill>
                <a:srgbClr val="FF0000"/>
              </a:solidFill>
              <a:effectLst>
                <a:outerShdw blurRad="38100" dist="38100" dir="2700000" algn="tl">
                  <a:srgbClr val="000000"/>
                </a:outerShdw>
              </a:effectLst>
              <a:latin typeface="+mj-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sz="quarter"/>
          </p:nvPr>
        </p:nvSpPr>
        <p:spPr>
          <a:xfrm>
            <a:off x="323850" y="260350"/>
            <a:ext cx="8569325" cy="2079625"/>
          </a:xfrm>
        </p:spPr>
        <p:txBody>
          <a:bodyPr>
            <a:normAutofit fontScale="90000"/>
          </a:bodyPr>
          <a:lstStyle/>
          <a:p>
            <a:pPr>
              <a:defRPr/>
            </a:pPr>
            <a:r>
              <a:rPr lang="tr-TR" sz="3200" b="1" dirty="0">
                <a:effectLst/>
              </a:rPr>
              <a:t>İŞ KAZALARININ %58’İ </a:t>
            </a:r>
            <a:br>
              <a:rPr lang="tr-TR" sz="3200" b="1" dirty="0">
                <a:effectLst/>
              </a:rPr>
            </a:br>
            <a:r>
              <a:rPr lang="tr-TR" sz="3200" b="1" dirty="0">
                <a:effectLst/>
              </a:rPr>
              <a:t>50 KİŞİNİN ALTINDA İŞÇİ ÇALIŞTIRAN İŞYERLERİNDE MEYDANA GELDİ</a:t>
            </a:r>
            <a:br>
              <a:rPr lang="tr-TR" dirty="0"/>
            </a:br>
            <a:endParaRPr lang="tr-TR" dirty="0"/>
          </a:p>
        </p:txBody>
      </p:sp>
      <p:sp>
        <p:nvSpPr>
          <p:cNvPr id="3" name="2 Alt Başlık"/>
          <p:cNvSpPr>
            <a:spLocks noGrp="1"/>
          </p:cNvSpPr>
          <p:nvPr>
            <p:ph type="subTitle" sz="quarter" idx="1"/>
          </p:nvPr>
        </p:nvSpPr>
        <p:spPr>
          <a:xfrm>
            <a:off x="611188" y="2060575"/>
            <a:ext cx="7993062" cy="2808288"/>
          </a:xfrm>
        </p:spPr>
        <p:txBody>
          <a:bodyPr/>
          <a:lstStyle/>
          <a:p>
            <a:pPr algn="just">
              <a:defRPr/>
            </a:pPr>
            <a:r>
              <a:rPr lang="tr-TR" dirty="0"/>
              <a:t>	2010 yılında meydana gelen iş kazalarından 35.430’u *iş güvenliği uzmanı ve işyeri hekimi çalıştırma zorunluluğu bulunmayan 50’nin altında işçi çalıştıran işyerlerinde meydana geldi.</a:t>
            </a:r>
          </a:p>
          <a:p>
            <a:pPr>
              <a:defRPr/>
            </a:pPr>
            <a:endParaRPr lang="tr-TR" dirty="0"/>
          </a:p>
        </p:txBody>
      </p:sp>
      <p:sp>
        <p:nvSpPr>
          <p:cNvPr id="10244" name="3 Metin kutusu"/>
          <p:cNvSpPr txBox="1">
            <a:spLocks noChangeArrowheads="1"/>
          </p:cNvSpPr>
          <p:nvPr/>
        </p:nvSpPr>
        <p:spPr bwMode="auto">
          <a:xfrm>
            <a:off x="827088" y="5157788"/>
            <a:ext cx="4537075" cy="923330"/>
          </a:xfrm>
          <a:prstGeom prst="rect">
            <a:avLst/>
          </a:prstGeom>
          <a:noFill/>
          <a:ln w="9525">
            <a:noFill/>
            <a:miter lim="800000"/>
            <a:headEnd/>
            <a:tailEnd/>
          </a:ln>
        </p:spPr>
        <p:txBody>
          <a:bodyPr>
            <a:spAutoFit/>
          </a:bodyPr>
          <a:lstStyle/>
          <a:p>
            <a:r>
              <a:rPr lang="tr-TR" altLang="tr-TR" dirty="0"/>
              <a:t>* 30.06.2012 tarihli 6331 sayılı kanunla  sanayi koşulu aranmaksızın 50’nin altı için de iş sağlığı ve güvenliği şemsiyesi altına alınmıştır.</a:t>
            </a:r>
          </a:p>
        </p:txBody>
      </p:sp>
      <p:pic>
        <p:nvPicPr>
          <p:cNvPr id="9221" name="Picture 31" descr="MMj02827680000[1]"/>
          <p:cNvPicPr>
            <a:picLocks noChangeAspect="1" noChangeArrowheads="1" noCrop="1"/>
          </p:cNvPicPr>
          <p:nvPr/>
        </p:nvPicPr>
        <p:blipFill>
          <a:blip r:embed="rId2" cstate="print"/>
          <a:srcRect/>
          <a:stretch>
            <a:fillRect/>
          </a:stretch>
        </p:blipFill>
        <p:spPr bwMode="auto">
          <a:xfrm>
            <a:off x="6084888" y="4005263"/>
            <a:ext cx="2852737" cy="285273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244"/>
                                        </p:tgtEl>
                                        <p:attrNameLst>
                                          <p:attrName>style.visibility</p:attrName>
                                        </p:attrNameLst>
                                      </p:cBhvr>
                                      <p:to>
                                        <p:strVal val="visible"/>
                                      </p:to>
                                    </p:set>
                                    <p:animEffect transition="in" filter="checkerboard(across)">
                                      <p:cBhvr>
                                        <p:cTn id="12" dur="5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2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br>
              <a:rPr lang="tr-TR" b="1" dirty="0"/>
            </a:br>
            <a:endParaRPr lang="tr-TR" b="1" dirty="0"/>
          </a:p>
        </p:txBody>
      </p:sp>
      <p:sp>
        <p:nvSpPr>
          <p:cNvPr id="4" name="3 Dikdörtgen"/>
          <p:cNvSpPr/>
          <p:nvPr/>
        </p:nvSpPr>
        <p:spPr>
          <a:xfrm>
            <a:off x="0" y="0"/>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sp>
        <p:nvSpPr>
          <p:cNvPr id="5" name="Rectangle 3" descr="Buket"/>
          <p:cNvSpPr txBox="1">
            <a:spLocks noChangeArrowheads="1"/>
          </p:cNvSpPr>
          <p:nvPr/>
        </p:nvSpPr>
        <p:spPr>
          <a:xfrm>
            <a:off x="228600" y="274638"/>
            <a:ext cx="8686800" cy="1143000"/>
          </a:xfrm>
          <a:prstGeom prst="rect">
            <a:avLst/>
          </a:prstGeom>
          <a:noFill/>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4400" b="1" i="0" u="none" strike="noStrike" kern="1200" cap="none" spc="0" normalizeH="0" baseline="0" noProof="0" dirty="0">
                <a:ln>
                  <a:noFill/>
                </a:ln>
                <a:solidFill>
                  <a:schemeClr val="bg1"/>
                </a:solidFill>
                <a:effectLst/>
                <a:uLnTx/>
                <a:uFillTx/>
                <a:latin typeface="Calibri" pitchFamily="34" charset="0"/>
                <a:ea typeface="+mj-ea"/>
                <a:cs typeface="+mj-cs"/>
              </a:rPr>
              <a:t>Yaralanmaların Vücutta Dağılımı</a:t>
            </a:r>
            <a:endParaRPr kumimoji="0" lang="en-US" sz="4400" b="1" i="0" u="none" strike="noStrike" kern="1200" cap="none" spc="0" normalizeH="0" baseline="0" noProof="0" dirty="0">
              <a:ln>
                <a:noFill/>
              </a:ln>
              <a:solidFill>
                <a:schemeClr val="bg1"/>
              </a:solidFill>
              <a:effectLst/>
              <a:uLnTx/>
              <a:uFillTx/>
              <a:latin typeface="Calibri" pitchFamily="34" charset="0"/>
              <a:ea typeface="+mj-ea"/>
              <a:cs typeface="+mj-cs"/>
            </a:endParaRPr>
          </a:p>
        </p:txBody>
      </p:sp>
      <p:sp>
        <p:nvSpPr>
          <p:cNvPr id="7" name="Rectangle 4"/>
          <p:cNvSpPr txBox="1">
            <a:spLocks noChangeArrowheads="1"/>
          </p:cNvSpPr>
          <p:nvPr/>
        </p:nvSpPr>
        <p:spPr>
          <a:xfrm>
            <a:off x="-3286180" y="1785926"/>
            <a:ext cx="8229600" cy="4525963"/>
          </a:xfrm>
          <a:prstGeom prst="rect">
            <a:avLst/>
          </a:prstGeom>
          <a:noFill/>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
                <a:srgbClr val="002060"/>
              </a:buClr>
              <a:buSzTx/>
              <a:buFont typeface="Arial" pitchFamily="34" charset="0"/>
              <a:buNone/>
              <a:tabLst/>
              <a:defRPr/>
            </a:pPr>
            <a:r>
              <a:rPr kumimoji="0" lang="tr-TR" sz="3200" b="0" i="0" u="none" strike="noStrike" kern="1200" cap="none" spc="0" normalizeH="0" baseline="0" noProof="0">
                <a:ln>
                  <a:noFill/>
                </a:ln>
                <a:solidFill>
                  <a:schemeClr val="tx1">
                    <a:tint val="75000"/>
                  </a:schemeClr>
                </a:solidFill>
                <a:effectLst/>
                <a:uLnTx/>
                <a:uFillTx/>
                <a:latin typeface="+mn-lt"/>
                <a:ea typeface="+mn-ea"/>
                <a:cs typeface="+mn-cs"/>
              </a:rPr>
              <a:t> </a:t>
            </a:r>
            <a:r>
              <a:rPr kumimoji="0" lang="tr-TR" sz="3200" b="1" i="0" u="none" strike="noStrike" kern="1200" cap="none" spc="0" normalizeH="0" baseline="0" noProof="0">
                <a:ln>
                  <a:noFill/>
                </a:ln>
                <a:solidFill>
                  <a:srgbClr val="0066FF"/>
                </a:solidFill>
                <a:effectLst/>
                <a:uLnTx/>
                <a:uFillTx/>
                <a:latin typeface="+mn-lt"/>
                <a:ea typeface="+mn-ea"/>
                <a:cs typeface="+mn-cs"/>
              </a:rPr>
              <a:t>%15</a:t>
            </a:r>
          </a:p>
          <a:p>
            <a:pPr marL="0" marR="0" lvl="0" indent="0" algn="ctr" defTabSz="914400" rtl="0" eaLnBrk="1" fontAlgn="auto" latinLnBrk="0" hangingPunct="1">
              <a:lnSpc>
                <a:spcPct val="100000"/>
              </a:lnSpc>
              <a:spcBef>
                <a:spcPct val="20000"/>
              </a:spcBef>
              <a:spcAft>
                <a:spcPts val="0"/>
              </a:spcAft>
              <a:buClr>
                <a:srgbClr val="002060"/>
              </a:buClr>
              <a:buSzTx/>
              <a:buFont typeface="Arial" pitchFamily="34" charset="0"/>
              <a:buNone/>
              <a:tabLst/>
              <a:defRPr/>
            </a:pPr>
            <a:r>
              <a:rPr kumimoji="0" lang="tr-TR" sz="3200" b="1" i="0" u="none" strike="noStrike" kern="1200" cap="none" spc="0" normalizeH="0" baseline="0" noProof="0">
                <a:ln>
                  <a:noFill/>
                </a:ln>
                <a:solidFill>
                  <a:srgbClr val="0066FF"/>
                </a:solidFill>
                <a:effectLst/>
                <a:uLnTx/>
                <a:uFillTx/>
                <a:latin typeface="+mn-lt"/>
                <a:ea typeface="+mn-ea"/>
                <a:cs typeface="+mn-cs"/>
              </a:rPr>
              <a:t> % 8</a:t>
            </a:r>
          </a:p>
          <a:p>
            <a:pPr marL="0" marR="0" lvl="0" indent="0" algn="ctr" defTabSz="914400" rtl="0" eaLnBrk="1" fontAlgn="auto" latinLnBrk="0" hangingPunct="1">
              <a:lnSpc>
                <a:spcPct val="100000"/>
              </a:lnSpc>
              <a:spcBef>
                <a:spcPct val="20000"/>
              </a:spcBef>
              <a:spcAft>
                <a:spcPts val="0"/>
              </a:spcAft>
              <a:buClr>
                <a:srgbClr val="002060"/>
              </a:buClr>
              <a:buSzTx/>
              <a:buFont typeface="Arial" pitchFamily="34" charset="0"/>
              <a:buNone/>
              <a:tabLst/>
              <a:defRPr/>
            </a:pPr>
            <a:r>
              <a:rPr kumimoji="0" lang="tr-TR" sz="3200" b="1" i="0" u="none" strike="noStrike" kern="1200" cap="none" spc="0" normalizeH="0" baseline="0" noProof="0">
                <a:ln>
                  <a:noFill/>
                </a:ln>
                <a:solidFill>
                  <a:srgbClr val="0066FF"/>
                </a:solidFill>
                <a:effectLst/>
                <a:uLnTx/>
                <a:uFillTx/>
                <a:latin typeface="+mn-lt"/>
                <a:ea typeface="+mn-ea"/>
                <a:cs typeface="+mn-cs"/>
              </a:rPr>
              <a:t> % 3</a:t>
            </a:r>
          </a:p>
          <a:p>
            <a:pPr marL="0" marR="0" lvl="0" indent="0" algn="ctr" defTabSz="914400" rtl="0" eaLnBrk="1" fontAlgn="auto" latinLnBrk="0" hangingPunct="1">
              <a:lnSpc>
                <a:spcPct val="100000"/>
              </a:lnSpc>
              <a:spcBef>
                <a:spcPct val="20000"/>
              </a:spcBef>
              <a:spcAft>
                <a:spcPts val="0"/>
              </a:spcAft>
              <a:buClr>
                <a:srgbClr val="002060"/>
              </a:buClr>
              <a:buSzTx/>
              <a:buFont typeface="Arial" pitchFamily="34" charset="0"/>
              <a:buNone/>
              <a:tabLst/>
              <a:defRPr/>
            </a:pPr>
            <a:r>
              <a:rPr kumimoji="0" lang="tr-TR" sz="3200" b="1" i="0" u="none" strike="noStrike" kern="1200" cap="none" spc="0" normalizeH="0" baseline="0" noProof="0">
                <a:ln>
                  <a:noFill/>
                </a:ln>
                <a:solidFill>
                  <a:srgbClr val="0066FF"/>
                </a:solidFill>
                <a:effectLst/>
                <a:uLnTx/>
                <a:uFillTx/>
                <a:latin typeface="+mn-lt"/>
                <a:ea typeface="+mn-ea"/>
                <a:cs typeface="+mn-cs"/>
              </a:rPr>
              <a:t> %10</a:t>
            </a:r>
          </a:p>
          <a:p>
            <a:pPr marL="0" marR="0" lvl="0" indent="0" algn="ctr" defTabSz="914400" rtl="0" eaLnBrk="1" fontAlgn="auto" latinLnBrk="0" hangingPunct="1">
              <a:lnSpc>
                <a:spcPct val="100000"/>
              </a:lnSpc>
              <a:spcBef>
                <a:spcPct val="20000"/>
              </a:spcBef>
              <a:spcAft>
                <a:spcPts val="0"/>
              </a:spcAft>
              <a:buClr>
                <a:srgbClr val="002060"/>
              </a:buClr>
              <a:buSzTx/>
              <a:buFont typeface="Arial" pitchFamily="34" charset="0"/>
              <a:buNone/>
              <a:tabLst/>
              <a:defRPr/>
            </a:pPr>
            <a:r>
              <a:rPr kumimoji="0" lang="tr-TR" sz="3200" b="1" i="0" u="none" strike="noStrike" kern="1200" cap="none" spc="0" normalizeH="0" baseline="0" noProof="0">
                <a:ln>
                  <a:noFill/>
                </a:ln>
                <a:solidFill>
                  <a:srgbClr val="0066FF"/>
                </a:solidFill>
                <a:effectLst/>
                <a:uLnTx/>
                <a:uFillTx/>
                <a:latin typeface="+mn-lt"/>
                <a:ea typeface="+mn-ea"/>
                <a:cs typeface="+mn-cs"/>
              </a:rPr>
              <a:t> %15</a:t>
            </a:r>
          </a:p>
          <a:p>
            <a:pPr marL="0" marR="0" lvl="0" indent="0" algn="ctr" defTabSz="914400" rtl="0" eaLnBrk="1" fontAlgn="auto" latinLnBrk="0" hangingPunct="1">
              <a:lnSpc>
                <a:spcPct val="100000"/>
              </a:lnSpc>
              <a:spcBef>
                <a:spcPct val="20000"/>
              </a:spcBef>
              <a:spcAft>
                <a:spcPts val="0"/>
              </a:spcAft>
              <a:buClr>
                <a:srgbClr val="002060"/>
              </a:buClr>
              <a:buSzTx/>
              <a:buFont typeface="Arial" pitchFamily="34" charset="0"/>
              <a:buNone/>
              <a:tabLst/>
              <a:defRPr/>
            </a:pPr>
            <a:r>
              <a:rPr kumimoji="0" lang="tr-TR" sz="3200" b="1" i="0" u="none" strike="noStrike" kern="1200" cap="none" spc="0" normalizeH="0" baseline="0" noProof="0">
                <a:ln>
                  <a:noFill/>
                </a:ln>
                <a:solidFill>
                  <a:srgbClr val="0066FF"/>
                </a:solidFill>
                <a:effectLst/>
                <a:uLnTx/>
                <a:uFillTx/>
                <a:latin typeface="+mn-lt"/>
                <a:ea typeface="+mn-ea"/>
                <a:cs typeface="+mn-cs"/>
              </a:rPr>
              <a:t> %15</a:t>
            </a:r>
          </a:p>
          <a:p>
            <a:pPr marL="0" marR="0" lvl="0" indent="0" algn="ctr" defTabSz="914400" rtl="0" eaLnBrk="1" fontAlgn="auto" latinLnBrk="0" hangingPunct="1">
              <a:lnSpc>
                <a:spcPct val="100000"/>
              </a:lnSpc>
              <a:spcBef>
                <a:spcPct val="20000"/>
              </a:spcBef>
              <a:spcAft>
                <a:spcPts val="0"/>
              </a:spcAft>
              <a:buClr>
                <a:srgbClr val="002060"/>
              </a:buClr>
              <a:buSzTx/>
              <a:buFont typeface="Arial" pitchFamily="34" charset="0"/>
              <a:buNone/>
              <a:tabLst/>
              <a:defRPr/>
            </a:pPr>
            <a:r>
              <a:rPr kumimoji="0" lang="tr-TR" sz="3200" b="1" i="0" u="none" strike="noStrike" kern="1200" cap="none" spc="0" normalizeH="0" baseline="0" noProof="0">
                <a:ln>
                  <a:noFill/>
                </a:ln>
                <a:solidFill>
                  <a:srgbClr val="0066FF"/>
                </a:solidFill>
                <a:effectLst/>
                <a:uLnTx/>
                <a:uFillTx/>
                <a:latin typeface="+mn-lt"/>
                <a:ea typeface="+mn-ea"/>
                <a:cs typeface="+mn-cs"/>
              </a:rPr>
              <a:t> %34</a:t>
            </a:r>
            <a:endParaRPr kumimoji="0" lang="en-US" sz="3200" b="1" i="0" u="none" strike="noStrike" kern="1200" cap="none" spc="0" normalizeH="0" baseline="0" noProof="0" dirty="0">
              <a:ln>
                <a:noFill/>
              </a:ln>
              <a:solidFill>
                <a:srgbClr val="0066FF"/>
              </a:solidFill>
              <a:effectLst/>
              <a:uLnTx/>
              <a:uFillTx/>
              <a:latin typeface="+mn-lt"/>
              <a:ea typeface="+mn-ea"/>
              <a:cs typeface="+mn-cs"/>
            </a:endParaRPr>
          </a:p>
        </p:txBody>
      </p:sp>
      <p:pic>
        <p:nvPicPr>
          <p:cNvPr id="8" name="Picture 5" descr="pe02002_"/>
          <p:cNvPicPr>
            <a:picLocks noChangeAspect="1" noChangeArrowheads="1"/>
          </p:cNvPicPr>
          <p:nvPr/>
        </p:nvPicPr>
        <p:blipFill>
          <a:blip r:embed="rId2" cstate="print"/>
          <a:srcRect/>
          <a:stretch>
            <a:fillRect/>
          </a:stretch>
        </p:blipFill>
        <p:spPr bwMode="auto">
          <a:xfrm>
            <a:off x="3124200" y="1752600"/>
            <a:ext cx="3463925" cy="4114800"/>
          </a:xfrm>
          <a:prstGeom prst="rect">
            <a:avLst/>
          </a:prstGeom>
          <a:noFill/>
          <a:ln w="9525">
            <a:noFill/>
            <a:miter lim="800000"/>
            <a:headEnd/>
            <a:tailEnd/>
          </a:ln>
        </p:spPr>
      </p:pic>
      <p:sp>
        <p:nvSpPr>
          <p:cNvPr id="9" name="Line 6"/>
          <p:cNvSpPr>
            <a:spLocks noChangeShapeType="1"/>
          </p:cNvSpPr>
          <p:nvPr/>
        </p:nvSpPr>
        <p:spPr bwMode="auto">
          <a:xfrm>
            <a:off x="2057400" y="1981200"/>
            <a:ext cx="2514600" cy="0"/>
          </a:xfrm>
          <a:prstGeom prst="line">
            <a:avLst/>
          </a:prstGeom>
          <a:noFill/>
          <a:ln w="9525">
            <a:solidFill>
              <a:schemeClr val="bg2"/>
            </a:solidFill>
            <a:miter lim="800000"/>
            <a:headEnd/>
            <a:tailEnd type="triangle" w="med" len="med"/>
          </a:ln>
        </p:spPr>
        <p:txBody>
          <a:bodyPr wrap="none"/>
          <a:lstStyle/>
          <a:p>
            <a:endParaRPr lang="tr-TR"/>
          </a:p>
        </p:txBody>
      </p:sp>
      <p:sp>
        <p:nvSpPr>
          <p:cNvPr id="10" name="Line 7"/>
          <p:cNvSpPr>
            <a:spLocks noChangeShapeType="1"/>
          </p:cNvSpPr>
          <p:nvPr/>
        </p:nvSpPr>
        <p:spPr bwMode="auto">
          <a:xfrm flipV="1">
            <a:off x="1752600" y="2133600"/>
            <a:ext cx="3124200" cy="228600"/>
          </a:xfrm>
          <a:prstGeom prst="line">
            <a:avLst/>
          </a:prstGeom>
          <a:noFill/>
          <a:ln w="9525">
            <a:solidFill>
              <a:schemeClr val="bg2"/>
            </a:solidFill>
            <a:miter lim="800000"/>
            <a:headEnd/>
            <a:tailEnd type="triangle" w="med" len="med"/>
          </a:ln>
        </p:spPr>
        <p:txBody>
          <a:bodyPr wrap="none"/>
          <a:lstStyle/>
          <a:p>
            <a:endParaRPr lang="tr-TR"/>
          </a:p>
        </p:txBody>
      </p:sp>
      <p:sp>
        <p:nvSpPr>
          <p:cNvPr id="11" name="Line 8"/>
          <p:cNvSpPr>
            <a:spLocks noChangeShapeType="1"/>
          </p:cNvSpPr>
          <p:nvPr/>
        </p:nvSpPr>
        <p:spPr bwMode="auto">
          <a:xfrm flipV="1">
            <a:off x="1752600" y="3124200"/>
            <a:ext cx="2819400" cy="457200"/>
          </a:xfrm>
          <a:prstGeom prst="line">
            <a:avLst/>
          </a:prstGeom>
          <a:noFill/>
          <a:ln w="9525">
            <a:solidFill>
              <a:schemeClr val="bg2"/>
            </a:solidFill>
            <a:miter lim="800000"/>
            <a:headEnd/>
            <a:tailEnd type="triangle" w="med" len="med"/>
          </a:ln>
        </p:spPr>
        <p:txBody>
          <a:bodyPr wrap="none"/>
          <a:lstStyle/>
          <a:p>
            <a:endParaRPr lang="tr-TR"/>
          </a:p>
        </p:txBody>
      </p:sp>
      <p:sp>
        <p:nvSpPr>
          <p:cNvPr id="12" name="Line 9"/>
          <p:cNvSpPr>
            <a:spLocks noChangeShapeType="1"/>
          </p:cNvSpPr>
          <p:nvPr/>
        </p:nvSpPr>
        <p:spPr bwMode="auto">
          <a:xfrm flipV="1">
            <a:off x="2133600" y="3810000"/>
            <a:ext cx="1676400" cy="381000"/>
          </a:xfrm>
          <a:prstGeom prst="line">
            <a:avLst/>
          </a:prstGeom>
          <a:noFill/>
          <a:ln w="9525">
            <a:solidFill>
              <a:schemeClr val="bg2"/>
            </a:solidFill>
            <a:miter lim="800000"/>
            <a:headEnd/>
            <a:tailEnd type="triangle" w="med" len="med"/>
          </a:ln>
        </p:spPr>
        <p:txBody>
          <a:bodyPr wrap="none"/>
          <a:lstStyle/>
          <a:p>
            <a:endParaRPr lang="tr-TR"/>
          </a:p>
        </p:txBody>
      </p:sp>
      <p:sp>
        <p:nvSpPr>
          <p:cNvPr id="13" name="Line 10"/>
          <p:cNvSpPr>
            <a:spLocks noChangeShapeType="1"/>
          </p:cNvSpPr>
          <p:nvPr/>
        </p:nvSpPr>
        <p:spPr bwMode="auto">
          <a:xfrm flipV="1">
            <a:off x="2209800" y="4724400"/>
            <a:ext cx="1752600" cy="76200"/>
          </a:xfrm>
          <a:prstGeom prst="line">
            <a:avLst/>
          </a:prstGeom>
          <a:noFill/>
          <a:ln w="9525">
            <a:solidFill>
              <a:schemeClr val="bg2"/>
            </a:solidFill>
            <a:miter lim="800000"/>
            <a:headEnd/>
            <a:tailEnd type="triangle" w="med" len="med"/>
          </a:ln>
        </p:spPr>
        <p:txBody>
          <a:bodyPr wrap="none"/>
          <a:lstStyle/>
          <a:p>
            <a:endParaRPr lang="tr-TR"/>
          </a:p>
        </p:txBody>
      </p:sp>
      <p:sp>
        <p:nvSpPr>
          <p:cNvPr id="14" name="Line 11"/>
          <p:cNvSpPr>
            <a:spLocks noChangeShapeType="1"/>
          </p:cNvSpPr>
          <p:nvPr/>
        </p:nvSpPr>
        <p:spPr bwMode="auto">
          <a:xfrm>
            <a:off x="1981200" y="5410200"/>
            <a:ext cx="1676400" cy="228600"/>
          </a:xfrm>
          <a:prstGeom prst="line">
            <a:avLst/>
          </a:prstGeom>
          <a:noFill/>
          <a:ln w="9525">
            <a:solidFill>
              <a:schemeClr val="bg2"/>
            </a:solidFill>
            <a:miter lim="800000"/>
            <a:headEnd/>
            <a:tailEnd type="triangle" w="med" len="med"/>
          </a:ln>
        </p:spPr>
        <p:txBody>
          <a:bodyPr wrap="none"/>
          <a:lstStyle/>
          <a:p>
            <a:endParaRPr lang="tr-TR"/>
          </a:p>
        </p:txBody>
      </p:sp>
      <p:sp>
        <p:nvSpPr>
          <p:cNvPr id="15" name="Line 12"/>
          <p:cNvSpPr>
            <a:spLocks noChangeShapeType="1"/>
          </p:cNvSpPr>
          <p:nvPr/>
        </p:nvSpPr>
        <p:spPr bwMode="auto">
          <a:xfrm flipV="1">
            <a:off x="1676400" y="2895600"/>
            <a:ext cx="2286000" cy="228600"/>
          </a:xfrm>
          <a:prstGeom prst="line">
            <a:avLst/>
          </a:prstGeom>
          <a:noFill/>
          <a:ln w="9525">
            <a:solidFill>
              <a:schemeClr val="bg2"/>
            </a:solidFill>
            <a:miter lim="800000"/>
            <a:headEnd/>
            <a:tailEnd type="triangle" w="med" len="med"/>
          </a:ln>
        </p:spPr>
        <p:txBody>
          <a:bodyPr wrap="none"/>
          <a:lstStyle/>
          <a:p>
            <a:endParaRPr lang="tr-TR"/>
          </a:p>
        </p:txBody>
      </p:sp>
      <p:sp>
        <p:nvSpPr>
          <p:cNvPr id="16" name="Text Box 13"/>
          <p:cNvSpPr txBox="1">
            <a:spLocks noChangeArrowheads="1"/>
          </p:cNvSpPr>
          <p:nvPr/>
        </p:nvSpPr>
        <p:spPr bwMode="auto">
          <a:xfrm>
            <a:off x="6858000" y="5562600"/>
            <a:ext cx="1889942" cy="243656"/>
          </a:xfrm>
          <a:prstGeom prst="rect">
            <a:avLst/>
          </a:prstGeom>
          <a:noFill/>
          <a:ln w="9525">
            <a:noFill/>
            <a:miter lim="800000"/>
            <a:headEnd/>
            <a:tailEnd/>
          </a:ln>
        </p:spPr>
        <p:txBody>
          <a:bodyPr wrap="none" lIns="90488" tIns="44450" rIns="90488" bIns="44450">
            <a:spAutoFit/>
          </a:bodyPr>
          <a:lstStyle/>
          <a:p>
            <a:pPr>
              <a:spcBef>
                <a:spcPct val="20000"/>
              </a:spcBef>
              <a:buClr>
                <a:srgbClr val="FF0000"/>
              </a:buClr>
            </a:pPr>
            <a:r>
              <a:rPr lang="tr-TR" sz="1000" b="1" dirty="0">
                <a:latin typeface="Tahoma" pitchFamily="34" charset="0"/>
              </a:rPr>
              <a:t>ILO Verilerinden alınmıştır</a:t>
            </a:r>
          </a:p>
        </p:txBody>
      </p:sp>
      <p:pic>
        <p:nvPicPr>
          <p:cNvPr id="17" name="Picture 14" descr="ILO Home">
            <a:hlinkClick r:id="rId3"/>
          </p:cNvPr>
          <p:cNvPicPr>
            <a:picLocks noChangeAspect="1" noChangeArrowheads="1"/>
          </p:cNvPicPr>
          <p:nvPr/>
        </p:nvPicPr>
        <p:blipFill>
          <a:blip r:embed="rId4" cstate="print"/>
          <a:srcRect/>
          <a:stretch>
            <a:fillRect/>
          </a:stretch>
        </p:blipFill>
        <p:spPr bwMode="auto">
          <a:xfrm>
            <a:off x="7143768" y="4286256"/>
            <a:ext cx="1143000" cy="1066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out)">
                                      <p:cBhvr>
                                        <p:cTn id="7" dur="1000"/>
                                        <p:tgtEl>
                                          <p:spTgt spid="5"/>
                                        </p:tgtEl>
                                      </p:cBhvr>
                                    </p:animEffect>
                                  </p:childTnLst>
                                </p:cTn>
                              </p:par>
                            </p:childTnLst>
                          </p:cTn>
                        </p:par>
                        <p:par>
                          <p:cTn id="8" fill="hold">
                            <p:stCondLst>
                              <p:cond delay="1000"/>
                            </p:stCondLst>
                            <p:childTnLst>
                              <p:par>
                                <p:cTn id="9" presetID="4" presetClass="entr" presetSubtype="32" fill="hold"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box(out)">
                                      <p:cBhvr>
                                        <p:cTn id="11" dur="500"/>
                                        <p:tgtEl>
                                          <p:spTgt spid="7">
                                            <p:txEl>
                                              <p:pRg st="0" end="0"/>
                                            </p:txEl>
                                          </p:spTgt>
                                        </p:tgtEl>
                                      </p:cBhvr>
                                    </p:animEffect>
                                  </p:childTnLst>
                                </p:cTn>
                              </p:par>
                            </p:childTnLst>
                          </p:cTn>
                        </p:par>
                        <p:par>
                          <p:cTn id="12" fill="hold">
                            <p:stCondLst>
                              <p:cond delay="1500"/>
                            </p:stCondLst>
                            <p:childTnLst>
                              <p:par>
                                <p:cTn id="13" presetID="4" presetClass="entr" presetSubtype="32" fill="hold"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box(out)">
                                      <p:cBhvr>
                                        <p:cTn id="15" dur="1000"/>
                                        <p:tgtEl>
                                          <p:spTgt spid="7">
                                            <p:txEl>
                                              <p:pRg st="1" end="1"/>
                                            </p:txEl>
                                          </p:spTgt>
                                        </p:tgtEl>
                                      </p:cBhvr>
                                    </p:animEffect>
                                  </p:childTnLst>
                                </p:cTn>
                              </p:par>
                            </p:childTnLst>
                          </p:cTn>
                        </p:par>
                        <p:par>
                          <p:cTn id="16" fill="hold">
                            <p:stCondLst>
                              <p:cond delay="2500"/>
                            </p:stCondLst>
                            <p:childTnLst>
                              <p:par>
                                <p:cTn id="17" presetID="4" presetClass="entr" presetSubtype="32" fill="hold"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box(out)">
                                      <p:cBhvr>
                                        <p:cTn id="19" dur="1000"/>
                                        <p:tgtEl>
                                          <p:spTgt spid="7">
                                            <p:txEl>
                                              <p:pRg st="2" end="2"/>
                                            </p:txEl>
                                          </p:spTgt>
                                        </p:tgtEl>
                                      </p:cBhvr>
                                    </p:animEffect>
                                  </p:childTnLst>
                                </p:cTn>
                              </p:par>
                            </p:childTnLst>
                          </p:cTn>
                        </p:par>
                        <p:par>
                          <p:cTn id="20" fill="hold">
                            <p:stCondLst>
                              <p:cond delay="3500"/>
                            </p:stCondLst>
                            <p:childTnLst>
                              <p:par>
                                <p:cTn id="21" presetID="4" presetClass="entr" presetSubtype="32" fill="hold" nodeType="after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box(out)">
                                      <p:cBhvr>
                                        <p:cTn id="23" dur="1000"/>
                                        <p:tgtEl>
                                          <p:spTgt spid="7">
                                            <p:txEl>
                                              <p:pRg st="3" end="3"/>
                                            </p:txEl>
                                          </p:spTgt>
                                        </p:tgtEl>
                                      </p:cBhvr>
                                    </p:animEffect>
                                  </p:childTnLst>
                                </p:cTn>
                              </p:par>
                            </p:childTnLst>
                          </p:cTn>
                        </p:par>
                        <p:par>
                          <p:cTn id="24" fill="hold">
                            <p:stCondLst>
                              <p:cond delay="4500"/>
                            </p:stCondLst>
                            <p:childTnLst>
                              <p:par>
                                <p:cTn id="25" presetID="4" presetClass="entr" presetSubtype="32" fill="hold" nodeType="after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ox(out)">
                                      <p:cBhvr>
                                        <p:cTn id="27" dur="1000"/>
                                        <p:tgtEl>
                                          <p:spTgt spid="7">
                                            <p:txEl>
                                              <p:pRg st="4" end="4"/>
                                            </p:txEl>
                                          </p:spTgt>
                                        </p:tgtEl>
                                      </p:cBhvr>
                                    </p:animEffect>
                                  </p:childTnLst>
                                </p:cTn>
                              </p:par>
                            </p:childTnLst>
                          </p:cTn>
                        </p:par>
                        <p:par>
                          <p:cTn id="28" fill="hold">
                            <p:stCondLst>
                              <p:cond delay="5500"/>
                            </p:stCondLst>
                            <p:childTnLst>
                              <p:par>
                                <p:cTn id="29" presetID="4" presetClass="entr" presetSubtype="32" fill="hold" nodeType="after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Effect transition="in" filter="box(out)">
                                      <p:cBhvr>
                                        <p:cTn id="31" dur="1000"/>
                                        <p:tgtEl>
                                          <p:spTgt spid="7">
                                            <p:txEl>
                                              <p:pRg st="5" end="5"/>
                                            </p:txEl>
                                          </p:spTgt>
                                        </p:tgtEl>
                                      </p:cBhvr>
                                    </p:animEffect>
                                  </p:childTnLst>
                                </p:cTn>
                              </p:par>
                            </p:childTnLst>
                          </p:cTn>
                        </p:par>
                        <p:par>
                          <p:cTn id="32" fill="hold">
                            <p:stCondLst>
                              <p:cond delay="6500"/>
                            </p:stCondLst>
                            <p:childTnLst>
                              <p:par>
                                <p:cTn id="33" presetID="4" presetClass="entr" presetSubtype="32" fill="hold" nodeType="after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animEffect transition="in" filter="box(out)">
                                      <p:cBhvr>
                                        <p:cTn id="35" dur="10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200" dirty="0">
                <a:solidFill>
                  <a:schemeClr val="tx2">
                    <a:lumMod val="60000"/>
                    <a:lumOff val="40000"/>
                  </a:schemeClr>
                </a:solidFill>
              </a:rPr>
              <a:t>Türkiye ve Dünyada İş Sağlığı ve Güvenliği Kanunlarda Ulusal ve </a:t>
            </a:r>
            <a:r>
              <a:rPr lang="tr-TR" sz="3200" dirty="0" err="1">
                <a:solidFill>
                  <a:schemeClr val="tx2">
                    <a:lumMod val="60000"/>
                    <a:lumOff val="40000"/>
                  </a:schemeClr>
                </a:solidFill>
              </a:rPr>
              <a:t>Uluslarası</a:t>
            </a:r>
            <a:r>
              <a:rPr lang="tr-TR" sz="3200" dirty="0">
                <a:solidFill>
                  <a:schemeClr val="tx2">
                    <a:lumMod val="60000"/>
                    <a:lumOff val="40000"/>
                  </a:schemeClr>
                </a:solidFill>
              </a:rPr>
              <a:t> Kuruluşlar ve Sözleşmeler</a:t>
            </a:r>
          </a:p>
        </p:txBody>
      </p:sp>
      <p:sp>
        <p:nvSpPr>
          <p:cNvPr id="3" name="2 İçerik Yer Tutucusu"/>
          <p:cNvSpPr>
            <a:spLocks noGrp="1"/>
          </p:cNvSpPr>
          <p:nvPr>
            <p:ph idx="1"/>
          </p:nvPr>
        </p:nvSpPr>
        <p:spPr/>
        <p:txBody>
          <a:bodyPr/>
          <a:lstStyle/>
          <a:p>
            <a:r>
              <a:rPr lang="tr-TR" b="1" dirty="0">
                <a:solidFill>
                  <a:srgbClr val="0070C0"/>
                </a:solidFill>
              </a:rPr>
              <a:t>Ulusal Kuruluşlar</a:t>
            </a:r>
          </a:p>
          <a:p>
            <a:pPr lvl="1">
              <a:buNone/>
            </a:pPr>
            <a:r>
              <a:rPr lang="tr-TR" dirty="0"/>
              <a:t>   Kamu kurum ve kuruluşları: özellikle aktif şekilde          					  hizmet verirler.</a:t>
            </a:r>
          </a:p>
          <a:p>
            <a:pPr lvl="1">
              <a:buNone/>
            </a:pPr>
            <a:r>
              <a:rPr lang="tr-TR" dirty="0"/>
              <a:t>   Sendikalar</a:t>
            </a:r>
          </a:p>
          <a:p>
            <a:pPr lvl="1">
              <a:buNone/>
            </a:pPr>
            <a:r>
              <a:rPr lang="tr-TR" dirty="0"/>
              <a:t>   Mesleki Örgütler</a:t>
            </a:r>
          </a:p>
          <a:p>
            <a:pPr lvl="1">
              <a:buNone/>
            </a:pPr>
            <a:r>
              <a:rPr lang="tr-TR" dirty="0"/>
              <a:t>   Üniversiteler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92500" lnSpcReduction="10000"/>
          </a:bodyPr>
          <a:lstStyle/>
          <a:p>
            <a:pPr>
              <a:buFont typeface="Wingdings" pitchFamily="2" charset="2"/>
              <a:buChar char="Ø"/>
            </a:pPr>
            <a:r>
              <a:rPr lang="tr-TR" dirty="0">
                <a:solidFill>
                  <a:srgbClr val="FF0000"/>
                </a:solidFill>
              </a:rPr>
              <a:t>Çalışma ve Sosyal Güvenlik Bakanlığı</a:t>
            </a:r>
          </a:p>
          <a:p>
            <a:pPr>
              <a:buFont typeface="Wingdings" pitchFamily="2" charset="2"/>
              <a:buChar char="Ø"/>
            </a:pPr>
            <a:r>
              <a:rPr lang="tr-TR" dirty="0">
                <a:solidFill>
                  <a:srgbClr val="FF0000"/>
                </a:solidFill>
              </a:rPr>
              <a:t>İş Sağlığı ve Güvenliği Genel Müdürlüğü</a:t>
            </a:r>
          </a:p>
          <a:p>
            <a:pPr>
              <a:buFont typeface="Wingdings" pitchFamily="2" charset="2"/>
              <a:buChar char="Ø"/>
            </a:pPr>
            <a:r>
              <a:rPr lang="tr-TR" dirty="0">
                <a:solidFill>
                  <a:srgbClr val="FF0000"/>
                </a:solidFill>
              </a:rPr>
              <a:t>İş Teftiş Kurulu Başkanlığı</a:t>
            </a:r>
          </a:p>
          <a:p>
            <a:pPr>
              <a:buFont typeface="Wingdings" pitchFamily="2" charset="2"/>
              <a:buChar char="Ø"/>
            </a:pPr>
            <a:r>
              <a:rPr lang="tr-TR" dirty="0"/>
              <a:t>Çalışma ve Sosyal güvenlik Bakanlığı eğitim merkezi</a:t>
            </a:r>
          </a:p>
          <a:p>
            <a:pPr>
              <a:buFont typeface="Wingdings" pitchFamily="2" charset="2"/>
              <a:buChar char="Ø"/>
            </a:pPr>
            <a:r>
              <a:rPr lang="tr-TR" dirty="0"/>
              <a:t>Sosyal Güvenlik Kurumu </a:t>
            </a:r>
          </a:p>
          <a:p>
            <a:pPr>
              <a:buFont typeface="Wingdings" pitchFamily="2" charset="2"/>
              <a:buChar char="Ø"/>
            </a:pPr>
            <a:r>
              <a:rPr lang="tr-TR" dirty="0"/>
              <a:t>Sağlık Bakanlığı Temel Sağlık </a:t>
            </a:r>
            <a:r>
              <a:rPr lang="tr-TR" dirty="0" err="1"/>
              <a:t>Hiz</a:t>
            </a:r>
            <a:r>
              <a:rPr lang="tr-TR" dirty="0"/>
              <a:t>. Genel </a:t>
            </a:r>
            <a:r>
              <a:rPr lang="tr-TR" dirty="0" err="1"/>
              <a:t>Müd</a:t>
            </a:r>
            <a:r>
              <a:rPr lang="tr-TR" dirty="0"/>
              <a:t>.</a:t>
            </a:r>
          </a:p>
          <a:p>
            <a:pPr>
              <a:buFont typeface="Wingdings" pitchFamily="2" charset="2"/>
              <a:buChar char="Ø"/>
            </a:pPr>
            <a:r>
              <a:rPr lang="tr-TR" dirty="0"/>
              <a:t>Çevre ve Orman Bakanlığı</a:t>
            </a:r>
          </a:p>
          <a:p>
            <a:pPr>
              <a:buFont typeface="Wingdings" pitchFamily="2" charset="2"/>
              <a:buChar char="Ø"/>
            </a:pPr>
            <a:r>
              <a:rPr lang="tr-TR" dirty="0"/>
              <a:t>Çevre Yönetimi Genel </a:t>
            </a:r>
            <a:r>
              <a:rPr lang="tr-TR" dirty="0" err="1"/>
              <a:t>Müd</a:t>
            </a:r>
            <a:r>
              <a:rPr lang="tr-TR" dirty="0"/>
              <a:t>.</a:t>
            </a:r>
          </a:p>
          <a:p>
            <a:pPr>
              <a:buFont typeface="Wingdings" pitchFamily="2" charset="2"/>
              <a:buChar char="Ø"/>
            </a:pPr>
            <a:endParaRPr lang="tr-TR" dirty="0"/>
          </a:p>
          <a:p>
            <a:endParaRPr lang="tr-TR" dirty="0"/>
          </a:p>
        </p:txBody>
      </p:sp>
      <p:sp>
        <p:nvSpPr>
          <p:cNvPr id="5" name="4 Dikdörtgen"/>
          <p:cNvSpPr/>
          <p:nvPr/>
        </p:nvSpPr>
        <p:spPr>
          <a:xfrm>
            <a:off x="395536" y="260648"/>
            <a:ext cx="8001294" cy="923330"/>
          </a:xfrm>
          <a:prstGeom prst="rect">
            <a:avLst/>
          </a:prstGeom>
          <a:noFill/>
        </p:spPr>
        <p:txBody>
          <a:bodyPr wrap="none" lIns="91440" tIns="45720" rIns="91440" bIns="45720">
            <a:spAutoFit/>
          </a:bodyPr>
          <a:lstStyle/>
          <a:p>
            <a:pPr algn="ctr"/>
            <a:r>
              <a:rPr lang="tr-TR" sz="5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Kamu Kurum ve Kuruluşları</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92500" lnSpcReduction="20000"/>
          </a:bodyPr>
          <a:lstStyle/>
          <a:p>
            <a:pPr lvl="1">
              <a:buFont typeface="Wingdings" pitchFamily="2" charset="2"/>
              <a:buChar char="Ø"/>
            </a:pPr>
            <a:r>
              <a:rPr lang="tr-TR" sz="3200" dirty="0"/>
              <a:t>Türk – İş</a:t>
            </a:r>
          </a:p>
          <a:p>
            <a:pPr lvl="1">
              <a:buFont typeface="Wingdings" pitchFamily="2" charset="2"/>
              <a:buChar char="Ø"/>
            </a:pPr>
            <a:r>
              <a:rPr lang="tr-TR" sz="3200" dirty="0"/>
              <a:t>Hak – İş</a:t>
            </a:r>
          </a:p>
          <a:p>
            <a:pPr lvl="1">
              <a:buFont typeface="Wingdings" pitchFamily="2" charset="2"/>
              <a:buChar char="Ø"/>
            </a:pPr>
            <a:r>
              <a:rPr lang="tr-TR" sz="3200" dirty="0"/>
              <a:t>DİSK</a:t>
            </a:r>
          </a:p>
          <a:p>
            <a:pPr lvl="1">
              <a:buFont typeface="Wingdings" pitchFamily="2" charset="2"/>
              <a:buChar char="Ø"/>
            </a:pPr>
            <a:r>
              <a:rPr lang="tr-TR" sz="3200" dirty="0"/>
              <a:t>TİSK</a:t>
            </a:r>
          </a:p>
          <a:p>
            <a:pPr>
              <a:buNone/>
            </a:pPr>
            <a:r>
              <a:rPr lang="tr-TR" sz="5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j-lt"/>
                <a:ea typeface="+mj-ea"/>
                <a:cs typeface="+mj-cs"/>
              </a:rPr>
              <a:t>Mesleki Örgütler: </a:t>
            </a:r>
          </a:p>
          <a:p>
            <a:pPr lvl="1">
              <a:buFont typeface="Wingdings" pitchFamily="2" charset="2"/>
              <a:buChar char="Ø"/>
            </a:pPr>
            <a:r>
              <a:rPr lang="tr-TR" sz="2400" dirty="0"/>
              <a:t>Türk Ergonomi Birliği</a:t>
            </a:r>
          </a:p>
          <a:p>
            <a:pPr lvl="1">
              <a:buFont typeface="Wingdings" pitchFamily="2" charset="2"/>
              <a:buChar char="Ø"/>
            </a:pPr>
            <a:r>
              <a:rPr lang="tr-TR" sz="2400" dirty="0"/>
              <a:t>Türk Tabipler Birliği</a:t>
            </a:r>
          </a:p>
          <a:p>
            <a:pPr lvl="1">
              <a:buFont typeface="Wingdings" pitchFamily="2" charset="2"/>
              <a:buChar char="Ø"/>
            </a:pPr>
            <a:r>
              <a:rPr lang="tr-TR" sz="2400" dirty="0"/>
              <a:t>Türk Mimarlar ve Mühendisler Odası Birliği</a:t>
            </a:r>
          </a:p>
          <a:p>
            <a:pPr lvl="1">
              <a:buFont typeface="Wingdings" pitchFamily="2" charset="2"/>
              <a:buChar char="Ø"/>
            </a:pPr>
            <a:r>
              <a:rPr lang="tr-TR" sz="2400" dirty="0"/>
              <a:t>Türkiye Barolar Birliği</a:t>
            </a:r>
          </a:p>
          <a:p>
            <a:pPr lvl="1">
              <a:buFont typeface="Wingdings" pitchFamily="2" charset="2"/>
              <a:buChar char="Ø"/>
            </a:pPr>
            <a:r>
              <a:rPr lang="tr-TR" sz="2400" dirty="0"/>
              <a:t>……</a:t>
            </a:r>
          </a:p>
          <a:p>
            <a:endParaRPr lang="tr-TR" dirty="0"/>
          </a:p>
          <a:p>
            <a:pPr>
              <a:buNone/>
            </a:pPr>
            <a:endParaRPr lang="tr-TR" dirty="0"/>
          </a:p>
        </p:txBody>
      </p:sp>
      <p:sp>
        <p:nvSpPr>
          <p:cNvPr id="4" name="3 Başlık"/>
          <p:cNvSpPr>
            <a:spLocks noGrp="1"/>
          </p:cNvSpPr>
          <p:nvPr>
            <p:ph type="title"/>
          </p:nvPr>
        </p:nvSpPr>
        <p:spPr>
          <a:xfrm>
            <a:off x="611560" y="522838"/>
            <a:ext cx="3033716" cy="830997"/>
          </a:xfrm>
          <a:prstGeom prst="rect">
            <a:avLst/>
          </a:prstGeom>
          <a:noFill/>
        </p:spPr>
        <p:txBody>
          <a:bodyPr wrap="none" lIns="91440" tIns="45720" rIns="91440" bIns="45720">
            <a:spAutoFit/>
          </a:bodyPr>
          <a:lstStyle/>
          <a:p>
            <a:pPr algn="l"/>
            <a:r>
              <a:rPr lang="tr-TR" sz="4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Sendikalar:</a:t>
            </a:r>
            <a:endParaRPr lang="tr-TR" sz="48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solidFill>
                  <a:schemeClr val="tx2">
                    <a:lumMod val="60000"/>
                    <a:lumOff val="40000"/>
                  </a:schemeClr>
                </a:solidFill>
              </a:rPr>
              <a:t>İSG Kavramına İlişkin Uluslararası Kuruluşlar</a:t>
            </a:r>
          </a:p>
        </p:txBody>
      </p:sp>
      <p:sp>
        <p:nvSpPr>
          <p:cNvPr id="3" name="2 İçerik Yer Tutucusu"/>
          <p:cNvSpPr>
            <a:spLocks noGrp="1"/>
          </p:cNvSpPr>
          <p:nvPr>
            <p:ph idx="1"/>
          </p:nvPr>
        </p:nvSpPr>
        <p:spPr/>
        <p:txBody>
          <a:bodyPr/>
          <a:lstStyle/>
          <a:p>
            <a:r>
              <a:rPr lang="tr-TR" dirty="0">
                <a:solidFill>
                  <a:srgbClr val="FF0000"/>
                </a:solidFill>
              </a:rPr>
              <a:t>Uluslararası Çalışma Örgütü (ILO)(1919)</a:t>
            </a:r>
          </a:p>
          <a:p>
            <a:r>
              <a:rPr lang="tr-TR" dirty="0">
                <a:solidFill>
                  <a:srgbClr val="FF0000"/>
                </a:solidFill>
              </a:rPr>
              <a:t>Dünya Sağlık Örgütü (WHO) (1945)</a:t>
            </a:r>
          </a:p>
          <a:p>
            <a:r>
              <a:rPr lang="tr-TR" dirty="0"/>
              <a:t>Birleşmiş Milletler Çevre Programı (UNEP)</a:t>
            </a:r>
          </a:p>
          <a:p>
            <a:r>
              <a:rPr lang="tr-TR" dirty="0"/>
              <a:t>Uluslararası atom Enerjisi</a:t>
            </a:r>
          </a:p>
          <a:p>
            <a:r>
              <a:rPr lang="tr-TR" dirty="0"/>
              <a:t>Birleşmiş Milletler Kalkınma Programı (UNDP)</a:t>
            </a:r>
          </a:p>
          <a:p>
            <a:r>
              <a:rPr lang="tr-TR" dirty="0">
                <a:solidFill>
                  <a:srgbClr val="FF0000"/>
                </a:solidFill>
              </a:rPr>
              <a:t>İş Sağlığı ve Güvenliği Ajansı (OSHA-USA/OSHA-EU) (1970)</a:t>
            </a:r>
          </a:p>
          <a:p>
            <a:endParaRPr lang="tr-T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629816"/>
            <a:ext cx="8229600" cy="1143000"/>
          </a:xfrm>
        </p:spPr>
        <p:txBody>
          <a:bodyPr>
            <a:normAutofit fontScale="90000"/>
          </a:bodyPr>
          <a:lstStyle/>
          <a:p>
            <a:pPr algn="l"/>
            <a:r>
              <a:rPr lang="tr-TR" b="1" dirty="0">
                <a:solidFill>
                  <a:srgbClr val="FF0000"/>
                </a:solidFill>
              </a:rPr>
              <a:t>Uluslararası Çalışma Örgütü(ILO)(1919) :</a:t>
            </a:r>
            <a:br>
              <a:rPr lang="tr-TR" b="1" dirty="0">
                <a:solidFill>
                  <a:srgbClr val="FF0000"/>
                </a:solidFill>
              </a:rPr>
            </a:br>
            <a:endParaRPr lang="tr-TR" b="1" dirty="0"/>
          </a:p>
        </p:txBody>
      </p:sp>
      <p:sp>
        <p:nvSpPr>
          <p:cNvPr id="3" name="2 İçerik Yer Tutucusu"/>
          <p:cNvSpPr>
            <a:spLocks noGrp="1"/>
          </p:cNvSpPr>
          <p:nvPr>
            <p:ph idx="1"/>
          </p:nvPr>
        </p:nvSpPr>
        <p:spPr>
          <a:xfrm>
            <a:off x="467544" y="2332037"/>
            <a:ext cx="8229600" cy="4525963"/>
          </a:xfrm>
        </p:spPr>
        <p:txBody>
          <a:bodyPr/>
          <a:lstStyle/>
          <a:p>
            <a:pPr>
              <a:buNone/>
            </a:pPr>
            <a:endParaRPr lang="tr-TR" dirty="0"/>
          </a:p>
          <a:p>
            <a:pPr>
              <a:buNone/>
            </a:pPr>
            <a:endParaRPr lang="tr-TR" dirty="0"/>
          </a:p>
          <a:p>
            <a:pPr>
              <a:buNone/>
            </a:pPr>
            <a:r>
              <a:rPr lang="tr-TR" dirty="0"/>
              <a:t>    T.C. 1932 yılında üye olmuştur.</a:t>
            </a:r>
          </a:p>
        </p:txBody>
      </p:sp>
      <p:sp>
        <p:nvSpPr>
          <p:cNvPr id="5" name="4 Dikdörtgen"/>
          <p:cNvSpPr/>
          <p:nvPr/>
        </p:nvSpPr>
        <p:spPr>
          <a:xfrm>
            <a:off x="683568" y="2420888"/>
            <a:ext cx="7724807" cy="646331"/>
          </a:xfrm>
          <a:prstGeom prst="rect">
            <a:avLst/>
          </a:prstGeom>
          <a:noFill/>
        </p:spPr>
        <p:txBody>
          <a:bodyPr wrap="none" lIns="91440" tIns="45720" rIns="91440" bIns="45720">
            <a:spAutoFit/>
          </a:bodyPr>
          <a:lstStyle/>
          <a:p>
            <a:pPr algn="ctr"/>
            <a:r>
              <a:rPr lang="tr-TR" sz="3600" b="1" cap="all" spc="0" dirty="0" err="1">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İşçİ</a:t>
            </a:r>
            <a:r>
              <a:rPr lang="tr-TR" sz="36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 İşveren – Hükümet = </a:t>
            </a:r>
            <a:r>
              <a:rPr lang="tr-TR" sz="3600" b="1" cap="all" spc="0" dirty="0" err="1">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ÜçLü</a:t>
            </a:r>
            <a:r>
              <a:rPr lang="tr-TR" sz="36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r>
              <a:rPr lang="tr-TR" sz="3600" b="1" cap="all" spc="0" dirty="0" err="1">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YapI</a:t>
            </a:r>
            <a:endParaRPr lang="tr-TR" sz="36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solidFill>
                  <a:srgbClr val="FF0000"/>
                </a:solidFill>
              </a:rPr>
              <a:t>ILO Anayasasında belirlenen ilke ve hedefler</a:t>
            </a:r>
            <a:endParaRPr lang="tr-TR" dirty="0"/>
          </a:p>
        </p:txBody>
      </p:sp>
      <p:sp>
        <p:nvSpPr>
          <p:cNvPr id="3" name="2 İçerik Yer Tutucusu"/>
          <p:cNvSpPr>
            <a:spLocks noGrp="1"/>
          </p:cNvSpPr>
          <p:nvPr>
            <p:ph idx="1"/>
          </p:nvPr>
        </p:nvSpPr>
        <p:spPr>
          <a:xfrm>
            <a:off x="467544" y="1844824"/>
            <a:ext cx="8229600" cy="4525963"/>
          </a:xfrm>
        </p:spPr>
        <p:txBody>
          <a:bodyPr/>
          <a:lstStyle/>
          <a:p>
            <a:r>
              <a:rPr lang="tr-TR" dirty="0"/>
              <a:t>İstihdam ve işsizliğin önlenmesi</a:t>
            </a:r>
          </a:p>
          <a:p>
            <a:r>
              <a:rPr lang="tr-TR" dirty="0"/>
              <a:t>İş dışındaki hastalık ve kazalardan korunma</a:t>
            </a:r>
          </a:p>
          <a:p>
            <a:r>
              <a:rPr lang="tr-TR" dirty="0"/>
              <a:t>Çocukların, gençlerin ve kadınların korunması</a:t>
            </a:r>
          </a:p>
          <a:p>
            <a:r>
              <a:rPr lang="tr-TR" dirty="0"/>
              <a:t>Göçmen işçilerin haklarının korunması</a:t>
            </a:r>
          </a:p>
          <a:p>
            <a:r>
              <a:rPr lang="tr-TR" dirty="0"/>
              <a:t>Çalışma saatleri</a:t>
            </a:r>
          </a:p>
          <a:p>
            <a:endParaRPr lang="tr-T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solidFill>
                  <a:srgbClr val="FF0000"/>
                </a:solidFill>
              </a:rPr>
              <a:t>ILO Anayasasında belirlenen ilke ve hedefler</a:t>
            </a:r>
            <a:endParaRPr lang="tr-TR" dirty="0"/>
          </a:p>
        </p:txBody>
      </p:sp>
      <p:sp>
        <p:nvSpPr>
          <p:cNvPr id="3" name="2 İçerik Yer Tutucusu"/>
          <p:cNvSpPr>
            <a:spLocks noGrp="1"/>
          </p:cNvSpPr>
          <p:nvPr>
            <p:ph idx="1"/>
          </p:nvPr>
        </p:nvSpPr>
        <p:spPr>
          <a:xfrm>
            <a:off x="467544" y="1772816"/>
            <a:ext cx="8229600" cy="4525963"/>
          </a:xfrm>
        </p:spPr>
        <p:txBody>
          <a:bodyPr/>
          <a:lstStyle/>
          <a:p>
            <a:r>
              <a:rPr lang="tr-TR" dirty="0"/>
              <a:t>Uygun asgari ücret</a:t>
            </a:r>
          </a:p>
          <a:p>
            <a:r>
              <a:rPr lang="tr-TR" dirty="0"/>
              <a:t>Yaşlılıkta ve maluliyette koruma</a:t>
            </a:r>
          </a:p>
          <a:p>
            <a:r>
              <a:rPr lang="tr-TR" dirty="0"/>
              <a:t>Eşit işe eşit ücret</a:t>
            </a:r>
          </a:p>
          <a:p>
            <a:r>
              <a:rPr lang="tr-TR" dirty="0"/>
              <a:t>Örgütlenme özgürlüğü</a:t>
            </a:r>
          </a:p>
          <a:p>
            <a:r>
              <a:rPr lang="tr-TR" dirty="0"/>
              <a:t>Mesleki eğitim ve sürekli eğitim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b="1" dirty="0">
                <a:solidFill>
                  <a:srgbClr val="FF0000"/>
                </a:solidFill>
              </a:rPr>
              <a:t>Dünya Sağlık Örgütü (WHO)</a:t>
            </a:r>
            <a:endParaRPr lang="tr-TR" dirty="0"/>
          </a:p>
        </p:txBody>
      </p:sp>
      <p:sp>
        <p:nvSpPr>
          <p:cNvPr id="3" name="2 İçerik Yer Tutucusu"/>
          <p:cNvSpPr>
            <a:spLocks noGrp="1"/>
          </p:cNvSpPr>
          <p:nvPr>
            <p:ph idx="1"/>
          </p:nvPr>
        </p:nvSpPr>
        <p:spPr/>
        <p:txBody>
          <a:bodyPr/>
          <a:lstStyle/>
          <a:p>
            <a:r>
              <a:rPr lang="tr-TR" dirty="0"/>
              <a:t>26 ülkenin onayı ile 1948’de WHO kuruldu ve anayasası yürürlüğe girdi.</a:t>
            </a:r>
          </a:p>
          <a:p>
            <a:endParaRPr lang="tr-TR" dirty="0"/>
          </a:p>
          <a:p>
            <a:r>
              <a:rPr lang="tr-TR" dirty="0"/>
              <a:t>T.C. 1949 yılında resmen </a:t>
            </a:r>
            <a:r>
              <a:rPr lang="tr-TR" dirty="0" err="1"/>
              <a:t>WHO’ya</a:t>
            </a:r>
            <a:r>
              <a:rPr lang="tr-TR" dirty="0"/>
              <a:t> üye olmuştur.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solidFill>
                  <a:srgbClr val="FF0000"/>
                </a:solidFill>
              </a:rPr>
              <a:t>Dünya Sağlık Örgütü (WHO) görevleri:</a:t>
            </a:r>
            <a:endParaRPr lang="tr-TR" dirty="0"/>
          </a:p>
        </p:txBody>
      </p:sp>
      <p:sp>
        <p:nvSpPr>
          <p:cNvPr id="3" name="2 İçerik Yer Tutucusu"/>
          <p:cNvSpPr>
            <a:spLocks noGrp="1"/>
          </p:cNvSpPr>
          <p:nvPr>
            <p:ph idx="1"/>
          </p:nvPr>
        </p:nvSpPr>
        <p:spPr/>
        <p:txBody>
          <a:bodyPr>
            <a:normAutofit/>
          </a:bodyPr>
          <a:lstStyle/>
          <a:p>
            <a:r>
              <a:rPr lang="tr-TR" dirty="0"/>
              <a:t>Sağlık alanında uluslararası çalışmalarda yönetici ve koordinatör sıfatıyla hareket etmektedir.</a:t>
            </a:r>
          </a:p>
          <a:p>
            <a:r>
              <a:rPr lang="tr-TR" dirty="0"/>
              <a:t>Hükümetlere, istek üzerine, sağlık hizmetlerinin güçlendirilmesi için yardım yapmaktadır.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solidFill>
                  <a:srgbClr val="FF0000"/>
                </a:solidFill>
              </a:rPr>
              <a:t>Dünya Sağlık Örgütü (WHO) görevleri:</a:t>
            </a:r>
            <a:endParaRPr lang="tr-TR" dirty="0"/>
          </a:p>
        </p:txBody>
      </p:sp>
      <p:sp>
        <p:nvSpPr>
          <p:cNvPr id="3" name="2 İçerik Yer Tutucusu"/>
          <p:cNvSpPr>
            <a:spLocks noGrp="1"/>
          </p:cNvSpPr>
          <p:nvPr>
            <p:ph idx="1"/>
          </p:nvPr>
        </p:nvSpPr>
        <p:spPr/>
        <p:txBody>
          <a:bodyPr/>
          <a:lstStyle/>
          <a:p>
            <a:r>
              <a:rPr lang="tr-TR" dirty="0" err="1"/>
              <a:t>Epidemik</a:t>
            </a:r>
            <a:r>
              <a:rPr lang="tr-TR" dirty="0"/>
              <a:t>, endemik vb. hastalıkların ortadan kaldırılması yolundaki çalışmaları teşvik etmek ve geliştirmektir. </a:t>
            </a:r>
          </a:p>
          <a:p>
            <a:pPr>
              <a:buNone/>
            </a:pPr>
            <a:endParaRPr lang="tr-TR" dirty="0"/>
          </a:p>
          <a:p>
            <a:r>
              <a:rPr lang="tr-TR" dirty="0"/>
              <a:t>Ana ve çocuk sağlığı ve refahı lehindeki hareketleri geliştirmektir.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251520" y="1556792"/>
            <a:ext cx="8660440" cy="1819870"/>
          </a:xfrm>
          <a:prstGeom prst="rect">
            <a:avLst/>
          </a:prstGeom>
          <a:noFill/>
          <a:ln w="9525">
            <a:noFill/>
            <a:miter lim="800000"/>
            <a:headEnd/>
            <a:tailEnd/>
          </a:ln>
        </p:spPr>
      </p:pic>
      <p:pic>
        <p:nvPicPr>
          <p:cNvPr id="4" name="Picture 4"/>
          <p:cNvPicPr>
            <a:picLocks noChangeAspect="1" noChangeArrowheads="1"/>
          </p:cNvPicPr>
          <p:nvPr/>
        </p:nvPicPr>
        <p:blipFill>
          <a:blip r:embed="rId3" cstate="print"/>
          <a:srcRect l="19167" t="29727" r="27499" b="18466"/>
          <a:stretch>
            <a:fillRect/>
          </a:stretch>
        </p:blipFill>
        <p:spPr bwMode="auto">
          <a:xfrm>
            <a:off x="3635896" y="2996952"/>
            <a:ext cx="4153644" cy="366176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539552" y="0"/>
            <a:ext cx="7772400" cy="1470025"/>
          </a:xfrm>
        </p:spPr>
        <p:txBody>
          <a:bodyPr>
            <a:normAutofit/>
          </a:bodyPr>
          <a:lstStyle/>
          <a:p>
            <a:r>
              <a:rPr lang="tr-TR" sz="4800" dirty="0"/>
              <a:t>Hukuk düzeni piramidi: </a:t>
            </a:r>
          </a:p>
        </p:txBody>
      </p:sp>
      <p:sp>
        <p:nvSpPr>
          <p:cNvPr id="3" name="2 Alt Başlık"/>
          <p:cNvSpPr>
            <a:spLocks noGrp="1"/>
          </p:cNvSpPr>
          <p:nvPr>
            <p:ph type="subTitle" idx="1"/>
          </p:nvPr>
        </p:nvSpPr>
        <p:spPr/>
        <p:txBody>
          <a:bodyPr/>
          <a:lstStyle/>
          <a:p>
            <a:endParaRPr lang="tr-TR"/>
          </a:p>
        </p:txBody>
      </p:sp>
      <p:pic>
        <p:nvPicPr>
          <p:cNvPr id="2050" name="Picture 2"/>
          <p:cNvPicPr>
            <a:picLocks noChangeAspect="1" noChangeArrowheads="1"/>
          </p:cNvPicPr>
          <p:nvPr/>
        </p:nvPicPr>
        <p:blipFill>
          <a:blip r:embed="rId2" cstate="print"/>
          <a:srcRect/>
          <a:stretch>
            <a:fillRect/>
          </a:stretch>
        </p:blipFill>
        <p:spPr bwMode="auto">
          <a:xfrm>
            <a:off x="1403648" y="1196752"/>
            <a:ext cx="5651323" cy="5439209"/>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51520" y="0"/>
            <a:ext cx="8229600" cy="1143000"/>
          </a:xfrm>
        </p:spPr>
        <p:txBody>
          <a:bodyPr/>
          <a:lstStyle/>
          <a:p>
            <a:endParaRPr lang="tr-TR" dirty="0"/>
          </a:p>
        </p:txBody>
      </p:sp>
      <p:sp>
        <p:nvSpPr>
          <p:cNvPr id="3" name="2 İçerik Yer Tutucusu"/>
          <p:cNvSpPr>
            <a:spLocks noGrp="1"/>
          </p:cNvSpPr>
          <p:nvPr>
            <p:ph idx="1"/>
          </p:nvPr>
        </p:nvSpPr>
        <p:spPr>
          <a:xfrm>
            <a:off x="467544" y="1124744"/>
            <a:ext cx="8229600" cy="4525963"/>
          </a:xfrm>
        </p:spPr>
        <p:txBody>
          <a:bodyPr/>
          <a:lstStyle/>
          <a:p>
            <a:r>
              <a:rPr lang="tr-TR" dirty="0">
                <a:solidFill>
                  <a:srgbClr val="FF0000"/>
                </a:solidFill>
              </a:rPr>
              <a:t>Anayasa</a:t>
            </a:r>
          </a:p>
          <a:p>
            <a:r>
              <a:rPr lang="tr-TR" dirty="0">
                <a:solidFill>
                  <a:srgbClr val="FF0000"/>
                </a:solidFill>
              </a:rPr>
              <a:t>6331 sayılı İş Sağlığı ve Güvenliği Kanunu,</a:t>
            </a:r>
          </a:p>
          <a:p>
            <a:r>
              <a:rPr lang="tr-TR" dirty="0">
                <a:solidFill>
                  <a:srgbClr val="FF0000"/>
                </a:solidFill>
              </a:rPr>
              <a:t>4857 sayılı İş Kanunu, </a:t>
            </a:r>
          </a:p>
          <a:p>
            <a:r>
              <a:rPr lang="tr-TR" dirty="0"/>
              <a:t>818 sayılı Borçlar Kanunu, </a:t>
            </a:r>
          </a:p>
          <a:p>
            <a:r>
              <a:rPr lang="tr-TR" dirty="0"/>
              <a:t>1593 sayılı Umumi Hıfzıssıhha Kanunu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sp>
        <p:nvSpPr>
          <p:cNvPr id="3" name="2 İçerik Yer Tutucusu"/>
          <p:cNvSpPr>
            <a:spLocks noGrp="1"/>
          </p:cNvSpPr>
          <p:nvPr>
            <p:ph idx="1"/>
          </p:nvPr>
        </p:nvSpPr>
        <p:spPr>
          <a:xfrm>
            <a:off x="467544" y="1052736"/>
            <a:ext cx="8229600" cy="4525963"/>
          </a:xfrm>
        </p:spPr>
        <p:txBody>
          <a:bodyPr>
            <a:normAutofit/>
          </a:bodyPr>
          <a:lstStyle/>
          <a:p>
            <a:endParaRPr lang="tr-TR" dirty="0"/>
          </a:p>
          <a:p>
            <a:r>
              <a:rPr lang="tr-TR" dirty="0"/>
              <a:t>5393 sayılı Belediye Kanunu, </a:t>
            </a:r>
          </a:p>
          <a:p>
            <a:r>
              <a:rPr lang="tr-TR" dirty="0"/>
              <a:t>3308 sayılı Mesleki Eğitim Kanunu, </a:t>
            </a:r>
          </a:p>
          <a:p>
            <a:r>
              <a:rPr lang="tr-TR" dirty="0"/>
              <a:t>5510 sayılı Sosyal Sigortalar ve Genel Sağlık Sigortası Kanunu, </a:t>
            </a:r>
          </a:p>
          <a:p>
            <a:r>
              <a:rPr lang="tr-TR" dirty="0"/>
              <a:t>3213 sayılı Maden Kanunu, </a:t>
            </a:r>
          </a:p>
          <a:p>
            <a:r>
              <a:rPr lang="tr-TR" dirty="0"/>
              <a:t>Radyum ve Elektrikle Tedavi ve Diğer Fizyoterapi Müesseseleri Hakkında Kanun…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İçerik Yer Tutucusu"/>
          <p:cNvSpPr>
            <a:spLocks noGrp="1"/>
          </p:cNvSpPr>
          <p:nvPr>
            <p:ph idx="1"/>
          </p:nvPr>
        </p:nvSpPr>
        <p:spPr>
          <a:xfrm>
            <a:off x="457200" y="1268760"/>
            <a:ext cx="8229600" cy="4228850"/>
          </a:xfrm>
          <a:prstGeom prst="rect">
            <a:avLst/>
          </a:prstGeom>
        </p:spPr>
        <p:txBody>
          <a:bodyPr>
            <a:spAutoFit/>
          </a:bodyPr>
          <a:lstStyle/>
          <a:p>
            <a:r>
              <a:rPr lang="tr-TR" b="1" dirty="0">
                <a:solidFill>
                  <a:srgbClr val="FF0000"/>
                </a:solidFill>
              </a:rPr>
              <a:t>ANAYASA (17, 48, 49, 50, 55, 56, 60) </a:t>
            </a:r>
          </a:p>
          <a:p>
            <a:r>
              <a:rPr lang="tr-TR" b="1" dirty="0"/>
              <a:t>Madde 50 : </a:t>
            </a:r>
            <a:r>
              <a:rPr lang="tr-TR" dirty="0"/>
              <a:t>Kimse yaşına, cinsiyetine ve gücüne uymayan işlerde çalıştırılamaz, küçükler ve kadınlar ile bedeni ve ruhi yetersizliği olanlar çalışma şartları bakımından özel olarak korunacaklar. </a:t>
            </a:r>
          </a:p>
          <a:p>
            <a:r>
              <a:rPr lang="tr-TR" b="1" dirty="0"/>
              <a:t>Madde 56 : </a:t>
            </a:r>
            <a:r>
              <a:rPr lang="tr-TR" dirty="0"/>
              <a:t>Herkes sağlıklı ve dengeli bir çevrede yaşama hakkına sahiptir.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Başlık"/>
          <p:cNvSpPr>
            <a:spLocks noGrp="1"/>
          </p:cNvSpPr>
          <p:nvPr>
            <p:ph type="title"/>
          </p:nvPr>
        </p:nvSpPr>
        <p:spPr/>
        <p:txBody>
          <a:bodyPr>
            <a:normAutofit/>
          </a:bodyPr>
          <a:lstStyle/>
          <a:p>
            <a:r>
              <a:rPr lang="tr-TR" altLang="tr-TR" b="1" dirty="0">
                <a:solidFill>
                  <a:srgbClr val="FF0000"/>
                </a:solidFill>
              </a:rPr>
              <a:t>6331 Sayılı Kanun Kapsamı</a:t>
            </a:r>
            <a:endParaRPr lang="tr-TR" dirty="0">
              <a:solidFill>
                <a:srgbClr val="FF0000"/>
              </a:solidFill>
            </a:endParaRPr>
          </a:p>
        </p:txBody>
      </p:sp>
      <p:sp>
        <p:nvSpPr>
          <p:cNvPr id="5" name="4 İçerik Yer Tutucusu"/>
          <p:cNvSpPr>
            <a:spLocks noGrp="1"/>
          </p:cNvSpPr>
          <p:nvPr>
            <p:ph idx="1"/>
          </p:nvPr>
        </p:nvSpPr>
        <p:spPr>
          <a:xfrm>
            <a:off x="467544" y="1412776"/>
            <a:ext cx="8229600" cy="4525963"/>
          </a:xfrm>
        </p:spPr>
        <p:txBody>
          <a:bodyPr>
            <a:normAutofit/>
          </a:bodyPr>
          <a:lstStyle/>
          <a:p>
            <a:pPr>
              <a:defRPr/>
            </a:pPr>
            <a:r>
              <a:rPr lang="tr-TR" dirty="0">
                <a:latin typeface="Times New Roman" pitchFamily="18" charset="0"/>
              </a:rPr>
              <a:t>Bu kanun; kamu ve özel sektöre ait bütün işleri, işyerlerini kapsama alıyor. </a:t>
            </a:r>
          </a:p>
          <a:p>
            <a:pPr>
              <a:defRPr/>
            </a:pPr>
            <a:r>
              <a:rPr lang="tr-TR" dirty="0">
                <a:latin typeface="Times New Roman" pitchFamily="18" charset="0"/>
              </a:rPr>
              <a:t> Bu işyerlerinin işverenleri ile işveren vekillerine,</a:t>
            </a:r>
          </a:p>
          <a:p>
            <a:pPr>
              <a:defRPr/>
            </a:pPr>
            <a:r>
              <a:rPr lang="tr-TR" dirty="0">
                <a:latin typeface="Times New Roman" pitchFamily="18" charset="0"/>
              </a:rPr>
              <a:t> Çırak ve stajyerler de dahil olmak üzere tüm çalışanlarına, faaliyet konularına bakılmaksızın uygulanacak (Md.2/1)</a:t>
            </a:r>
          </a:p>
          <a:p>
            <a:endParaRPr lang="tr-TR" b="1" dirty="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1700808"/>
            <a:ext cx="8229600" cy="1143000"/>
          </a:xfrm>
        </p:spPr>
        <p:txBody>
          <a:bodyPr>
            <a:normAutofit fontScale="90000"/>
          </a:bodyPr>
          <a:lstStyle/>
          <a:p>
            <a:r>
              <a:rPr lang="tr-TR" b="1" dirty="0">
                <a:solidFill>
                  <a:srgbClr val="FF0000"/>
                </a:solidFill>
              </a:rPr>
              <a:t>6331 sayılı İş Sağlığı ve Güvenliği kanunun işverenlere ve çalışanlara getirdiği hak ve yükümlülükler</a:t>
            </a:r>
            <a:endParaRPr lang="tr-T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br>
              <a:rPr lang="tr-TR" b="1" dirty="0"/>
            </a:br>
            <a:endParaRPr lang="tr-TR" b="1" dirty="0"/>
          </a:p>
        </p:txBody>
      </p:sp>
      <p:sp>
        <p:nvSpPr>
          <p:cNvPr id="4" name="3 Dikdörtgen"/>
          <p:cNvSpPr/>
          <p:nvPr/>
        </p:nvSpPr>
        <p:spPr>
          <a:xfrm>
            <a:off x="0" y="0"/>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sp>
        <p:nvSpPr>
          <p:cNvPr id="5" name="1 Başlık"/>
          <p:cNvSpPr txBox="1">
            <a:spLocks/>
          </p:cNvSpPr>
          <p:nvPr/>
        </p:nvSpPr>
        <p:spPr>
          <a:xfrm>
            <a:off x="714348" y="571480"/>
            <a:ext cx="7772400" cy="1071562"/>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4400" b="1" i="0" u="none" strike="noStrike" kern="1200" cap="none" spc="0" normalizeH="0" baseline="0" noProof="0" dirty="0">
                <a:ln>
                  <a:noFill/>
                </a:ln>
                <a:solidFill>
                  <a:schemeClr val="bg1"/>
                </a:solidFill>
                <a:effectLst/>
                <a:uLnTx/>
                <a:uFillTx/>
                <a:latin typeface="+mn-lt"/>
                <a:ea typeface="+mj-ea"/>
                <a:cs typeface="+mj-cs"/>
              </a:rPr>
              <a:t>İŞ</a:t>
            </a:r>
            <a:r>
              <a:rPr kumimoji="0" lang="nl-NL" sz="4400" b="1" i="0" u="none" strike="noStrike" kern="1200" cap="none" spc="0" normalizeH="0" baseline="0" noProof="0" dirty="0">
                <a:ln>
                  <a:noFill/>
                </a:ln>
                <a:solidFill>
                  <a:schemeClr val="bg1"/>
                </a:solidFill>
                <a:effectLst/>
                <a:uLnTx/>
                <a:uFillTx/>
                <a:latin typeface="+mn-lt"/>
                <a:ea typeface="+mj-ea"/>
                <a:cs typeface="+mj-cs"/>
              </a:rPr>
              <a:t>VERENLERİN </a:t>
            </a:r>
            <a:br>
              <a:rPr kumimoji="0" lang="tr-TR" sz="4400" b="1" i="0" u="none" strike="noStrike" kern="1200" cap="none" spc="0" normalizeH="0" baseline="0" noProof="0" dirty="0">
                <a:ln>
                  <a:noFill/>
                </a:ln>
                <a:solidFill>
                  <a:schemeClr val="bg1"/>
                </a:solidFill>
                <a:effectLst/>
                <a:uLnTx/>
                <a:uFillTx/>
                <a:latin typeface="+mn-lt"/>
                <a:ea typeface="+mj-ea"/>
                <a:cs typeface="+mj-cs"/>
              </a:rPr>
            </a:br>
            <a:r>
              <a:rPr kumimoji="0" lang="nl-NL" sz="4400" b="1" i="0" u="none" strike="noStrike" kern="1200" cap="none" spc="0" normalizeH="0" baseline="0" noProof="0" dirty="0">
                <a:ln>
                  <a:noFill/>
                </a:ln>
                <a:solidFill>
                  <a:schemeClr val="bg1"/>
                </a:solidFill>
                <a:effectLst/>
                <a:uLnTx/>
                <a:uFillTx/>
                <a:latin typeface="+mn-lt"/>
                <a:ea typeface="+mj-ea"/>
                <a:cs typeface="+mj-cs"/>
              </a:rPr>
              <a:t>GENEL</a:t>
            </a:r>
            <a:r>
              <a:rPr kumimoji="0" lang="tr-TR" sz="4400" b="1" i="0" u="none" strike="noStrike" kern="1200" cap="none" spc="0" normalizeH="0" baseline="0" noProof="0" dirty="0">
                <a:ln>
                  <a:noFill/>
                </a:ln>
                <a:solidFill>
                  <a:schemeClr val="bg1"/>
                </a:solidFill>
                <a:effectLst/>
                <a:uLnTx/>
                <a:uFillTx/>
                <a:latin typeface="+mn-lt"/>
                <a:ea typeface="+mj-ea"/>
                <a:cs typeface="+mj-cs"/>
              </a:rPr>
              <a:t> </a:t>
            </a:r>
            <a:r>
              <a:rPr kumimoji="0" lang="nl-NL" sz="4400" b="1" i="0" u="none" strike="noStrike" kern="1200" cap="none" spc="0" normalizeH="0" baseline="0" noProof="0" dirty="0">
                <a:ln>
                  <a:noFill/>
                </a:ln>
                <a:solidFill>
                  <a:schemeClr val="bg1"/>
                </a:solidFill>
                <a:effectLst/>
                <a:uLnTx/>
                <a:uFillTx/>
                <a:latin typeface="+mn-lt"/>
                <a:ea typeface="+mj-ea"/>
                <a:cs typeface="+mj-cs"/>
              </a:rPr>
              <a:t>YÜKÜMLÜLÜKLERİ</a:t>
            </a:r>
            <a:br>
              <a:rPr kumimoji="0" lang="tr-TR" sz="4400" b="1" i="0" u="none" strike="noStrike" kern="1200" cap="none" spc="0" normalizeH="0" baseline="0" noProof="0" dirty="0">
                <a:ln>
                  <a:noFill/>
                </a:ln>
                <a:solidFill>
                  <a:srgbClr val="002060"/>
                </a:solidFill>
                <a:effectLst/>
                <a:uLnTx/>
                <a:uFillTx/>
                <a:latin typeface="+mn-lt"/>
                <a:ea typeface="+mj-ea"/>
                <a:cs typeface="+mj-cs"/>
              </a:rPr>
            </a:br>
            <a:endParaRPr kumimoji="0" lang="tr-TR" sz="4400" b="0" i="0" u="none" strike="noStrike" kern="1200" cap="none" spc="0" normalizeH="0" baseline="0" noProof="0" dirty="0">
              <a:ln>
                <a:noFill/>
              </a:ln>
              <a:solidFill>
                <a:srgbClr val="002060"/>
              </a:solidFill>
              <a:effectLst/>
              <a:uLnTx/>
              <a:uFillTx/>
              <a:latin typeface="+mn-lt"/>
              <a:ea typeface="+mj-ea"/>
              <a:cs typeface="+mj-cs"/>
            </a:endParaRPr>
          </a:p>
        </p:txBody>
      </p:sp>
      <p:pic>
        <p:nvPicPr>
          <p:cNvPr id="7" name="Picture 10" descr="Picture59"/>
          <p:cNvPicPr>
            <a:picLocks noChangeAspect="1" noChangeArrowheads="1"/>
          </p:cNvPicPr>
          <p:nvPr/>
        </p:nvPicPr>
        <p:blipFill>
          <a:blip r:embed="rId2" cstate="print">
            <a:lum bright="62000" contrast="-56000"/>
          </a:blip>
          <a:srcRect/>
          <a:stretch>
            <a:fillRect/>
          </a:stretch>
        </p:blipFill>
        <p:spPr bwMode="auto">
          <a:xfrm>
            <a:off x="1928813" y="1714500"/>
            <a:ext cx="5027612" cy="4824413"/>
          </a:xfrm>
          <a:prstGeom prst="rect">
            <a:avLst/>
          </a:prstGeom>
          <a:noFill/>
          <a:ln w="9525">
            <a:noFill/>
            <a:miter lim="800000"/>
            <a:headEnd/>
            <a:tailEnd/>
          </a:ln>
        </p:spPr>
      </p:pic>
      <p:sp>
        <p:nvSpPr>
          <p:cNvPr id="8" name="7 Dikdörtgen"/>
          <p:cNvSpPr/>
          <p:nvPr/>
        </p:nvSpPr>
        <p:spPr>
          <a:xfrm>
            <a:off x="539552" y="1887040"/>
            <a:ext cx="8352928" cy="4081117"/>
          </a:xfrm>
          <a:prstGeom prst="rect">
            <a:avLst/>
          </a:prstGeom>
        </p:spPr>
        <p:txBody>
          <a:bodyPr wrap="square">
            <a:spAutoFit/>
          </a:bodyPr>
          <a:lstStyle/>
          <a:p>
            <a:pPr>
              <a:lnSpc>
                <a:spcPct val="90000"/>
              </a:lnSpc>
              <a:defRPr/>
            </a:pPr>
            <a:r>
              <a:rPr lang="tr-TR" sz="2400" b="1" dirty="0">
                <a:latin typeface="Times New Roman" pitchFamily="18" charset="0"/>
              </a:rPr>
              <a:t>İşveren çalışanların iş sağlığı ve güvenliğini sağlamakla yükümlüdür.</a:t>
            </a:r>
          </a:p>
          <a:p>
            <a:pPr>
              <a:lnSpc>
                <a:spcPct val="90000"/>
              </a:lnSpc>
              <a:defRPr/>
            </a:pPr>
            <a:r>
              <a:rPr lang="tr-TR" sz="2400" b="1" dirty="0">
                <a:latin typeface="Times New Roman" pitchFamily="18" charset="0"/>
              </a:rPr>
              <a:t>	Bu çerçevede;</a:t>
            </a:r>
          </a:p>
          <a:p>
            <a:pPr>
              <a:lnSpc>
                <a:spcPct val="90000"/>
              </a:lnSpc>
              <a:defRPr/>
            </a:pPr>
            <a:endParaRPr lang="tr-TR" sz="2400" b="1" dirty="0">
              <a:latin typeface="Times New Roman" pitchFamily="18" charset="0"/>
            </a:endParaRPr>
          </a:p>
          <a:p>
            <a:pPr>
              <a:lnSpc>
                <a:spcPct val="90000"/>
              </a:lnSpc>
              <a:buFont typeface="Arial" pitchFamily="34" charset="0"/>
              <a:buChar char="•"/>
              <a:defRPr/>
            </a:pPr>
            <a:r>
              <a:rPr lang="tr-TR" sz="2400" b="1" dirty="0">
                <a:latin typeface="Times New Roman" pitchFamily="18" charset="0"/>
              </a:rPr>
              <a:t> Mesleki risklerin önlenmesi, eğitim, bilgi verilmesi dahil her türlü tedbiri alır,</a:t>
            </a:r>
          </a:p>
          <a:p>
            <a:pPr>
              <a:lnSpc>
                <a:spcPct val="90000"/>
              </a:lnSpc>
              <a:buFont typeface="Arial" pitchFamily="34" charset="0"/>
              <a:buChar char="•"/>
              <a:defRPr/>
            </a:pPr>
            <a:r>
              <a:rPr lang="tr-TR" sz="2400" b="1" dirty="0">
                <a:latin typeface="Times New Roman" pitchFamily="18" charset="0"/>
              </a:rPr>
              <a:t> Alınan tedbirlere uyulup uyulmadığını izler,</a:t>
            </a:r>
          </a:p>
          <a:p>
            <a:pPr>
              <a:lnSpc>
                <a:spcPct val="90000"/>
              </a:lnSpc>
              <a:buFont typeface="Arial" pitchFamily="34" charset="0"/>
              <a:buChar char="•"/>
              <a:defRPr/>
            </a:pPr>
            <a:r>
              <a:rPr lang="tr-TR" sz="2400" b="1" dirty="0">
                <a:latin typeface="Times New Roman" pitchFamily="18" charset="0"/>
              </a:rPr>
              <a:t> Risk değerlendirmesi yapar, yaptırır,</a:t>
            </a:r>
          </a:p>
          <a:p>
            <a:pPr>
              <a:lnSpc>
                <a:spcPct val="90000"/>
              </a:lnSpc>
              <a:buFont typeface="Arial" pitchFamily="34" charset="0"/>
              <a:buChar char="•"/>
              <a:defRPr/>
            </a:pPr>
            <a:r>
              <a:rPr lang="tr-TR" sz="2400" b="1" dirty="0">
                <a:latin typeface="Times New Roman" pitchFamily="18" charset="0"/>
              </a:rPr>
              <a:t> Çalışana görev verirken , çalışanın işe uygunluğunu göz önüne alır,</a:t>
            </a:r>
          </a:p>
          <a:p>
            <a:pPr>
              <a:lnSpc>
                <a:spcPct val="90000"/>
              </a:lnSpc>
              <a:buFont typeface="Arial" pitchFamily="34" charset="0"/>
              <a:buChar char="•"/>
              <a:defRPr/>
            </a:pPr>
            <a:r>
              <a:rPr lang="tr-TR" sz="2400" b="1" dirty="0">
                <a:latin typeface="Times New Roman" pitchFamily="18" charset="0"/>
              </a:rPr>
              <a:t> Çalışanların hayati ve özel tehlike bulunan yerlere girmemesi için tedbirleri alır,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br>
              <a:rPr lang="tr-TR" b="1" dirty="0"/>
            </a:br>
            <a:endParaRPr lang="tr-TR" b="1" dirty="0"/>
          </a:p>
        </p:txBody>
      </p:sp>
      <p:sp>
        <p:nvSpPr>
          <p:cNvPr id="4" name="3 Dikdörtgen"/>
          <p:cNvSpPr/>
          <p:nvPr/>
        </p:nvSpPr>
        <p:spPr>
          <a:xfrm>
            <a:off x="0" y="0"/>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sp>
        <p:nvSpPr>
          <p:cNvPr id="5" name="1 Başlık"/>
          <p:cNvSpPr txBox="1">
            <a:spLocks/>
          </p:cNvSpPr>
          <p:nvPr/>
        </p:nvSpPr>
        <p:spPr>
          <a:xfrm>
            <a:off x="714348" y="571480"/>
            <a:ext cx="7772400" cy="1071562"/>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4400" b="1" i="0" u="none" strike="noStrike" kern="1200" cap="none" spc="0" normalizeH="0" baseline="0" noProof="0" dirty="0">
                <a:ln>
                  <a:noFill/>
                </a:ln>
                <a:solidFill>
                  <a:schemeClr val="bg1"/>
                </a:solidFill>
                <a:effectLst/>
                <a:uLnTx/>
                <a:uFillTx/>
                <a:latin typeface="+mn-lt"/>
                <a:ea typeface="+mj-ea"/>
                <a:cs typeface="+mj-cs"/>
              </a:rPr>
              <a:t>İŞ</a:t>
            </a:r>
            <a:r>
              <a:rPr kumimoji="0" lang="nl-NL" sz="4400" b="1" i="0" u="none" strike="noStrike" kern="1200" cap="none" spc="0" normalizeH="0" baseline="0" noProof="0" dirty="0">
                <a:ln>
                  <a:noFill/>
                </a:ln>
                <a:solidFill>
                  <a:schemeClr val="bg1"/>
                </a:solidFill>
                <a:effectLst/>
                <a:uLnTx/>
                <a:uFillTx/>
                <a:latin typeface="+mn-lt"/>
                <a:ea typeface="+mj-ea"/>
                <a:cs typeface="+mj-cs"/>
              </a:rPr>
              <a:t>VERENLERİN </a:t>
            </a:r>
            <a:br>
              <a:rPr kumimoji="0" lang="tr-TR" sz="4400" b="1" i="0" u="none" strike="noStrike" kern="1200" cap="none" spc="0" normalizeH="0" baseline="0" noProof="0" dirty="0">
                <a:ln>
                  <a:noFill/>
                </a:ln>
                <a:solidFill>
                  <a:schemeClr val="bg1"/>
                </a:solidFill>
                <a:effectLst/>
                <a:uLnTx/>
                <a:uFillTx/>
                <a:latin typeface="+mn-lt"/>
                <a:ea typeface="+mj-ea"/>
                <a:cs typeface="+mj-cs"/>
              </a:rPr>
            </a:br>
            <a:r>
              <a:rPr kumimoji="0" lang="nl-NL" sz="4400" b="1" i="0" u="none" strike="noStrike" kern="1200" cap="none" spc="0" normalizeH="0" baseline="0" noProof="0" dirty="0">
                <a:ln>
                  <a:noFill/>
                </a:ln>
                <a:solidFill>
                  <a:schemeClr val="bg1"/>
                </a:solidFill>
                <a:effectLst/>
                <a:uLnTx/>
                <a:uFillTx/>
                <a:latin typeface="+mn-lt"/>
                <a:ea typeface="+mj-ea"/>
                <a:cs typeface="+mj-cs"/>
              </a:rPr>
              <a:t>GENEL</a:t>
            </a:r>
            <a:r>
              <a:rPr kumimoji="0" lang="tr-TR" sz="4400" b="1" i="0" u="none" strike="noStrike" kern="1200" cap="none" spc="0" normalizeH="0" baseline="0" noProof="0" dirty="0">
                <a:ln>
                  <a:noFill/>
                </a:ln>
                <a:solidFill>
                  <a:schemeClr val="bg1"/>
                </a:solidFill>
                <a:effectLst/>
                <a:uLnTx/>
                <a:uFillTx/>
                <a:latin typeface="+mn-lt"/>
                <a:ea typeface="+mj-ea"/>
                <a:cs typeface="+mj-cs"/>
              </a:rPr>
              <a:t> </a:t>
            </a:r>
            <a:r>
              <a:rPr kumimoji="0" lang="nl-NL" sz="4400" b="1" i="0" u="none" strike="noStrike" kern="1200" cap="none" spc="0" normalizeH="0" baseline="0" noProof="0" dirty="0">
                <a:ln>
                  <a:noFill/>
                </a:ln>
                <a:solidFill>
                  <a:schemeClr val="bg1"/>
                </a:solidFill>
                <a:effectLst/>
                <a:uLnTx/>
                <a:uFillTx/>
                <a:latin typeface="+mn-lt"/>
                <a:ea typeface="+mj-ea"/>
                <a:cs typeface="+mj-cs"/>
              </a:rPr>
              <a:t>YÜKÜMLÜLÜKLERİ</a:t>
            </a:r>
            <a:br>
              <a:rPr kumimoji="0" lang="tr-TR" sz="4400" b="1" i="0" u="none" strike="noStrike" kern="1200" cap="none" spc="0" normalizeH="0" baseline="0" noProof="0" dirty="0">
                <a:ln>
                  <a:noFill/>
                </a:ln>
                <a:solidFill>
                  <a:srgbClr val="002060"/>
                </a:solidFill>
                <a:effectLst/>
                <a:uLnTx/>
                <a:uFillTx/>
                <a:latin typeface="+mn-lt"/>
                <a:ea typeface="+mj-ea"/>
                <a:cs typeface="+mj-cs"/>
              </a:rPr>
            </a:br>
            <a:endParaRPr kumimoji="0" lang="tr-TR" sz="4400" b="0" i="0" u="none" strike="noStrike" kern="1200" cap="none" spc="0" normalizeH="0" baseline="0" noProof="0" dirty="0">
              <a:ln>
                <a:noFill/>
              </a:ln>
              <a:solidFill>
                <a:srgbClr val="002060"/>
              </a:solidFill>
              <a:effectLst/>
              <a:uLnTx/>
              <a:uFillTx/>
              <a:latin typeface="+mn-lt"/>
              <a:ea typeface="+mj-ea"/>
              <a:cs typeface="+mj-cs"/>
            </a:endParaRPr>
          </a:p>
        </p:txBody>
      </p:sp>
      <p:pic>
        <p:nvPicPr>
          <p:cNvPr id="7" name="Picture 10" descr="Picture59"/>
          <p:cNvPicPr>
            <a:picLocks noChangeAspect="1" noChangeArrowheads="1"/>
          </p:cNvPicPr>
          <p:nvPr/>
        </p:nvPicPr>
        <p:blipFill>
          <a:blip r:embed="rId2" cstate="print">
            <a:lum bright="62000" contrast="-56000"/>
          </a:blip>
          <a:srcRect/>
          <a:stretch>
            <a:fillRect/>
          </a:stretch>
        </p:blipFill>
        <p:spPr bwMode="auto">
          <a:xfrm>
            <a:off x="1928813" y="1714500"/>
            <a:ext cx="5027612" cy="4824413"/>
          </a:xfrm>
          <a:prstGeom prst="rect">
            <a:avLst/>
          </a:prstGeom>
          <a:noFill/>
          <a:ln w="9525">
            <a:noFill/>
            <a:miter lim="800000"/>
            <a:headEnd/>
            <a:tailEnd/>
          </a:ln>
        </p:spPr>
      </p:pic>
      <p:sp>
        <p:nvSpPr>
          <p:cNvPr id="6" name="5 Dikdörtgen"/>
          <p:cNvSpPr/>
          <p:nvPr/>
        </p:nvSpPr>
        <p:spPr>
          <a:xfrm>
            <a:off x="214282" y="1571612"/>
            <a:ext cx="8572560" cy="3323987"/>
          </a:xfrm>
          <a:prstGeom prst="rect">
            <a:avLst/>
          </a:prstGeom>
        </p:spPr>
        <p:txBody>
          <a:bodyPr wrap="square">
            <a:spAutoFit/>
          </a:bodyPr>
          <a:lstStyle/>
          <a:p>
            <a:pPr marL="457200" indent="-457200" algn="just">
              <a:buAutoNum type="arabicPeriod"/>
              <a:defRPr/>
            </a:pPr>
            <a:r>
              <a:rPr lang="tr-TR" sz="2000" b="1" dirty="0">
                <a:latin typeface="Verdana" pitchFamily="34" charset="0"/>
                <a:ea typeface="Verdana" pitchFamily="34" charset="0"/>
                <a:cs typeface="Verdana" pitchFamily="34" charset="0"/>
              </a:rPr>
              <a:t>İşle ilgili olarak her konuda işçilerin sağlığından t</a:t>
            </a:r>
            <a:r>
              <a:rPr lang="nl-NL" sz="2000" b="1" dirty="0">
                <a:latin typeface="Verdana" pitchFamily="34" charset="0"/>
                <a:ea typeface="Verdana" pitchFamily="34" charset="0"/>
                <a:cs typeface="Verdana" pitchFamily="34" charset="0"/>
              </a:rPr>
              <a:t>am </a:t>
            </a:r>
            <a:r>
              <a:rPr lang="tr-TR" sz="2000" b="1" dirty="0">
                <a:latin typeface="Verdana" pitchFamily="34" charset="0"/>
                <a:ea typeface="Verdana" pitchFamily="34" charset="0"/>
                <a:cs typeface="Verdana" pitchFamily="34" charset="0"/>
              </a:rPr>
              <a:t>olarak</a:t>
            </a:r>
            <a:r>
              <a:rPr lang="nl-NL" sz="2000" b="1" dirty="0">
                <a:latin typeface="Verdana" pitchFamily="34" charset="0"/>
                <a:ea typeface="Verdana" pitchFamily="34" charset="0"/>
                <a:cs typeface="Verdana" pitchFamily="34" charset="0"/>
              </a:rPr>
              <a:t> sorumlu</a:t>
            </a:r>
            <a:r>
              <a:rPr lang="tr-TR" sz="2000" b="1" dirty="0">
                <a:latin typeface="Verdana" pitchFamily="34" charset="0"/>
                <a:ea typeface="Verdana" pitchFamily="34" charset="0"/>
                <a:cs typeface="Verdana" pitchFamily="34" charset="0"/>
              </a:rPr>
              <a:t>,</a:t>
            </a:r>
          </a:p>
          <a:p>
            <a:pPr marL="457200" indent="-457200" algn="just">
              <a:buAutoNum type="arabicPeriod"/>
              <a:defRPr/>
            </a:pPr>
            <a:endParaRPr lang="tr-TR" sz="2000" b="1" dirty="0">
              <a:latin typeface="Verdana" pitchFamily="34" charset="0"/>
              <a:ea typeface="Verdana" pitchFamily="34" charset="0"/>
              <a:cs typeface="Verdana" pitchFamily="34" charset="0"/>
            </a:endParaRPr>
          </a:p>
          <a:p>
            <a:pPr algn="just">
              <a:spcBef>
                <a:spcPct val="50000"/>
              </a:spcBef>
              <a:buClr>
                <a:srgbClr val="CCFF33"/>
              </a:buClr>
              <a:buSzPct val="70000"/>
              <a:defRPr/>
            </a:pPr>
            <a:r>
              <a:rPr lang="tr-TR" sz="2000" b="1" dirty="0">
                <a:latin typeface="Verdana" pitchFamily="34" charset="0"/>
                <a:ea typeface="Verdana" pitchFamily="34" charset="0"/>
                <a:cs typeface="Verdana" pitchFamily="34" charset="0"/>
              </a:rPr>
              <a:t>2. İşverenin iş sağlığı ve güvenliği konusunda işyeri dışındaki uzman kişi veya kuruluşlardan hizmet alması bu konudaki sorumluluğunu ortadan kaldırmaz. </a:t>
            </a:r>
          </a:p>
          <a:p>
            <a:pPr algn="just">
              <a:spcBef>
                <a:spcPct val="50000"/>
              </a:spcBef>
              <a:buClr>
                <a:srgbClr val="CCFF33"/>
              </a:buClr>
              <a:buSzPct val="70000"/>
              <a:defRPr/>
            </a:pPr>
            <a:endParaRPr lang="tr-TR" sz="2000" b="1" dirty="0">
              <a:latin typeface="Verdana" pitchFamily="34" charset="0"/>
              <a:ea typeface="Verdana" pitchFamily="34" charset="0"/>
              <a:cs typeface="Verdana" pitchFamily="34" charset="0"/>
            </a:endParaRPr>
          </a:p>
          <a:p>
            <a:pPr algn="just">
              <a:spcBef>
                <a:spcPct val="50000"/>
              </a:spcBef>
              <a:buClr>
                <a:srgbClr val="CCFF33"/>
              </a:buClr>
              <a:buSzPct val="70000"/>
              <a:defRPr/>
            </a:pPr>
            <a:r>
              <a:rPr lang="tr-TR" sz="2000" b="1" dirty="0">
                <a:latin typeface="Verdana" pitchFamily="34" charset="0"/>
                <a:ea typeface="Verdana" pitchFamily="34" charset="0"/>
                <a:cs typeface="Verdana" pitchFamily="34" charset="0"/>
              </a:rPr>
              <a:t>3. İşçilerin iş sağlığı ve güvenliği konusundaki yükümlülükleri işverenin sorumluluğu ilkesini etkilemez.</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br>
              <a:rPr lang="tr-TR" b="1" dirty="0"/>
            </a:br>
            <a:endParaRPr lang="tr-TR" b="1" dirty="0"/>
          </a:p>
        </p:txBody>
      </p:sp>
      <p:sp>
        <p:nvSpPr>
          <p:cNvPr id="4" name="3 Dikdörtgen"/>
          <p:cNvSpPr/>
          <p:nvPr/>
        </p:nvSpPr>
        <p:spPr>
          <a:xfrm>
            <a:off x="0" y="-285776"/>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sp>
        <p:nvSpPr>
          <p:cNvPr id="5" name="1 Başlık"/>
          <p:cNvSpPr txBox="1">
            <a:spLocks/>
          </p:cNvSpPr>
          <p:nvPr/>
        </p:nvSpPr>
        <p:spPr>
          <a:xfrm>
            <a:off x="285720" y="214290"/>
            <a:ext cx="8272466" cy="1000125"/>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1" i="0" u="none" strike="noStrike" kern="1200" cap="none" spc="0" normalizeH="0" baseline="0" noProof="0" dirty="0">
                <a:ln>
                  <a:noFill/>
                </a:ln>
                <a:solidFill>
                  <a:schemeClr val="bg1"/>
                </a:solidFill>
                <a:effectLst/>
                <a:uLnTx/>
                <a:uFillTx/>
                <a:latin typeface="Verdana" pitchFamily="34" charset="0"/>
                <a:ea typeface="+mj-ea"/>
                <a:cs typeface="+mj-cs"/>
              </a:rPr>
              <a:t>ÇALIŞANLARIN YÜKÜMLÜLÜKLERİ</a:t>
            </a:r>
            <a:br>
              <a:rPr kumimoji="0" lang="tr-TR" sz="4000" b="1" i="0" u="none" strike="noStrike" kern="1200" cap="none" spc="0" normalizeH="0" baseline="0" noProof="0" dirty="0">
                <a:ln>
                  <a:noFill/>
                </a:ln>
                <a:solidFill>
                  <a:schemeClr val="bg1"/>
                </a:solidFill>
                <a:effectLst/>
                <a:uLnTx/>
                <a:uFillTx/>
                <a:latin typeface="Verdana" pitchFamily="34" charset="0"/>
                <a:ea typeface="+mj-ea"/>
                <a:cs typeface="+mj-cs"/>
              </a:rPr>
            </a:br>
            <a:endParaRPr kumimoji="0" lang="tr-TR" sz="4000" b="0" i="0" u="none" strike="noStrike" kern="1200" cap="none" spc="0" normalizeH="0" baseline="0" noProof="0" dirty="0">
              <a:ln>
                <a:noFill/>
              </a:ln>
              <a:solidFill>
                <a:schemeClr val="bg1"/>
              </a:solidFill>
              <a:effectLst/>
              <a:uLnTx/>
              <a:uFillTx/>
              <a:latin typeface="+mj-lt"/>
              <a:ea typeface="+mj-ea"/>
              <a:cs typeface="+mj-cs"/>
            </a:endParaRPr>
          </a:p>
        </p:txBody>
      </p:sp>
      <p:sp>
        <p:nvSpPr>
          <p:cNvPr id="6" name="5 Dikdörtgen"/>
          <p:cNvSpPr/>
          <p:nvPr/>
        </p:nvSpPr>
        <p:spPr>
          <a:xfrm>
            <a:off x="142844" y="1142984"/>
            <a:ext cx="8858312" cy="4108817"/>
          </a:xfrm>
          <a:prstGeom prst="rect">
            <a:avLst/>
          </a:prstGeom>
        </p:spPr>
        <p:txBody>
          <a:bodyPr wrap="square">
            <a:spAutoFit/>
          </a:bodyPr>
          <a:lstStyle/>
          <a:p>
            <a:pPr marL="342900" indent="-342900" algn="just">
              <a:spcBef>
                <a:spcPct val="50000"/>
              </a:spcBef>
              <a:buClr>
                <a:srgbClr val="CCFF33"/>
              </a:buClr>
              <a:defRPr/>
            </a:pPr>
            <a:r>
              <a:rPr lang="tr-TR" b="1" dirty="0">
                <a:latin typeface="+mj-lt"/>
                <a:ea typeface="Verdana" pitchFamily="34" charset="0"/>
                <a:cs typeface="Verdana" pitchFamily="34" charset="0"/>
              </a:rPr>
              <a:t>1. İşçiler, davranış ve kusurlarından dolayı, kendilerinin ve diğer kişilerin sağlık ve güvenliğinin olumsuz etkilenmemesi için azami dikkati göstermek ve görevlerini, işveren tarafından kendilerine verilen </a:t>
            </a:r>
            <a:r>
              <a:rPr lang="tr-TR" b="1" dirty="0">
                <a:effectLst>
                  <a:outerShdw blurRad="38100" dist="38100" dir="2700000" algn="tl">
                    <a:srgbClr val="C0C0C0"/>
                  </a:outerShdw>
                </a:effectLst>
                <a:latin typeface="+mj-lt"/>
                <a:ea typeface="Verdana" pitchFamily="34" charset="0"/>
                <a:cs typeface="Verdana" pitchFamily="34" charset="0"/>
              </a:rPr>
              <a:t>eğitim ve talimatlar</a:t>
            </a:r>
            <a:r>
              <a:rPr lang="tr-TR" b="1" dirty="0">
                <a:latin typeface="+mj-lt"/>
                <a:ea typeface="Verdana" pitchFamily="34" charset="0"/>
                <a:cs typeface="Verdana" pitchFamily="34" charset="0"/>
              </a:rPr>
              <a:t> doğrultusunda yapmak,</a:t>
            </a:r>
          </a:p>
          <a:p>
            <a:pPr marL="342900" indent="-342900" algn="just">
              <a:spcBef>
                <a:spcPct val="50000"/>
              </a:spcBef>
              <a:buClr>
                <a:srgbClr val="CCFF33"/>
              </a:buClr>
              <a:defRPr/>
            </a:pPr>
            <a:r>
              <a:rPr lang="tr-TR" b="1" dirty="0">
                <a:latin typeface="+mj-lt"/>
                <a:ea typeface="Verdana" pitchFamily="34" charset="0"/>
                <a:cs typeface="Verdana" pitchFamily="34" charset="0"/>
              </a:rPr>
              <a:t>2. Taşıma araçları ile her türlü makine, araç-gereç ve cihazları, tehlikeli maddeleri ve diğer üretim araçlarını </a:t>
            </a:r>
            <a:r>
              <a:rPr lang="tr-TR" b="1" dirty="0">
                <a:effectLst>
                  <a:outerShdw blurRad="38100" dist="38100" dir="2700000" algn="tl">
                    <a:srgbClr val="C0C0C0"/>
                  </a:outerShdw>
                </a:effectLst>
                <a:latin typeface="+mj-lt"/>
                <a:ea typeface="Verdana" pitchFamily="34" charset="0"/>
                <a:cs typeface="Verdana" pitchFamily="34" charset="0"/>
              </a:rPr>
              <a:t>doğru şekilde</a:t>
            </a:r>
            <a:r>
              <a:rPr lang="tr-TR" b="1" dirty="0">
                <a:latin typeface="+mj-lt"/>
                <a:ea typeface="Verdana" pitchFamily="34" charset="0"/>
                <a:cs typeface="Verdana" pitchFamily="34" charset="0"/>
              </a:rPr>
              <a:t> kullanmak</a:t>
            </a:r>
          </a:p>
          <a:p>
            <a:pPr marL="342900" indent="-342900" algn="just">
              <a:spcBef>
                <a:spcPct val="50000"/>
              </a:spcBef>
              <a:buClr>
                <a:srgbClr val="CCFF33"/>
              </a:buClr>
              <a:defRPr/>
            </a:pPr>
            <a:r>
              <a:rPr lang="tr-TR" b="1" dirty="0">
                <a:latin typeface="+mj-lt"/>
                <a:ea typeface="Verdana" pitchFamily="34" charset="0"/>
                <a:cs typeface="Verdana" pitchFamily="34" charset="0"/>
              </a:rPr>
              <a:t>3. Kendilerine sağlanan kişisel koruyucu donanımı doğru kullanmak ve kullandıktan sonra muhafaza edildiği özel yere geri koymak,</a:t>
            </a:r>
          </a:p>
          <a:p>
            <a:pPr marL="342900" indent="-342900" algn="just">
              <a:spcBef>
                <a:spcPct val="50000"/>
              </a:spcBef>
              <a:buClr>
                <a:srgbClr val="CCFF33"/>
              </a:buClr>
              <a:defRPr/>
            </a:pPr>
            <a:r>
              <a:rPr lang="tr-TR" b="1" dirty="0">
                <a:latin typeface="+mj-lt"/>
                <a:ea typeface="Verdana" pitchFamily="34" charset="0"/>
                <a:cs typeface="Verdana" pitchFamily="34" charset="0"/>
              </a:rPr>
              <a:t>4. İşyerindeki makine, cihaz, araç-gereç, tesis ve binalardaki güvenlik donanımlarını kurallara uygun olarak kullanmak ve bunları keyfi olarak çıkarmamak ve değiştirmemek</a:t>
            </a:r>
          </a:p>
          <a:p>
            <a:pPr marL="342900" indent="-342900" algn="just">
              <a:spcBef>
                <a:spcPct val="50000"/>
              </a:spcBef>
              <a:buClr>
                <a:srgbClr val="CCFF33"/>
              </a:buClr>
              <a:defRPr/>
            </a:pPr>
            <a:endParaRPr lang="tr-TR" b="1" dirty="0">
              <a:solidFill>
                <a:srgbClr val="0066FF"/>
              </a:solidFill>
              <a:cs typeface="Times New Roman" pitchFamily="18" charset="0"/>
            </a:endParaRPr>
          </a:p>
          <a:p>
            <a:pPr marL="342900" indent="-342900" algn="just">
              <a:spcBef>
                <a:spcPct val="50000"/>
              </a:spcBef>
              <a:buClr>
                <a:srgbClr val="CCFF33"/>
              </a:buClr>
              <a:defRPr/>
            </a:pPr>
            <a:endParaRPr lang="tr-TR" b="1" dirty="0">
              <a:latin typeface="Verdana" pitchFamily="34" charset="0"/>
              <a:ea typeface="Verdana" pitchFamily="34" charset="0"/>
              <a:cs typeface="Verdana" pitchFamily="34" charset="0"/>
            </a:endParaRPr>
          </a:p>
          <a:p>
            <a:pPr algn="just">
              <a:defRPr/>
            </a:pPr>
            <a:endParaRPr lang="tr-TR" dirty="0"/>
          </a:p>
        </p:txBody>
      </p:sp>
      <p:pic>
        <p:nvPicPr>
          <p:cNvPr id="59394" name="Picture 2" descr="http://www.optisyeninsesi.com/wp-content/uploads/2012/10/fft99_mf2360561.jpg"/>
          <p:cNvPicPr>
            <a:picLocks noChangeAspect="1" noChangeArrowheads="1"/>
          </p:cNvPicPr>
          <p:nvPr/>
        </p:nvPicPr>
        <p:blipFill>
          <a:blip r:embed="rId2" cstate="print"/>
          <a:srcRect/>
          <a:stretch>
            <a:fillRect/>
          </a:stretch>
        </p:blipFill>
        <p:spPr bwMode="auto">
          <a:xfrm>
            <a:off x="4357686" y="4214818"/>
            <a:ext cx="4414828" cy="2476967"/>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br>
              <a:rPr lang="tr-TR" b="1" dirty="0"/>
            </a:br>
            <a:endParaRPr lang="tr-TR" b="1" dirty="0"/>
          </a:p>
        </p:txBody>
      </p:sp>
      <p:sp>
        <p:nvSpPr>
          <p:cNvPr id="4" name="3 Dikdörtgen"/>
          <p:cNvSpPr/>
          <p:nvPr/>
        </p:nvSpPr>
        <p:spPr>
          <a:xfrm>
            <a:off x="0" y="0"/>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pic>
        <p:nvPicPr>
          <p:cNvPr id="58370" name="Picture 2" descr="http://image.samanyoluhaber.com/Images/News/2011916/197755_insaat-isci.jpg"/>
          <p:cNvPicPr>
            <a:picLocks noChangeAspect="1" noChangeArrowheads="1"/>
          </p:cNvPicPr>
          <p:nvPr/>
        </p:nvPicPr>
        <p:blipFill>
          <a:blip r:embed="rId2" cstate="print"/>
          <a:srcRect/>
          <a:stretch>
            <a:fillRect/>
          </a:stretch>
        </p:blipFill>
        <p:spPr bwMode="auto">
          <a:xfrm>
            <a:off x="5929322" y="4643446"/>
            <a:ext cx="2571768" cy="1915311"/>
          </a:xfrm>
          <a:prstGeom prst="rect">
            <a:avLst/>
          </a:prstGeom>
          <a:noFill/>
        </p:spPr>
      </p:pic>
      <p:sp>
        <p:nvSpPr>
          <p:cNvPr id="5" name="1 Başlık"/>
          <p:cNvSpPr txBox="1">
            <a:spLocks/>
          </p:cNvSpPr>
          <p:nvPr/>
        </p:nvSpPr>
        <p:spPr>
          <a:xfrm>
            <a:off x="285720" y="214290"/>
            <a:ext cx="8272466" cy="1000125"/>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1" i="0" u="none" strike="noStrike" kern="1200" cap="none" spc="0" normalizeH="0" baseline="0" noProof="0" dirty="0">
                <a:ln>
                  <a:noFill/>
                </a:ln>
                <a:solidFill>
                  <a:schemeClr val="bg1"/>
                </a:solidFill>
                <a:effectLst/>
                <a:uLnTx/>
                <a:uFillTx/>
                <a:latin typeface="Verdana" pitchFamily="34" charset="0"/>
                <a:ea typeface="+mj-ea"/>
                <a:cs typeface="+mj-cs"/>
              </a:rPr>
              <a:t>ÇALIŞANLARIN YÜKÜMLÜLÜKLERİ</a:t>
            </a:r>
            <a:br>
              <a:rPr kumimoji="0" lang="tr-TR" sz="4000" b="1" i="0" u="none" strike="noStrike" kern="1200" cap="none" spc="0" normalizeH="0" baseline="0" noProof="0" dirty="0">
                <a:ln>
                  <a:noFill/>
                </a:ln>
                <a:solidFill>
                  <a:schemeClr val="bg1"/>
                </a:solidFill>
                <a:effectLst/>
                <a:uLnTx/>
                <a:uFillTx/>
                <a:latin typeface="Verdana" pitchFamily="34" charset="0"/>
                <a:ea typeface="+mj-ea"/>
                <a:cs typeface="+mj-cs"/>
              </a:rPr>
            </a:br>
            <a:endParaRPr kumimoji="0" lang="tr-TR" sz="4000" b="0" i="0" u="none" strike="noStrike" kern="1200" cap="none" spc="0" normalizeH="0" baseline="0" noProof="0" dirty="0">
              <a:ln>
                <a:noFill/>
              </a:ln>
              <a:solidFill>
                <a:schemeClr val="bg1"/>
              </a:solidFill>
              <a:effectLst/>
              <a:uLnTx/>
              <a:uFillTx/>
              <a:latin typeface="+mj-lt"/>
              <a:ea typeface="+mj-ea"/>
              <a:cs typeface="+mj-cs"/>
            </a:endParaRPr>
          </a:p>
        </p:txBody>
      </p:sp>
      <p:sp>
        <p:nvSpPr>
          <p:cNvPr id="6" name="5 Dikdörtgen"/>
          <p:cNvSpPr/>
          <p:nvPr/>
        </p:nvSpPr>
        <p:spPr>
          <a:xfrm>
            <a:off x="214282" y="1500173"/>
            <a:ext cx="8715436" cy="3139321"/>
          </a:xfrm>
          <a:prstGeom prst="rect">
            <a:avLst/>
          </a:prstGeom>
        </p:spPr>
        <p:txBody>
          <a:bodyPr wrap="square">
            <a:spAutoFit/>
          </a:bodyPr>
          <a:lstStyle/>
          <a:p>
            <a:pPr marL="342900" indent="-342900" algn="just">
              <a:spcBef>
                <a:spcPct val="50000"/>
              </a:spcBef>
              <a:buClr>
                <a:schemeClr val="tx2"/>
              </a:buClr>
              <a:defRPr/>
            </a:pPr>
            <a:r>
              <a:rPr lang="tr-TR" b="1" dirty="0"/>
              <a:t>5. İş</a:t>
            </a:r>
            <a:r>
              <a:rPr lang="tr-TR" b="1" dirty="0">
                <a:cs typeface="Times New Roman" pitchFamily="18" charset="0"/>
              </a:rPr>
              <a:t>yerinde sa</a:t>
            </a:r>
            <a:r>
              <a:rPr lang="tr-TR" b="1" dirty="0"/>
              <a:t>ğ</a:t>
            </a:r>
            <a:r>
              <a:rPr lang="tr-TR" b="1" dirty="0">
                <a:cs typeface="Times New Roman" pitchFamily="18" charset="0"/>
              </a:rPr>
              <a:t>l</a:t>
            </a:r>
            <a:r>
              <a:rPr lang="tr-TR" b="1" dirty="0"/>
              <a:t>ı</a:t>
            </a:r>
            <a:r>
              <a:rPr lang="tr-TR" b="1" dirty="0">
                <a:cs typeface="Times New Roman" pitchFamily="18" charset="0"/>
              </a:rPr>
              <a:t>k ve güvenlik i</a:t>
            </a:r>
            <a:r>
              <a:rPr lang="tr-TR" b="1" dirty="0"/>
              <a:t>ç</a:t>
            </a:r>
            <a:r>
              <a:rPr lang="tr-TR" b="1" dirty="0">
                <a:cs typeface="Times New Roman" pitchFamily="18" charset="0"/>
              </a:rPr>
              <a:t>in </a:t>
            </a:r>
            <a:r>
              <a:rPr lang="tr-TR" b="1" dirty="0">
                <a:effectLst>
                  <a:outerShdw blurRad="38100" dist="38100" dir="2700000" algn="tl">
                    <a:srgbClr val="C0C0C0"/>
                  </a:outerShdw>
                </a:effectLst>
                <a:cs typeface="Times New Roman" pitchFamily="18" charset="0"/>
              </a:rPr>
              <a:t>ciddi ve ani</a:t>
            </a:r>
            <a:r>
              <a:rPr lang="tr-TR" b="1" dirty="0">
                <a:cs typeface="Times New Roman" pitchFamily="18" charset="0"/>
              </a:rPr>
              <a:t> bir tehlike olduğu kanaatine vard</a:t>
            </a:r>
            <a:r>
              <a:rPr lang="tr-TR" b="1" dirty="0"/>
              <a:t>ı</a:t>
            </a:r>
            <a:r>
              <a:rPr lang="tr-TR" b="1" dirty="0">
                <a:cs typeface="Times New Roman" pitchFamily="18" charset="0"/>
              </a:rPr>
              <a:t>klar</a:t>
            </a:r>
            <a:r>
              <a:rPr lang="tr-TR" b="1" dirty="0"/>
              <a:t>ı</a:t>
            </a:r>
            <a:r>
              <a:rPr lang="tr-TR" b="1" dirty="0">
                <a:cs typeface="Times New Roman" pitchFamily="18" charset="0"/>
              </a:rPr>
              <a:t> herhangi bir durumla kar</a:t>
            </a:r>
            <a:r>
              <a:rPr lang="tr-TR" b="1" dirty="0"/>
              <a:t>şı</a:t>
            </a:r>
            <a:r>
              <a:rPr lang="tr-TR" b="1" dirty="0">
                <a:cs typeface="Times New Roman" pitchFamily="18" charset="0"/>
              </a:rPr>
              <a:t>la</a:t>
            </a:r>
            <a:r>
              <a:rPr lang="tr-TR" b="1" dirty="0"/>
              <a:t>ş</a:t>
            </a:r>
            <a:r>
              <a:rPr lang="tr-TR" b="1" dirty="0">
                <a:cs typeface="Times New Roman" pitchFamily="18" charset="0"/>
              </a:rPr>
              <a:t>t</a:t>
            </a:r>
            <a:r>
              <a:rPr lang="tr-TR" b="1" dirty="0"/>
              <a:t>ı</a:t>
            </a:r>
            <a:r>
              <a:rPr lang="tr-TR" b="1" dirty="0">
                <a:cs typeface="Times New Roman" pitchFamily="18" charset="0"/>
              </a:rPr>
              <a:t>klar</a:t>
            </a:r>
            <a:r>
              <a:rPr lang="tr-TR" b="1" dirty="0"/>
              <a:t>ı</a:t>
            </a:r>
            <a:r>
              <a:rPr lang="tr-TR" b="1" dirty="0">
                <a:cs typeface="Times New Roman" pitchFamily="18" charset="0"/>
              </a:rPr>
              <a:t>nda veya koruma tedbirlerinde bir aksakl</a:t>
            </a:r>
            <a:r>
              <a:rPr lang="tr-TR" b="1" dirty="0"/>
              <a:t>ı</a:t>
            </a:r>
            <a:r>
              <a:rPr lang="tr-TR" b="1" dirty="0">
                <a:cs typeface="Times New Roman" pitchFamily="18" charset="0"/>
              </a:rPr>
              <a:t>k ve eksiklik gördüklerinde, i</a:t>
            </a:r>
            <a:r>
              <a:rPr lang="tr-TR" b="1" dirty="0"/>
              <a:t>ş</a:t>
            </a:r>
            <a:r>
              <a:rPr lang="tr-TR" b="1" dirty="0">
                <a:cs typeface="Times New Roman" pitchFamily="18" charset="0"/>
              </a:rPr>
              <a:t>verene ve/veya </a:t>
            </a:r>
            <a:r>
              <a:rPr lang="tr-TR" b="1" dirty="0">
                <a:effectLst>
                  <a:outerShdw blurRad="38100" dist="38100" dir="2700000" algn="tl">
                    <a:srgbClr val="C0C0C0"/>
                  </a:outerShdw>
                </a:effectLst>
                <a:cs typeface="Times New Roman" pitchFamily="18" charset="0"/>
              </a:rPr>
              <a:t>sa</a:t>
            </a:r>
            <a:r>
              <a:rPr lang="tr-TR" b="1" dirty="0">
                <a:effectLst>
                  <a:outerShdw blurRad="38100" dist="38100" dir="2700000" algn="tl">
                    <a:srgbClr val="C0C0C0"/>
                  </a:outerShdw>
                </a:effectLst>
              </a:rPr>
              <a:t>ğ</a:t>
            </a:r>
            <a:r>
              <a:rPr lang="tr-TR" b="1" dirty="0">
                <a:effectLst>
                  <a:outerShdw blurRad="38100" dist="38100" dir="2700000" algn="tl">
                    <a:srgbClr val="C0C0C0"/>
                  </a:outerShdw>
                </a:effectLst>
                <a:cs typeface="Times New Roman" pitchFamily="18" charset="0"/>
              </a:rPr>
              <a:t>l</a:t>
            </a:r>
            <a:r>
              <a:rPr lang="tr-TR" b="1" dirty="0">
                <a:effectLst>
                  <a:outerShdw blurRad="38100" dist="38100" dir="2700000" algn="tl">
                    <a:srgbClr val="C0C0C0"/>
                  </a:outerShdw>
                </a:effectLst>
              </a:rPr>
              <a:t>ı</a:t>
            </a:r>
            <a:r>
              <a:rPr lang="tr-TR" b="1" dirty="0">
                <a:effectLst>
                  <a:outerShdw blurRad="38100" dist="38100" dir="2700000" algn="tl">
                    <a:srgbClr val="C0C0C0"/>
                  </a:outerShdw>
                </a:effectLst>
                <a:cs typeface="Times New Roman" pitchFamily="18" charset="0"/>
              </a:rPr>
              <a:t>k ve güvenlik i</a:t>
            </a:r>
            <a:r>
              <a:rPr lang="tr-TR" b="1" dirty="0">
                <a:effectLst>
                  <a:outerShdw blurRad="38100" dist="38100" dir="2700000" algn="tl">
                    <a:srgbClr val="C0C0C0"/>
                  </a:outerShdw>
                </a:effectLst>
              </a:rPr>
              <a:t>şç</a:t>
            </a:r>
            <a:r>
              <a:rPr lang="tr-TR" b="1" dirty="0">
                <a:effectLst>
                  <a:outerShdw blurRad="38100" dist="38100" dir="2700000" algn="tl">
                    <a:srgbClr val="C0C0C0"/>
                  </a:outerShdw>
                </a:effectLst>
                <a:cs typeface="Times New Roman" pitchFamily="18" charset="0"/>
              </a:rPr>
              <a:t>i temsilcisine</a:t>
            </a:r>
            <a:r>
              <a:rPr lang="tr-TR" b="1" dirty="0">
                <a:cs typeface="Times New Roman" pitchFamily="18" charset="0"/>
              </a:rPr>
              <a:t> derhal haber vermek,</a:t>
            </a:r>
          </a:p>
          <a:p>
            <a:pPr marL="342900" indent="-342900" algn="just">
              <a:spcBef>
                <a:spcPct val="50000"/>
              </a:spcBef>
              <a:buClr>
                <a:srgbClr val="CCFF33"/>
              </a:buClr>
              <a:defRPr/>
            </a:pPr>
            <a:r>
              <a:rPr lang="tr-TR" b="1" dirty="0"/>
              <a:t>6. İş</a:t>
            </a:r>
            <a:r>
              <a:rPr lang="tr-TR" b="1" dirty="0">
                <a:cs typeface="Times New Roman" pitchFamily="18" charset="0"/>
              </a:rPr>
              <a:t>yerinde, sa</a:t>
            </a:r>
            <a:r>
              <a:rPr lang="tr-TR" b="1" dirty="0"/>
              <a:t>ğ</a:t>
            </a:r>
            <a:r>
              <a:rPr lang="tr-TR" b="1" dirty="0">
                <a:cs typeface="Times New Roman" pitchFamily="18" charset="0"/>
              </a:rPr>
              <a:t>l</a:t>
            </a:r>
            <a:r>
              <a:rPr lang="tr-TR" b="1" dirty="0"/>
              <a:t>ı</a:t>
            </a:r>
            <a:r>
              <a:rPr lang="tr-TR" b="1" dirty="0">
                <a:cs typeface="Times New Roman" pitchFamily="18" charset="0"/>
              </a:rPr>
              <a:t>k ve güvenli</a:t>
            </a:r>
            <a:r>
              <a:rPr lang="tr-TR" b="1" dirty="0"/>
              <a:t>ğ</a:t>
            </a:r>
            <a:r>
              <a:rPr lang="tr-TR" b="1" dirty="0">
                <a:cs typeface="Times New Roman" pitchFamily="18" charset="0"/>
              </a:rPr>
              <a:t>in korunmas</a:t>
            </a:r>
            <a:r>
              <a:rPr lang="tr-TR" b="1" dirty="0"/>
              <a:t>ı</a:t>
            </a:r>
            <a:r>
              <a:rPr lang="tr-TR" b="1" dirty="0">
                <a:cs typeface="Times New Roman" pitchFamily="18" charset="0"/>
              </a:rPr>
              <a:t> i</a:t>
            </a:r>
            <a:r>
              <a:rPr lang="tr-TR" b="1" dirty="0"/>
              <a:t>ç</a:t>
            </a:r>
            <a:r>
              <a:rPr lang="tr-TR" b="1" dirty="0">
                <a:cs typeface="Times New Roman" pitchFamily="18" charset="0"/>
              </a:rPr>
              <a:t>in </a:t>
            </a:r>
            <a:r>
              <a:rPr lang="tr-TR" b="1" dirty="0">
                <a:effectLst>
                  <a:outerShdw blurRad="38100" dist="38100" dir="2700000" algn="tl">
                    <a:srgbClr val="C0C0C0"/>
                  </a:outerShdw>
                </a:effectLst>
                <a:cs typeface="Times New Roman" pitchFamily="18" charset="0"/>
              </a:rPr>
              <a:t>tefti</a:t>
            </a:r>
            <a:r>
              <a:rPr lang="tr-TR" b="1" dirty="0">
                <a:effectLst>
                  <a:outerShdw blurRad="38100" dist="38100" dir="2700000" algn="tl">
                    <a:srgbClr val="C0C0C0"/>
                  </a:outerShdw>
                </a:effectLst>
              </a:rPr>
              <a:t>ş</a:t>
            </a:r>
            <a:r>
              <a:rPr lang="tr-TR" b="1" dirty="0">
                <a:effectLst>
                  <a:outerShdw blurRad="38100" dist="38100" dir="2700000" algn="tl">
                    <a:srgbClr val="C0C0C0"/>
                  </a:outerShdw>
                </a:effectLst>
                <a:cs typeface="Times New Roman" pitchFamily="18" charset="0"/>
              </a:rPr>
              <a:t>e yetkili makam</a:t>
            </a:r>
            <a:r>
              <a:rPr lang="tr-TR" b="1" dirty="0">
                <a:cs typeface="Times New Roman" pitchFamily="18" charset="0"/>
              </a:rPr>
              <a:t> taraf</a:t>
            </a:r>
            <a:r>
              <a:rPr lang="tr-TR" b="1" dirty="0"/>
              <a:t>ı</a:t>
            </a:r>
            <a:r>
              <a:rPr lang="tr-TR" b="1" dirty="0">
                <a:cs typeface="Times New Roman" pitchFamily="18" charset="0"/>
              </a:rPr>
              <a:t>ndan belirlenen zorunluluklar</a:t>
            </a:r>
            <a:r>
              <a:rPr lang="tr-TR" b="1" dirty="0"/>
              <a:t>ı</a:t>
            </a:r>
            <a:r>
              <a:rPr lang="tr-TR" b="1" dirty="0">
                <a:cs typeface="Times New Roman" pitchFamily="18" charset="0"/>
              </a:rPr>
              <a:t>n yerine getirilmesinde, i</a:t>
            </a:r>
            <a:r>
              <a:rPr lang="tr-TR" b="1" dirty="0"/>
              <a:t>ş</a:t>
            </a:r>
            <a:r>
              <a:rPr lang="tr-TR" b="1" dirty="0">
                <a:cs typeface="Times New Roman" pitchFamily="18" charset="0"/>
              </a:rPr>
              <a:t>verenle ve/veya i</a:t>
            </a:r>
            <a:r>
              <a:rPr lang="tr-TR" b="1" dirty="0"/>
              <a:t>ş</a:t>
            </a:r>
            <a:r>
              <a:rPr lang="tr-TR" b="1" dirty="0">
                <a:cs typeface="Times New Roman" pitchFamily="18" charset="0"/>
              </a:rPr>
              <a:t>yerinde sa</a:t>
            </a:r>
            <a:r>
              <a:rPr lang="tr-TR" b="1" dirty="0"/>
              <a:t>ğ</a:t>
            </a:r>
            <a:r>
              <a:rPr lang="tr-TR" b="1" dirty="0">
                <a:cs typeface="Times New Roman" pitchFamily="18" charset="0"/>
              </a:rPr>
              <a:t>l</a:t>
            </a:r>
            <a:r>
              <a:rPr lang="tr-TR" b="1" dirty="0"/>
              <a:t>ı</a:t>
            </a:r>
            <a:r>
              <a:rPr lang="tr-TR" b="1" dirty="0">
                <a:cs typeface="Times New Roman" pitchFamily="18" charset="0"/>
              </a:rPr>
              <a:t>k ve güvenlikten sorumlu  </a:t>
            </a:r>
            <a:r>
              <a:rPr lang="tr-TR" b="1" dirty="0"/>
              <a:t>kişi </a:t>
            </a:r>
            <a:r>
              <a:rPr lang="tr-TR" b="1" dirty="0">
                <a:cs typeface="Times New Roman" pitchFamily="18" charset="0"/>
              </a:rPr>
              <a:t>ile i</a:t>
            </a:r>
            <a:r>
              <a:rPr lang="tr-TR" b="1" dirty="0"/>
              <a:t>ş</a:t>
            </a:r>
            <a:r>
              <a:rPr lang="tr-TR" b="1" dirty="0">
                <a:cs typeface="Times New Roman" pitchFamily="18" charset="0"/>
              </a:rPr>
              <a:t>birli</a:t>
            </a:r>
            <a:r>
              <a:rPr lang="tr-TR" b="1" dirty="0"/>
              <a:t>ğ</a:t>
            </a:r>
            <a:r>
              <a:rPr lang="tr-TR" b="1" dirty="0">
                <a:cs typeface="Times New Roman" pitchFamily="18" charset="0"/>
              </a:rPr>
              <a:t>i yapmak,</a:t>
            </a:r>
          </a:p>
          <a:p>
            <a:pPr marL="342900" indent="-342900" algn="just">
              <a:spcBef>
                <a:spcPct val="50000"/>
              </a:spcBef>
              <a:buClr>
                <a:srgbClr val="CCFF33"/>
              </a:buClr>
              <a:defRPr/>
            </a:pPr>
            <a:r>
              <a:rPr lang="tr-TR" b="1" dirty="0">
                <a:cs typeface="Times New Roman" pitchFamily="18" charset="0"/>
              </a:rPr>
              <a:t>7. </a:t>
            </a:r>
            <a:r>
              <a:rPr lang="tr-TR" b="1" dirty="0"/>
              <a:t>İşv</a:t>
            </a:r>
            <a:r>
              <a:rPr lang="tr-TR" b="1" dirty="0">
                <a:cs typeface="Times New Roman" pitchFamily="18" charset="0"/>
              </a:rPr>
              <a:t>eren taraf</a:t>
            </a:r>
            <a:r>
              <a:rPr lang="tr-TR" b="1" dirty="0"/>
              <a:t>ı</a:t>
            </a:r>
            <a:r>
              <a:rPr lang="tr-TR" b="1" dirty="0">
                <a:cs typeface="Times New Roman" pitchFamily="18" charset="0"/>
              </a:rPr>
              <a:t>ndan güvenli çal</a:t>
            </a:r>
            <a:r>
              <a:rPr lang="tr-TR" b="1" dirty="0"/>
              <a:t>ış</a:t>
            </a:r>
            <a:r>
              <a:rPr lang="tr-TR" b="1" dirty="0">
                <a:cs typeface="Times New Roman" pitchFamily="18" charset="0"/>
              </a:rPr>
              <a:t>ma ortam ve ko</a:t>
            </a:r>
            <a:r>
              <a:rPr lang="tr-TR" b="1" dirty="0"/>
              <a:t>ş</a:t>
            </a:r>
            <a:r>
              <a:rPr lang="tr-TR" b="1" dirty="0">
                <a:cs typeface="Times New Roman" pitchFamily="18" charset="0"/>
              </a:rPr>
              <a:t>ullar</a:t>
            </a:r>
            <a:r>
              <a:rPr lang="tr-TR" b="1" dirty="0"/>
              <a:t>ı</a:t>
            </a:r>
            <a:r>
              <a:rPr lang="tr-TR" b="1" dirty="0">
                <a:cs typeface="Times New Roman" pitchFamily="18" charset="0"/>
              </a:rPr>
              <a:t>n</a:t>
            </a:r>
            <a:r>
              <a:rPr lang="tr-TR" b="1" dirty="0"/>
              <a:t>ı</a:t>
            </a:r>
            <a:r>
              <a:rPr lang="tr-TR" b="1" dirty="0">
                <a:cs typeface="Times New Roman" pitchFamily="18" charset="0"/>
              </a:rPr>
              <a:t>n sa</a:t>
            </a:r>
            <a:r>
              <a:rPr lang="tr-TR" b="1" dirty="0"/>
              <a:t>ğ</a:t>
            </a:r>
            <a:r>
              <a:rPr lang="tr-TR" b="1" dirty="0">
                <a:cs typeface="Times New Roman" pitchFamily="18" charset="0"/>
              </a:rPr>
              <a:t>lanmas</a:t>
            </a:r>
            <a:r>
              <a:rPr lang="tr-TR" b="1" dirty="0"/>
              <a:t>ı</a:t>
            </a:r>
            <a:r>
              <a:rPr lang="tr-TR" b="1" dirty="0">
                <a:cs typeface="Times New Roman" pitchFamily="18" charset="0"/>
              </a:rPr>
              <a:t> ve kendi yapt</a:t>
            </a:r>
            <a:r>
              <a:rPr lang="tr-TR" b="1" dirty="0"/>
              <a:t>ı</a:t>
            </a:r>
            <a:r>
              <a:rPr lang="tr-TR" b="1" dirty="0">
                <a:cs typeface="Times New Roman" pitchFamily="18" charset="0"/>
              </a:rPr>
              <a:t>klar</a:t>
            </a:r>
            <a:r>
              <a:rPr lang="tr-TR" b="1" dirty="0"/>
              <a:t>ı</a:t>
            </a:r>
            <a:r>
              <a:rPr lang="tr-TR" b="1" dirty="0">
                <a:cs typeface="Times New Roman" pitchFamily="18" charset="0"/>
              </a:rPr>
              <a:t> i</a:t>
            </a:r>
            <a:r>
              <a:rPr lang="tr-TR" b="1" dirty="0"/>
              <a:t>ş</a:t>
            </a:r>
            <a:r>
              <a:rPr lang="tr-TR" b="1" dirty="0">
                <a:cs typeface="Times New Roman" pitchFamily="18" charset="0"/>
              </a:rPr>
              <a:t>lerde sa</a:t>
            </a:r>
            <a:r>
              <a:rPr lang="tr-TR" b="1" dirty="0"/>
              <a:t>ğ</a:t>
            </a:r>
            <a:r>
              <a:rPr lang="tr-TR" b="1" dirty="0">
                <a:cs typeface="Times New Roman" pitchFamily="18" charset="0"/>
              </a:rPr>
              <a:t>l</a:t>
            </a:r>
            <a:r>
              <a:rPr lang="tr-TR" b="1" dirty="0"/>
              <a:t>ı</a:t>
            </a:r>
            <a:r>
              <a:rPr lang="tr-TR" b="1" dirty="0">
                <a:cs typeface="Times New Roman" pitchFamily="18" charset="0"/>
              </a:rPr>
              <a:t>k ve güvenlik yönünden risklerin önlenmesinde, i</a:t>
            </a:r>
            <a:r>
              <a:rPr lang="tr-TR" b="1" dirty="0"/>
              <a:t>ş</a:t>
            </a:r>
            <a:r>
              <a:rPr lang="tr-TR" b="1" dirty="0">
                <a:cs typeface="Times New Roman" pitchFamily="18" charset="0"/>
              </a:rPr>
              <a:t>veren ve/veya sa</a:t>
            </a:r>
            <a:r>
              <a:rPr lang="tr-TR" b="1" dirty="0"/>
              <a:t>ğ</a:t>
            </a:r>
            <a:r>
              <a:rPr lang="tr-TR" b="1" dirty="0">
                <a:cs typeface="Times New Roman" pitchFamily="18" charset="0"/>
              </a:rPr>
              <a:t>l</a:t>
            </a:r>
            <a:r>
              <a:rPr lang="tr-TR" b="1" dirty="0"/>
              <a:t>ı</a:t>
            </a:r>
            <a:r>
              <a:rPr lang="tr-TR" b="1" dirty="0">
                <a:cs typeface="Times New Roman" pitchFamily="18" charset="0"/>
              </a:rPr>
              <a:t>k ve güvenlikten sorumlu k</a:t>
            </a:r>
            <a:r>
              <a:rPr lang="tr-TR" b="1" dirty="0"/>
              <a:t>iş</a:t>
            </a:r>
            <a:r>
              <a:rPr lang="tr-TR" b="1" dirty="0">
                <a:cs typeface="Times New Roman" pitchFamily="18" charset="0"/>
              </a:rPr>
              <a:t>i ile mevzuat uygulamalar</a:t>
            </a:r>
            <a:r>
              <a:rPr lang="tr-TR" b="1" dirty="0"/>
              <a:t>ı</a:t>
            </a:r>
            <a:r>
              <a:rPr lang="tr-TR" b="1" dirty="0">
                <a:cs typeface="Times New Roman" pitchFamily="18" charset="0"/>
              </a:rPr>
              <a:t> do</a:t>
            </a:r>
            <a:r>
              <a:rPr lang="tr-TR" b="1" dirty="0"/>
              <a:t>ğ</a:t>
            </a:r>
            <a:r>
              <a:rPr lang="tr-TR" b="1" dirty="0">
                <a:cs typeface="Times New Roman" pitchFamily="18" charset="0"/>
              </a:rPr>
              <a:t>rultusunda i</a:t>
            </a:r>
            <a:r>
              <a:rPr lang="tr-TR" b="1" dirty="0"/>
              <a:t>ş</a:t>
            </a:r>
            <a:r>
              <a:rPr lang="tr-TR" b="1" dirty="0">
                <a:cs typeface="Times New Roman" pitchFamily="18" charset="0"/>
              </a:rPr>
              <a:t>birli</a:t>
            </a:r>
            <a:r>
              <a:rPr lang="tr-TR" b="1" dirty="0"/>
              <a:t>ğ</a:t>
            </a:r>
            <a:r>
              <a:rPr lang="tr-TR" b="1" dirty="0">
                <a:cs typeface="Times New Roman" pitchFamily="18" charset="0"/>
              </a:rPr>
              <a:t>i yapmak,</a:t>
            </a:r>
          </a:p>
        </p:txBody>
      </p:sp>
      <p:pic>
        <p:nvPicPr>
          <p:cNvPr id="58372" name="Picture 4" descr="https://encrypted-tbn3.gstatic.com/images?q=tbn:ANd9GcRtXgs5xHKPNF763M9Rn0egzLMOtbTlQaUve4BPbY27tRoFCgeZ-A"/>
          <p:cNvPicPr>
            <a:picLocks noChangeAspect="1" noChangeArrowheads="1"/>
          </p:cNvPicPr>
          <p:nvPr/>
        </p:nvPicPr>
        <p:blipFill>
          <a:blip r:embed="rId3" cstate="print"/>
          <a:srcRect/>
          <a:stretch>
            <a:fillRect/>
          </a:stretch>
        </p:blipFill>
        <p:spPr bwMode="auto">
          <a:xfrm>
            <a:off x="500033" y="4786322"/>
            <a:ext cx="3840507" cy="1714512"/>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Alt Başlık"/>
          <p:cNvSpPr>
            <a:spLocks noGrp="1"/>
          </p:cNvSpPr>
          <p:nvPr>
            <p:ph type="subTitle" sz="quarter" idx="1"/>
          </p:nvPr>
        </p:nvSpPr>
        <p:spPr>
          <a:xfrm>
            <a:off x="323850" y="2133600"/>
            <a:ext cx="8569325" cy="2447925"/>
          </a:xfrm>
        </p:spPr>
        <p:txBody>
          <a:bodyPr>
            <a:normAutofit fontScale="55000" lnSpcReduction="20000"/>
          </a:bodyPr>
          <a:lstStyle/>
          <a:p>
            <a:pPr algn="l">
              <a:defRPr/>
            </a:pPr>
            <a:r>
              <a:rPr lang="tr-TR" sz="3800" b="1" dirty="0">
                <a:latin typeface="Times New Roman" pitchFamily="18" charset="0"/>
              </a:rPr>
              <a:t>İşveren ya;</a:t>
            </a:r>
          </a:p>
          <a:p>
            <a:pPr algn="l">
              <a:buFont typeface="Arial" pitchFamily="34" charset="0"/>
              <a:buChar char="•"/>
              <a:defRPr/>
            </a:pPr>
            <a:r>
              <a:rPr lang="tr-TR" sz="3800" b="1" dirty="0">
                <a:latin typeface="Times New Roman" pitchFamily="18" charset="0"/>
              </a:rPr>
              <a:t>  İş güvenliği uzmanı,</a:t>
            </a:r>
          </a:p>
          <a:p>
            <a:pPr algn="l">
              <a:buFont typeface="Arial" pitchFamily="34" charset="0"/>
              <a:buChar char="•"/>
              <a:defRPr/>
            </a:pPr>
            <a:r>
              <a:rPr lang="tr-TR" sz="3800" b="1" dirty="0">
                <a:latin typeface="Times New Roman" pitchFamily="18" charset="0"/>
              </a:rPr>
              <a:t>  İşyeri hekimi,</a:t>
            </a:r>
          </a:p>
          <a:p>
            <a:pPr algn="l">
              <a:buFont typeface="Arial" pitchFamily="34" charset="0"/>
              <a:buChar char="•"/>
              <a:defRPr/>
            </a:pPr>
            <a:r>
              <a:rPr lang="tr-TR" sz="3800" b="1" dirty="0">
                <a:latin typeface="Times New Roman" pitchFamily="18" charset="0"/>
              </a:rPr>
              <a:t>  Sağlık personeli istihdam edecek.</a:t>
            </a:r>
          </a:p>
          <a:p>
            <a:pPr algn="l">
              <a:buFont typeface="Arial" pitchFamily="34" charset="0"/>
              <a:buChar char="•"/>
              <a:defRPr/>
            </a:pPr>
            <a:r>
              <a:rPr lang="tr-TR" sz="3800" b="1" dirty="0">
                <a:latin typeface="Times New Roman" pitchFamily="18" charset="0"/>
              </a:rPr>
              <a:t>Ya da dışarıdan </a:t>
            </a:r>
            <a:r>
              <a:rPr lang="tr-TR" sz="3800" b="1" dirty="0">
                <a:solidFill>
                  <a:srgbClr val="FFC000"/>
                </a:solidFill>
                <a:latin typeface="Times New Roman" pitchFamily="18" charset="0"/>
              </a:rPr>
              <a:t>(Ortak Sağlık ve Güvenlik Birimlerinden)</a:t>
            </a:r>
            <a:r>
              <a:rPr lang="tr-TR" sz="3800" b="1" dirty="0">
                <a:latin typeface="Times New Roman" pitchFamily="18" charset="0"/>
              </a:rPr>
              <a:t> hizmet satın alacak.</a:t>
            </a:r>
          </a:p>
          <a:p>
            <a:pPr algn="l">
              <a:buFont typeface="Arial" pitchFamily="34" charset="0"/>
              <a:buChar char="•"/>
              <a:defRPr/>
            </a:pPr>
            <a:endParaRPr lang="tr-TR" b="1" dirty="0">
              <a:latin typeface="Times New Roman" pitchFamily="18" charset="0"/>
            </a:endParaRPr>
          </a:p>
          <a:p>
            <a:pPr algn="l">
              <a:defRPr/>
            </a:pPr>
            <a:r>
              <a:rPr lang="tr-TR" b="1" dirty="0">
                <a:latin typeface="Times New Roman" pitchFamily="18" charset="0"/>
              </a:rPr>
              <a:t> </a:t>
            </a:r>
          </a:p>
          <a:p>
            <a:pPr>
              <a:defRPr/>
            </a:pPr>
            <a:endParaRPr lang="tr-TR" dirty="0"/>
          </a:p>
        </p:txBody>
      </p:sp>
      <p:sp>
        <p:nvSpPr>
          <p:cNvPr id="31747" name="Rectangle 2"/>
          <p:cNvSpPr>
            <a:spLocks noGrp="1" noChangeArrowheads="1"/>
          </p:cNvSpPr>
          <p:nvPr>
            <p:ph type="ctrTitle" sz="quarter"/>
          </p:nvPr>
        </p:nvSpPr>
        <p:spPr>
          <a:xfrm>
            <a:off x="611188" y="260350"/>
            <a:ext cx="7772400" cy="1431925"/>
          </a:xfrm>
        </p:spPr>
        <p:txBody>
          <a:bodyPr/>
          <a:lstStyle/>
          <a:p>
            <a:r>
              <a:rPr lang="tr-TR" altLang="tr-TR" sz="3200" b="1">
                <a:effectLst/>
              </a:rPr>
              <a:t>İŞVEREN İŞ SAĞLIĞI VE GÜVENLİĞİNİ NASIL SAĞLAYACAK?</a:t>
            </a:r>
            <a:r>
              <a:rPr lang="tr-TR" altLang="tr-TR" sz="4000">
                <a:effectLst/>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sz="quarter"/>
          </p:nvPr>
        </p:nvSpPr>
        <p:spPr>
          <a:xfrm>
            <a:off x="611188" y="765175"/>
            <a:ext cx="7772400" cy="1431925"/>
          </a:xfrm>
        </p:spPr>
        <p:txBody>
          <a:bodyPr>
            <a:normAutofit fontScale="90000"/>
          </a:bodyPr>
          <a:lstStyle/>
          <a:p>
            <a:pPr>
              <a:defRPr/>
            </a:pPr>
            <a:r>
              <a:rPr lang="tr-TR" sz="3200" b="1" dirty="0">
                <a:effectLst/>
                <a:latin typeface="+mn-lt"/>
              </a:rPr>
              <a:t>İşverenin sağlık ve güvenlik kayıtları ve onaylı deftere ilişkin yükümlülükleri </a:t>
            </a:r>
            <a:br>
              <a:rPr lang="tr-TR" dirty="0"/>
            </a:br>
            <a:endParaRPr lang="tr-TR" dirty="0"/>
          </a:p>
        </p:txBody>
      </p:sp>
      <p:sp>
        <p:nvSpPr>
          <p:cNvPr id="3" name="2 Alt Başlık"/>
          <p:cNvSpPr>
            <a:spLocks noGrp="1"/>
          </p:cNvSpPr>
          <p:nvPr>
            <p:ph type="subTitle" sz="quarter" idx="1"/>
          </p:nvPr>
        </p:nvSpPr>
        <p:spPr>
          <a:xfrm>
            <a:off x="539750" y="1557338"/>
            <a:ext cx="8064500" cy="4010025"/>
          </a:xfrm>
        </p:spPr>
        <p:txBody>
          <a:bodyPr>
            <a:normAutofit fontScale="92500"/>
          </a:bodyPr>
          <a:lstStyle/>
          <a:p>
            <a:pPr algn="just">
              <a:defRPr/>
            </a:pPr>
            <a:r>
              <a:rPr lang="tr-TR" sz="2400" b="1" dirty="0">
                <a:solidFill>
                  <a:srgbClr val="FFC000"/>
                </a:solidFill>
              </a:rPr>
              <a:t>MADDE 7</a:t>
            </a:r>
            <a:r>
              <a:rPr lang="tr-TR" sz="2400" b="1" dirty="0"/>
              <a:t> - </a:t>
            </a:r>
            <a:r>
              <a:rPr lang="tr-TR" sz="2400" dirty="0"/>
              <a:t>(1) İşveren, çalışanların kişisel sağlık dosyalarını ilgili mevzuatta başka bir süre öngörülmemişse işten ayrılma tarihinden itibaren 15 yıl süreyle saklamak zorundadır. İş Sağlığı ve Güvenliği Kanunu kapsamında yürürlüğe giren mevzuatta bu kayıtlarının 15 yıldan fazla bir süre saklanması öngörülmüşse işveren bu kayıtları belirlenen süre kadar saklamak zorundadır. İşyerinde faaliyetin sona ermesi durumunda ilgili mevzuata göre işlem yapılacaktır.</a:t>
            </a:r>
          </a:p>
          <a:p>
            <a:pPr algn="just">
              <a:defRPr/>
            </a:pPr>
            <a:r>
              <a:rPr lang="tr-TR" sz="2400" dirty="0"/>
              <a:t>	(2) Meslek hastalığı riski bulunan işyerlerinde, çalışma ortamından kaynaklanan hastalıkların Sosyal Güvenlik mevzuatına göre yükümlülük süresinin 15 yılı aşması olasılığına karşı, belirlenen risklerle ilgili evraklar gerektiği kadar süre saklanır.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ctrTitle" sz="quarter"/>
          </p:nvPr>
        </p:nvSpPr>
        <p:spPr>
          <a:xfrm>
            <a:off x="611188" y="333375"/>
            <a:ext cx="7772400" cy="1431925"/>
          </a:xfrm>
        </p:spPr>
        <p:txBody>
          <a:bodyPr/>
          <a:lstStyle/>
          <a:p>
            <a:r>
              <a:rPr lang="tr-TR" altLang="tr-TR" sz="3200" b="1" dirty="0">
                <a:solidFill>
                  <a:srgbClr val="FF0000"/>
                </a:solidFill>
                <a:effectLst/>
              </a:rPr>
              <a:t>İŞVEREN ÇALIŞAN TEMSİLCİSİ GÖREVLENDİRECEK</a:t>
            </a:r>
          </a:p>
        </p:txBody>
      </p:sp>
      <p:sp>
        <p:nvSpPr>
          <p:cNvPr id="6" name="Rectangle 3"/>
          <p:cNvSpPr>
            <a:spLocks noGrp="1" noChangeArrowheads="1"/>
          </p:cNvSpPr>
          <p:nvPr>
            <p:ph type="subTitle" sz="quarter" idx="1"/>
          </p:nvPr>
        </p:nvSpPr>
        <p:spPr>
          <a:xfrm>
            <a:off x="468313" y="2349500"/>
            <a:ext cx="8280400" cy="3578225"/>
          </a:xfrm>
        </p:spPr>
        <p:txBody>
          <a:bodyPr/>
          <a:lstStyle/>
          <a:p>
            <a:pPr algn="just">
              <a:lnSpc>
                <a:spcPct val="90000"/>
              </a:lnSpc>
              <a:defRPr/>
            </a:pPr>
            <a:r>
              <a:rPr lang="tr-TR" sz="2800" b="1" dirty="0">
                <a:latin typeface="Times New Roman" pitchFamily="18" charset="0"/>
              </a:rPr>
              <a:t>	</a:t>
            </a:r>
            <a:r>
              <a:rPr lang="tr-TR" sz="2800" b="1" dirty="0">
                <a:solidFill>
                  <a:schemeClr val="tx1"/>
                </a:solidFill>
                <a:latin typeface="Times New Roman" pitchFamily="18" charset="0"/>
              </a:rPr>
              <a:t>İşveren işyerinin değişik bölümlerindeki riskleri ve çalışan sayısını da dikkate alarak, dengeli dağılıma da özen göstermek suretiyle seçim, seçimle belirlenemediği durumda atama yoluyla “çalışan temsilcisi” görevlendirir.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ctrTitle" sz="quarter"/>
          </p:nvPr>
        </p:nvSpPr>
        <p:spPr>
          <a:xfrm>
            <a:off x="468313" y="0"/>
            <a:ext cx="7772400" cy="1431925"/>
          </a:xfrm>
        </p:spPr>
        <p:txBody>
          <a:bodyPr/>
          <a:lstStyle/>
          <a:p>
            <a:pPr>
              <a:defRPr/>
            </a:pPr>
            <a:r>
              <a:rPr lang="tr-TR" sz="3200" b="1" dirty="0">
                <a:solidFill>
                  <a:srgbClr val="FF0000"/>
                </a:solidFill>
                <a:effectLst/>
                <a:latin typeface="+mn-lt"/>
              </a:rPr>
              <a:t>ÇALIŞAN TEMSİLCİ SAYISI</a:t>
            </a:r>
            <a:r>
              <a:rPr lang="tr-TR" sz="3200" dirty="0">
                <a:solidFill>
                  <a:srgbClr val="FF0000"/>
                </a:solidFill>
                <a:effectLst/>
                <a:latin typeface="+mn-lt"/>
              </a:rPr>
              <a:t> </a:t>
            </a:r>
          </a:p>
        </p:txBody>
      </p:sp>
      <p:sp>
        <p:nvSpPr>
          <p:cNvPr id="6" name="Rectangle 3"/>
          <p:cNvSpPr>
            <a:spLocks noGrp="1" noChangeArrowheads="1"/>
          </p:cNvSpPr>
          <p:nvPr>
            <p:ph type="subTitle" sz="quarter" idx="1"/>
          </p:nvPr>
        </p:nvSpPr>
        <p:spPr>
          <a:xfrm>
            <a:off x="323850" y="1844675"/>
            <a:ext cx="8496300" cy="3794125"/>
          </a:xfrm>
        </p:spPr>
        <p:txBody>
          <a:bodyPr>
            <a:normAutofit fontScale="92500" lnSpcReduction="10000"/>
          </a:bodyPr>
          <a:lstStyle/>
          <a:p>
            <a:pPr algn="l">
              <a:lnSpc>
                <a:spcPct val="90000"/>
              </a:lnSpc>
              <a:defRPr/>
            </a:pPr>
            <a:r>
              <a:rPr lang="tr-TR" dirty="0"/>
              <a:t>İşveren çalışan sayısı; </a:t>
            </a:r>
          </a:p>
          <a:p>
            <a:pPr algn="l">
              <a:lnSpc>
                <a:spcPct val="90000"/>
              </a:lnSpc>
              <a:buFont typeface="Arial" pitchFamily="34" charset="0"/>
              <a:buChar char="•"/>
              <a:defRPr/>
            </a:pPr>
            <a:r>
              <a:rPr lang="tr-TR" dirty="0"/>
              <a:t> 2 ile 50 arasında olan işyerlerinde 1,</a:t>
            </a:r>
          </a:p>
          <a:p>
            <a:pPr algn="l">
              <a:lnSpc>
                <a:spcPct val="90000"/>
              </a:lnSpc>
              <a:buFont typeface="Arial" pitchFamily="34" charset="0"/>
              <a:buChar char="•"/>
              <a:defRPr/>
            </a:pPr>
            <a:r>
              <a:rPr lang="tr-TR" dirty="0"/>
              <a:t> 51 ile 100 arasında olan işyerlerinde 2,</a:t>
            </a:r>
          </a:p>
          <a:p>
            <a:pPr algn="l">
              <a:lnSpc>
                <a:spcPct val="90000"/>
              </a:lnSpc>
              <a:buFont typeface="Arial" pitchFamily="34" charset="0"/>
              <a:buChar char="•"/>
              <a:defRPr/>
            </a:pPr>
            <a:r>
              <a:rPr lang="tr-TR" dirty="0"/>
              <a:t> 101 ile 500 asasında olan işyerlerinde 3,</a:t>
            </a:r>
          </a:p>
          <a:p>
            <a:pPr algn="l">
              <a:lnSpc>
                <a:spcPct val="90000"/>
              </a:lnSpc>
              <a:buFont typeface="Arial" pitchFamily="34" charset="0"/>
              <a:buChar char="•"/>
              <a:defRPr/>
            </a:pPr>
            <a:r>
              <a:rPr lang="tr-TR" dirty="0"/>
              <a:t> 501 ile 1000 arasında olan işyerleri 4, </a:t>
            </a:r>
          </a:p>
          <a:p>
            <a:pPr algn="l">
              <a:lnSpc>
                <a:spcPct val="90000"/>
              </a:lnSpc>
              <a:buFont typeface="Arial" pitchFamily="34" charset="0"/>
              <a:buChar char="•"/>
              <a:defRPr/>
            </a:pPr>
            <a:r>
              <a:rPr lang="tr-TR" dirty="0"/>
              <a:t> 1001 ile 2000 arasında olan işyerleri 5,</a:t>
            </a:r>
          </a:p>
          <a:p>
            <a:pPr algn="l">
              <a:lnSpc>
                <a:spcPct val="90000"/>
              </a:lnSpc>
              <a:buFont typeface="Arial" pitchFamily="34" charset="0"/>
              <a:buChar char="•"/>
              <a:defRPr/>
            </a:pPr>
            <a:r>
              <a:rPr lang="tr-TR" dirty="0"/>
              <a:t> 2001 ve üzerinde çalışanı olan işyerleri 6,</a:t>
            </a:r>
          </a:p>
          <a:p>
            <a:pPr algn="l">
              <a:lnSpc>
                <a:spcPct val="90000"/>
              </a:lnSpc>
              <a:buFont typeface="Wingdings" pitchFamily="2" charset="2"/>
              <a:buNone/>
              <a:defRPr/>
            </a:pPr>
            <a:r>
              <a:rPr lang="tr-TR" dirty="0"/>
              <a:t>İşçi temsilcisi görevlendirmek zorundadır. </a:t>
            </a:r>
          </a:p>
          <a:p>
            <a:pPr>
              <a:lnSpc>
                <a:spcPct val="90000"/>
              </a:lnSpc>
              <a:defRPr/>
            </a:pPr>
            <a:endParaRPr lang="tr-TR"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ctrTitle" sz="quarter"/>
          </p:nvPr>
        </p:nvSpPr>
        <p:spPr>
          <a:xfrm>
            <a:off x="684213" y="0"/>
            <a:ext cx="7775575" cy="981075"/>
          </a:xfrm>
        </p:spPr>
        <p:txBody>
          <a:bodyPr/>
          <a:lstStyle/>
          <a:p>
            <a:pPr>
              <a:defRPr/>
            </a:pPr>
            <a:r>
              <a:rPr lang="tr-TR" sz="3200" b="1" dirty="0">
                <a:effectLst/>
                <a:latin typeface="+mn-lt"/>
              </a:rPr>
              <a:t>TEHLİKE SINIFININ BELİRLENMESİ</a:t>
            </a:r>
          </a:p>
        </p:txBody>
      </p:sp>
      <p:sp>
        <p:nvSpPr>
          <p:cNvPr id="6" name="Rectangle 3"/>
          <p:cNvSpPr>
            <a:spLocks noGrp="1" noChangeArrowheads="1"/>
          </p:cNvSpPr>
          <p:nvPr>
            <p:ph type="subTitle" sz="quarter" idx="1"/>
          </p:nvPr>
        </p:nvSpPr>
        <p:spPr>
          <a:xfrm>
            <a:off x="468313" y="1125538"/>
            <a:ext cx="8029575" cy="4464050"/>
          </a:xfrm>
        </p:spPr>
        <p:txBody>
          <a:bodyPr/>
          <a:lstStyle/>
          <a:p>
            <a:pPr algn="just">
              <a:lnSpc>
                <a:spcPct val="90000"/>
              </a:lnSpc>
              <a:defRPr/>
            </a:pPr>
            <a:r>
              <a:rPr lang="tr-TR" dirty="0">
                <a:effectLst>
                  <a:outerShdw blurRad="38100" dist="38100" dir="2700000" algn="tl">
                    <a:srgbClr val="000000">
                      <a:alpha val="43137"/>
                    </a:srgbClr>
                  </a:outerShdw>
                </a:effectLst>
              </a:rPr>
              <a:t>	</a:t>
            </a:r>
            <a:r>
              <a:rPr lang="tr-TR" sz="2800" dirty="0">
                <a:effectLst>
                  <a:outerShdw blurRad="38100" dist="38100" dir="2700000" algn="tl">
                    <a:srgbClr val="000000">
                      <a:alpha val="43137"/>
                    </a:srgbClr>
                  </a:outerShdw>
                </a:effectLst>
              </a:rPr>
              <a:t>İşyeri tehlike sınıfları; 5510 sayılı Sosyal Sigortalar ve Genel Sağlık Sigortası Kanununun 83. maddesine göre belirlenen kısa vadeli sigorta kolları prim tarifesi de dikkate alınarak,</a:t>
            </a:r>
          </a:p>
          <a:p>
            <a:pPr algn="just">
              <a:lnSpc>
                <a:spcPct val="90000"/>
              </a:lnSpc>
              <a:defRPr/>
            </a:pPr>
            <a:endParaRPr lang="tr-TR" sz="2800" dirty="0">
              <a:effectLst>
                <a:outerShdw blurRad="38100" dist="38100" dir="2700000" algn="tl">
                  <a:srgbClr val="000000">
                    <a:alpha val="43137"/>
                  </a:srgbClr>
                </a:outerShdw>
              </a:effectLst>
            </a:endParaRPr>
          </a:p>
          <a:p>
            <a:pPr algn="just">
              <a:lnSpc>
                <a:spcPct val="90000"/>
              </a:lnSpc>
              <a:defRPr/>
            </a:pPr>
            <a:r>
              <a:rPr lang="tr-TR" sz="2800" dirty="0">
                <a:effectLst>
                  <a:outerShdw blurRad="38100" dist="38100" dir="2700000" algn="tl">
                    <a:srgbClr val="000000">
                      <a:alpha val="43137"/>
                    </a:srgbClr>
                  </a:outerShdw>
                </a:effectLst>
              </a:rPr>
              <a:t>	 İş Sağlığı ve Güvenliği Genel Müdürünün Başkanlığında ilgili taraflarca oluşturulan komisyonun görüşleri doğrultusunda, Çalışma ve Sosyal Güvenlik Bakanlığı tarafından tespit edilmektedir.</a:t>
            </a:r>
          </a:p>
        </p:txBody>
      </p:sp>
      <p:sp>
        <p:nvSpPr>
          <p:cNvPr id="28676" name="6 Metin kutusu"/>
          <p:cNvSpPr txBox="1">
            <a:spLocks noChangeArrowheads="1"/>
          </p:cNvSpPr>
          <p:nvPr/>
        </p:nvSpPr>
        <p:spPr bwMode="auto">
          <a:xfrm>
            <a:off x="395288" y="5013325"/>
            <a:ext cx="8174037" cy="1292225"/>
          </a:xfrm>
          <a:prstGeom prst="rect">
            <a:avLst/>
          </a:prstGeom>
          <a:noFill/>
          <a:ln w="9525">
            <a:noFill/>
            <a:miter lim="800000"/>
            <a:headEnd/>
            <a:tailEnd/>
          </a:ln>
        </p:spPr>
        <p:txBody>
          <a:bodyPr>
            <a:spAutoFit/>
          </a:bodyPr>
          <a:lstStyle/>
          <a:p>
            <a:pPr algn="just"/>
            <a:r>
              <a:rPr lang="tr-TR" altLang="tr-TR" sz="3200" b="1" dirty="0">
                <a:solidFill>
                  <a:srgbClr val="FFC000"/>
                </a:solidFill>
              </a:rPr>
              <a:t>	</a:t>
            </a:r>
            <a:r>
              <a:rPr lang="tr-TR" altLang="tr-TR" sz="2800" b="1" dirty="0">
                <a:solidFill>
                  <a:srgbClr val="FFC000"/>
                </a:solidFill>
              </a:rPr>
              <a:t>İşyeri tehlike sınıflarının tespitinde, o işyerinde yapılan asıl iş dikkate alınır.</a:t>
            </a:r>
          </a:p>
          <a:p>
            <a:pPr algn="just"/>
            <a:endParaRPr lang="tr-TR" altLang="tr-TR" dirty="0"/>
          </a:p>
        </p:txBody>
      </p:sp>
    </p:spTree>
  </p:cSld>
  <p:clrMapOvr>
    <a:masterClrMapping/>
  </p:clrMapOvr>
  <p:transition/>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1347</TotalTime>
  <Words>1618</Words>
  <Application>Microsoft Office PowerPoint</Application>
  <PresentationFormat>Ekran Gösterisi (4:3)</PresentationFormat>
  <Paragraphs>263</Paragraphs>
  <Slides>43</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43</vt:i4>
      </vt:variant>
    </vt:vector>
  </HeadingPairs>
  <TitlesOfParts>
    <vt:vector size="50" baseType="lpstr">
      <vt:lpstr>Arial</vt:lpstr>
      <vt:lpstr>Calibri</vt:lpstr>
      <vt:lpstr>Tahoma</vt:lpstr>
      <vt:lpstr>Times New Roman</vt:lpstr>
      <vt:lpstr>Verdana</vt:lpstr>
      <vt:lpstr>Wingdings</vt:lpstr>
      <vt:lpstr>Ofis Teması</vt:lpstr>
      <vt:lpstr>İş Sağlığı ve Güvenliği I </vt:lpstr>
      <vt:lpstr>PowerPoint Sunusu</vt:lpstr>
      <vt:lpstr>PowerPoint Sunusu</vt:lpstr>
      <vt:lpstr>PowerPoint Sunusu</vt:lpstr>
      <vt:lpstr>PowerPoint Sunusu</vt:lpstr>
      <vt:lpstr>Go-kart faciasından trajedi çıktı</vt:lpstr>
      <vt:lpstr>PowerPoint Sunusu</vt:lpstr>
      <vt:lpstr>PowerPoint Sunusu</vt:lpstr>
      <vt:lpstr> </vt:lpstr>
      <vt:lpstr>PowerPoint Sunusu</vt:lpstr>
      <vt:lpstr>PowerPoint Sunusu</vt:lpstr>
      <vt:lpstr>PowerPoint Sunusu</vt:lpstr>
      <vt:lpstr>PowerPoint Sunusu</vt:lpstr>
      <vt:lpstr>PowerPoint Sunusu</vt:lpstr>
      <vt:lpstr>PowerPoint Sunusu</vt:lpstr>
      <vt:lpstr>İŞ KAZALARININ %58’İ  50 KİŞİNİN ALTINDA İŞÇİ ÇALIŞTIRAN İŞYERLERİNDE MEYDANA GELDİ </vt:lpstr>
      <vt:lpstr> </vt:lpstr>
      <vt:lpstr>Türkiye ve Dünyada İş Sağlığı ve Güvenliği Kanunlarda Ulusal ve Uluslarası Kuruluşlar ve Sözleşmeler</vt:lpstr>
      <vt:lpstr>PowerPoint Sunusu</vt:lpstr>
      <vt:lpstr>Sendikalar:</vt:lpstr>
      <vt:lpstr>İSG Kavramına İlişkin Uluslararası Kuruluşlar</vt:lpstr>
      <vt:lpstr>Uluslararası Çalışma Örgütü(ILO)(1919) : </vt:lpstr>
      <vt:lpstr>ILO Anayasasında belirlenen ilke ve hedefler</vt:lpstr>
      <vt:lpstr>ILO Anayasasında belirlenen ilke ve hedefler</vt:lpstr>
      <vt:lpstr>Dünya Sağlık Örgütü (WHO)</vt:lpstr>
      <vt:lpstr>Dünya Sağlık Örgütü (WHO) görevleri:</vt:lpstr>
      <vt:lpstr>Dünya Sağlık Örgütü (WHO) görevleri:</vt:lpstr>
      <vt:lpstr>PowerPoint Sunusu</vt:lpstr>
      <vt:lpstr>Hukuk düzeni piramidi: </vt:lpstr>
      <vt:lpstr>PowerPoint Sunusu</vt:lpstr>
      <vt:lpstr>PowerPoint Sunusu</vt:lpstr>
      <vt:lpstr>PowerPoint Sunusu</vt:lpstr>
      <vt:lpstr>6331 Sayılı Kanun Kapsamı</vt:lpstr>
      <vt:lpstr>6331 sayılı İş Sağlığı ve Güvenliği kanunun işverenlere ve çalışanlara getirdiği hak ve yükümlülükler</vt:lpstr>
      <vt:lpstr> </vt:lpstr>
      <vt:lpstr> </vt:lpstr>
      <vt:lpstr> </vt:lpstr>
      <vt:lpstr> </vt:lpstr>
      <vt:lpstr>İŞVEREN İŞ SAĞLIĞI VE GÜVENLİĞİNİ NASIL SAĞLAYACAK? </vt:lpstr>
      <vt:lpstr>İşverenin sağlık ve güvenlik kayıtları ve onaylı deftere ilişkin yükümlülükleri  </vt:lpstr>
      <vt:lpstr>İŞVEREN ÇALIŞAN TEMSİLCİSİ GÖREVLENDİRECEK</vt:lpstr>
      <vt:lpstr>ÇALIŞAN TEMSİLCİ SAYISI </vt:lpstr>
      <vt:lpstr>TEHLİKE SINIFININ BELİRLENMESİ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 Sağlığı ve Güvenliği I (Occupational Health and Safety) </dc:title>
  <dc:creator>Toshiba</dc:creator>
  <cp:lastModifiedBy>Toshiba</cp:lastModifiedBy>
  <cp:revision>39</cp:revision>
  <dcterms:created xsi:type="dcterms:W3CDTF">2017-10-03T10:52:10Z</dcterms:created>
  <dcterms:modified xsi:type="dcterms:W3CDTF">2022-11-02T08:20:13Z</dcterms:modified>
</cp:coreProperties>
</file>