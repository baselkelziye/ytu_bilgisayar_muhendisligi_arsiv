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58" r:id="rId4"/>
    <p:sldId id="259" r:id="rId5"/>
    <p:sldId id="274" r:id="rId6"/>
    <p:sldId id="283" r:id="rId7"/>
    <p:sldId id="260" r:id="rId8"/>
    <p:sldId id="284" r:id="rId9"/>
    <p:sldId id="306" r:id="rId10"/>
    <p:sldId id="307" r:id="rId11"/>
    <p:sldId id="261" r:id="rId12"/>
    <p:sldId id="272" r:id="rId13"/>
    <p:sldId id="285" r:id="rId14"/>
    <p:sldId id="276" r:id="rId15"/>
    <p:sldId id="304" r:id="rId16"/>
    <p:sldId id="277" r:id="rId17"/>
    <p:sldId id="310" r:id="rId18"/>
    <p:sldId id="275" r:id="rId19"/>
    <p:sldId id="287" r:id="rId20"/>
    <p:sldId id="311" r:id="rId21"/>
    <p:sldId id="278" r:id="rId22"/>
    <p:sldId id="262" r:id="rId23"/>
    <p:sldId id="263" r:id="rId24"/>
    <p:sldId id="264" r:id="rId25"/>
    <p:sldId id="293" r:id="rId26"/>
    <p:sldId id="309" r:id="rId27"/>
    <p:sldId id="291" r:id="rId28"/>
    <p:sldId id="292" r:id="rId29"/>
    <p:sldId id="265" r:id="rId30"/>
    <p:sldId id="266" r:id="rId31"/>
    <p:sldId id="294" r:id="rId32"/>
    <p:sldId id="295" r:id="rId33"/>
    <p:sldId id="296" r:id="rId34"/>
    <p:sldId id="297" r:id="rId35"/>
    <p:sldId id="298" r:id="rId36"/>
    <p:sldId id="299" r:id="rId37"/>
    <p:sldId id="300" r:id="rId38"/>
    <p:sldId id="301" r:id="rId39"/>
    <p:sldId id="302" r:id="rId40"/>
    <p:sldId id="303" r:id="rId41"/>
    <p:sldId id="305" r:id="rId42"/>
    <p:sldId id="308" r:id="rId43"/>
    <p:sldId id="279" r:id="rId44"/>
    <p:sldId id="280" r:id="rId45"/>
    <p:sldId id="281" r:id="rId46"/>
    <p:sldId id="282" r:id="rId47"/>
    <p:sldId id="288" r:id="rId48"/>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8DD898-B743-4115-A4B3-77FF6E1D6FC6}" type="datetimeFigureOut">
              <a:rPr lang="tr-TR" smtClean="0"/>
              <a:pPr/>
              <a:t>10.11.2020</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C9AB43-41C7-4A26-BBB9-15B449C63C4B}"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93C9AB43-41C7-4A26-BBB9-15B449C63C4B}" type="slidenum">
              <a:rPr lang="tr-TR" smtClean="0"/>
              <a:pPr/>
              <a:t>12</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D9F75050-0E15-4C5B-92B0-66D068882F1F}" type="datetimeFigureOut">
              <a:rPr lang="tr-TR" smtClean="0"/>
              <a:pPr/>
              <a:t>10.11.2020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F75050-0E15-4C5B-92B0-66D068882F1F}" type="datetimeFigureOut">
              <a:rPr lang="tr-TR" smtClean="0"/>
              <a:pPr/>
              <a:t>10.11.2020</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EFA8C-F947-479F-BE07-76B6B3F80BF1}"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251520" y="1556792"/>
            <a:ext cx="8660440" cy="1819870"/>
          </a:xfrm>
          <a:prstGeom prst="rect">
            <a:avLst/>
          </a:prstGeom>
          <a:noFill/>
          <a:ln w="9525">
            <a:noFill/>
            <a:miter lim="800000"/>
            <a:headEnd/>
            <a:tailEnd/>
          </a:ln>
        </p:spPr>
      </p:pic>
      <p:pic>
        <p:nvPicPr>
          <p:cNvPr id="4" name="Picture 4"/>
          <p:cNvPicPr>
            <a:picLocks noChangeAspect="1" noChangeArrowheads="1"/>
          </p:cNvPicPr>
          <p:nvPr/>
        </p:nvPicPr>
        <p:blipFill>
          <a:blip r:embed="rId3" cstate="print"/>
          <a:srcRect l="19167" t="29727" r="27499" b="18466"/>
          <a:stretch>
            <a:fillRect/>
          </a:stretch>
        </p:blipFill>
        <p:spPr bwMode="auto">
          <a:xfrm>
            <a:off x="3635896" y="2996952"/>
            <a:ext cx="4153644" cy="366176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539552" y="0"/>
            <a:ext cx="7772400" cy="1470025"/>
          </a:xfrm>
        </p:spPr>
        <p:txBody>
          <a:bodyPr>
            <a:normAutofit/>
          </a:bodyPr>
          <a:lstStyle/>
          <a:p>
            <a:r>
              <a:rPr lang="tr-TR" sz="4800" dirty="0" smtClean="0"/>
              <a:t>Hukuk düzeni piramidi: </a:t>
            </a:r>
            <a:endParaRPr lang="tr-TR" sz="4800" dirty="0"/>
          </a:p>
        </p:txBody>
      </p:sp>
      <p:sp>
        <p:nvSpPr>
          <p:cNvPr id="3" name="2 Alt Başlık"/>
          <p:cNvSpPr>
            <a:spLocks noGrp="1"/>
          </p:cNvSpPr>
          <p:nvPr>
            <p:ph type="subTitle" idx="1"/>
          </p:nvPr>
        </p:nvSpPr>
        <p:spPr/>
        <p:txBody>
          <a:bodyPr/>
          <a:lstStyle/>
          <a:p>
            <a:endParaRPr lang="tr-TR"/>
          </a:p>
        </p:txBody>
      </p:sp>
      <p:pic>
        <p:nvPicPr>
          <p:cNvPr id="2050" name="Picture 2"/>
          <p:cNvPicPr>
            <a:picLocks noChangeAspect="1" noChangeArrowheads="1"/>
          </p:cNvPicPr>
          <p:nvPr/>
        </p:nvPicPr>
        <p:blipFill>
          <a:blip r:embed="rId2" cstate="print"/>
          <a:srcRect/>
          <a:stretch>
            <a:fillRect/>
          </a:stretch>
        </p:blipFill>
        <p:spPr bwMode="auto">
          <a:xfrm>
            <a:off x="1403648" y="1196752"/>
            <a:ext cx="5651323" cy="543920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51520" y="0"/>
            <a:ext cx="8229600" cy="1143000"/>
          </a:xfrm>
        </p:spPr>
        <p:txBody>
          <a:bodyPr/>
          <a:lstStyle/>
          <a:p>
            <a:endParaRPr lang="tr-TR" dirty="0"/>
          </a:p>
        </p:txBody>
      </p:sp>
      <p:sp>
        <p:nvSpPr>
          <p:cNvPr id="3" name="2 İçerik Yer Tutucusu"/>
          <p:cNvSpPr>
            <a:spLocks noGrp="1"/>
          </p:cNvSpPr>
          <p:nvPr>
            <p:ph idx="1"/>
          </p:nvPr>
        </p:nvSpPr>
        <p:spPr>
          <a:xfrm>
            <a:off x="467544" y="1124744"/>
            <a:ext cx="8229600" cy="4525963"/>
          </a:xfrm>
        </p:spPr>
        <p:txBody>
          <a:bodyPr/>
          <a:lstStyle/>
          <a:p>
            <a:pPr>
              <a:buNone/>
            </a:pPr>
            <a:r>
              <a:rPr lang="tr-TR" i="1" dirty="0" smtClean="0">
                <a:solidFill>
                  <a:srgbClr val="FF0000"/>
                </a:solidFill>
              </a:rPr>
              <a:t>Anayasa:</a:t>
            </a:r>
          </a:p>
          <a:p>
            <a:r>
              <a:rPr lang="tr-TR" dirty="0" smtClean="0">
                <a:solidFill>
                  <a:srgbClr val="FF0000"/>
                </a:solidFill>
              </a:rPr>
              <a:t>6331 sayılı İş Sağlığı ve Güvenliği Kanunu,</a:t>
            </a:r>
          </a:p>
          <a:p>
            <a:r>
              <a:rPr lang="tr-TR" dirty="0" smtClean="0">
                <a:solidFill>
                  <a:srgbClr val="FF0000"/>
                </a:solidFill>
              </a:rPr>
              <a:t>4857 sayılı İş Kanunu, </a:t>
            </a:r>
          </a:p>
          <a:p>
            <a:r>
              <a:rPr lang="tr-TR" dirty="0" smtClean="0"/>
              <a:t>818 sayılı Borçlar Kanunu, </a:t>
            </a:r>
          </a:p>
          <a:p>
            <a:r>
              <a:rPr lang="tr-TR" dirty="0" smtClean="0"/>
              <a:t>1593 sayılı Umumi Hıfzıssıhha Kanunu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sp>
        <p:nvSpPr>
          <p:cNvPr id="3" name="2 İçerik Yer Tutucusu"/>
          <p:cNvSpPr>
            <a:spLocks noGrp="1"/>
          </p:cNvSpPr>
          <p:nvPr>
            <p:ph idx="1"/>
          </p:nvPr>
        </p:nvSpPr>
        <p:spPr>
          <a:xfrm>
            <a:off x="467544" y="764704"/>
            <a:ext cx="8229600" cy="4525963"/>
          </a:xfrm>
        </p:spPr>
        <p:txBody>
          <a:bodyPr>
            <a:normAutofit/>
          </a:bodyPr>
          <a:lstStyle/>
          <a:p>
            <a:endParaRPr lang="tr-TR" dirty="0" smtClean="0"/>
          </a:p>
          <a:p>
            <a:r>
              <a:rPr lang="tr-TR" dirty="0" smtClean="0"/>
              <a:t>5393 sayılı Belediye Kanunu, </a:t>
            </a:r>
          </a:p>
          <a:p>
            <a:r>
              <a:rPr lang="tr-TR" dirty="0" smtClean="0"/>
              <a:t>3308 sayılı Mesleki Eğitim Kanunu, </a:t>
            </a:r>
          </a:p>
          <a:p>
            <a:r>
              <a:rPr lang="tr-TR" dirty="0" smtClean="0"/>
              <a:t>5510 sayılı Sosyal Sigortalar ve Genel Sağlık Sigortası Kanunu, </a:t>
            </a:r>
          </a:p>
          <a:p>
            <a:r>
              <a:rPr lang="tr-TR" dirty="0" smtClean="0"/>
              <a:t>3213 sayılı Maden Kanunu, </a:t>
            </a:r>
          </a:p>
          <a:p>
            <a:r>
              <a:rPr lang="tr-TR" dirty="0" smtClean="0"/>
              <a:t>Radyum ve Elektrikle Tedavi ve Diğer Fizyoterapi Müesseseleri Hakkında Kanun… </a:t>
            </a:r>
            <a:endParaRPr lang="tr-T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95536" y="692696"/>
            <a:ext cx="8229600" cy="4525963"/>
          </a:xfrm>
        </p:spPr>
        <p:txBody>
          <a:bodyPr/>
          <a:lstStyle/>
          <a:p>
            <a:pPr>
              <a:buNone/>
            </a:pPr>
            <a:r>
              <a:rPr lang="tr-TR" b="1" dirty="0" smtClean="0">
                <a:solidFill>
                  <a:schemeClr val="accent2"/>
                </a:solidFill>
              </a:rPr>
              <a:t>6331 sayılı İş Sağlığı ve Güvenliği Kanunu: </a:t>
            </a:r>
            <a:r>
              <a:rPr lang="tr-TR" dirty="0" smtClean="0"/>
              <a:t>İş yerlerinde alınacak İş Sağlığı ve Güvenliği önlemleri</a:t>
            </a:r>
          </a:p>
          <a:p>
            <a:pPr>
              <a:buNone/>
            </a:pPr>
            <a:r>
              <a:rPr lang="tr-TR" b="1" dirty="0" smtClean="0">
                <a:solidFill>
                  <a:schemeClr val="accent2"/>
                </a:solidFill>
              </a:rPr>
              <a:t>4857 sayılı İş Kanunu: </a:t>
            </a:r>
            <a:r>
              <a:rPr lang="tr-TR" dirty="0" smtClean="0"/>
              <a:t>Çalışanların özlük hakları ile ilgili konular</a:t>
            </a:r>
          </a:p>
          <a:p>
            <a:pPr>
              <a:buNone/>
            </a:pPr>
            <a:r>
              <a:rPr lang="tr-TR" b="1" dirty="0" smtClean="0">
                <a:solidFill>
                  <a:schemeClr val="accent2"/>
                </a:solidFill>
              </a:rPr>
              <a:t>818 sayılı Borçlar Kanunu: </a:t>
            </a:r>
            <a:r>
              <a:rPr lang="tr-TR" dirty="0" smtClean="0"/>
              <a:t>İşverenin iş akdinden doğan İş Sağlığı ve Güvenliği önlemlerini alma borcu </a:t>
            </a:r>
          </a:p>
          <a:p>
            <a:endParaRPr lang="tr-T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b="1" dirty="0" smtClean="0">
                <a:solidFill>
                  <a:srgbClr val="FF0000"/>
                </a:solidFill>
              </a:rPr>
              <a:t>ANAYASA (17, 49, 50, 55, 56, 60)</a:t>
            </a:r>
            <a:endParaRPr lang="tr-TR" dirty="0"/>
          </a:p>
        </p:txBody>
      </p:sp>
      <p:sp>
        <p:nvSpPr>
          <p:cNvPr id="3" name="2 İçerik Yer Tutucusu"/>
          <p:cNvSpPr>
            <a:spLocks noGrp="1"/>
          </p:cNvSpPr>
          <p:nvPr>
            <p:ph idx="1"/>
          </p:nvPr>
        </p:nvSpPr>
        <p:spPr/>
        <p:txBody>
          <a:bodyPr>
            <a:normAutofit/>
          </a:bodyPr>
          <a:lstStyle/>
          <a:p>
            <a:pPr>
              <a:buNone/>
            </a:pPr>
            <a:r>
              <a:rPr lang="tr-TR" b="1" dirty="0" smtClean="0"/>
              <a:t>Madde 17: </a:t>
            </a:r>
            <a:r>
              <a:rPr lang="tr-TR" dirty="0" smtClean="0"/>
              <a:t>Herkes, yaşama, maddî ve manevî varlığını koruma ve geliştirme hakkına sahiptir.</a:t>
            </a:r>
          </a:p>
          <a:p>
            <a:pPr>
              <a:buNone/>
            </a:pPr>
            <a:r>
              <a:rPr lang="tr-TR" b="1" dirty="0" smtClean="0"/>
              <a:t>Madde 50 : </a:t>
            </a:r>
            <a:r>
              <a:rPr lang="tr-TR" dirty="0" smtClean="0"/>
              <a:t>Kimse yaşına, cinsiyetine ve gücüne uymayan işlerde çalıştırılamaz. Küçükler ve kadınlar ile bedeni ve ruhi yetersizliği olanlar çalışma şartları bakımından özel olarak korunacaklar. </a:t>
            </a:r>
          </a:p>
          <a:p>
            <a:pPr>
              <a:buNone/>
            </a:pPr>
            <a:r>
              <a:rPr lang="tr-TR" dirty="0" smtClean="0"/>
              <a:t>Dinlenmek, çalışanların hakkıdır.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ANAYASA (17, 48, 49, 50, 55, 56, 60) </a:t>
            </a:r>
            <a:br>
              <a:rPr lang="tr-TR" b="1" dirty="0" smtClean="0">
                <a:solidFill>
                  <a:srgbClr val="FF0000"/>
                </a:solidFill>
              </a:rPr>
            </a:br>
            <a:endParaRPr lang="tr-TR" dirty="0"/>
          </a:p>
        </p:txBody>
      </p:sp>
      <p:sp>
        <p:nvSpPr>
          <p:cNvPr id="4" name="3 İçerik Yer Tutucusu"/>
          <p:cNvSpPr>
            <a:spLocks noGrp="1"/>
          </p:cNvSpPr>
          <p:nvPr>
            <p:ph idx="1"/>
          </p:nvPr>
        </p:nvSpPr>
        <p:spPr>
          <a:xfrm>
            <a:off x="457200" y="1600200"/>
            <a:ext cx="8229600" cy="4228850"/>
          </a:xfrm>
          <a:prstGeom prst="rect">
            <a:avLst/>
          </a:prstGeom>
        </p:spPr>
        <p:txBody>
          <a:bodyPr>
            <a:spAutoFit/>
          </a:bodyPr>
          <a:lstStyle/>
          <a:p>
            <a:pPr>
              <a:buNone/>
            </a:pPr>
            <a:r>
              <a:rPr lang="tr-TR" b="1" dirty="0" smtClean="0"/>
              <a:t>Madde 56 : </a:t>
            </a:r>
            <a:r>
              <a:rPr lang="tr-TR" dirty="0" smtClean="0"/>
              <a:t>Herkes, sağlıklı ve dengeli bir çevrede yaşama hakkına sahiptir. </a:t>
            </a:r>
          </a:p>
          <a:p>
            <a:pPr>
              <a:buNone/>
            </a:pPr>
            <a:r>
              <a:rPr lang="tr-TR" dirty="0" smtClean="0"/>
              <a:t>……..</a:t>
            </a:r>
          </a:p>
          <a:p>
            <a:pPr>
              <a:buNone/>
            </a:pPr>
            <a:r>
              <a:rPr lang="tr-TR" dirty="0" smtClean="0"/>
              <a:t>Devlet, herkesin hayatını, beden ve ruh sağlığı içinde sürdürmesini sağlamak; insan ve madde gücünde tasarruf ve verimi artırarak, işbirliğini gerçekleştirmek amacıyla sağlık kuruluşlarını tek elden planlayıp hizmet vermesini düzenler.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ANAYASA (17, 48, 49, 50, 55, 56, 60)</a:t>
            </a:r>
            <a:endParaRPr lang="tr-TR" dirty="0"/>
          </a:p>
        </p:txBody>
      </p:sp>
      <p:sp>
        <p:nvSpPr>
          <p:cNvPr id="3" name="2 İçerik Yer Tutucusu"/>
          <p:cNvSpPr>
            <a:spLocks noGrp="1"/>
          </p:cNvSpPr>
          <p:nvPr>
            <p:ph idx="1"/>
          </p:nvPr>
        </p:nvSpPr>
        <p:spPr/>
        <p:txBody>
          <a:bodyPr/>
          <a:lstStyle/>
          <a:p>
            <a:endParaRPr lang="tr-TR" dirty="0" smtClean="0"/>
          </a:p>
          <a:p>
            <a:pPr>
              <a:buNone/>
            </a:pPr>
            <a:r>
              <a:rPr lang="tr-TR" b="1" dirty="0" smtClean="0"/>
              <a:t>Madde 60: </a:t>
            </a:r>
            <a:r>
              <a:rPr lang="tr-TR" dirty="0" smtClean="0"/>
              <a:t>Herkes, sosyal güvenlik hakkına sahiptir. </a:t>
            </a:r>
          </a:p>
          <a:p>
            <a:pPr>
              <a:buNone/>
            </a:pPr>
            <a:r>
              <a:rPr lang="tr-TR" dirty="0" smtClean="0"/>
              <a:t>   Devlet, bu güvenliği sağlayacak gerekli </a:t>
            </a:r>
            <a:r>
              <a:rPr lang="tr-TR" b="1" i="1" dirty="0" smtClean="0"/>
              <a:t>tedbirleri alır ve teşkilatı kurar. </a:t>
            </a:r>
            <a:endParaRPr lang="tr-T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7" name="Rectangle 3"/>
          <p:cNvSpPr>
            <a:spLocks noGrp="1" noChangeArrowheads="1"/>
          </p:cNvSpPr>
          <p:nvPr>
            <p:ph type="title"/>
          </p:nvPr>
        </p:nvSpPr>
        <p:spPr/>
        <p:txBody>
          <a:bodyPr/>
          <a:lstStyle/>
          <a:p>
            <a:pPr algn="l"/>
            <a:r>
              <a:rPr lang="tr-TR" sz="3600" b="1" dirty="0" smtClean="0">
                <a:solidFill>
                  <a:srgbClr val="FF0000"/>
                </a:solidFill>
              </a:rPr>
              <a:t>ANAYASA</a:t>
            </a:r>
          </a:p>
        </p:txBody>
      </p:sp>
      <p:sp>
        <p:nvSpPr>
          <p:cNvPr id="287748" name="Rectangle 4"/>
          <p:cNvSpPr>
            <a:spLocks noGrp="1" noChangeArrowheads="1"/>
          </p:cNvSpPr>
          <p:nvPr>
            <p:ph type="body" idx="1"/>
          </p:nvPr>
        </p:nvSpPr>
        <p:spPr>
          <a:xfrm>
            <a:off x="179512" y="1484784"/>
            <a:ext cx="8686800" cy="3629025"/>
          </a:xfrm>
        </p:spPr>
        <p:txBody>
          <a:bodyPr/>
          <a:lstStyle/>
          <a:p>
            <a:pPr>
              <a:lnSpc>
                <a:spcPct val="80000"/>
              </a:lnSpc>
              <a:buNone/>
            </a:pPr>
            <a:endParaRPr lang="tr-TR" sz="2400" dirty="0" smtClean="0">
              <a:solidFill>
                <a:srgbClr val="00008E"/>
              </a:solidFill>
            </a:endParaRPr>
          </a:p>
          <a:p>
            <a:pPr>
              <a:lnSpc>
                <a:spcPct val="80000"/>
              </a:lnSpc>
              <a:buNone/>
            </a:pPr>
            <a:r>
              <a:rPr lang="tr-TR" b="1" dirty="0" smtClean="0"/>
              <a:t>Madde  49</a:t>
            </a:r>
            <a:r>
              <a:rPr lang="tr-TR" dirty="0" smtClean="0"/>
              <a:t> : Çalışma herkesin hakkı ve ödevidir. Devlet, çalışanların hayat seviyesini yükseltmek, çalışma hayatını geliştirmek için çalışanları korumak, çalışmayı desteklemek ve işsizliği önlemeye elverişli ekonomik bir ortam yaratmak için gerekli tedbirleri alır.</a:t>
            </a:r>
          </a:p>
          <a:p>
            <a:pPr>
              <a:lnSpc>
                <a:spcPct val="80000"/>
              </a:lnSpc>
            </a:pPr>
            <a:endParaRPr lang="tr-TR" sz="2400" dirty="0" smtClean="0">
              <a:solidFill>
                <a:srgbClr val="00008E"/>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20" name="Rectangle 4"/>
          <p:cNvSpPr>
            <a:spLocks noGrp="1" noChangeArrowheads="1"/>
          </p:cNvSpPr>
          <p:nvPr>
            <p:ph type="body" idx="1"/>
          </p:nvPr>
        </p:nvSpPr>
        <p:spPr>
          <a:xfrm>
            <a:off x="179388" y="1600200"/>
            <a:ext cx="8964612" cy="4525963"/>
          </a:xfrm>
        </p:spPr>
        <p:txBody>
          <a:bodyPr/>
          <a:lstStyle/>
          <a:p>
            <a:pPr eaLnBrk="1" hangingPunct="1">
              <a:spcBef>
                <a:spcPct val="0"/>
              </a:spcBef>
              <a:buFontTx/>
              <a:buNone/>
            </a:pPr>
            <a:r>
              <a:rPr lang="tr-TR" sz="2400" dirty="0" smtClean="0">
                <a:solidFill>
                  <a:srgbClr val="00008E"/>
                </a:solidFill>
              </a:rPr>
              <a:t>	</a:t>
            </a:r>
          </a:p>
          <a:p>
            <a:pPr eaLnBrk="1" hangingPunct="1">
              <a:spcBef>
                <a:spcPct val="0"/>
              </a:spcBef>
              <a:buFontTx/>
              <a:buNone/>
            </a:pPr>
            <a:r>
              <a:rPr lang="tr-TR" sz="2400" dirty="0" smtClean="0">
                <a:solidFill>
                  <a:srgbClr val="00008E"/>
                </a:solidFill>
              </a:rPr>
              <a:t>	</a:t>
            </a:r>
            <a:r>
              <a:rPr lang="tr-TR" b="1" dirty="0" smtClean="0"/>
              <a:t>Madde 55:</a:t>
            </a:r>
            <a:r>
              <a:rPr lang="tr-TR" dirty="0" smtClean="0"/>
              <a:t>  Ücret emeğin karşılığıdır. Devlet, çalışanların yaptıkları işe uygun adaletli bir ücret elde etmeleri ve diğer sosyal yardımlardan yararlanmaları için gerekli tedbirleri alır. </a:t>
            </a:r>
          </a:p>
          <a:p>
            <a:pPr>
              <a:buFontTx/>
              <a:buNone/>
            </a:pPr>
            <a:endParaRPr lang="tr-TR" sz="2400" i="1" dirty="0" smtClean="0"/>
          </a:p>
        </p:txBody>
      </p:sp>
      <p:sp>
        <p:nvSpPr>
          <p:cNvPr id="290821" name="Rectangle 5"/>
          <p:cNvSpPr>
            <a:spLocks noGrp="1" noChangeArrowheads="1"/>
          </p:cNvSpPr>
          <p:nvPr>
            <p:ph type="title"/>
          </p:nvPr>
        </p:nvSpPr>
        <p:spPr>
          <a:noFill/>
          <a:ln/>
        </p:spPr>
        <p:txBody>
          <a:bodyPr/>
          <a:lstStyle/>
          <a:p>
            <a:pPr algn="l"/>
            <a:r>
              <a:rPr lang="tr-TR" sz="3600" b="1" dirty="0" smtClean="0">
                <a:solidFill>
                  <a:srgbClr val="FF0000"/>
                </a:solidFill>
              </a:rPr>
              <a:t>ANAYASA</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Başlık"/>
          <p:cNvSpPr>
            <a:spLocks noGrp="1"/>
          </p:cNvSpPr>
          <p:nvPr>
            <p:ph type="title"/>
          </p:nvPr>
        </p:nvSpPr>
        <p:spPr/>
        <p:txBody>
          <a:bodyPr>
            <a:normAutofit fontScale="90000"/>
          </a:bodyPr>
          <a:lstStyle/>
          <a:p>
            <a:r>
              <a:rPr lang="tr-TR" altLang="tr-TR" b="1" dirty="0" smtClean="0">
                <a:solidFill>
                  <a:srgbClr val="FF0000"/>
                </a:solidFill>
              </a:rPr>
              <a:t>6331 Sayılı Kanun Kapsamı</a:t>
            </a:r>
            <a:r>
              <a:rPr lang="tr-TR" b="1" dirty="0" smtClean="0">
                <a:solidFill>
                  <a:srgbClr val="FF0000"/>
                </a:solidFill>
              </a:rPr>
              <a:t/>
            </a:r>
            <a:br>
              <a:rPr lang="tr-TR" b="1" dirty="0" smtClean="0">
                <a:solidFill>
                  <a:srgbClr val="FF0000"/>
                </a:solidFill>
              </a:rPr>
            </a:br>
            <a:endParaRPr lang="tr-TR" dirty="0">
              <a:solidFill>
                <a:srgbClr val="FF0000"/>
              </a:solidFill>
            </a:endParaRPr>
          </a:p>
        </p:txBody>
      </p:sp>
      <p:sp>
        <p:nvSpPr>
          <p:cNvPr id="5" name="4 İçerik Yer Tutucusu"/>
          <p:cNvSpPr>
            <a:spLocks noGrp="1"/>
          </p:cNvSpPr>
          <p:nvPr>
            <p:ph idx="1"/>
          </p:nvPr>
        </p:nvSpPr>
        <p:spPr>
          <a:xfrm>
            <a:off x="467544" y="1412776"/>
            <a:ext cx="8229600" cy="4525963"/>
          </a:xfrm>
        </p:spPr>
        <p:txBody>
          <a:bodyPr>
            <a:normAutofit/>
          </a:bodyPr>
          <a:lstStyle/>
          <a:p>
            <a:pPr>
              <a:buNone/>
              <a:defRPr/>
            </a:pPr>
            <a:r>
              <a:rPr lang="tr-TR" dirty="0" smtClean="0">
                <a:latin typeface="Times New Roman" pitchFamily="18" charset="0"/>
              </a:rPr>
              <a:t>Bu kanun; kamu ve özel sektöre ait bütün işleri, işyerlerini kapsama alıyor. </a:t>
            </a:r>
          </a:p>
          <a:p>
            <a:pPr>
              <a:buNone/>
              <a:defRPr/>
            </a:pPr>
            <a:r>
              <a:rPr lang="tr-TR" dirty="0" smtClean="0">
                <a:latin typeface="Times New Roman" pitchFamily="18" charset="0"/>
              </a:rPr>
              <a:t> Bu işyerlerinin işverenleri ile işveren vekillerine, çırak ve stajyerler de dahil olmak üzere tüm çalışanlarına, faaliyet konularına bakılmaksızın uygulanacak (Md.2/1)</a:t>
            </a:r>
          </a:p>
          <a:p>
            <a:endParaRPr lang="tr-TR" b="1" dirty="0">
              <a:solidFill>
                <a:srgbClr val="FF000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95536" y="1340768"/>
            <a:ext cx="8229600" cy="5040560"/>
          </a:xfrm>
        </p:spPr>
        <p:txBody>
          <a:bodyPr>
            <a:normAutofit lnSpcReduction="10000"/>
          </a:bodyPr>
          <a:lstStyle/>
          <a:p>
            <a:pPr>
              <a:buNone/>
            </a:pPr>
            <a:r>
              <a:rPr lang="tr-TR" b="1" i="1" dirty="0" smtClean="0"/>
              <a:t>Tanımlar/Madde 3</a:t>
            </a:r>
          </a:p>
          <a:p>
            <a:pPr>
              <a:buNone/>
            </a:pPr>
            <a:r>
              <a:rPr lang="tr-TR" b="1" i="1" u="sng" dirty="0" smtClean="0"/>
              <a:t>Çalışan: </a:t>
            </a:r>
            <a:r>
              <a:rPr lang="tr-TR" dirty="0" smtClean="0"/>
              <a:t>Kendi özel kanunlarındaki statülerine bakılmaksızın kamu veya özel işyerlerinde istihdam edilen gerçek kişiyi,</a:t>
            </a:r>
          </a:p>
          <a:p>
            <a:pPr>
              <a:buNone/>
            </a:pPr>
            <a:endParaRPr lang="tr-TR" dirty="0" smtClean="0"/>
          </a:p>
          <a:p>
            <a:pPr>
              <a:buNone/>
            </a:pPr>
            <a:r>
              <a:rPr lang="tr-TR" b="1" i="1" u="sng" dirty="0" smtClean="0"/>
              <a:t>Çalışan Temsilcisi: </a:t>
            </a:r>
            <a:r>
              <a:rPr lang="tr-TR" dirty="0" smtClean="0"/>
              <a:t>İSG ile ilgili çalışmalara katılma, çalışmaları izleme, tedbir alınmasını isteme, tekliflerde bulunma ve benzeri konularda çalışanları temsil etmeye çalışanı </a:t>
            </a:r>
          </a:p>
          <a:p>
            <a:pPr>
              <a:buNone/>
            </a:pPr>
            <a:r>
              <a:rPr lang="tr-TR" dirty="0" smtClean="0"/>
              <a:t>ifade eder.</a:t>
            </a:r>
          </a:p>
        </p:txBody>
      </p:sp>
      <p:sp>
        <p:nvSpPr>
          <p:cNvPr id="4" name="3 Dikdörtgen"/>
          <p:cNvSpPr/>
          <p:nvPr/>
        </p:nvSpPr>
        <p:spPr>
          <a:xfrm>
            <a:off x="0" y="0"/>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ctrTitle" sz="quarter"/>
          </p:nvPr>
        </p:nvSpPr>
        <p:spPr>
          <a:xfrm>
            <a:off x="539552" y="836712"/>
            <a:ext cx="7772400" cy="1431925"/>
          </a:xfrm>
        </p:spPr>
        <p:txBody>
          <a:bodyPr/>
          <a:lstStyle/>
          <a:p>
            <a:pPr algn="l"/>
            <a:r>
              <a:rPr lang="tr-TR" altLang="tr-TR" sz="3200" b="1" dirty="0" smtClean="0">
                <a:solidFill>
                  <a:srgbClr val="FF0000"/>
                </a:solidFill>
                <a:effectLst/>
              </a:rPr>
              <a:t>İŞVEREN ÇALIŞAN TEMSİLCİSİ GÖREVLENDİRECEK</a:t>
            </a:r>
          </a:p>
        </p:txBody>
      </p:sp>
      <p:sp>
        <p:nvSpPr>
          <p:cNvPr id="6" name="Rectangle 3"/>
          <p:cNvSpPr>
            <a:spLocks noGrp="1" noChangeArrowheads="1"/>
          </p:cNvSpPr>
          <p:nvPr>
            <p:ph type="subTitle" sz="quarter" idx="1"/>
          </p:nvPr>
        </p:nvSpPr>
        <p:spPr>
          <a:xfrm>
            <a:off x="467544" y="1772816"/>
            <a:ext cx="8280400" cy="3578225"/>
          </a:xfrm>
        </p:spPr>
        <p:txBody>
          <a:bodyPr/>
          <a:lstStyle/>
          <a:p>
            <a:pPr algn="just">
              <a:lnSpc>
                <a:spcPct val="90000"/>
              </a:lnSpc>
              <a:defRPr/>
            </a:pPr>
            <a:r>
              <a:rPr lang="tr-TR" sz="2800" b="1" dirty="0" smtClean="0">
                <a:latin typeface="Times New Roman" pitchFamily="18" charset="0"/>
              </a:rPr>
              <a:t>	</a:t>
            </a:r>
          </a:p>
          <a:p>
            <a:pPr algn="just">
              <a:lnSpc>
                <a:spcPct val="90000"/>
              </a:lnSpc>
              <a:defRPr/>
            </a:pPr>
            <a:r>
              <a:rPr lang="tr-TR" sz="2800" b="1" dirty="0" smtClean="0">
                <a:solidFill>
                  <a:schemeClr val="tx1"/>
                </a:solidFill>
                <a:latin typeface="Times New Roman" pitchFamily="18" charset="0"/>
              </a:rPr>
              <a:t>Madde 20:</a:t>
            </a:r>
          </a:p>
          <a:p>
            <a:pPr algn="just">
              <a:lnSpc>
                <a:spcPct val="90000"/>
              </a:lnSpc>
              <a:defRPr/>
            </a:pPr>
            <a:r>
              <a:rPr lang="tr-TR" sz="2800" dirty="0" smtClean="0">
                <a:solidFill>
                  <a:schemeClr val="tx1"/>
                </a:solidFill>
                <a:latin typeface="Times New Roman" pitchFamily="18" charset="0"/>
              </a:rPr>
              <a:t>İşveren, </a:t>
            </a:r>
            <a:r>
              <a:rPr lang="tr-TR" sz="2800" dirty="0">
                <a:solidFill>
                  <a:schemeClr val="tx1"/>
                </a:solidFill>
                <a:latin typeface="Times New Roman" pitchFamily="18" charset="0"/>
              </a:rPr>
              <a:t>işyerinin değişik bölümlerindeki riskleri ve çalışan sayısını da dikkate alarak, dengeli dağılıma da özen göstermek suretiyle seçim, seçimle belirlenemediği durumda atama yoluyla </a:t>
            </a:r>
            <a:r>
              <a:rPr lang="tr-TR" sz="2800" b="1" dirty="0">
                <a:solidFill>
                  <a:schemeClr val="tx1"/>
                </a:solidFill>
                <a:latin typeface="Times New Roman" pitchFamily="18" charset="0"/>
              </a:rPr>
              <a:t>“çalışan temsilcisi” </a:t>
            </a:r>
            <a:r>
              <a:rPr lang="tr-TR" sz="2800" dirty="0" smtClean="0">
                <a:solidFill>
                  <a:schemeClr val="tx1"/>
                </a:solidFill>
                <a:latin typeface="Times New Roman" pitchFamily="18" charset="0"/>
              </a:rPr>
              <a:t>görevlendirir.</a:t>
            </a:r>
            <a:endParaRPr lang="tr-TR" sz="2800" dirty="0">
              <a:solidFill>
                <a:schemeClr val="tx1"/>
              </a:solidFill>
              <a:latin typeface="Times New Roman" pitchFamily="18" charset="0"/>
            </a:endParaRPr>
          </a:p>
        </p:txBody>
      </p:sp>
      <p:sp>
        <p:nvSpPr>
          <p:cNvPr id="4" name="3 Dikdörtgen"/>
          <p:cNvSpPr/>
          <p:nvPr/>
        </p:nvSpPr>
        <p:spPr>
          <a:xfrm>
            <a:off x="0" y="0"/>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checkerboard(across)">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ctrTitle" sz="quarter"/>
          </p:nvPr>
        </p:nvSpPr>
        <p:spPr>
          <a:xfrm>
            <a:off x="468313" y="0"/>
            <a:ext cx="7772400" cy="1431925"/>
          </a:xfrm>
        </p:spPr>
        <p:txBody>
          <a:bodyPr>
            <a:normAutofit fontScale="90000"/>
          </a:bodyPr>
          <a:lstStyle/>
          <a:p>
            <a:pPr algn="l">
              <a:defRPr/>
            </a:pPr>
            <a:r>
              <a:rPr lang="tr-TR" sz="3200" b="1" dirty="0" smtClean="0">
                <a:solidFill>
                  <a:srgbClr val="FF0000"/>
                </a:solidFill>
                <a:effectLst/>
                <a:latin typeface="+mn-lt"/>
              </a:rPr>
              <a:t/>
            </a:r>
            <a:br>
              <a:rPr lang="tr-TR" sz="3200" b="1" dirty="0" smtClean="0">
                <a:solidFill>
                  <a:srgbClr val="FF0000"/>
                </a:solidFill>
                <a:effectLst/>
                <a:latin typeface="+mn-lt"/>
              </a:rPr>
            </a:br>
            <a:r>
              <a:rPr lang="tr-TR" sz="3200" b="1" dirty="0" smtClean="0">
                <a:solidFill>
                  <a:srgbClr val="FF0000"/>
                </a:solidFill>
                <a:latin typeface="+mn-lt"/>
              </a:rPr>
              <a:t/>
            </a:r>
            <a:br>
              <a:rPr lang="tr-TR" sz="3200" b="1" dirty="0" smtClean="0">
                <a:solidFill>
                  <a:srgbClr val="FF0000"/>
                </a:solidFill>
                <a:latin typeface="+mn-lt"/>
              </a:rPr>
            </a:br>
            <a:endParaRPr lang="tr-TR" sz="3200" dirty="0">
              <a:solidFill>
                <a:srgbClr val="FF0000"/>
              </a:solidFill>
              <a:effectLst/>
              <a:latin typeface="+mn-lt"/>
            </a:endParaRPr>
          </a:p>
        </p:txBody>
      </p:sp>
      <p:sp>
        <p:nvSpPr>
          <p:cNvPr id="6" name="Rectangle 3"/>
          <p:cNvSpPr>
            <a:spLocks noGrp="1" noChangeArrowheads="1"/>
          </p:cNvSpPr>
          <p:nvPr>
            <p:ph type="subTitle" sz="quarter" idx="1"/>
          </p:nvPr>
        </p:nvSpPr>
        <p:spPr>
          <a:xfrm>
            <a:off x="251520" y="1268760"/>
            <a:ext cx="8496300" cy="4968552"/>
          </a:xfrm>
        </p:spPr>
        <p:txBody>
          <a:bodyPr>
            <a:normAutofit fontScale="70000" lnSpcReduction="20000"/>
          </a:bodyPr>
          <a:lstStyle/>
          <a:p>
            <a:pPr algn="l">
              <a:lnSpc>
                <a:spcPct val="90000"/>
              </a:lnSpc>
              <a:defRPr/>
            </a:pPr>
            <a:r>
              <a:rPr lang="tr-TR" sz="4100" dirty="0" smtClean="0">
                <a:solidFill>
                  <a:schemeClr val="tx1"/>
                </a:solidFill>
              </a:rPr>
              <a:t>İşveren, </a:t>
            </a:r>
            <a:r>
              <a:rPr lang="tr-TR" sz="4100" u="sng" dirty="0" smtClean="0">
                <a:solidFill>
                  <a:schemeClr val="tx1"/>
                </a:solidFill>
              </a:rPr>
              <a:t>çalışan </a:t>
            </a:r>
            <a:r>
              <a:rPr lang="tr-TR" sz="4100" u="sng" dirty="0">
                <a:solidFill>
                  <a:schemeClr val="tx1"/>
                </a:solidFill>
              </a:rPr>
              <a:t>sayısı; </a:t>
            </a:r>
            <a:endParaRPr lang="tr-TR" sz="4100" u="sng" dirty="0" smtClean="0">
              <a:solidFill>
                <a:schemeClr val="tx1"/>
              </a:solidFill>
            </a:endParaRPr>
          </a:p>
          <a:p>
            <a:pPr algn="l">
              <a:lnSpc>
                <a:spcPct val="90000"/>
              </a:lnSpc>
              <a:defRPr/>
            </a:pPr>
            <a:endParaRPr lang="tr-TR" sz="4100" u="sng" dirty="0">
              <a:solidFill>
                <a:schemeClr val="tx1"/>
              </a:solidFill>
            </a:endParaRPr>
          </a:p>
          <a:p>
            <a:pPr algn="l">
              <a:lnSpc>
                <a:spcPct val="90000"/>
              </a:lnSpc>
              <a:buFont typeface="Arial" pitchFamily="34" charset="0"/>
              <a:buChar char="•"/>
              <a:defRPr/>
            </a:pPr>
            <a:r>
              <a:rPr lang="tr-TR" sz="4100" dirty="0" smtClean="0">
                <a:solidFill>
                  <a:schemeClr val="tx1"/>
                </a:solidFill>
              </a:rPr>
              <a:t> 2 - </a:t>
            </a:r>
            <a:r>
              <a:rPr lang="tr-TR" sz="4100" dirty="0">
                <a:solidFill>
                  <a:schemeClr val="tx1"/>
                </a:solidFill>
              </a:rPr>
              <a:t>50 arasında olan işyerlerinde 1,</a:t>
            </a:r>
          </a:p>
          <a:p>
            <a:pPr algn="l">
              <a:lnSpc>
                <a:spcPct val="90000"/>
              </a:lnSpc>
              <a:buFont typeface="Arial" pitchFamily="34" charset="0"/>
              <a:buChar char="•"/>
              <a:defRPr/>
            </a:pPr>
            <a:r>
              <a:rPr lang="tr-TR" sz="4100" dirty="0" smtClean="0">
                <a:solidFill>
                  <a:schemeClr val="tx1"/>
                </a:solidFill>
              </a:rPr>
              <a:t> 51 - </a:t>
            </a:r>
            <a:r>
              <a:rPr lang="tr-TR" sz="4100" dirty="0">
                <a:solidFill>
                  <a:schemeClr val="tx1"/>
                </a:solidFill>
              </a:rPr>
              <a:t>100 arasında olan işyerlerinde 2,</a:t>
            </a:r>
          </a:p>
          <a:p>
            <a:pPr algn="l">
              <a:lnSpc>
                <a:spcPct val="90000"/>
              </a:lnSpc>
              <a:buFont typeface="Arial" pitchFamily="34" charset="0"/>
              <a:buChar char="•"/>
              <a:defRPr/>
            </a:pPr>
            <a:r>
              <a:rPr lang="tr-TR" sz="4100" dirty="0" smtClean="0">
                <a:solidFill>
                  <a:schemeClr val="tx1"/>
                </a:solidFill>
              </a:rPr>
              <a:t> 101 - </a:t>
            </a:r>
            <a:r>
              <a:rPr lang="tr-TR" sz="4100" dirty="0">
                <a:solidFill>
                  <a:schemeClr val="tx1"/>
                </a:solidFill>
              </a:rPr>
              <a:t>500 </a:t>
            </a:r>
            <a:r>
              <a:rPr lang="tr-TR" sz="4100" dirty="0" smtClean="0">
                <a:solidFill>
                  <a:schemeClr val="tx1"/>
                </a:solidFill>
              </a:rPr>
              <a:t>arasında </a:t>
            </a:r>
            <a:r>
              <a:rPr lang="tr-TR" sz="4100" dirty="0">
                <a:solidFill>
                  <a:schemeClr val="tx1"/>
                </a:solidFill>
              </a:rPr>
              <a:t>olan işyerlerinde 3,</a:t>
            </a:r>
          </a:p>
          <a:p>
            <a:pPr algn="l">
              <a:lnSpc>
                <a:spcPct val="90000"/>
              </a:lnSpc>
              <a:buFont typeface="Arial" pitchFamily="34" charset="0"/>
              <a:buChar char="•"/>
              <a:defRPr/>
            </a:pPr>
            <a:r>
              <a:rPr lang="tr-TR" sz="4100" dirty="0" smtClean="0">
                <a:solidFill>
                  <a:schemeClr val="tx1"/>
                </a:solidFill>
              </a:rPr>
              <a:t> 501 - </a:t>
            </a:r>
            <a:r>
              <a:rPr lang="tr-TR" sz="4100" dirty="0">
                <a:solidFill>
                  <a:schemeClr val="tx1"/>
                </a:solidFill>
              </a:rPr>
              <a:t>1000 arasında olan işyerleri 4, </a:t>
            </a:r>
          </a:p>
          <a:p>
            <a:pPr algn="l">
              <a:lnSpc>
                <a:spcPct val="90000"/>
              </a:lnSpc>
              <a:buFont typeface="Arial" pitchFamily="34" charset="0"/>
              <a:buChar char="•"/>
              <a:defRPr/>
            </a:pPr>
            <a:r>
              <a:rPr lang="tr-TR" sz="4100" dirty="0" smtClean="0">
                <a:solidFill>
                  <a:schemeClr val="tx1"/>
                </a:solidFill>
              </a:rPr>
              <a:t> 1001 - </a:t>
            </a:r>
            <a:r>
              <a:rPr lang="tr-TR" sz="4100" dirty="0">
                <a:solidFill>
                  <a:schemeClr val="tx1"/>
                </a:solidFill>
              </a:rPr>
              <a:t>2000 arasında olan işyerleri 5,</a:t>
            </a:r>
          </a:p>
          <a:p>
            <a:pPr algn="l">
              <a:lnSpc>
                <a:spcPct val="90000"/>
              </a:lnSpc>
              <a:buFont typeface="Arial" pitchFamily="34" charset="0"/>
              <a:buChar char="•"/>
              <a:defRPr/>
            </a:pPr>
            <a:r>
              <a:rPr lang="tr-TR" sz="4100" dirty="0" smtClean="0">
                <a:solidFill>
                  <a:schemeClr val="tx1"/>
                </a:solidFill>
              </a:rPr>
              <a:t> 2001 </a:t>
            </a:r>
            <a:r>
              <a:rPr lang="tr-TR" sz="4100" dirty="0">
                <a:solidFill>
                  <a:schemeClr val="tx1"/>
                </a:solidFill>
              </a:rPr>
              <a:t>ve üzerinde çalışanı olan işyerleri 6</a:t>
            </a:r>
            <a:r>
              <a:rPr lang="tr-TR" sz="4100" dirty="0" smtClean="0">
                <a:solidFill>
                  <a:schemeClr val="tx1"/>
                </a:solidFill>
              </a:rPr>
              <a:t>,</a:t>
            </a:r>
          </a:p>
          <a:p>
            <a:pPr algn="l">
              <a:lnSpc>
                <a:spcPct val="90000"/>
              </a:lnSpc>
              <a:defRPr/>
            </a:pPr>
            <a:endParaRPr lang="tr-TR" sz="4100" dirty="0">
              <a:solidFill>
                <a:schemeClr val="tx1"/>
              </a:solidFill>
            </a:endParaRPr>
          </a:p>
          <a:p>
            <a:pPr algn="l">
              <a:lnSpc>
                <a:spcPct val="90000"/>
              </a:lnSpc>
              <a:buFont typeface="Wingdings" pitchFamily="2" charset="2"/>
              <a:buNone/>
              <a:defRPr/>
            </a:pPr>
            <a:r>
              <a:rPr lang="tr-TR" sz="4100" b="1" i="1" u="sng" dirty="0" smtClean="0">
                <a:solidFill>
                  <a:schemeClr val="tx1"/>
                </a:solidFill>
              </a:rPr>
              <a:t>çalışan </a:t>
            </a:r>
            <a:r>
              <a:rPr lang="tr-TR" sz="4100" b="1" i="1" u="sng" dirty="0">
                <a:solidFill>
                  <a:schemeClr val="tx1"/>
                </a:solidFill>
              </a:rPr>
              <a:t>temsilcisi </a:t>
            </a:r>
            <a:r>
              <a:rPr lang="tr-TR" sz="4100" dirty="0">
                <a:solidFill>
                  <a:schemeClr val="tx1"/>
                </a:solidFill>
              </a:rPr>
              <a:t>görevlendirmek zorundadır</a:t>
            </a:r>
            <a:r>
              <a:rPr lang="tr-TR" sz="4100" dirty="0" smtClean="0"/>
              <a:t>.</a:t>
            </a:r>
          </a:p>
          <a:p>
            <a:pPr algn="l">
              <a:lnSpc>
                <a:spcPct val="90000"/>
              </a:lnSpc>
              <a:buFont typeface="Wingdings" pitchFamily="2" charset="2"/>
              <a:buNone/>
              <a:defRPr/>
            </a:pPr>
            <a:endParaRPr lang="tr-TR" sz="4100" dirty="0" smtClean="0"/>
          </a:p>
          <a:p>
            <a:pPr algn="l">
              <a:lnSpc>
                <a:spcPct val="90000"/>
              </a:lnSpc>
              <a:buFont typeface="Wingdings" pitchFamily="2" charset="2"/>
              <a:buNone/>
              <a:defRPr/>
            </a:pPr>
            <a:r>
              <a:rPr lang="tr-TR" sz="4100" dirty="0" smtClean="0">
                <a:solidFill>
                  <a:schemeClr val="tx1"/>
                </a:solidFill>
              </a:rPr>
              <a:t>(Madde  20)</a:t>
            </a:r>
            <a:endParaRPr lang="tr-TR" sz="4100" dirty="0">
              <a:solidFill>
                <a:schemeClr val="tx1"/>
              </a:solidFill>
            </a:endParaRPr>
          </a:p>
          <a:p>
            <a:pPr>
              <a:lnSpc>
                <a:spcPct val="90000"/>
              </a:lnSpc>
              <a:defRPr/>
            </a:pPr>
            <a:endParaRPr lang="tr-TR" dirty="0"/>
          </a:p>
        </p:txBody>
      </p:sp>
      <p:sp>
        <p:nvSpPr>
          <p:cNvPr id="4" name="3 Dikdörtgen"/>
          <p:cNvSpPr/>
          <p:nvPr/>
        </p:nvSpPr>
        <p:spPr>
          <a:xfrm>
            <a:off x="0" y="0"/>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sp>
        <p:nvSpPr>
          <p:cNvPr id="3" name="2 İçerik Yer Tutucusu"/>
          <p:cNvSpPr>
            <a:spLocks noGrp="1"/>
          </p:cNvSpPr>
          <p:nvPr>
            <p:ph idx="1"/>
          </p:nvPr>
        </p:nvSpPr>
        <p:spPr>
          <a:xfrm>
            <a:off x="467544" y="1196752"/>
            <a:ext cx="8229600" cy="4525963"/>
          </a:xfrm>
        </p:spPr>
        <p:txBody>
          <a:bodyPr>
            <a:normAutofit fontScale="92500" lnSpcReduction="10000"/>
          </a:bodyPr>
          <a:lstStyle/>
          <a:p>
            <a:pPr>
              <a:buNone/>
            </a:pPr>
            <a:r>
              <a:rPr lang="tr-TR" b="1" dirty="0" smtClean="0"/>
              <a:t>Madde 20:</a:t>
            </a:r>
          </a:p>
          <a:p>
            <a:pPr>
              <a:buNone/>
            </a:pPr>
            <a:endParaRPr lang="tr-TR" b="1" dirty="0" smtClean="0"/>
          </a:p>
          <a:p>
            <a:pPr>
              <a:buNone/>
            </a:pPr>
            <a:r>
              <a:rPr lang="tr-TR" dirty="0" smtClean="0"/>
              <a:t>(3)Çalışan temsilcileri, tehlike kaynağının yok edilmesi veya tehlikeden kaynaklanan riskin azaltılması için, işverene öneride bulunma ve işverenden gerekli tedbirlerin alınmasını isteme hakkına sahiptir.</a:t>
            </a:r>
          </a:p>
          <a:p>
            <a:pPr>
              <a:buNone/>
            </a:pPr>
            <a:r>
              <a:rPr lang="tr-TR" dirty="0" smtClean="0"/>
              <a:t>(4) Görevlerini yürütme nedeniyle,çalışan temsilcileri işveren tarafından gerekli imkanlar sağlanır.</a:t>
            </a:r>
            <a:endParaRPr lang="tr-TR" dirty="0"/>
          </a:p>
        </p:txBody>
      </p:sp>
      <p:sp>
        <p:nvSpPr>
          <p:cNvPr id="4" name="3 Dikdörtgen"/>
          <p:cNvSpPr/>
          <p:nvPr/>
        </p:nvSpPr>
        <p:spPr>
          <a:xfrm>
            <a:off x="0" y="0"/>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pPr>
              <a:buNone/>
            </a:pPr>
            <a:r>
              <a:rPr lang="tr-TR" b="1" i="1" u="sng" dirty="0" smtClean="0"/>
              <a:t>Destek elemanı: </a:t>
            </a:r>
            <a:r>
              <a:rPr lang="tr-TR" dirty="0" smtClean="0"/>
              <a:t>Asli görevinin yanında İş sağlığı ve güvenliği ile ilgili önleme, koruma, tahliye, yangınla mücadele, ilk yardım ve benzeri konularda özel olarak görevlendirilmiş uygun donanım ve yeterli eğitime sahip kişiyi ifade eder.</a:t>
            </a:r>
            <a:endParaRPr lang="tr-TR" dirty="0"/>
          </a:p>
        </p:txBody>
      </p:sp>
      <p:sp>
        <p:nvSpPr>
          <p:cNvPr id="4" name="3 Başlık"/>
          <p:cNvSpPr>
            <a:spLocks noGrp="1"/>
          </p:cNvSpPr>
          <p:nvPr>
            <p:ph type="title"/>
          </p:nvPr>
        </p:nvSpPr>
        <p:spPr>
          <a:xfrm>
            <a:off x="0" y="3490"/>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95536" y="1196752"/>
            <a:ext cx="8229600" cy="4525963"/>
          </a:xfrm>
        </p:spPr>
        <p:txBody>
          <a:bodyPr>
            <a:normAutofit/>
          </a:bodyPr>
          <a:lstStyle/>
          <a:p>
            <a:pPr>
              <a:buNone/>
            </a:pPr>
            <a:r>
              <a:rPr lang="tr-TR" b="1" i="1" u="sng" dirty="0" smtClean="0"/>
              <a:t>Tehlike Sınıfı:</a:t>
            </a:r>
          </a:p>
          <a:p>
            <a:pPr>
              <a:buNone/>
            </a:pPr>
            <a:r>
              <a:rPr lang="tr-TR" dirty="0" smtClean="0"/>
              <a:t> İş sağlığı ve güvenliği açısından, yapılan işin özelliği, işin her safhasında kullanılan veya ortaya çıkan maddeler, iş ekipmanı, üretim yöntem ve şekilleri, çalışma ortam ve şartları ile ilgili diğer hususlar dikkate alınarak işyeri için belirlenen tehlike grubu.</a:t>
            </a:r>
          </a:p>
          <a:p>
            <a:pPr>
              <a:buNone/>
            </a:pPr>
            <a:endParaRPr lang="tr-TR" dirty="0" smtClean="0">
              <a:effectLst>
                <a:outerShdw blurRad="38100" dist="38100" dir="2700000" algn="tl">
                  <a:srgbClr val="000000">
                    <a:alpha val="43137"/>
                  </a:srgbClr>
                </a:outerShdw>
              </a:effectLst>
            </a:endParaRPr>
          </a:p>
          <a:p>
            <a:pPr algn="just"/>
            <a:endParaRPr lang="tr-TR" altLang="tr-TR" dirty="0" smtClean="0"/>
          </a:p>
          <a:p>
            <a:endParaRPr lang="tr-TR" dirty="0"/>
          </a:p>
        </p:txBody>
      </p:sp>
      <p:sp>
        <p:nvSpPr>
          <p:cNvPr id="4" name="3 Başlık"/>
          <p:cNvSpPr>
            <a:spLocks noGrp="1"/>
          </p:cNvSpPr>
          <p:nvPr>
            <p:ph type="title"/>
          </p:nvPr>
        </p:nvSpPr>
        <p:spPr>
          <a:xfrm>
            <a:off x="0" y="0"/>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lnSpcReduction="10000"/>
          </a:bodyPr>
          <a:lstStyle/>
          <a:p>
            <a:pPr>
              <a:buNone/>
            </a:pPr>
            <a:r>
              <a:rPr lang="tr-TR" b="1" i="1" u="sng" dirty="0" smtClean="0"/>
              <a:t>Tehlike Sınıfı:</a:t>
            </a:r>
          </a:p>
          <a:p>
            <a:pPr>
              <a:buNone/>
            </a:pPr>
            <a:r>
              <a:rPr lang="tr-TR" dirty="0" smtClean="0">
                <a:effectLst>
                  <a:outerShdw blurRad="38100" dist="38100" dir="2700000" algn="tl">
                    <a:srgbClr val="000000">
                      <a:alpha val="43137"/>
                    </a:srgbClr>
                  </a:outerShdw>
                </a:effectLst>
              </a:rPr>
              <a:t> İş Sağlığı ve Güvenliği Genel Müdürünün Başkanlığında ilgili taraflarca oluşturulan komisyonun görüşleri doğrultusunda, </a:t>
            </a:r>
            <a:r>
              <a:rPr lang="tr-TR" dirty="0" smtClean="0">
                <a:effectLst>
                  <a:outerShdw blurRad="38100" dist="38100" dir="2700000" algn="tl">
                    <a:srgbClr val="000000">
                      <a:alpha val="43137"/>
                    </a:srgbClr>
                  </a:outerShdw>
                </a:effectLst>
              </a:rPr>
              <a:t>Çalışma ve Sosyal Güvenlik </a:t>
            </a:r>
            <a:r>
              <a:rPr lang="tr-TR" dirty="0" smtClean="0">
                <a:effectLst>
                  <a:outerShdw blurRad="38100" dist="38100" dir="2700000" algn="tl">
                    <a:srgbClr val="000000">
                      <a:alpha val="43137"/>
                    </a:srgbClr>
                  </a:outerShdw>
                </a:effectLst>
              </a:rPr>
              <a:t>Bakanlığınca </a:t>
            </a:r>
            <a:r>
              <a:rPr lang="tr-TR" dirty="0" smtClean="0">
                <a:effectLst>
                  <a:outerShdw blurRad="38100" dist="38100" dir="2700000" algn="tl">
                    <a:srgbClr val="000000">
                      <a:alpha val="43137"/>
                    </a:srgbClr>
                  </a:outerShdw>
                </a:effectLst>
              </a:rPr>
              <a:t>tespit </a:t>
            </a:r>
            <a:r>
              <a:rPr lang="tr-TR" dirty="0" smtClean="0">
                <a:effectLst>
                  <a:outerShdw blurRad="38100" dist="38100" dir="2700000" algn="tl">
                    <a:srgbClr val="000000">
                      <a:alpha val="43137"/>
                    </a:srgbClr>
                  </a:outerShdw>
                </a:effectLst>
              </a:rPr>
              <a:t>edilmektedir.</a:t>
            </a:r>
          </a:p>
          <a:p>
            <a:pPr>
              <a:buNone/>
            </a:pPr>
            <a:endParaRPr lang="tr-TR" dirty="0" smtClean="0">
              <a:effectLst>
                <a:outerShdw blurRad="38100" dist="38100" dir="2700000" algn="tl">
                  <a:srgbClr val="000000">
                    <a:alpha val="43137"/>
                  </a:srgbClr>
                </a:outerShdw>
              </a:effectLst>
            </a:endParaRPr>
          </a:p>
          <a:p>
            <a:pPr algn="just">
              <a:buNone/>
            </a:pPr>
            <a:r>
              <a:rPr lang="tr-TR" dirty="0" smtClean="0"/>
              <a:t>Madde 9: </a:t>
            </a:r>
            <a:r>
              <a:rPr lang="tr-TR" altLang="tr-TR" b="1" dirty="0" smtClean="0"/>
              <a:t>İşyeri </a:t>
            </a:r>
            <a:r>
              <a:rPr lang="tr-TR" altLang="tr-TR" b="1" u="sng" dirty="0" smtClean="0"/>
              <a:t>tehlike sınıflarının </a:t>
            </a:r>
            <a:r>
              <a:rPr lang="tr-TR" altLang="tr-TR" b="1" dirty="0" smtClean="0"/>
              <a:t>tespitinde, o işyerinde yapılan asıl iş dikkate alınır.</a:t>
            </a:r>
            <a:r>
              <a:rPr lang="tr-TR" dirty="0" smtClean="0"/>
              <a:t> </a:t>
            </a:r>
            <a:endParaRPr lang="tr-TR" altLang="tr-TR" b="1" dirty="0" smtClean="0"/>
          </a:p>
          <a:p>
            <a:pPr algn="just"/>
            <a:endParaRPr lang="tr-TR" altLang="tr-TR" dirty="0" smtClean="0"/>
          </a:p>
          <a:p>
            <a:endParaRPr lang="tr-TR" dirty="0"/>
          </a:p>
        </p:txBody>
      </p:sp>
      <p:sp>
        <p:nvSpPr>
          <p:cNvPr id="4" name="3 Başlık"/>
          <p:cNvSpPr>
            <a:spLocks noGrp="1"/>
          </p:cNvSpPr>
          <p:nvPr>
            <p:ph type="title"/>
          </p:nvPr>
        </p:nvSpPr>
        <p:spPr>
          <a:xfrm>
            <a:off x="0" y="0"/>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28596" y="285728"/>
            <a:ext cx="8501122" cy="653210"/>
          </a:xfrm>
        </p:spPr>
        <p:txBody>
          <a:bodyPr>
            <a:normAutofit fontScale="90000"/>
          </a:bodyPr>
          <a:lstStyle/>
          <a:p>
            <a:pPr algn="l"/>
            <a:r>
              <a:rPr lang="tr-TR" b="1" dirty="0" smtClean="0"/>
              <a:t>Tehlike Sınıfları</a:t>
            </a:r>
            <a:endParaRPr lang="tr-TR" b="1" dirty="0"/>
          </a:p>
        </p:txBody>
      </p:sp>
      <p:sp>
        <p:nvSpPr>
          <p:cNvPr id="3" name="2 İçerik Yer Tutucusu"/>
          <p:cNvSpPr>
            <a:spLocks noGrp="1"/>
          </p:cNvSpPr>
          <p:nvPr>
            <p:ph idx="1"/>
          </p:nvPr>
        </p:nvSpPr>
        <p:spPr>
          <a:xfrm>
            <a:off x="457200" y="928670"/>
            <a:ext cx="8229600" cy="5395930"/>
          </a:xfrm>
        </p:spPr>
        <p:txBody>
          <a:bodyPr/>
          <a:lstStyle/>
          <a:p>
            <a:pPr>
              <a:buNone/>
            </a:pPr>
            <a:r>
              <a:rPr lang="tr-TR" b="1" dirty="0" smtClean="0"/>
              <a:t>Madde 9: </a:t>
            </a:r>
            <a:r>
              <a:rPr lang="tr-TR" dirty="0" smtClean="0"/>
              <a:t>Tüm işyerleri yapılan işin niteliğine göre tehlike sınıflarına ayrıldı:</a:t>
            </a:r>
          </a:p>
          <a:p>
            <a:pPr>
              <a:buNone/>
            </a:pPr>
            <a:endParaRPr lang="tr-TR" dirty="0" smtClean="0"/>
          </a:p>
          <a:p>
            <a:pPr lvl="1"/>
            <a:r>
              <a:rPr lang="tr-TR" b="1" dirty="0" smtClean="0">
                <a:solidFill>
                  <a:srgbClr val="FFC000"/>
                </a:solidFill>
              </a:rPr>
              <a:t>Az tehlikeli (</a:t>
            </a:r>
            <a:r>
              <a:rPr lang="tr-TR" b="1" dirty="0" smtClean="0">
                <a:solidFill>
                  <a:srgbClr val="FFC000"/>
                </a:solidFill>
              </a:rPr>
              <a:t>C, </a:t>
            </a:r>
            <a:r>
              <a:rPr lang="tr-TR" b="1" dirty="0" smtClean="0">
                <a:solidFill>
                  <a:srgbClr val="FFC000"/>
                </a:solidFill>
              </a:rPr>
              <a:t>B ve A sınıfı </a:t>
            </a:r>
            <a:r>
              <a:rPr lang="tr-TR" b="1" dirty="0" smtClean="0">
                <a:solidFill>
                  <a:srgbClr val="FFC000"/>
                </a:solidFill>
              </a:rPr>
              <a:t>İSG uzmanı çalışabilir)</a:t>
            </a:r>
            <a:endParaRPr lang="tr-TR" b="1" dirty="0" smtClean="0">
              <a:solidFill>
                <a:srgbClr val="FFC000"/>
              </a:solidFill>
            </a:endParaRPr>
          </a:p>
          <a:p>
            <a:pPr lvl="1"/>
            <a:r>
              <a:rPr lang="tr-TR" b="1" dirty="0" smtClean="0">
                <a:solidFill>
                  <a:schemeClr val="accent3">
                    <a:lumMod val="50000"/>
                  </a:schemeClr>
                </a:solidFill>
              </a:rPr>
              <a:t>Tehlikeli </a:t>
            </a:r>
            <a:r>
              <a:rPr lang="tr-TR" b="1" dirty="0" smtClean="0">
                <a:solidFill>
                  <a:schemeClr val="accent3">
                    <a:lumMod val="50000"/>
                  </a:schemeClr>
                </a:solidFill>
              </a:rPr>
              <a:t>(</a:t>
            </a:r>
            <a:r>
              <a:rPr lang="tr-TR" b="1" dirty="0" smtClean="0">
                <a:solidFill>
                  <a:schemeClr val="accent3">
                    <a:lumMod val="50000"/>
                  </a:schemeClr>
                </a:solidFill>
              </a:rPr>
              <a:t>B</a:t>
            </a:r>
            <a:r>
              <a:rPr lang="tr-TR" b="1" dirty="0" smtClean="0">
                <a:solidFill>
                  <a:schemeClr val="accent3">
                    <a:lumMod val="50000"/>
                  </a:schemeClr>
                </a:solidFill>
              </a:rPr>
              <a:t> ve A </a:t>
            </a:r>
            <a:r>
              <a:rPr lang="tr-TR" b="1" dirty="0" smtClean="0">
                <a:solidFill>
                  <a:schemeClr val="accent3">
                    <a:lumMod val="50000"/>
                  </a:schemeClr>
                </a:solidFill>
              </a:rPr>
              <a:t>Sınıfı İSG </a:t>
            </a:r>
            <a:r>
              <a:rPr lang="tr-TR" b="1" dirty="0" smtClean="0">
                <a:solidFill>
                  <a:schemeClr val="accent3">
                    <a:lumMod val="50000"/>
                  </a:schemeClr>
                </a:solidFill>
              </a:rPr>
              <a:t>uzmanı çalışabilir)</a:t>
            </a:r>
            <a:endParaRPr lang="tr-TR" b="1" dirty="0" smtClean="0">
              <a:solidFill>
                <a:schemeClr val="accent3">
                  <a:lumMod val="50000"/>
                </a:schemeClr>
              </a:solidFill>
            </a:endParaRPr>
          </a:p>
          <a:p>
            <a:pPr lvl="1"/>
            <a:r>
              <a:rPr lang="tr-TR" b="1" dirty="0" smtClean="0">
                <a:solidFill>
                  <a:srgbClr val="FF0000"/>
                </a:solidFill>
              </a:rPr>
              <a:t>Çok Tehlikeli  (A Sınıfı İSG </a:t>
            </a:r>
            <a:r>
              <a:rPr lang="tr-TR" b="1" dirty="0" smtClean="0">
                <a:solidFill>
                  <a:srgbClr val="FF0000"/>
                </a:solidFill>
              </a:rPr>
              <a:t>uzmanı çalışabilir)</a:t>
            </a:r>
            <a:endParaRPr lang="tr-TR" b="1" dirty="0" smtClean="0">
              <a:solidFill>
                <a:srgbClr val="FF0000"/>
              </a:solidFill>
            </a:endParaRPr>
          </a:p>
          <a:p>
            <a:pPr lvl="1"/>
            <a:endParaRPr lang="tr-TR" b="1" dirty="0" smtClean="0">
              <a:solidFill>
                <a:srgbClr val="FF0000"/>
              </a:solidFill>
            </a:endParaRPr>
          </a:p>
          <a:p>
            <a:endParaRPr lang="tr-TR" sz="2400" dirty="0" smtClean="0"/>
          </a:p>
          <a:p>
            <a:r>
              <a:rPr lang="tr-TR" sz="2400" dirty="0" smtClean="0"/>
              <a:t>29 Aralık 2012’de çıkarılan Tehlike Sınıfları Tebliğine göre işyerinizin tehlike sınıfını belirleyin!</a:t>
            </a:r>
            <a:endParaRPr lang="tr-TR" sz="2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a:bodyPr>
          <a:lstStyle/>
          <a:p>
            <a:pPr algn="just">
              <a:buNone/>
            </a:pPr>
            <a:r>
              <a:rPr lang="tr-TR" dirty="0" smtClean="0"/>
              <a:t/>
            </a:r>
            <a:br>
              <a:rPr lang="tr-TR" dirty="0" smtClean="0"/>
            </a:br>
            <a:r>
              <a:rPr lang="tr-TR" dirty="0" smtClean="0"/>
              <a:t>• Birden fazla iş güvenliği uzmanının görevlendirilmesinin gerektiği işyerlerinde, en az bir iş güvenliği uzmanının işyerinin tehlike sınıfına uygun belgeye sahip olması yeterlidir.</a:t>
            </a:r>
            <a:endParaRPr lang="tr-T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pPr>
              <a:buNone/>
            </a:pPr>
            <a:r>
              <a:rPr lang="tr-TR" b="1" i="1" u="sng" dirty="0" smtClean="0"/>
              <a:t>İşveren vekili: </a:t>
            </a:r>
            <a:r>
              <a:rPr lang="tr-TR" dirty="0" smtClean="0"/>
              <a:t>İşveren adına hareket eden, işin ve işyerinin yönetiminde görev alan kişi, bu Kanunun uygulanması bakımından işveren sayılır.</a:t>
            </a:r>
          </a:p>
          <a:p>
            <a:endParaRPr lang="tr-TR" dirty="0" smtClean="0"/>
          </a:p>
          <a:p>
            <a:endParaRPr lang="tr-TR" dirty="0" smtClean="0"/>
          </a:p>
        </p:txBody>
      </p:sp>
      <p:sp>
        <p:nvSpPr>
          <p:cNvPr id="4" name="3 Başlık"/>
          <p:cNvSpPr>
            <a:spLocks noGrp="1"/>
          </p:cNvSpPr>
          <p:nvPr>
            <p:ph type="title"/>
          </p:nvPr>
        </p:nvSpPr>
        <p:spPr>
          <a:xfrm>
            <a:off x="0" y="-71351"/>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1700808"/>
            <a:ext cx="8229600" cy="1143000"/>
          </a:xfrm>
        </p:spPr>
        <p:txBody>
          <a:bodyPr>
            <a:normAutofit fontScale="90000"/>
          </a:bodyPr>
          <a:lstStyle/>
          <a:p>
            <a:r>
              <a:rPr lang="tr-TR" b="1" dirty="0" smtClean="0">
                <a:solidFill>
                  <a:srgbClr val="FF0000"/>
                </a:solidFill>
              </a:rPr>
              <a:t>6331 sayılı İş Sağlığı ve Güvenliği Kanunun İşverenlere ve Çalışanlara Getirdiği Hak ve Yükümlülükler</a:t>
            </a:r>
            <a:endParaRPr lang="tr-T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0" y="1928802"/>
            <a:ext cx="9144000" cy="1470025"/>
          </a:xfrm>
        </p:spPr>
        <p:txBody>
          <a:bodyPr>
            <a:normAutofit/>
          </a:bodyPr>
          <a:lstStyle/>
          <a:p>
            <a:r>
              <a:rPr lang="tr-TR" b="1" dirty="0" smtClean="0"/>
              <a:t/>
            </a:r>
            <a:br>
              <a:rPr lang="tr-TR" b="1" dirty="0" smtClean="0"/>
            </a:br>
            <a:endParaRPr lang="tr-TR" b="1" dirty="0"/>
          </a:p>
        </p:txBody>
      </p:sp>
      <p:sp>
        <p:nvSpPr>
          <p:cNvPr id="4" name="3 Dikdörtgen"/>
          <p:cNvSpPr/>
          <p:nvPr/>
        </p:nvSpPr>
        <p:spPr>
          <a:xfrm>
            <a:off x="0" y="0"/>
            <a:ext cx="9144000" cy="135729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tr-TR" sz="4800" b="1" dirty="0"/>
          </a:p>
        </p:txBody>
      </p:sp>
      <p:sp>
        <p:nvSpPr>
          <p:cNvPr id="5" name="1 Başlık"/>
          <p:cNvSpPr txBox="1">
            <a:spLocks/>
          </p:cNvSpPr>
          <p:nvPr/>
        </p:nvSpPr>
        <p:spPr>
          <a:xfrm>
            <a:off x="714348" y="571480"/>
            <a:ext cx="7772400" cy="1071562"/>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4400" b="1" i="0" u="none" strike="noStrike" kern="1200" cap="none" spc="0" normalizeH="0" baseline="0" noProof="0" dirty="0" smtClean="0">
                <a:ln>
                  <a:noFill/>
                </a:ln>
                <a:solidFill>
                  <a:schemeClr val="bg1"/>
                </a:solidFill>
                <a:effectLst/>
                <a:uLnTx/>
                <a:uFillTx/>
                <a:latin typeface="+mn-lt"/>
                <a:ea typeface="+mj-ea"/>
                <a:cs typeface="+mj-cs"/>
              </a:rPr>
              <a:t>İŞ</a:t>
            </a:r>
            <a:r>
              <a:rPr kumimoji="0" lang="nl-NL" sz="4400" b="1" i="0" u="none" strike="noStrike" kern="1200" cap="none" spc="0" normalizeH="0" baseline="0" noProof="0" dirty="0" smtClean="0">
                <a:ln>
                  <a:noFill/>
                </a:ln>
                <a:solidFill>
                  <a:schemeClr val="bg1"/>
                </a:solidFill>
                <a:effectLst/>
                <a:uLnTx/>
                <a:uFillTx/>
                <a:latin typeface="+mn-lt"/>
                <a:ea typeface="+mj-ea"/>
                <a:cs typeface="+mj-cs"/>
              </a:rPr>
              <a:t>VERENLERİN </a:t>
            </a:r>
            <a:r>
              <a:rPr kumimoji="0" lang="tr-TR" sz="4400" b="1" i="0" u="none" strike="noStrike" kern="1200" cap="none" spc="0" normalizeH="0" baseline="0" noProof="0" dirty="0" smtClean="0">
                <a:ln>
                  <a:noFill/>
                </a:ln>
                <a:solidFill>
                  <a:schemeClr val="bg1"/>
                </a:solidFill>
                <a:effectLst/>
                <a:uLnTx/>
                <a:uFillTx/>
                <a:latin typeface="+mn-lt"/>
                <a:ea typeface="+mj-ea"/>
                <a:cs typeface="+mj-cs"/>
              </a:rPr>
              <a:t/>
            </a:r>
            <a:br>
              <a:rPr kumimoji="0" lang="tr-TR" sz="4400" b="1" i="0" u="none" strike="noStrike" kern="1200" cap="none" spc="0" normalizeH="0" baseline="0" noProof="0" dirty="0" smtClean="0">
                <a:ln>
                  <a:noFill/>
                </a:ln>
                <a:solidFill>
                  <a:schemeClr val="bg1"/>
                </a:solidFill>
                <a:effectLst/>
                <a:uLnTx/>
                <a:uFillTx/>
                <a:latin typeface="+mn-lt"/>
                <a:ea typeface="+mj-ea"/>
                <a:cs typeface="+mj-cs"/>
              </a:rPr>
            </a:br>
            <a:r>
              <a:rPr kumimoji="0" lang="nl-NL" sz="4400" b="1" i="0" u="none" strike="noStrike" kern="1200" cap="none" spc="0" normalizeH="0" baseline="0" noProof="0" dirty="0" smtClean="0">
                <a:ln>
                  <a:noFill/>
                </a:ln>
                <a:solidFill>
                  <a:schemeClr val="bg1"/>
                </a:solidFill>
                <a:effectLst/>
                <a:uLnTx/>
                <a:uFillTx/>
                <a:latin typeface="+mn-lt"/>
                <a:ea typeface="+mj-ea"/>
                <a:cs typeface="+mj-cs"/>
              </a:rPr>
              <a:t>GENEL</a:t>
            </a:r>
            <a:r>
              <a:rPr kumimoji="0" lang="tr-TR" sz="4400" b="1" i="0" u="none" strike="noStrike" kern="1200" cap="none" spc="0" normalizeH="0" baseline="0" noProof="0" dirty="0" smtClean="0">
                <a:ln>
                  <a:noFill/>
                </a:ln>
                <a:solidFill>
                  <a:schemeClr val="bg1"/>
                </a:solidFill>
                <a:effectLst/>
                <a:uLnTx/>
                <a:uFillTx/>
                <a:latin typeface="+mn-lt"/>
                <a:ea typeface="+mj-ea"/>
                <a:cs typeface="+mj-cs"/>
              </a:rPr>
              <a:t> </a:t>
            </a:r>
            <a:r>
              <a:rPr kumimoji="0" lang="nl-NL" sz="4400" b="1" i="0" u="none" strike="noStrike" kern="1200" cap="none" spc="0" normalizeH="0" baseline="0" noProof="0" dirty="0" smtClean="0">
                <a:ln>
                  <a:noFill/>
                </a:ln>
                <a:solidFill>
                  <a:schemeClr val="bg1"/>
                </a:solidFill>
                <a:effectLst/>
                <a:uLnTx/>
                <a:uFillTx/>
                <a:latin typeface="+mn-lt"/>
                <a:ea typeface="+mj-ea"/>
                <a:cs typeface="+mj-cs"/>
              </a:rPr>
              <a:t>YÜKÜMLÜLÜKLERİ</a:t>
            </a:r>
            <a:r>
              <a:rPr kumimoji="0" lang="tr-TR" sz="4400" b="1" i="0" u="none" strike="noStrike" kern="1200" cap="none" spc="0" normalizeH="0" baseline="0" noProof="0" dirty="0" smtClean="0">
                <a:ln>
                  <a:noFill/>
                </a:ln>
                <a:solidFill>
                  <a:srgbClr val="002060"/>
                </a:solidFill>
                <a:effectLst/>
                <a:uLnTx/>
                <a:uFillTx/>
                <a:latin typeface="+mn-lt"/>
                <a:ea typeface="+mj-ea"/>
                <a:cs typeface="+mj-cs"/>
              </a:rPr>
              <a:t/>
            </a:r>
            <a:br>
              <a:rPr kumimoji="0" lang="tr-TR" sz="4400" b="1" i="0" u="none" strike="noStrike" kern="1200" cap="none" spc="0" normalizeH="0" baseline="0" noProof="0" dirty="0" smtClean="0">
                <a:ln>
                  <a:noFill/>
                </a:ln>
                <a:solidFill>
                  <a:srgbClr val="002060"/>
                </a:solidFill>
                <a:effectLst/>
                <a:uLnTx/>
                <a:uFillTx/>
                <a:latin typeface="+mn-lt"/>
                <a:ea typeface="+mj-ea"/>
                <a:cs typeface="+mj-cs"/>
              </a:rPr>
            </a:br>
            <a:endParaRPr kumimoji="0" lang="tr-TR" sz="4400" b="0" i="0" u="none" strike="noStrike" kern="1200" cap="none" spc="0" normalizeH="0" baseline="0" noProof="0" dirty="0">
              <a:ln>
                <a:noFill/>
              </a:ln>
              <a:solidFill>
                <a:srgbClr val="002060"/>
              </a:solidFill>
              <a:effectLst/>
              <a:uLnTx/>
              <a:uFillTx/>
              <a:latin typeface="+mn-lt"/>
              <a:ea typeface="+mj-ea"/>
              <a:cs typeface="+mj-cs"/>
            </a:endParaRPr>
          </a:p>
        </p:txBody>
      </p:sp>
      <p:pic>
        <p:nvPicPr>
          <p:cNvPr id="7" name="Picture 10" descr="Picture59"/>
          <p:cNvPicPr>
            <a:picLocks noChangeAspect="1" noChangeArrowheads="1"/>
          </p:cNvPicPr>
          <p:nvPr/>
        </p:nvPicPr>
        <p:blipFill>
          <a:blip r:embed="rId2" cstate="print">
            <a:lum bright="62000" contrast="-56000"/>
          </a:blip>
          <a:srcRect/>
          <a:stretch>
            <a:fillRect/>
          </a:stretch>
        </p:blipFill>
        <p:spPr bwMode="auto">
          <a:xfrm>
            <a:off x="1928813" y="1714500"/>
            <a:ext cx="5027612" cy="4824413"/>
          </a:xfrm>
          <a:prstGeom prst="rect">
            <a:avLst/>
          </a:prstGeom>
          <a:noFill/>
          <a:ln w="9525">
            <a:noFill/>
            <a:miter lim="800000"/>
            <a:headEnd/>
            <a:tailEnd/>
          </a:ln>
        </p:spPr>
      </p:pic>
      <p:sp>
        <p:nvSpPr>
          <p:cNvPr id="8" name="7 Dikdörtgen"/>
          <p:cNvSpPr/>
          <p:nvPr/>
        </p:nvSpPr>
        <p:spPr>
          <a:xfrm>
            <a:off x="251520" y="1556792"/>
            <a:ext cx="8352928" cy="4745915"/>
          </a:xfrm>
          <a:prstGeom prst="rect">
            <a:avLst/>
          </a:prstGeom>
        </p:spPr>
        <p:txBody>
          <a:bodyPr wrap="square">
            <a:spAutoFit/>
          </a:bodyPr>
          <a:lstStyle/>
          <a:p>
            <a:pPr>
              <a:lnSpc>
                <a:spcPct val="90000"/>
              </a:lnSpc>
              <a:defRPr/>
            </a:pPr>
            <a:r>
              <a:rPr lang="tr-TR" sz="2400" b="1" dirty="0" smtClean="0">
                <a:latin typeface="Times New Roman" pitchFamily="18" charset="0"/>
              </a:rPr>
              <a:t>Madde 4 (1): </a:t>
            </a:r>
            <a:r>
              <a:rPr lang="tr-TR" sz="2400" dirty="0" smtClean="0">
                <a:latin typeface="Times New Roman" pitchFamily="18" charset="0"/>
              </a:rPr>
              <a:t>İşveren, çalışanların iş sağlığı ve güvenliğini sağlamakla yükümlüdür</a:t>
            </a:r>
            <a:r>
              <a:rPr lang="tr-TR" sz="2400" b="1" dirty="0" smtClean="0">
                <a:latin typeface="Times New Roman" pitchFamily="18" charset="0"/>
              </a:rPr>
              <a:t>.</a:t>
            </a:r>
          </a:p>
          <a:p>
            <a:pPr>
              <a:lnSpc>
                <a:spcPct val="90000"/>
              </a:lnSpc>
              <a:defRPr/>
            </a:pPr>
            <a:r>
              <a:rPr lang="tr-TR" sz="2400" b="1" dirty="0" smtClean="0">
                <a:latin typeface="Times New Roman" pitchFamily="18" charset="0"/>
              </a:rPr>
              <a:t>	Bu çerçevede;</a:t>
            </a:r>
          </a:p>
          <a:p>
            <a:pPr>
              <a:lnSpc>
                <a:spcPct val="90000"/>
              </a:lnSpc>
              <a:defRPr/>
            </a:pPr>
            <a:endParaRPr lang="tr-TR" sz="2400" dirty="0" smtClean="0">
              <a:latin typeface="Times New Roman" pitchFamily="18" charset="0"/>
            </a:endParaRPr>
          </a:p>
          <a:p>
            <a:pPr>
              <a:lnSpc>
                <a:spcPct val="90000"/>
              </a:lnSpc>
              <a:defRPr/>
            </a:pPr>
            <a:r>
              <a:rPr lang="tr-TR" sz="2400" b="1" dirty="0" smtClean="0">
                <a:latin typeface="Times New Roman" pitchFamily="18" charset="0"/>
              </a:rPr>
              <a:t>a. </a:t>
            </a:r>
            <a:r>
              <a:rPr lang="tr-TR" sz="2400" dirty="0" smtClean="0">
                <a:latin typeface="Times New Roman" pitchFamily="18" charset="0"/>
              </a:rPr>
              <a:t>Mesleki risklerin önlenmesi, eğitim, bilgi verilmesi dahil her türlü tedbirin alınması, mevcut durumun iyileştirilmesi için çalışmalar yapar,</a:t>
            </a:r>
          </a:p>
          <a:p>
            <a:pPr>
              <a:lnSpc>
                <a:spcPct val="90000"/>
              </a:lnSpc>
              <a:defRPr/>
            </a:pPr>
            <a:r>
              <a:rPr lang="tr-TR" sz="2400" b="1" dirty="0" smtClean="0">
                <a:latin typeface="Times New Roman" pitchFamily="18" charset="0"/>
              </a:rPr>
              <a:t>b. </a:t>
            </a:r>
            <a:r>
              <a:rPr lang="tr-TR" sz="2400" dirty="0" smtClean="0">
                <a:latin typeface="Times New Roman" pitchFamily="18" charset="0"/>
              </a:rPr>
              <a:t>İSG tedbirlerine uyulup uyulmadığını izler, denetler ve uygunsuzlukların giderilmesini sağlar,</a:t>
            </a:r>
          </a:p>
          <a:p>
            <a:pPr>
              <a:lnSpc>
                <a:spcPct val="90000"/>
              </a:lnSpc>
              <a:defRPr/>
            </a:pPr>
            <a:r>
              <a:rPr lang="tr-TR" sz="2400" b="1" dirty="0" smtClean="0">
                <a:latin typeface="Times New Roman" pitchFamily="18" charset="0"/>
              </a:rPr>
              <a:t>c. </a:t>
            </a:r>
            <a:r>
              <a:rPr lang="tr-TR" sz="2400" dirty="0" smtClean="0">
                <a:latin typeface="Times New Roman" pitchFamily="18" charset="0"/>
              </a:rPr>
              <a:t>Risk değerlendirmesi yapar, yaptırır,</a:t>
            </a:r>
          </a:p>
          <a:p>
            <a:pPr>
              <a:lnSpc>
                <a:spcPct val="90000"/>
              </a:lnSpc>
              <a:defRPr/>
            </a:pPr>
            <a:r>
              <a:rPr lang="tr-TR" sz="2400" b="1" dirty="0" smtClean="0">
                <a:latin typeface="Times New Roman" pitchFamily="18" charset="0"/>
              </a:rPr>
              <a:t>ç. </a:t>
            </a:r>
            <a:r>
              <a:rPr lang="tr-TR" sz="2400" dirty="0" smtClean="0">
                <a:latin typeface="Times New Roman" pitchFamily="18" charset="0"/>
              </a:rPr>
              <a:t>Çalışana görev verirken, çalışanın işe uygunluğunu göz önüne alır,</a:t>
            </a:r>
          </a:p>
          <a:p>
            <a:pPr>
              <a:lnSpc>
                <a:spcPct val="90000"/>
              </a:lnSpc>
              <a:defRPr/>
            </a:pPr>
            <a:r>
              <a:rPr lang="tr-TR" sz="2400" b="1" dirty="0" smtClean="0">
                <a:latin typeface="Times New Roman" pitchFamily="18" charset="0"/>
              </a:rPr>
              <a:t>d. </a:t>
            </a:r>
            <a:r>
              <a:rPr lang="tr-TR" sz="2400" dirty="0" smtClean="0">
                <a:latin typeface="Times New Roman" pitchFamily="18" charset="0"/>
              </a:rPr>
              <a:t>Çalışanların hayati ve özel tehlike bulunan yerlere girmemesi için tedbirleri alır,</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0" y="1928802"/>
            <a:ext cx="9144000" cy="1470025"/>
          </a:xfrm>
        </p:spPr>
        <p:txBody>
          <a:bodyPr>
            <a:normAutofit/>
          </a:bodyPr>
          <a:lstStyle/>
          <a:p>
            <a:r>
              <a:rPr lang="tr-TR" b="1" dirty="0" smtClean="0"/>
              <a:t/>
            </a:r>
            <a:br>
              <a:rPr lang="tr-TR" b="1" dirty="0" smtClean="0"/>
            </a:br>
            <a:endParaRPr lang="tr-TR" b="1" dirty="0"/>
          </a:p>
        </p:txBody>
      </p:sp>
      <p:sp>
        <p:nvSpPr>
          <p:cNvPr id="4" name="3 Dikdörtgen"/>
          <p:cNvSpPr/>
          <p:nvPr/>
        </p:nvSpPr>
        <p:spPr>
          <a:xfrm>
            <a:off x="0" y="0"/>
            <a:ext cx="9144000" cy="135729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tr-TR" sz="4800" b="1" dirty="0"/>
          </a:p>
        </p:txBody>
      </p:sp>
      <p:sp>
        <p:nvSpPr>
          <p:cNvPr id="5" name="1 Başlık"/>
          <p:cNvSpPr txBox="1">
            <a:spLocks/>
          </p:cNvSpPr>
          <p:nvPr/>
        </p:nvSpPr>
        <p:spPr>
          <a:xfrm>
            <a:off x="714348" y="571480"/>
            <a:ext cx="7772400" cy="1071562"/>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4400" b="1" i="0" u="none" strike="noStrike" kern="1200" cap="none" spc="0" normalizeH="0" baseline="0" noProof="0" dirty="0" smtClean="0">
                <a:ln>
                  <a:noFill/>
                </a:ln>
                <a:solidFill>
                  <a:schemeClr val="bg1"/>
                </a:solidFill>
                <a:effectLst/>
                <a:uLnTx/>
                <a:uFillTx/>
                <a:latin typeface="+mn-lt"/>
                <a:ea typeface="+mj-ea"/>
                <a:cs typeface="+mj-cs"/>
              </a:rPr>
              <a:t>İŞ</a:t>
            </a:r>
            <a:r>
              <a:rPr kumimoji="0" lang="nl-NL" sz="4400" b="1" i="0" u="none" strike="noStrike" kern="1200" cap="none" spc="0" normalizeH="0" baseline="0" noProof="0" dirty="0" smtClean="0">
                <a:ln>
                  <a:noFill/>
                </a:ln>
                <a:solidFill>
                  <a:schemeClr val="bg1"/>
                </a:solidFill>
                <a:effectLst/>
                <a:uLnTx/>
                <a:uFillTx/>
                <a:latin typeface="+mn-lt"/>
                <a:ea typeface="+mj-ea"/>
                <a:cs typeface="+mj-cs"/>
              </a:rPr>
              <a:t>VERENLERİN </a:t>
            </a:r>
            <a:r>
              <a:rPr kumimoji="0" lang="tr-TR" sz="4400" b="1" i="0" u="none" strike="noStrike" kern="1200" cap="none" spc="0" normalizeH="0" baseline="0" noProof="0" dirty="0" smtClean="0">
                <a:ln>
                  <a:noFill/>
                </a:ln>
                <a:solidFill>
                  <a:schemeClr val="bg1"/>
                </a:solidFill>
                <a:effectLst/>
                <a:uLnTx/>
                <a:uFillTx/>
                <a:latin typeface="+mn-lt"/>
                <a:ea typeface="+mj-ea"/>
                <a:cs typeface="+mj-cs"/>
              </a:rPr>
              <a:t/>
            </a:r>
            <a:br>
              <a:rPr kumimoji="0" lang="tr-TR" sz="4400" b="1" i="0" u="none" strike="noStrike" kern="1200" cap="none" spc="0" normalizeH="0" baseline="0" noProof="0" dirty="0" smtClean="0">
                <a:ln>
                  <a:noFill/>
                </a:ln>
                <a:solidFill>
                  <a:schemeClr val="bg1"/>
                </a:solidFill>
                <a:effectLst/>
                <a:uLnTx/>
                <a:uFillTx/>
                <a:latin typeface="+mn-lt"/>
                <a:ea typeface="+mj-ea"/>
                <a:cs typeface="+mj-cs"/>
              </a:rPr>
            </a:br>
            <a:r>
              <a:rPr kumimoji="0" lang="nl-NL" sz="4400" b="1" i="0" u="none" strike="noStrike" kern="1200" cap="none" spc="0" normalizeH="0" baseline="0" noProof="0" dirty="0" smtClean="0">
                <a:ln>
                  <a:noFill/>
                </a:ln>
                <a:solidFill>
                  <a:schemeClr val="bg1"/>
                </a:solidFill>
                <a:effectLst/>
                <a:uLnTx/>
                <a:uFillTx/>
                <a:latin typeface="+mn-lt"/>
                <a:ea typeface="+mj-ea"/>
                <a:cs typeface="+mj-cs"/>
              </a:rPr>
              <a:t>GENEL</a:t>
            </a:r>
            <a:r>
              <a:rPr kumimoji="0" lang="tr-TR" sz="4400" b="1" i="0" u="none" strike="noStrike" kern="1200" cap="none" spc="0" normalizeH="0" baseline="0" noProof="0" dirty="0" smtClean="0">
                <a:ln>
                  <a:noFill/>
                </a:ln>
                <a:solidFill>
                  <a:schemeClr val="bg1"/>
                </a:solidFill>
                <a:effectLst/>
                <a:uLnTx/>
                <a:uFillTx/>
                <a:latin typeface="+mn-lt"/>
                <a:ea typeface="+mj-ea"/>
                <a:cs typeface="+mj-cs"/>
              </a:rPr>
              <a:t> </a:t>
            </a:r>
            <a:r>
              <a:rPr kumimoji="0" lang="nl-NL" sz="4400" b="1" i="0" u="none" strike="noStrike" kern="1200" cap="none" spc="0" normalizeH="0" baseline="0" noProof="0" dirty="0" smtClean="0">
                <a:ln>
                  <a:noFill/>
                </a:ln>
                <a:solidFill>
                  <a:schemeClr val="bg1"/>
                </a:solidFill>
                <a:effectLst/>
                <a:uLnTx/>
                <a:uFillTx/>
                <a:latin typeface="+mn-lt"/>
                <a:ea typeface="+mj-ea"/>
                <a:cs typeface="+mj-cs"/>
              </a:rPr>
              <a:t>YÜKÜMLÜLÜKLERİ</a:t>
            </a:r>
            <a:r>
              <a:rPr kumimoji="0" lang="tr-TR" sz="4400" b="1" i="0" u="none" strike="noStrike" kern="1200" cap="none" spc="0" normalizeH="0" baseline="0" noProof="0" dirty="0" smtClean="0">
                <a:ln>
                  <a:noFill/>
                </a:ln>
                <a:solidFill>
                  <a:srgbClr val="002060"/>
                </a:solidFill>
                <a:effectLst/>
                <a:uLnTx/>
                <a:uFillTx/>
                <a:latin typeface="+mn-lt"/>
                <a:ea typeface="+mj-ea"/>
                <a:cs typeface="+mj-cs"/>
              </a:rPr>
              <a:t/>
            </a:r>
            <a:br>
              <a:rPr kumimoji="0" lang="tr-TR" sz="4400" b="1" i="0" u="none" strike="noStrike" kern="1200" cap="none" spc="0" normalizeH="0" baseline="0" noProof="0" dirty="0" smtClean="0">
                <a:ln>
                  <a:noFill/>
                </a:ln>
                <a:solidFill>
                  <a:srgbClr val="002060"/>
                </a:solidFill>
                <a:effectLst/>
                <a:uLnTx/>
                <a:uFillTx/>
                <a:latin typeface="+mn-lt"/>
                <a:ea typeface="+mj-ea"/>
                <a:cs typeface="+mj-cs"/>
              </a:rPr>
            </a:br>
            <a:endParaRPr kumimoji="0" lang="tr-TR" sz="4400" b="0" i="0" u="none" strike="noStrike" kern="1200" cap="none" spc="0" normalizeH="0" baseline="0" noProof="0" dirty="0">
              <a:ln>
                <a:noFill/>
              </a:ln>
              <a:solidFill>
                <a:srgbClr val="002060"/>
              </a:solidFill>
              <a:effectLst/>
              <a:uLnTx/>
              <a:uFillTx/>
              <a:latin typeface="+mn-lt"/>
              <a:ea typeface="+mj-ea"/>
              <a:cs typeface="+mj-cs"/>
            </a:endParaRPr>
          </a:p>
        </p:txBody>
      </p:sp>
      <p:pic>
        <p:nvPicPr>
          <p:cNvPr id="7" name="Picture 10" descr="Picture59"/>
          <p:cNvPicPr>
            <a:picLocks noChangeAspect="1" noChangeArrowheads="1"/>
          </p:cNvPicPr>
          <p:nvPr/>
        </p:nvPicPr>
        <p:blipFill>
          <a:blip r:embed="rId2" cstate="print">
            <a:lum bright="62000" contrast="-56000"/>
          </a:blip>
          <a:srcRect/>
          <a:stretch>
            <a:fillRect/>
          </a:stretch>
        </p:blipFill>
        <p:spPr bwMode="auto">
          <a:xfrm>
            <a:off x="1928813" y="1714500"/>
            <a:ext cx="5027612" cy="4824413"/>
          </a:xfrm>
          <a:prstGeom prst="rect">
            <a:avLst/>
          </a:prstGeom>
          <a:noFill/>
          <a:ln w="9525">
            <a:noFill/>
            <a:miter lim="800000"/>
            <a:headEnd/>
            <a:tailEnd/>
          </a:ln>
        </p:spPr>
      </p:pic>
      <p:sp>
        <p:nvSpPr>
          <p:cNvPr id="6" name="5 Dikdörtgen"/>
          <p:cNvSpPr/>
          <p:nvPr/>
        </p:nvSpPr>
        <p:spPr>
          <a:xfrm>
            <a:off x="214282" y="1571612"/>
            <a:ext cx="8572560" cy="3477875"/>
          </a:xfrm>
          <a:prstGeom prst="rect">
            <a:avLst/>
          </a:prstGeom>
        </p:spPr>
        <p:txBody>
          <a:bodyPr wrap="square">
            <a:spAutoFit/>
          </a:bodyPr>
          <a:lstStyle/>
          <a:p>
            <a:pPr algn="just">
              <a:spcBef>
                <a:spcPct val="50000"/>
              </a:spcBef>
              <a:buClr>
                <a:srgbClr val="CCFF33"/>
              </a:buClr>
              <a:buSzPct val="70000"/>
              <a:defRPr/>
            </a:pPr>
            <a:r>
              <a:rPr lang="tr-TR" sz="2000" b="1" dirty="0" smtClean="0">
                <a:latin typeface="Verdana" pitchFamily="34" charset="0"/>
                <a:ea typeface="Verdana" pitchFamily="34" charset="0"/>
                <a:cs typeface="Verdana" pitchFamily="34" charset="0"/>
              </a:rPr>
              <a:t>(2) İşverenin iş sağlığı ve güvenliği konusunda işyeri dışındaki uzman kişi veya kuruluşlardan hizmet alması bu konudaki sorumluluğunu ortadan kaldırmaz. </a:t>
            </a:r>
          </a:p>
          <a:p>
            <a:pPr algn="just">
              <a:spcBef>
                <a:spcPct val="50000"/>
              </a:spcBef>
              <a:buClr>
                <a:srgbClr val="CCFF33"/>
              </a:buClr>
              <a:buSzPct val="70000"/>
              <a:defRPr/>
            </a:pPr>
            <a:endParaRPr lang="tr-TR" sz="2000" b="1" dirty="0" smtClean="0">
              <a:latin typeface="Verdana" pitchFamily="34" charset="0"/>
              <a:ea typeface="Verdana" pitchFamily="34" charset="0"/>
              <a:cs typeface="Verdana" pitchFamily="34" charset="0"/>
            </a:endParaRPr>
          </a:p>
          <a:p>
            <a:pPr algn="just">
              <a:spcBef>
                <a:spcPct val="50000"/>
              </a:spcBef>
              <a:buClr>
                <a:srgbClr val="CCFF33"/>
              </a:buClr>
              <a:buSzPct val="70000"/>
              <a:defRPr/>
            </a:pPr>
            <a:r>
              <a:rPr lang="tr-TR" sz="2000" b="1" dirty="0" smtClean="0">
                <a:latin typeface="Verdana" pitchFamily="34" charset="0"/>
                <a:ea typeface="Verdana" pitchFamily="34" charset="0"/>
                <a:cs typeface="Verdana" pitchFamily="34" charset="0"/>
              </a:rPr>
              <a:t>(3) Çalışanların iş sağlığı ve güvenliği konusundaki yükümlülükleri, işverenin sorumluluğu ilkesini etkilemez.</a:t>
            </a:r>
          </a:p>
          <a:p>
            <a:pPr algn="just">
              <a:spcBef>
                <a:spcPct val="50000"/>
              </a:spcBef>
              <a:buClr>
                <a:srgbClr val="CCFF33"/>
              </a:buClr>
              <a:buSzPct val="70000"/>
              <a:defRPr/>
            </a:pPr>
            <a:endParaRPr lang="tr-TR" sz="2000" b="1" dirty="0" smtClean="0">
              <a:latin typeface="Verdana" pitchFamily="34" charset="0"/>
              <a:ea typeface="Verdana" pitchFamily="34" charset="0"/>
              <a:cs typeface="Verdana" pitchFamily="34" charset="0"/>
            </a:endParaRPr>
          </a:p>
          <a:p>
            <a:pPr algn="just">
              <a:spcBef>
                <a:spcPct val="50000"/>
              </a:spcBef>
              <a:buClr>
                <a:srgbClr val="CCFF33"/>
              </a:buClr>
              <a:buSzPct val="70000"/>
              <a:defRPr/>
            </a:pPr>
            <a:r>
              <a:rPr lang="tr-TR" sz="2000" b="1" dirty="0" smtClean="0">
                <a:latin typeface="Verdana" pitchFamily="34" charset="0"/>
                <a:ea typeface="Verdana" pitchFamily="34" charset="0"/>
                <a:cs typeface="Verdana" pitchFamily="34" charset="0"/>
              </a:rPr>
              <a:t>(4) İşveren, iş sağlığı ve güvenliği tedbirlerinin maliyetini çalışanlara yansıtamaz.</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692696"/>
            <a:ext cx="8229600" cy="1143000"/>
          </a:xfrm>
        </p:spPr>
        <p:txBody>
          <a:bodyPr>
            <a:normAutofit fontScale="90000"/>
          </a:bodyPr>
          <a:lstStyle/>
          <a:p>
            <a:pPr algn="l"/>
            <a:r>
              <a:rPr lang="tr-TR" sz="3200" b="1" dirty="0" smtClean="0"/>
              <a:t>Risklerden korunma ilkeleri </a:t>
            </a:r>
            <a:br>
              <a:rPr lang="tr-TR" sz="3200" b="1" dirty="0" smtClean="0"/>
            </a:br>
            <a:r>
              <a:rPr lang="tr-TR" sz="3200" b="1" dirty="0" smtClean="0"/>
              <a:t>Madde 5: (1) işverenin yükümlülüklerinin yerine getirilmesinde aşağıdaki ilkeler göz önünde bulundurulur: </a:t>
            </a:r>
            <a:br>
              <a:rPr lang="tr-TR" sz="3200" b="1" dirty="0" smtClean="0"/>
            </a:br>
            <a:endParaRPr lang="tr-TR" sz="3200" dirty="0"/>
          </a:p>
        </p:txBody>
      </p:sp>
      <p:sp>
        <p:nvSpPr>
          <p:cNvPr id="3" name="2 İçerik Yer Tutucusu"/>
          <p:cNvSpPr>
            <a:spLocks noGrp="1"/>
          </p:cNvSpPr>
          <p:nvPr>
            <p:ph idx="1"/>
          </p:nvPr>
        </p:nvSpPr>
        <p:spPr>
          <a:xfrm>
            <a:off x="539552" y="1844824"/>
            <a:ext cx="8229600" cy="4525963"/>
          </a:xfrm>
        </p:spPr>
        <p:txBody>
          <a:bodyPr>
            <a:noAutofit/>
          </a:bodyPr>
          <a:lstStyle/>
          <a:p>
            <a:pPr>
              <a:buNone/>
            </a:pPr>
            <a:r>
              <a:rPr lang="tr-TR" sz="2800" dirty="0" smtClean="0"/>
              <a:t>a) Risklerden kaçınmak. </a:t>
            </a:r>
          </a:p>
          <a:p>
            <a:pPr>
              <a:buNone/>
            </a:pPr>
            <a:r>
              <a:rPr lang="tr-TR" sz="2800" dirty="0" smtClean="0"/>
              <a:t>b) Kaçınılması mümkün olmayan riskleri analiz etmek. </a:t>
            </a:r>
          </a:p>
          <a:p>
            <a:pPr>
              <a:buNone/>
            </a:pPr>
            <a:r>
              <a:rPr lang="tr-TR" sz="2800" dirty="0" smtClean="0"/>
              <a:t>c) Risklerle kaynağında mücadele etmek. </a:t>
            </a:r>
          </a:p>
          <a:p>
            <a:pPr>
              <a:buNone/>
            </a:pPr>
            <a:r>
              <a:rPr lang="tr-TR" sz="2800" dirty="0" smtClean="0"/>
              <a:t>ç) İşin kişilere uygun hale getirilmesi için iş yerlerinin tasarımı ile iş ekipmanı, çalışma şekli ve üretim metotlarının seçiminde özen göstermek, özellikle tekdüze çalışma ve üretim temposunun sağlık ve güvenliğe olumsuz etkilerini önlemek, önlenemiyor ise en aza indirmek.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pPr algn="l"/>
            <a:r>
              <a:rPr lang="tr-TR" sz="2800" b="1" dirty="0" smtClean="0"/>
              <a:t>Madde 5: (1) işverenin yükümlülüklerinin yerine getirilmesinde aşağıdaki ilkeler göz önünde bulundurulur:</a:t>
            </a:r>
            <a:endParaRPr lang="tr-TR" sz="2800" dirty="0"/>
          </a:p>
        </p:txBody>
      </p:sp>
      <p:sp>
        <p:nvSpPr>
          <p:cNvPr id="3" name="2 İçerik Yer Tutucusu"/>
          <p:cNvSpPr>
            <a:spLocks noGrp="1"/>
          </p:cNvSpPr>
          <p:nvPr>
            <p:ph idx="1"/>
          </p:nvPr>
        </p:nvSpPr>
        <p:spPr/>
        <p:txBody>
          <a:bodyPr>
            <a:normAutofit fontScale="92500" lnSpcReduction="10000"/>
          </a:bodyPr>
          <a:lstStyle/>
          <a:p>
            <a:pPr>
              <a:buNone/>
            </a:pPr>
            <a:r>
              <a:rPr lang="tr-TR" sz="3000" b="1" dirty="0" smtClean="0">
                <a:solidFill>
                  <a:srgbClr val="FF0000"/>
                </a:solidFill>
              </a:rPr>
              <a:t>d) Teknik gelişmelere uyum sağlamak. </a:t>
            </a:r>
          </a:p>
          <a:p>
            <a:pPr>
              <a:buNone/>
            </a:pPr>
            <a:r>
              <a:rPr lang="tr-TR" sz="3000" b="1" dirty="0" smtClean="0">
                <a:solidFill>
                  <a:srgbClr val="FF0000"/>
                </a:solidFill>
              </a:rPr>
              <a:t>e) Tehlikeli olanı, tehlikesiz veya daha az tehlikeli olanla değiştirmek. </a:t>
            </a:r>
          </a:p>
          <a:p>
            <a:pPr>
              <a:buNone/>
            </a:pPr>
            <a:r>
              <a:rPr lang="tr-TR" sz="3000" dirty="0" smtClean="0"/>
              <a:t>f) Teknoloji, iş organizasyonu, çalışma şartları, sosyal ilişkiler ve çalışma ortamı ile ilgili faktörlerin etkilerini kapsayan tutarlı ve genel bir önleme politikası geliştirmek. </a:t>
            </a:r>
          </a:p>
          <a:p>
            <a:pPr>
              <a:buNone/>
            </a:pPr>
            <a:r>
              <a:rPr lang="tr-TR" sz="3000" dirty="0" smtClean="0"/>
              <a:t>g) Toplu korunma tedbirlerine, kişisel korunma tedbirlerine göre öncelik vermek. </a:t>
            </a:r>
          </a:p>
          <a:p>
            <a:pPr>
              <a:buNone/>
            </a:pPr>
            <a:r>
              <a:rPr lang="tr-TR" sz="3000" dirty="0" smtClean="0"/>
              <a:t>ğ) Çalışanlara uygun talimatlar vermek</a:t>
            </a:r>
          </a:p>
          <a:p>
            <a:endParaRPr lang="tr-T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Alt Başlık"/>
          <p:cNvSpPr>
            <a:spLocks noGrp="1"/>
          </p:cNvSpPr>
          <p:nvPr>
            <p:ph type="subTitle" sz="quarter" idx="1"/>
          </p:nvPr>
        </p:nvSpPr>
        <p:spPr>
          <a:xfrm>
            <a:off x="323850" y="1628800"/>
            <a:ext cx="8569325" cy="4536504"/>
          </a:xfrm>
        </p:spPr>
        <p:txBody>
          <a:bodyPr>
            <a:normAutofit fontScale="85000" lnSpcReduction="10000"/>
          </a:bodyPr>
          <a:lstStyle/>
          <a:p>
            <a:pPr algn="l">
              <a:buFont typeface="Arial" pitchFamily="34" charset="0"/>
              <a:buChar char="•"/>
              <a:defRPr/>
            </a:pPr>
            <a:r>
              <a:rPr lang="tr-TR" sz="3800" dirty="0" smtClean="0">
                <a:solidFill>
                  <a:schemeClr val="tx1"/>
                </a:solidFill>
                <a:latin typeface="Times New Roman" pitchFamily="18" charset="0"/>
              </a:rPr>
              <a:t>  İş güvenliği uzmanı,</a:t>
            </a:r>
          </a:p>
          <a:p>
            <a:pPr algn="l">
              <a:buFont typeface="Arial" pitchFamily="34" charset="0"/>
              <a:buChar char="•"/>
              <a:defRPr/>
            </a:pPr>
            <a:r>
              <a:rPr lang="tr-TR" sz="3800" dirty="0" smtClean="0">
                <a:solidFill>
                  <a:schemeClr val="tx1"/>
                </a:solidFill>
                <a:latin typeface="Times New Roman" pitchFamily="18" charset="0"/>
              </a:rPr>
              <a:t>  İşyeri hekimi,</a:t>
            </a:r>
          </a:p>
          <a:p>
            <a:pPr algn="l">
              <a:buFont typeface="Arial" pitchFamily="34" charset="0"/>
              <a:buChar char="•"/>
              <a:defRPr/>
            </a:pPr>
            <a:r>
              <a:rPr lang="tr-TR" sz="3800" dirty="0" smtClean="0">
                <a:solidFill>
                  <a:schemeClr val="tx1"/>
                </a:solidFill>
                <a:latin typeface="Times New Roman" pitchFamily="18" charset="0"/>
              </a:rPr>
              <a:t>  Sağlık personeli görevlendirecek.</a:t>
            </a:r>
          </a:p>
          <a:p>
            <a:pPr algn="l">
              <a:buFont typeface="Arial" pitchFamily="34" charset="0"/>
              <a:buChar char="•"/>
              <a:defRPr/>
            </a:pPr>
            <a:r>
              <a:rPr lang="tr-TR" sz="3800" dirty="0" smtClean="0">
                <a:solidFill>
                  <a:schemeClr val="tx1"/>
                </a:solidFill>
                <a:latin typeface="Times New Roman" pitchFamily="18" charset="0"/>
              </a:rPr>
              <a:t>  ya da dışarıdan (Ortak Sağlık ve Güvenlik Birimlerinden) hizmet satın alacak.</a:t>
            </a:r>
          </a:p>
          <a:p>
            <a:pPr algn="l">
              <a:buFont typeface="Arial" pitchFamily="34" charset="0"/>
              <a:buChar char="•"/>
              <a:defRPr/>
            </a:pPr>
            <a:r>
              <a:rPr lang="tr-TR" sz="3800" dirty="0" smtClean="0">
                <a:solidFill>
                  <a:schemeClr val="tx1"/>
                </a:solidFill>
                <a:latin typeface="Times New Roman" pitchFamily="18" charset="0"/>
              </a:rPr>
              <a:t>Görevlendirdikleri kişinin araç, gereç, mekan ve zaman gibi gerekli bütün ihtiyaçlarını karşılar.</a:t>
            </a:r>
          </a:p>
          <a:p>
            <a:pPr algn="l">
              <a:buFont typeface="Arial" pitchFamily="34" charset="0"/>
              <a:buChar char="•"/>
              <a:defRPr/>
            </a:pPr>
            <a:endParaRPr lang="tr-TR" b="1" dirty="0" smtClean="0">
              <a:latin typeface="Times New Roman" pitchFamily="18" charset="0"/>
            </a:endParaRPr>
          </a:p>
          <a:p>
            <a:pPr algn="l">
              <a:defRPr/>
            </a:pPr>
            <a:r>
              <a:rPr lang="tr-TR" b="1" dirty="0" smtClean="0">
                <a:latin typeface="Times New Roman" pitchFamily="18" charset="0"/>
              </a:rPr>
              <a:t> </a:t>
            </a:r>
          </a:p>
          <a:p>
            <a:pPr>
              <a:defRPr/>
            </a:pPr>
            <a:endParaRPr lang="tr-TR" dirty="0"/>
          </a:p>
        </p:txBody>
      </p:sp>
      <p:sp>
        <p:nvSpPr>
          <p:cNvPr id="31747" name="Rectangle 2"/>
          <p:cNvSpPr>
            <a:spLocks noGrp="1" noChangeArrowheads="1"/>
          </p:cNvSpPr>
          <p:nvPr>
            <p:ph type="ctrTitle" sz="quarter"/>
          </p:nvPr>
        </p:nvSpPr>
        <p:spPr>
          <a:xfrm>
            <a:off x="611188" y="260350"/>
            <a:ext cx="7772400" cy="1431925"/>
          </a:xfrm>
        </p:spPr>
        <p:txBody>
          <a:bodyPr/>
          <a:lstStyle/>
          <a:p>
            <a:pPr algn="l"/>
            <a:r>
              <a:rPr lang="tr-TR" altLang="tr-TR" sz="3200" b="1" dirty="0" smtClean="0">
                <a:effectLst/>
              </a:rPr>
              <a:t>Madde 6: İş </a:t>
            </a:r>
            <a:r>
              <a:rPr lang="tr-TR" altLang="tr-TR" sz="3200" b="1" dirty="0" smtClean="0"/>
              <a:t>S</a:t>
            </a:r>
            <a:r>
              <a:rPr lang="tr-TR" altLang="tr-TR" sz="3200" b="1" dirty="0" smtClean="0">
                <a:effectLst/>
              </a:rPr>
              <a:t>ağlığı ve Güvenliği hizmetlerinin sunulması için işveren; </a:t>
            </a:r>
            <a:endParaRPr lang="tr-TR" altLang="tr-TR" sz="4000" dirty="0" smtClean="0">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sz="quarter"/>
          </p:nvPr>
        </p:nvSpPr>
        <p:spPr>
          <a:xfrm>
            <a:off x="467544" y="260648"/>
            <a:ext cx="7772400" cy="1431925"/>
          </a:xfrm>
        </p:spPr>
        <p:txBody>
          <a:bodyPr>
            <a:normAutofit/>
          </a:bodyPr>
          <a:lstStyle/>
          <a:p>
            <a:pPr algn="l">
              <a:defRPr/>
            </a:pPr>
            <a:r>
              <a:rPr lang="tr-TR" sz="3200" b="1" dirty="0" smtClean="0">
                <a:effectLst/>
                <a:latin typeface="+mn-lt"/>
              </a:rPr>
              <a:t>Madde 7: İş Sağlığı ve Güvenliği Hizmetlerinin Desteklenmesi</a:t>
            </a:r>
            <a:endParaRPr lang="tr-TR" dirty="0"/>
          </a:p>
        </p:txBody>
      </p:sp>
      <p:sp>
        <p:nvSpPr>
          <p:cNvPr id="3" name="2 Alt Başlık"/>
          <p:cNvSpPr>
            <a:spLocks noGrp="1"/>
          </p:cNvSpPr>
          <p:nvPr>
            <p:ph type="subTitle" sz="quarter" idx="1"/>
          </p:nvPr>
        </p:nvSpPr>
        <p:spPr>
          <a:xfrm>
            <a:off x="539750" y="1557338"/>
            <a:ext cx="8064500" cy="4010025"/>
          </a:xfrm>
        </p:spPr>
        <p:txBody>
          <a:bodyPr>
            <a:normAutofit/>
          </a:bodyPr>
          <a:lstStyle/>
          <a:p>
            <a:pPr algn="just">
              <a:defRPr/>
            </a:pPr>
            <a:endParaRPr lang="tr-TR" sz="2400" dirty="0" smtClean="0">
              <a:solidFill>
                <a:schemeClr val="tx1"/>
              </a:solidFill>
            </a:endParaRPr>
          </a:p>
          <a:p>
            <a:pPr algn="just">
              <a:defRPr/>
            </a:pPr>
            <a:endParaRPr lang="tr-TR" sz="2400" dirty="0" smtClean="0">
              <a:solidFill>
                <a:schemeClr val="tx1"/>
              </a:solidFill>
            </a:endParaRPr>
          </a:p>
          <a:p>
            <a:pPr algn="just">
              <a:defRPr/>
            </a:pPr>
            <a:r>
              <a:rPr lang="tr-TR" dirty="0" smtClean="0">
                <a:solidFill>
                  <a:schemeClr val="tx1"/>
                </a:solidFill>
              </a:rPr>
              <a:t>İSG hizmetlerinin yerine getirilmesi için, Madde 7’de belirtilen şartlarda Bakanlık tarafından destek sağlanabilir.</a:t>
            </a:r>
            <a:endParaRPr lang="tr-TR" dirty="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heckerboard(across)">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0" y="1928802"/>
            <a:ext cx="9144000" cy="1470025"/>
          </a:xfrm>
        </p:spPr>
        <p:txBody>
          <a:bodyPr>
            <a:normAutofit/>
          </a:bodyPr>
          <a:lstStyle/>
          <a:p>
            <a:r>
              <a:rPr lang="tr-TR" b="1" dirty="0" smtClean="0"/>
              <a:t/>
            </a:r>
            <a:br>
              <a:rPr lang="tr-TR" b="1" dirty="0" smtClean="0"/>
            </a:br>
            <a:endParaRPr lang="tr-TR" b="1" dirty="0"/>
          </a:p>
        </p:txBody>
      </p:sp>
      <p:sp>
        <p:nvSpPr>
          <p:cNvPr id="4" name="3 Dikdörtgen"/>
          <p:cNvSpPr/>
          <p:nvPr/>
        </p:nvSpPr>
        <p:spPr>
          <a:xfrm>
            <a:off x="0" y="-285776"/>
            <a:ext cx="9144000" cy="135729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tr-TR" sz="4800" b="1" dirty="0"/>
          </a:p>
        </p:txBody>
      </p:sp>
      <p:sp>
        <p:nvSpPr>
          <p:cNvPr id="5" name="1 Başlık"/>
          <p:cNvSpPr txBox="1">
            <a:spLocks/>
          </p:cNvSpPr>
          <p:nvPr/>
        </p:nvSpPr>
        <p:spPr>
          <a:xfrm>
            <a:off x="285720" y="214290"/>
            <a:ext cx="8272466" cy="1000125"/>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1" i="0" u="none" strike="noStrike" kern="1200" cap="none" spc="0" normalizeH="0" baseline="0" noProof="0" dirty="0" smtClean="0">
                <a:ln>
                  <a:noFill/>
                </a:ln>
                <a:solidFill>
                  <a:schemeClr val="bg1"/>
                </a:solidFill>
                <a:effectLst/>
                <a:uLnTx/>
                <a:uFillTx/>
                <a:latin typeface="Verdana" pitchFamily="34" charset="0"/>
                <a:ea typeface="+mj-ea"/>
                <a:cs typeface="+mj-cs"/>
              </a:rPr>
              <a:t>ÇALIŞANLARIN YÜKÜMLÜLÜKLERİ</a:t>
            </a:r>
            <a:r>
              <a:rPr kumimoji="0" lang="tr-TR" sz="4000" b="1" i="0" u="none" strike="noStrike" kern="1200" cap="none" spc="0" normalizeH="0" baseline="0" noProof="0" dirty="0" smtClean="0">
                <a:ln>
                  <a:noFill/>
                </a:ln>
                <a:solidFill>
                  <a:schemeClr val="bg1"/>
                </a:solidFill>
                <a:effectLst/>
                <a:uLnTx/>
                <a:uFillTx/>
                <a:latin typeface="Verdana" pitchFamily="34" charset="0"/>
                <a:ea typeface="+mj-ea"/>
                <a:cs typeface="+mj-cs"/>
              </a:rPr>
              <a:t/>
            </a:r>
            <a:br>
              <a:rPr kumimoji="0" lang="tr-TR" sz="4000" b="1" i="0" u="none" strike="noStrike" kern="1200" cap="none" spc="0" normalizeH="0" baseline="0" noProof="0" dirty="0" smtClean="0">
                <a:ln>
                  <a:noFill/>
                </a:ln>
                <a:solidFill>
                  <a:schemeClr val="bg1"/>
                </a:solidFill>
                <a:effectLst/>
                <a:uLnTx/>
                <a:uFillTx/>
                <a:latin typeface="Verdana" pitchFamily="34" charset="0"/>
                <a:ea typeface="+mj-ea"/>
                <a:cs typeface="+mj-cs"/>
              </a:rPr>
            </a:br>
            <a:endParaRPr kumimoji="0" lang="tr-TR" sz="4000" b="0" i="0" u="none" strike="noStrike" kern="1200" cap="none" spc="0" normalizeH="0" baseline="0" noProof="0" dirty="0" smtClean="0">
              <a:ln>
                <a:noFill/>
              </a:ln>
              <a:solidFill>
                <a:schemeClr val="bg1"/>
              </a:solidFill>
              <a:effectLst/>
              <a:uLnTx/>
              <a:uFillTx/>
              <a:latin typeface="+mj-lt"/>
              <a:ea typeface="+mj-ea"/>
              <a:cs typeface="+mj-cs"/>
            </a:endParaRPr>
          </a:p>
        </p:txBody>
      </p:sp>
      <p:sp>
        <p:nvSpPr>
          <p:cNvPr id="6" name="5 Dikdörtgen"/>
          <p:cNvSpPr/>
          <p:nvPr/>
        </p:nvSpPr>
        <p:spPr>
          <a:xfrm>
            <a:off x="142844" y="1142984"/>
            <a:ext cx="8858312" cy="5078313"/>
          </a:xfrm>
          <a:prstGeom prst="rect">
            <a:avLst/>
          </a:prstGeom>
        </p:spPr>
        <p:txBody>
          <a:bodyPr wrap="square">
            <a:spAutoFit/>
          </a:bodyPr>
          <a:lstStyle/>
          <a:p>
            <a:pPr marL="342900" indent="-342900" algn="just">
              <a:spcBef>
                <a:spcPct val="50000"/>
              </a:spcBef>
              <a:buClr>
                <a:srgbClr val="CCFF33"/>
              </a:buClr>
              <a:defRPr/>
            </a:pPr>
            <a:r>
              <a:rPr lang="tr-TR" b="1" dirty="0" smtClean="0">
                <a:latin typeface="+mj-lt"/>
                <a:ea typeface="Verdana" pitchFamily="34" charset="0"/>
                <a:cs typeface="Verdana" pitchFamily="34" charset="0"/>
              </a:rPr>
              <a:t>1. Çalışanlar, davranış ve kusurlarından dolayı, kendilerinin ve diğer kişilerin sağlık ve güvenliğinin olumsuz etkilenmemesi için azami dikkati göstermek ve görevlerini, işveren tarafından kendilerine verilen </a:t>
            </a:r>
            <a:r>
              <a:rPr lang="tr-TR" b="1" dirty="0" smtClean="0">
                <a:effectLst>
                  <a:outerShdw blurRad="38100" dist="38100" dir="2700000" algn="tl">
                    <a:srgbClr val="C0C0C0"/>
                  </a:outerShdw>
                </a:effectLst>
                <a:latin typeface="+mj-lt"/>
                <a:ea typeface="Verdana" pitchFamily="34" charset="0"/>
                <a:cs typeface="Verdana" pitchFamily="34" charset="0"/>
              </a:rPr>
              <a:t>eğitim ve talimatlar</a:t>
            </a:r>
            <a:r>
              <a:rPr lang="tr-TR" b="1" dirty="0" smtClean="0">
                <a:latin typeface="+mj-lt"/>
                <a:ea typeface="Verdana" pitchFamily="34" charset="0"/>
                <a:cs typeface="Verdana" pitchFamily="34" charset="0"/>
              </a:rPr>
              <a:t> doğrultusunda yapmak,</a:t>
            </a:r>
          </a:p>
          <a:p>
            <a:pPr marL="342900" indent="-342900" algn="just">
              <a:spcBef>
                <a:spcPct val="50000"/>
              </a:spcBef>
              <a:buClr>
                <a:srgbClr val="CCFF33"/>
              </a:buClr>
              <a:defRPr/>
            </a:pPr>
            <a:r>
              <a:rPr lang="tr-TR" b="1" dirty="0" smtClean="0">
                <a:latin typeface="+mj-lt"/>
                <a:ea typeface="Verdana" pitchFamily="34" charset="0"/>
                <a:cs typeface="Verdana" pitchFamily="34" charset="0"/>
              </a:rPr>
              <a:t>2. Taşıma araçları ile her türlü makine, araç-gereç ve cihazları, tehlikeli maddeleri ve diğer üretim araçlarını </a:t>
            </a:r>
            <a:r>
              <a:rPr lang="tr-TR" b="1" dirty="0" smtClean="0">
                <a:effectLst>
                  <a:outerShdw blurRad="38100" dist="38100" dir="2700000" algn="tl">
                    <a:srgbClr val="C0C0C0"/>
                  </a:outerShdw>
                </a:effectLst>
                <a:latin typeface="+mj-lt"/>
                <a:ea typeface="Verdana" pitchFamily="34" charset="0"/>
                <a:cs typeface="Verdana" pitchFamily="34" charset="0"/>
              </a:rPr>
              <a:t>doğru şekilde</a:t>
            </a:r>
            <a:r>
              <a:rPr lang="tr-TR" b="1" dirty="0" smtClean="0">
                <a:latin typeface="+mj-lt"/>
                <a:ea typeface="Verdana" pitchFamily="34" charset="0"/>
                <a:cs typeface="Verdana" pitchFamily="34" charset="0"/>
              </a:rPr>
              <a:t> kullanmak,</a:t>
            </a:r>
          </a:p>
          <a:p>
            <a:pPr marL="342900" indent="-342900" algn="just">
              <a:spcBef>
                <a:spcPct val="50000"/>
              </a:spcBef>
              <a:buClr>
                <a:srgbClr val="CCFF33"/>
              </a:buClr>
              <a:defRPr/>
            </a:pPr>
            <a:r>
              <a:rPr lang="tr-TR" b="1" dirty="0" smtClean="0">
                <a:latin typeface="+mj-lt"/>
                <a:ea typeface="Verdana" pitchFamily="34" charset="0"/>
                <a:cs typeface="Verdana" pitchFamily="34" charset="0"/>
              </a:rPr>
              <a:t>3. Kendilerine sağlanan kişisel koruyucu donanımı doğru kullanmak ve korumak,</a:t>
            </a:r>
          </a:p>
          <a:p>
            <a:pPr marL="342900" indent="-342900" algn="just">
              <a:spcBef>
                <a:spcPct val="50000"/>
              </a:spcBef>
              <a:buClr>
                <a:srgbClr val="CCFF33"/>
              </a:buClr>
              <a:defRPr/>
            </a:pPr>
            <a:r>
              <a:rPr lang="tr-TR" b="1" dirty="0" smtClean="0">
                <a:latin typeface="+mj-lt"/>
                <a:ea typeface="Verdana" pitchFamily="34" charset="0"/>
                <a:cs typeface="Verdana" pitchFamily="34" charset="0"/>
              </a:rPr>
              <a:t>4. İşyerindeki makine, cihaz, araç-gereç, tesis ve binalardaki güvenlik donanımlarını kurallara uygun olarak kullanmak ve bunları keyfi olarak çıkarmamak ve değiştirmemek,</a:t>
            </a:r>
          </a:p>
          <a:p>
            <a:pPr marL="342900" indent="-342900" algn="just">
              <a:spcBef>
                <a:spcPct val="50000"/>
              </a:spcBef>
              <a:buClr>
                <a:srgbClr val="CCFF33"/>
              </a:buClr>
              <a:defRPr/>
            </a:pPr>
            <a:endParaRPr lang="tr-TR" b="1" dirty="0" smtClean="0">
              <a:latin typeface="+mj-lt"/>
              <a:ea typeface="Verdana" pitchFamily="34" charset="0"/>
              <a:cs typeface="Verdana" pitchFamily="34" charset="0"/>
            </a:endParaRPr>
          </a:p>
          <a:p>
            <a:pPr marL="342900" indent="-342900" algn="just">
              <a:spcBef>
                <a:spcPct val="50000"/>
              </a:spcBef>
              <a:buClr>
                <a:srgbClr val="CCFF33"/>
              </a:buClr>
              <a:defRPr/>
            </a:pPr>
            <a:endParaRPr lang="tr-TR" b="1" dirty="0" smtClean="0">
              <a:latin typeface="+mj-lt"/>
              <a:ea typeface="Verdana" pitchFamily="34" charset="0"/>
              <a:cs typeface="Verdana" pitchFamily="34" charset="0"/>
            </a:endParaRPr>
          </a:p>
          <a:p>
            <a:pPr marL="342900" indent="-342900" algn="just">
              <a:spcBef>
                <a:spcPct val="50000"/>
              </a:spcBef>
              <a:buClr>
                <a:srgbClr val="CCFF33"/>
              </a:buClr>
              <a:defRPr/>
            </a:pPr>
            <a:r>
              <a:rPr lang="tr-TR" b="1" dirty="0" smtClean="0">
                <a:latin typeface="+mj-lt"/>
                <a:ea typeface="Verdana" pitchFamily="34" charset="0"/>
                <a:cs typeface="Verdana" pitchFamily="34" charset="0"/>
              </a:rPr>
              <a:t>(Madde 19)</a:t>
            </a:r>
          </a:p>
          <a:p>
            <a:pPr marL="342900" indent="-342900" algn="just">
              <a:spcBef>
                <a:spcPct val="50000"/>
              </a:spcBef>
              <a:buClr>
                <a:srgbClr val="CCFF33"/>
              </a:buClr>
              <a:defRPr/>
            </a:pPr>
            <a:endParaRPr lang="tr-TR" b="1" dirty="0" smtClean="0">
              <a:solidFill>
                <a:srgbClr val="0066FF"/>
              </a:solidFill>
              <a:cs typeface="Times New Roman" pitchFamily="18" charset="0"/>
            </a:endParaRPr>
          </a:p>
          <a:p>
            <a:pPr marL="342900" indent="-342900" algn="just">
              <a:spcBef>
                <a:spcPct val="50000"/>
              </a:spcBef>
              <a:buClr>
                <a:srgbClr val="CCFF33"/>
              </a:buClr>
              <a:defRPr/>
            </a:pPr>
            <a:endParaRPr lang="tr-TR" b="1" dirty="0" smtClean="0">
              <a:latin typeface="Verdana" pitchFamily="34" charset="0"/>
              <a:ea typeface="Verdana" pitchFamily="34" charset="0"/>
              <a:cs typeface="Verdana" pitchFamily="34" charset="0"/>
            </a:endParaRPr>
          </a:p>
          <a:p>
            <a:pPr algn="just">
              <a:defRPr/>
            </a:pPr>
            <a:endParaRPr lang="tr-TR" dirty="0"/>
          </a:p>
        </p:txBody>
      </p:sp>
      <p:pic>
        <p:nvPicPr>
          <p:cNvPr id="59394" name="Picture 2" descr="http://www.optisyeninsesi.com/wp-content/uploads/2012/10/fft99_mf2360561.jpg"/>
          <p:cNvPicPr>
            <a:picLocks noChangeAspect="1" noChangeArrowheads="1"/>
          </p:cNvPicPr>
          <p:nvPr/>
        </p:nvPicPr>
        <p:blipFill>
          <a:blip r:embed="rId2" cstate="print"/>
          <a:srcRect/>
          <a:stretch>
            <a:fillRect/>
          </a:stretch>
        </p:blipFill>
        <p:spPr bwMode="auto">
          <a:xfrm>
            <a:off x="4788024" y="4456262"/>
            <a:ext cx="3984490" cy="2235523"/>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0" y="1928802"/>
            <a:ext cx="9144000" cy="1470025"/>
          </a:xfrm>
        </p:spPr>
        <p:txBody>
          <a:bodyPr>
            <a:normAutofit/>
          </a:bodyPr>
          <a:lstStyle/>
          <a:p>
            <a:r>
              <a:rPr lang="tr-TR" b="1" dirty="0" smtClean="0"/>
              <a:t/>
            </a:r>
            <a:br>
              <a:rPr lang="tr-TR" b="1" dirty="0" smtClean="0"/>
            </a:br>
            <a:endParaRPr lang="tr-TR" b="1" dirty="0"/>
          </a:p>
        </p:txBody>
      </p:sp>
      <p:sp>
        <p:nvSpPr>
          <p:cNvPr id="4" name="3 Dikdörtgen"/>
          <p:cNvSpPr/>
          <p:nvPr/>
        </p:nvSpPr>
        <p:spPr>
          <a:xfrm>
            <a:off x="0" y="0"/>
            <a:ext cx="9144000" cy="135729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tr-TR" sz="4800" b="1" dirty="0"/>
          </a:p>
        </p:txBody>
      </p:sp>
      <p:pic>
        <p:nvPicPr>
          <p:cNvPr id="58370" name="Picture 2" descr="http://image.samanyoluhaber.com/Images/News/2011916/197755_insaat-isci.jpg"/>
          <p:cNvPicPr>
            <a:picLocks noChangeAspect="1" noChangeArrowheads="1"/>
          </p:cNvPicPr>
          <p:nvPr/>
        </p:nvPicPr>
        <p:blipFill>
          <a:blip r:embed="rId2" cstate="print"/>
          <a:srcRect/>
          <a:stretch>
            <a:fillRect/>
          </a:stretch>
        </p:blipFill>
        <p:spPr bwMode="auto">
          <a:xfrm>
            <a:off x="5929322" y="4643446"/>
            <a:ext cx="2571768" cy="1915311"/>
          </a:xfrm>
          <a:prstGeom prst="rect">
            <a:avLst/>
          </a:prstGeom>
          <a:noFill/>
        </p:spPr>
      </p:pic>
      <p:sp>
        <p:nvSpPr>
          <p:cNvPr id="5" name="1 Başlık"/>
          <p:cNvSpPr txBox="1">
            <a:spLocks/>
          </p:cNvSpPr>
          <p:nvPr/>
        </p:nvSpPr>
        <p:spPr>
          <a:xfrm>
            <a:off x="285720" y="214290"/>
            <a:ext cx="8272466" cy="1000125"/>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3200" b="1" i="0" u="none" strike="noStrike" kern="1200" cap="none" spc="0" normalizeH="0" baseline="0" noProof="0" dirty="0" smtClean="0">
                <a:ln>
                  <a:noFill/>
                </a:ln>
                <a:solidFill>
                  <a:schemeClr val="bg1"/>
                </a:solidFill>
                <a:effectLst/>
                <a:uLnTx/>
                <a:uFillTx/>
                <a:latin typeface="Verdana" pitchFamily="34" charset="0"/>
                <a:ea typeface="+mj-ea"/>
                <a:cs typeface="+mj-cs"/>
              </a:rPr>
              <a:t>ÇALIŞANLARIN YÜKÜMLÜLÜKLERİ</a:t>
            </a:r>
            <a:r>
              <a:rPr kumimoji="0" lang="tr-TR" sz="4000" b="1" i="0" u="none" strike="noStrike" kern="1200" cap="none" spc="0" normalizeH="0" baseline="0" noProof="0" dirty="0" smtClean="0">
                <a:ln>
                  <a:noFill/>
                </a:ln>
                <a:solidFill>
                  <a:schemeClr val="bg1"/>
                </a:solidFill>
                <a:effectLst/>
                <a:uLnTx/>
                <a:uFillTx/>
                <a:latin typeface="Verdana" pitchFamily="34" charset="0"/>
                <a:ea typeface="+mj-ea"/>
                <a:cs typeface="+mj-cs"/>
              </a:rPr>
              <a:t/>
            </a:r>
            <a:br>
              <a:rPr kumimoji="0" lang="tr-TR" sz="4000" b="1" i="0" u="none" strike="noStrike" kern="1200" cap="none" spc="0" normalizeH="0" baseline="0" noProof="0" dirty="0" smtClean="0">
                <a:ln>
                  <a:noFill/>
                </a:ln>
                <a:solidFill>
                  <a:schemeClr val="bg1"/>
                </a:solidFill>
                <a:effectLst/>
                <a:uLnTx/>
                <a:uFillTx/>
                <a:latin typeface="Verdana" pitchFamily="34" charset="0"/>
                <a:ea typeface="+mj-ea"/>
                <a:cs typeface="+mj-cs"/>
              </a:rPr>
            </a:br>
            <a:endParaRPr kumimoji="0" lang="tr-TR" sz="4000" b="0" i="0" u="none" strike="noStrike" kern="1200" cap="none" spc="0" normalizeH="0" baseline="0" noProof="0" dirty="0" smtClean="0">
              <a:ln>
                <a:noFill/>
              </a:ln>
              <a:solidFill>
                <a:schemeClr val="bg1"/>
              </a:solidFill>
              <a:effectLst/>
              <a:uLnTx/>
              <a:uFillTx/>
              <a:latin typeface="+mj-lt"/>
              <a:ea typeface="+mj-ea"/>
              <a:cs typeface="+mj-cs"/>
            </a:endParaRPr>
          </a:p>
        </p:txBody>
      </p:sp>
      <p:sp>
        <p:nvSpPr>
          <p:cNvPr id="6" name="5 Dikdörtgen"/>
          <p:cNvSpPr/>
          <p:nvPr/>
        </p:nvSpPr>
        <p:spPr>
          <a:xfrm>
            <a:off x="214282" y="1500173"/>
            <a:ext cx="8715436" cy="3139321"/>
          </a:xfrm>
          <a:prstGeom prst="rect">
            <a:avLst/>
          </a:prstGeom>
        </p:spPr>
        <p:txBody>
          <a:bodyPr wrap="square">
            <a:spAutoFit/>
          </a:bodyPr>
          <a:lstStyle/>
          <a:p>
            <a:pPr marL="342900" indent="-342900" algn="just">
              <a:spcBef>
                <a:spcPct val="50000"/>
              </a:spcBef>
              <a:buClr>
                <a:schemeClr val="tx2"/>
              </a:buClr>
              <a:defRPr/>
            </a:pPr>
            <a:r>
              <a:rPr lang="tr-TR" b="1" dirty="0" smtClean="0"/>
              <a:t>5. İş</a:t>
            </a:r>
            <a:r>
              <a:rPr lang="tr-TR" b="1" dirty="0" smtClean="0">
                <a:cs typeface="Times New Roman" pitchFamily="18" charset="0"/>
              </a:rPr>
              <a:t>yerinde sa</a:t>
            </a:r>
            <a:r>
              <a:rPr lang="tr-TR" b="1" dirty="0" smtClean="0"/>
              <a:t>ğ</a:t>
            </a:r>
            <a:r>
              <a:rPr lang="tr-TR" b="1" dirty="0" smtClean="0">
                <a:cs typeface="Times New Roman" pitchFamily="18" charset="0"/>
              </a:rPr>
              <a:t>l</a:t>
            </a:r>
            <a:r>
              <a:rPr lang="tr-TR" b="1" dirty="0" smtClean="0"/>
              <a:t>ı</a:t>
            </a:r>
            <a:r>
              <a:rPr lang="tr-TR" b="1" dirty="0" smtClean="0">
                <a:cs typeface="Times New Roman" pitchFamily="18" charset="0"/>
              </a:rPr>
              <a:t>k ve güvenlik i</a:t>
            </a:r>
            <a:r>
              <a:rPr lang="tr-TR" b="1" dirty="0" smtClean="0"/>
              <a:t>ç</a:t>
            </a:r>
            <a:r>
              <a:rPr lang="tr-TR" b="1" dirty="0" smtClean="0">
                <a:cs typeface="Times New Roman" pitchFamily="18" charset="0"/>
              </a:rPr>
              <a:t>in </a:t>
            </a:r>
            <a:r>
              <a:rPr lang="tr-TR" b="1" dirty="0" smtClean="0">
                <a:effectLst>
                  <a:outerShdw blurRad="38100" dist="38100" dir="2700000" algn="tl">
                    <a:srgbClr val="C0C0C0"/>
                  </a:outerShdw>
                </a:effectLst>
                <a:cs typeface="Times New Roman" pitchFamily="18" charset="0"/>
              </a:rPr>
              <a:t>ciddi ve ani</a:t>
            </a:r>
            <a:r>
              <a:rPr lang="tr-TR" b="1" dirty="0" smtClean="0">
                <a:cs typeface="Times New Roman" pitchFamily="18" charset="0"/>
              </a:rPr>
              <a:t> bir tehlike olduğu kanaatine vard</a:t>
            </a:r>
            <a:r>
              <a:rPr lang="tr-TR" b="1" dirty="0" smtClean="0"/>
              <a:t>ı</a:t>
            </a:r>
            <a:r>
              <a:rPr lang="tr-TR" b="1" dirty="0" smtClean="0">
                <a:cs typeface="Times New Roman" pitchFamily="18" charset="0"/>
              </a:rPr>
              <a:t>klar</a:t>
            </a:r>
            <a:r>
              <a:rPr lang="tr-TR" b="1" dirty="0" smtClean="0"/>
              <a:t>ı</a:t>
            </a:r>
            <a:r>
              <a:rPr lang="tr-TR" b="1" dirty="0" smtClean="0">
                <a:cs typeface="Times New Roman" pitchFamily="18" charset="0"/>
              </a:rPr>
              <a:t> herhangi bir durumla kar</a:t>
            </a:r>
            <a:r>
              <a:rPr lang="tr-TR" b="1" dirty="0" smtClean="0"/>
              <a:t>şı</a:t>
            </a:r>
            <a:r>
              <a:rPr lang="tr-TR" b="1" dirty="0" smtClean="0">
                <a:cs typeface="Times New Roman" pitchFamily="18" charset="0"/>
              </a:rPr>
              <a:t>la</a:t>
            </a:r>
            <a:r>
              <a:rPr lang="tr-TR" b="1" dirty="0" smtClean="0"/>
              <a:t>ş</a:t>
            </a:r>
            <a:r>
              <a:rPr lang="tr-TR" b="1" dirty="0" smtClean="0">
                <a:cs typeface="Times New Roman" pitchFamily="18" charset="0"/>
              </a:rPr>
              <a:t>t</a:t>
            </a:r>
            <a:r>
              <a:rPr lang="tr-TR" b="1" dirty="0" smtClean="0"/>
              <a:t>ı</a:t>
            </a:r>
            <a:r>
              <a:rPr lang="tr-TR" b="1" dirty="0" smtClean="0">
                <a:cs typeface="Times New Roman" pitchFamily="18" charset="0"/>
              </a:rPr>
              <a:t>klar</a:t>
            </a:r>
            <a:r>
              <a:rPr lang="tr-TR" b="1" dirty="0" smtClean="0"/>
              <a:t>ı</a:t>
            </a:r>
            <a:r>
              <a:rPr lang="tr-TR" b="1" dirty="0" smtClean="0">
                <a:cs typeface="Times New Roman" pitchFamily="18" charset="0"/>
              </a:rPr>
              <a:t>nda veya koruma tedbirlerinde bir aksakl</a:t>
            </a:r>
            <a:r>
              <a:rPr lang="tr-TR" b="1" dirty="0" smtClean="0"/>
              <a:t>ı</a:t>
            </a:r>
            <a:r>
              <a:rPr lang="tr-TR" b="1" dirty="0" smtClean="0">
                <a:cs typeface="Times New Roman" pitchFamily="18" charset="0"/>
              </a:rPr>
              <a:t>k ve eksiklik gördüklerinde, i</a:t>
            </a:r>
            <a:r>
              <a:rPr lang="tr-TR" b="1" dirty="0" smtClean="0"/>
              <a:t>ş</a:t>
            </a:r>
            <a:r>
              <a:rPr lang="tr-TR" b="1" dirty="0" smtClean="0">
                <a:cs typeface="Times New Roman" pitchFamily="18" charset="0"/>
              </a:rPr>
              <a:t>verene ve/veya </a:t>
            </a:r>
            <a:r>
              <a:rPr lang="tr-TR" b="1" dirty="0" smtClean="0">
                <a:effectLst>
                  <a:outerShdw blurRad="38100" dist="38100" dir="2700000" algn="tl">
                    <a:srgbClr val="C0C0C0"/>
                  </a:outerShdw>
                </a:effectLst>
                <a:cs typeface="Times New Roman" pitchFamily="18" charset="0"/>
              </a:rPr>
              <a:t>sa</a:t>
            </a:r>
            <a:r>
              <a:rPr lang="tr-TR" b="1" dirty="0" smtClean="0">
                <a:effectLst>
                  <a:outerShdw blurRad="38100" dist="38100" dir="2700000" algn="tl">
                    <a:srgbClr val="C0C0C0"/>
                  </a:outerShdw>
                </a:effectLst>
              </a:rPr>
              <a:t>ğ</a:t>
            </a:r>
            <a:r>
              <a:rPr lang="tr-TR" b="1" dirty="0" smtClean="0">
                <a:effectLst>
                  <a:outerShdw blurRad="38100" dist="38100" dir="2700000" algn="tl">
                    <a:srgbClr val="C0C0C0"/>
                  </a:outerShdw>
                </a:effectLst>
                <a:cs typeface="Times New Roman" pitchFamily="18" charset="0"/>
              </a:rPr>
              <a:t>l</a:t>
            </a:r>
            <a:r>
              <a:rPr lang="tr-TR" b="1" dirty="0" smtClean="0">
                <a:effectLst>
                  <a:outerShdw blurRad="38100" dist="38100" dir="2700000" algn="tl">
                    <a:srgbClr val="C0C0C0"/>
                  </a:outerShdw>
                </a:effectLst>
              </a:rPr>
              <a:t>ı</a:t>
            </a:r>
            <a:r>
              <a:rPr lang="tr-TR" b="1" dirty="0" smtClean="0">
                <a:effectLst>
                  <a:outerShdw blurRad="38100" dist="38100" dir="2700000" algn="tl">
                    <a:srgbClr val="C0C0C0"/>
                  </a:outerShdw>
                </a:effectLst>
                <a:cs typeface="Times New Roman" pitchFamily="18" charset="0"/>
              </a:rPr>
              <a:t>k ve güvenlik çalışan temsilcisine</a:t>
            </a:r>
            <a:r>
              <a:rPr lang="tr-TR" b="1" dirty="0" smtClean="0">
                <a:cs typeface="Times New Roman" pitchFamily="18" charset="0"/>
              </a:rPr>
              <a:t> derhal haber vermek,</a:t>
            </a:r>
          </a:p>
          <a:p>
            <a:pPr marL="342900" indent="-342900" algn="just">
              <a:spcBef>
                <a:spcPct val="50000"/>
              </a:spcBef>
              <a:buClr>
                <a:srgbClr val="CCFF33"/>
              </a:buClr>
              <a:defRPr/>
            </a:pPr>
            <a:r>
              <a:rPr lang="tr-TR" b="1" dirty="0" smtClean="0"/>
              <a:t>6. İş</a:t>
            </a:r>
            <a:r>
              <a:rPr lang="tr-TR" b="1" dirty="0" smtClean="0">
                <a:cs typeface="Times New Roman" pitchFamily="18" charset="0"/>
              </a:rPr>
              <a:t>yerinde, sa</a:t>
            </a:r>
            <a:r>
              <a:rPr lang="tr-TR" b="1" dirty="0" smtClean="0"/>
              <a:t>ğ</a:t>
            </a:r>
            <a:r>
              <a:rPr lang="tr-TR" b="1" dirty="0" smtClean="0">
                <a:cs typeface="Times New Roman" pitchFamily="18" charset="0"/>
              </a:rPr>
              <a:t>l</a:t>
            </a:r>
            <a:r>
              <a:rPr lang="tr-TR" b="1" dirty="0" smtClean="0"/>
              <a:t>ı</a:t>
            </a:r>
            <a:r>
              <a:rPr lang="tr-TR" b="1" dirty="0" smtClean="0">
                <a:cs typeface="Times New Roman" pitchFamily="18" charset="0"/>
              </a:rPr>
              <a:t>k ve güvenli</a:t>
            </a:r>
            <a:r>
              <a:rPr lang="tr-TR" b="1" dirty="0" smtClean="0"/>
              <a:t>ğ</a:t>
            </a:r>
            <a:r>
              <a:rPr lang="tr-TR" b="1" dirty="0" smtClean="0">
                <a:cs typeface="Times New Roman" pitchFamily="18" charset="0"/>
              </a:rPr>
              <a:t>in korunmas</a:t>
            </a:r>
            <a:r>
              <a:rPr lang="tr-TR" b="1" dirty="0" smtClean="0"/>
              <a:t>ı</a:t>
            </a:r>
            <a:r>
              <a:rPr lang="tr-TR" b="1" dirty="0" smtClean="0">
                <a:cs typeface="Times New Roman" pitchFamily="18" charset="0"/>
              </a:rPr>
              <a:t> i</a:t>
            </a:r>
            <a:r>
              <a:rPr lang="tr-TR" b="1" dirty="0" smtClean="0"/>
              <a:t>ç</a:t>
            </a:r>
            <a:r>
              <a:rPr lang="tr-TR" b="1" dirty="0" smtClean="0">
                <a:cs typeface="Times New Roman" pitchFamily="18" charset="0"/>
              </a:rPr>
              <a:t>in </a:t>
            </a:r>
            <a:r>
              <a:rPr lang="tr-TR" b="1" dirty="0" smtClean="0">
                <a:effectLst>
                  <a:outerShdw blurRad="38100" dist="38100" dir="2700000" algn="tl">
                    <a:srgbClr val="C0C0C0"/>
                  </a:outerShdw>
                </a:effectLst>
                <a:cs typeface="Times New Roman" pitchFamily="18" charset="0"/>
              </a:rPr>
              <a:t>tefti</a:t>
            </a:r>
            <a:r>
              <a:rPr lang="tr-TR" b="1" dirty="0" smtClean="0">
                <a:effectLst>
                  <a:outerShdw blurRad="38100" dist="38100" dir="2700000" algn="tl">
                    <a:srgbClr val="C0C0C0"/>
                  </a:outerShdw>
                </a:effectLst>
              </a:rPr>
              <a:t>ş</a:t>
            </a:r>
            <a:r>
              <a:rPr lang="tr-TR" b="1" dirty="0" smtClean="0">
                <a:effectLst>
                  <a:outerShdw blurRad="38100" dist="38100" dir="2700000" algn="tl">
                    <a:srgbClr val="C0C0C0"/>
                  </a:outerShdw>
                </a:effectLst>
                <a:cs typeface="Times New Roman" pitchFamily="18" charset="0"/>
              </a:rPr>
              <a:t>e yetkili makam</a:t>
            </a:r>
            <a:r>
              <a:rPr lang="tr-TR" b="1" dirty="0" smtClean="0">
                <a:cs typeface="Times New Roman" pitchFamily="18" charset="0"/>
              </a:rPr>
              <a:t> taraf</a:t>
            </a:r>
            <a:r>
              <a:rPr lang="tr-TR" b="1" dirty="0" smtClean="0"/>
              <a:t>ı</a:t>
            </a:r>
            <a:r>
              <a:rPr lang="tr-TR" b="1" dirty="0" smtClean="0">
                <a:cs typeface="Times New Roman" pitchFamily="18" charset="0"/>
              </a:rPr>
              <a:t>ndan belirlenen zorunluluklar</a:t>
            </a:r>
            <a:r>
              <a:rPr lang="tr-TR" b="1" dirty="0" smtClean="0"/>
              <a:t>ı</a:t>
            </a:r>
            <a:r>
              <a:rPr lang="tr-TR" b="1" dirty="0" smtClean="0">
                <a:cs typeface="Times New Roman" pitchFamily="18" charset="0"/>
              </a:rPr>
              <a:t>n yerine getirilmesinde, i</a:t>
            </a:r>
            <a:r>
              <a:rPr lang="tr-TR" b="1" dirty="0" smtClean="0"/>
              <a:t>ş</a:t>
            </a:r>
            <a:r>
              <a:rPr lang="tr-TR" b="1" dirty="0" smtClean="0">
                <a:cs typeface="Times New Roman" pitchFamily="18" charset="0"/>
              </a:rPr>
              <a:t>verenle ve/veya i</a:t>
            </a:r>
            <a:r>
              <a:rPr lang="tr-TR" b="1" dirty="0" smtClean="0"/>
              <a:t>ş</a:t>
            </a:r>
            <a:r>
              <a:rPr lang="tr-TR" b="1" dirty="0" smtClean="0">
                <a:cs typeface="Times New Roman" pitchFamily="18" charset="0"/>
              </a:rPr>
              <a:t>yerinde sa</a:t>
            </a:r>
            <a:r>
              <a:rPr lang="tr-TR" b="1" dirty="0" smtClean="0"/>
              <a:t>ğ</a:t>
            </a:r>
            <a:r>
              <a:rPr lang="tr-TR" b="1" dirty="0" smtClean="0">
                <a:cs typeface="Times New Roman" pitchFamily="18" charset="0"/>
              </a:rPr>
              <a:t>l</a:t>
            </a:r>
            <a:r>
              <a:rPr lang="tr-TR" b="1" dirty="0" smtClean="0"/>
              <a:t>ı</a:t>
            </a:r>
            <a:r>
              <a:rPr lang="tr-TR" b="1" dirty="0" smtClean="0">
                <a:cs typeface="Times New Roman" pitchFamily="18" charset="0"/>
              </a:rPr>
              <a:t>k ve güvenlikten sorumlu  </a:t>
            </a:r>
            <a:r>
              <a:rPr lang="tr-TR" b="1" dirty="0" smtClean="0"/>
              <a:t>kişi </a:t>
            </a:r>
            <a:r>
              <a:rPr lang="tr-TR" b="1" dirty="0" smtClean="0">
                <a:cs typeface="Times New Roman" pitchFamily="18" charset="0"/>
              </a:rPr>
              <a:t>ile i</a:t>
            </a:r>
            <a:r>
              <a:rPr lang="tr-TR" b="1" dirty="0" smtClean="0"/>
              <a:t>ş</a:t>
            </a:r>
            <a:r>
              <a:rPr lang="tr-TR" b="1" dirty="0" smtClean="0">
                <a:cs typeface="Times New Roman" pitchFamily="18" charset="0"/>
              </a:rPr>
              <a:t>birli</a:t>
            </a:r>
            <a:r>
              <a:rPr lang="tr-TR" b="1" dirty="0" smtClean="0"/>
              <a:t>ğ</a:t>
            </a:r>
            <a:r>
              <a:rPr lang="tr-TR" b="1" dirty="0" smtClean="0">
                <a:cs typeface="Times New Roman" pitchFamily="18" charset="0"/>
              </a:rPr>
              <a:t>i yapmak,</a:t>
            </a:r>
          </a:p>
          <a:p>
            <a:pPr marL="342900" indent="-342900" algn="just">
              <a:spcBef>
                <a:spcPct val="50000"/>
              </a:spcBef>
              <a:buClr>
                <a:srgbClr val="CCFF33"/>
              </a:buClr>
              <a:defRPr/>
            </a:pPr>
            <a:r>
              <a:rPr lang="tr-TR" b="1" dirty="0" smtClean="0">
                <a:cs typeface="Times New Roman" pitchFamily="18" charset="0"/>
              </a:rPr>
              <a:t>7. </a:t>
            </a:r>
            <a:r>
              <a:rPr lang="tr-TR" b="1" dirty="0" smtClean="0"/>
              <a:t>İşv</a:t>
            </a:r>
            <a:r>
              <a:rPr lang="tr-TR" b="1" dirty="0" smtClean="0">
                <a:cs typeface="Times New Roman" pitchFamily="18" charset="0"/>
              </a:rPr>
              <a:t>eren taraf</a:t>
            </a:r>
            <a:r>
              <a:rPr lang="tr-TR" b="1" dirty="0" smtClean="0"/>
              <a:t>ı</a:t>
            </a:r>
            <a:r>
              <a:rPr lang="tr-TR" b="1" dirty="0" smtClean="0">
                <a:cs typeface="Times New Roman" pitchFamily="18" charset="0"/>
              </a:rPr>
              <a:t>ndan güvenli çal</a:t>
            </a:r>
            <a:r>
              <a:rPr lang="tr-TR" b="1" dirty="0" smtClean="0"/>
              <a:t>ış</a:t>
            </a:r>
            <a:r>
              <a:rPr lang="tr-TR" b="1" dirty="0" smtClean="0">
                <a:cs typeface="Times New Roman" pitchFamily="18" charset="0"/>
              </a:rPr>
              <a:t>ma ortam ve ko</a:t>
            </a:r>
            <a:r>
              <a:rPr lang="tr-TR" b="1" dirty="0" smtClean="0"/>
              <a:t>ş</a:t>
            </a:r>
            <a:r>
              <a:rPr lang="tr-TR" b="1" dirty="0" smtClean="0">
                <a:cs typeface="Times New Roman" pitchFamily="18" charset="0"/>
              </a:rPr>
              <a:t>ullar</a:t>
            </a:r>
            <a:r>
              <a:rPr lang="tr-TR" b="1" dirty="0" smtClean="0"/>
              <a:t>ı</a:t>
            </a:r>
            <a:r>
              <a:rPr lang="tr-TR" b="1" dirty="0" smtClean="0">
                <a:cs typeface="Times New Roman" pitchFamily="18" charset="0"/>
              </a:rPr>
              <a:t>n</a:t>
            </a:r>
            <a:r>
              <a:rPr lang="tr-TR" b="1" dirty="0" smtClean="0"/>
              <a:t>ı</a:t>
            </a:r>
            <a:r>
              <a:rPr lang="tr-TR" b="1" dirty="0" smtClean="0">
                <a:cs typeface="Times New Roman" pitchFamily="18" charset="0"/>
              </a:rPr>
              <a:t>n sa</a:t>
            </a:r>
            <a:r>
              <a:rPr lang="tr-TR" b="1" dirty="0" smtClean="0"/>
              <a:t>ğ</a:t>
            </a:r>
            <a:r>
              <a:rPr lang="tr-TR" b="1" dirty="0" smtClean="0">
                <a:cs typeface="Times New Roman" pitchFamily="18" charset="0"/>
              </a:rPr>
              <a:t>lanmas</a:t>
            </a:r>
            <a:r>
              <a:rPr lang="tr-TR" b="1" dirty="0" smtClean="0"/>
              <a:t>ı</a:t>
            </a:r>
            <a:r>
              <a:rPr lang="tr-TR" b="1" dirty="0" smtClean="0">
                <a:cs typeface="Times New Roman" pitchFamily="18" charset="0"/>
              </a:rPr>
              <a:t> ve kendi yapt</a:t>
            </a:r>
            <a:r>
              <a:rPr lang="tr-TR" b="1" dirty="0" smtClean="0"/>
              <a:t>ı</a:t>
            </a:r>
            <a:r>
              <a:rPr lang="tr-TR" b="1" dirty="0" smtClean="0">
                <a:cs typeface="Times New Roman" pitchFamily="18" charset="0"/>
              </a:rPr>
              <a:t>klar</a:t>
            </a:r>
            <a:r>
              <a:rPr lang="tr-TR" b="1" dirty="0" smtClean="0"/>
              <a:t>ı</a:t>
            </a:r>
            <a:r>
              <a:rPr lang="tr-TR" b="1" dirty="0" smtClean="0">
                <a:cs typeface="Times New Roman" pitchFamily="18" charset="0"/>
              </a:rPr>
              <a:t> i</a:t>
            </a:r>
            <a:r>
              <a:rPr lang="tr-TR" b="1" dirty="0" smtClean="0"/>
              <a:t>ş</a:t>
            </a:r>
            <a:r>
              <a:rPr lang="tr-TR" b="1" dirty="0" smtClean="0">
                <a:cs typeface="Times New Roman" pitchFamily="18" charset="0"/>
              </a:rPr>
              <a:t>lerde sa</a:t>
            </a:r>
            <a:r>
              <a:rPr lang="tr-TR" b="1" dirty="0" smtClean="0"/>
              <a:t>ğ</a:t>
            </a:r>
            <a:r>
              <a:rPr lang="tr-TR" b="1" dirty="0" smtClean="0">
                <a:cs typeface="Times New Roman" pitchFamily="18" charset="0"/>
              </a:rPr>
              <a:t>l</a:t>
            </a:r>
            <a:r>
              <a:rPr lang="tr-TR" b="1" dirty="0" smtClean="0"/>
              <a:t>ı</a:t>
            </a:r>
            <a:r>
              <a:rPr lang="tr-TR" b="1" dirty="0" smtClean="0">
                <a:cs typeface="Times New Roman" pitchFamily="18" charset="0"/>
              </a:rPr>
              <a:t>k ve güvenlik yönünden risklerin önlenmesinde, i</a:t>
            </a:r>
            <a:r>
              <a:rPr lang="tr-TR" b="1" dirty="0" smtClean="0"/>
              <a:t>ş</a:t>
            </a:r>
            <a:r>
              <a:rPr lang="tr-TR" b="1" dirty="0" smtClean="0">
                <a:cs typeface="Times New Roman" pitchFamily="18" charset="0"/>
              </a:rPr>
              <a:t>veren ve/veya sa</a:t>
            </a:r>
            <a:r>
              <a:rPr lang="tr-TR" b="1" dirty="0" smtClean="0"/>
              <a:t>ğ</a:t>
            </a:r>
            <a:r>
              <a:rPr lang="tr-TR" b="1" dirty="0" smtClean="0">
                <a:cs typeface="Times New Roman" pitchFamily="18" charset="0"/>
              </a:rPr>
              <a:t>l</a:t>
            </a:r>
            <a:r>
              <a:rPr lang="tr-TR" b="1" dirty="0" smtClean="0"/>
              <a:t>ı</a:t>
            </a:r>
            <a:r>
              <a:rPr lang="tr-TR" b="1" dirty="0" smtClean="0">
                <a:cs typeface="Times New Roman" pitchFamily="18" charset="0"/>
              </a:rPr>
              <a:t>k ve güvenlikten sorumlu k</a:t>
            </a:r>
            <a:r>
              <a:rPr lang="tr-TR" b="1" dirty="0" smtClean="0"/>
              <a:t>iş</a:t>
            </a:r>
            <a:r>
              <a:rPr lang="tr-TR" b="1" dirty="0" smtClean="0">
                <a:cs typeface="Times New Roman" pitchFamily="18" charset="0"/>
              </a:rPr>
              <a:t>i ile mevzuat uygulamalar</a:t>
            </a:r>
            <a:r>
              <a:rPr lang="tr-TR" b="1" dirty="0" smtClean="0"/>
              <a:t>ı</a:t>
            </a:r>
            <a:r>
              <a:rPr lang="tr-TR" b="1" dirty="0" smtClean="0">
                <a:cs typeface="Times New Roman" pitchFamily="18" charset="0"/>
              </a:rPr>
              <a:t> do</a:t>
            </a:r>
            <a:r>
              <a:rPr lang="tr-TR" b="1" dirty="0" smtClean="0"/>
              <a:t>ğ</a:t>
            </a:r>
            <a:r>
              <a:rPr lang="tr-TR" b="1" dirty="0" smtClean="0">
                <a:cs typeface="Times New Roman" pitchFamily="18" charset="0"/>
              </a:rPr>
              <a:t>rultusunda i</a:t>
            </a:r>
            <a:r>
              <a:rPr lang="tr-TR" b="1" dirty="0" smtClean="0"/>
              <a:t>ş</a:t>
            </a:r>
            <a:r>
              <a:rPr lang="tr-TR" b="1" dirty="0" smtClean="0">
                <a:cs typeface="Times New Roman" pitchFamily="18" charset="0"/>
              </a:rPr>
              <a:t>birli</a:t>
            </a:r>
            <a:r>
              <a:rPr lang="tr-TR" b="1" dirty="0" smtClean="0"/>
              <a:t>ğ</a:t>
            </a:r>
            <a:r>
              <a:rPr lang="tr-TR" b="1" dirty="0" smtClean="0">
                <a:cs typeface="Times New Roman" pitchFamily="18" charset="0"/>
              </a:rPr>
              <a:t>i yapmak.</a:t>
            </a:r>
            <a:endParaRPr lang="tr-TR" b="1" dirty="0">
              <a:cs typeface="Times New Roman" pitchFamily="18" charset="0"/>
            </a:endParaRPr>
          </a:p>
        </p:txBody>
      </p:sp>
      <p:pic>
        <p:nvPicPr>
          <p:cNvPr id="58372" name="Picture 4" descr="https://encrypted-tbn3.gstatic.com/images?q=tbn:ANd9GcRtXgs5xHKPNF763M9Rn0egzLMOtbTlQaUve4BPbY27tRoFCgeZ-A"/>
          <p:cNvPicPr>
            <a:picLocks noChangeAspect="1" noChangeArrowheads="1"/>
          </p:cNvPicPr>
          <p:nvPr/>
        </p:nvPicPr>
        <p:blipFill>
          <a:blip r:embed="rId3" cstate="print"/>
          <a:srcRect/>
          <a:stretch>
            <a:fillRect/>
          </a:stretch>
        </p:blipFill>
        <p:spPr bwMode="auto">
          <a:xfrm>
            <a:off x="500033" y="4786322"/>
            <a:ext cx="3840507" cy="1714512"/>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95536" y="1340768"/>
            <a:ext cx="8229600" cy="4525963"/>
          </a:xfrm>
        </p:spPr>
        <p:txBody>
          <a:bodyPr>
            <a:normAutofit fontScale="92500" lnSpcReduction="20000"/>
          </a:bodyPr>
          <a:lstStyle/>
          <a:p>
            <a:pPr>
              <a:buNone/>
            </a:pPr>
            <a:r>
              <a:rPr lang="tr-TR" b="1" dirty="0" smtClean="0"/>
              <a:t>Madde 10: </a:t>
            </a:r>
            <a:r>
              <a:rPr lang="tr-TR" dirty="0" smtClean="0"/>
              <a:t>Risk Değerlendirilmesi, Kontrol, Ölçüm ve Araştırma</a:t>
            </a:r>
          </a:p>
          <a:p>
            <a:pPr>
              <a:buNone/>
            </a:pPr>
            <a:r>
              <a:rPr lang="tr-TR" b="1" dirty="0" smtClean="0"/>
              <a:t>İşveren;</a:t>
            </a:r>
          </a:p>
          <a:p>
            <a:pPr>
              <a:buNone/>
            </a:pPr>
            <a:r>
              <a:rPr lang="tr-TR" dirty="0" smtClean="0"/>
              <a:t>İSG yönünden risk değerlendirmesi yapmak veya yaptırmak yükümlüdür. </a:t>
            </a:r>
          </a:p>
          <a:p>
            <a:pPr>
              <a:buNone/>
            </a:pPr>
            <a:r>
              <a:rPr lang="tr-TR" dirty="0" smtClean="0"/>
              <a:t>İhtiyaç olan koruyucu donanım/ekipmanı belirler.</a:t>
            </a:r>
          </a:p>
          <a:p>
            <a:pPr>
              <a:buNone/>
            </a:pPr>
            <a:r>
              <a:rPr lang="tr-TR" dirty="0" smtClean="0"/>
              <a:t>İSG tedbirleri işyerinin idari yapılanmasının her kademesinde uygulanabilir nitelikte olmalıdır.</a:t>
            </a:r>
          </a:p>
          <a:p>
            <a:pPr>
              <a:buNone/>
            </a:pPr>
            <a:r>
              <a:rPr lang="tr-TR" dirty="0" smtClean="0"/>
              <a:t>Gerekli kontrol, ölçüm, inceleme ve araştırmaların yapılmasını sağlar.</a:t>
            </a:r>
            <a:endParaRPr lang="tr-TR" dirty="0"/>
          </a:p>
        </p:txBody>
      </p:sp>
      <p:sp>
        <p:nvSpPr>
          <p:cNvPr id="4" name="3 Başlık"/>
          <p:cNvSpPr>
            <a:spLocks noGrp="1"/>
          </p:cNvSpPr>
          <p:nvPr>
            <p:ph type="title"/>
          </p:nvPr>
        </p:nvSpPr>
        <p:spPr>
          <a:xfrm>
            <a:off x="0" y="24263"/>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251520" y="980728"/>
            <a:ext cx="8229600" cy="1143000"/>
          </a:xfrm>
        </p:spPr>
        <p:txBody>
          <a:bodyPr>
            <a:normAutofit fontScale="90000"/>
          </a:bodyPr>
          <a:lstStyle/>
          <a:p>
            <a:pPr algn="l"/>
            <a:r>
              <a:rPr lang="tr-TR" sz="3600" b="1" dirty="0" smtClean="0"/>
              <a:t>Madde 11: </a:t>
            </a:r>
            <a:r>
              <a:rPr lang="tr-TR" sz="3600" dirty="0" smtClean="0"/>
              <a:t>Acil Durum Planları, Yangınla Mücadele ve İlk Yardım</a:t>
            </a:r>
            <a:endParaRPr lang="tr-TR" sz="3600" dirty="0"/>
          </a:p>
        </p:txBody>
      </p:sp>
      <p:sp>
        <p:nvSpPr>
          <p:cNvPr id="3" name="2 İçerik Yer Tutucusu"/>
          <p:cNvSpPr>
            <a:spLocks noGrp="1"/>
          </p:cNvSpPr>
          <p:nvPr>
            <p:ph idx="1"/>
          </p:nvPr>
        </p:nvSpPr>
        <p:spPr>
          <a:xfrm>
            <a:off x="323528" y="1700808"/>
            <a:ext cx="8373616" cy="5373216"/>
          </a:xfrm>
        </p:spPr>
        <p:txBody>
          <a:bodyPr>
            <a:normAutofit/>
          </a:bodyPr>
          <a:lstStyle/>
          <a:p>
            <a:endParaRPr lang="tr-TR" dirty="0" smtClean="0"/>
          </a:p>
          <a:p>
            <a:pPr>
              <a:buNone/>
            </a:pPr>
            <a:r>
              <a:rPr lang="tr-TR" dirty="0" smtClean="0"/>
              <a:t>İşveren;</a:t>
            </a:r>
          </a:p>
          <a:p>
            <a:r>
              <a:rPr lang="tr-TR" dirty="0" smtClean="0"/>
              <a:t>Çalışanları ve çalışma çevresini etkilemesi mümkün ve muhtemel acil durumları belirler ve önleyici, sınırlandırıcı tedbirler alır.</a:t>
            </a:r>
          </a:p>
          <a:p>
            <a:r>
              <a:rPr lang="tr-TR" dirty="0" smtClean="0"/>
              <a:t>Acil durum planları hazırlar</a:t>
            </a:r>
          </a:p>
          <a:p>
            <a:r>
              <a:rPr lang="tr-TR" dirty="0" smtClean="0"/>
              <a:t>Gerekli eğitim ve donanıma sahip acil durum ekipleri oluşturur.</a:t>
            </a:r>
          </a:p>
        </p:txBody>
      </p:sp>
      <p:sp>
        <p:nvSpPr>
          <p:cNvPr id="4" name="3 Başlık"/>
          <p:cNvSpPr txBox="1">
            <a:spLocks/>
          </p:cNvSpPr>
          <p:nvPr/>
        </p:nvSpPr>
        <p:spPr>
          <a:xfrm>
            <a:off x="0" y="24263"/>
            <a:ext cx="9144000" cy="923330"/>
          </a:xfrm>
          <a:prstGeom prst="rect">
            <a:avLst/>
          </a:prstGeom>
          <a:solidFill>
            <a:schemeClr val="accent2">
              <a:lumMod val="40000"/>
              <a:lumOff val="60000"/>
            </a:schemeClr>
          </a:solidFill>
          <a:ln>
            <a:solidFill>
              <a:schemeClr val="bg1"/>
            </a:solidFill>
          </a:ln>
        </p:spPr>
        <p:txBody>
          <a:bodyPr vert="horz" wrap="square" lIns="91440" tIns="45720" rIns="91440" bIns="45720" rtlCol="0" anchor="ctr">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5400" b="1" i="0" u="none" strike="noStrike" kern="1200" cap="none" spc="0" normalizeH="0" baseline="0" noProof="0" smtClean="0">
                <a:ln w="10541" cmpd="sng">
                  <a:solidFill>
                    <a:schemeClr val="accent1">
                      <a:shade val="88000"/>
                      <a:satMod val="110000"/>
                    </a:schemeClr>
                  </a:solidFill>
                  <a:prstDash val="solid"/>
                </a:ln>
                <a:solidFill>
                  <a:schemeClr val="accent1">
                    <a:lumMod val="50000"/>
                  </a:schemeClr>
                </a:solidFill>
                <a:effectLst/>
                <a:uLnTx/>
                <a:uFillTx/>
                <a:latin typeface="+mj-lt"/>
                <a:ea typeface="+mj-ea"/>
                <a:cs typeface="+mj-cs"/>
              </a:rPr>
              <a:t>6331 Sayılı Kanun</a:t>
            </a:r>
            <a:endParaRPr kumimoji="0" lang="tr-TR" sz="5400" b="1" i="0" u="none" strike="noStrike" kern="1200" cap="none" spc="0" normalizeH="0" baseline="0" noProof="0" dirty="0">
              <a:ln w="10541" cmpd="sng">
                <a:solidFill>
                  <a:schemeClr val="accent1">
                    <a:shade val="88000"/>
                    <a:satMod val="110000"/>
                  </a:schemeClr>
                </a:solidFill>
                <a:prstDash val="solid"/>
              </a:ln>
              <a:solidFill>
                <a:schemeClr val="accent1">
                  <a:lumMod val="50000"/>
                </a:schemeClr>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95536" y="1124744"/>
            <a:ext cx="8229600" cy="4525963"/>
          </a:xfrm>
        </p:spPr>
        <p:txBody>
          <a:bodyPr/>
          <a:lstStyle/>
          <a:p>
            <a:pPr>
              <a:buNone/>
            </a:pPr>
            <a:r>
              <a:rPr lang="tr-TR" b="1" dirty="0" smtClean="0"/>
              <a:t>Madde 13: </a:t>
            </a:r>
            <a:r>
              <a:rPr lang="tr-TR" dirty="0" smtClean="0"/>
              <a:t>Çalışmaktan Kaçınma Hakkı</a:t>
            </a:r>
          </a:p>
          <a:p>
            <a:r>
              <a:rPr lang="tr-TR" dirty="0" smtClean="0"/>
              <a:t>Ciddi ve yakın tehlike ile karşı karşıya kalan çalışanlar kurula veya işverene başvurarak durumun tespit edilmesi ve gerekli önlemlerin alınmasını talep edebilir.</a:t>
            </a:r>
          </a:p>
          <a:p>
            <a:r>
              <a:rPr lang="tr-TR" dirty="0" smtClean="0"/>
              <a:t>Çalışan, gerekli tedbir alınıncaya kadar çalışmaktan kaçınabilir.</a:t>
            </a:r>
            <a:endParaRPr lang="tr-TR" dirty="0"/>
          </a:p>
        </p:txBody>
      </p:sp>
      <p:sp>
        <p:nvSpPr>
          <p:cNvPr id="4" name="3 Başlık"/>
          <p:cNvSpPr>
            <a:spLocks noGrp="1"/>
          </p:cNvSpPr>
          <p:nvPr>
            <p:ph type="title"/>
          </p:nvPr>
        </p:nvSpPr>
        <p:spPr>
          <a:xfrm>
            <a:off x="0" y="0"/>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67544" y="1340768"/>
            <a:ext cx="8229600" cy="4525963"/>
          </a:xfrm>
        </p:spPr>
        <p:txBody>
          <a:bodyPr/>
          <a:lstStyle/>
          <a:p>
            <a:pPr>
              <a:buNone/>
            </a:pPr>
            <a:r>
              <a:rPr lang="tr-TR" b="1" dirty="0" smtClean="0"/>
              <a:t>Madde 14: </a:t>
            </a:r>
            <a:r>
              <a:rPr lang="tr-TR" dirty="0" smtClean="0"/>
              <a:t>İş Kazası ve Meslek Hastalıklarının Kayıt Bildirimi</a:t>
            </a:r>
          </a:p>
          <a:p>
            <a:pPr>
              <a:buNone/>
            </a:pPr>
            <a:r>
              <a:rPr lang="tr-TR" dirty="0" smtClean="0"/>
              <a:t>İşveren;</a:t>
            </a:r>
          </a:p>
          <a:p>
            <a:pPr>
              <a:buNone/>
            </a:pPr>
            <a:r>
              <a:rPr lang="tr-TR" dirty="0" smtClean="0"/>
              <a:t>Bütün iş kazalarının ve meslek hastalılarının kaydını tutar, gerekli incelemeleri yaparak bunlar ile ilgili raporları tutar.</a:t>
            </a:r>
          </a:p>
          <a:p>
            <a:r>
              <a:rPr lang="tr-TR" dirty="0" smtClean="0"/>
              <a:t>İş kazalarını kazadan sonraki </a:t>
            </a:r>
            <a:r>
              <a:rPr lang="tr-TR" b="1" dirty="0" smtClean="0">
                <a:solidFill>
                  <a:srgbClr val="C00000"/>
                </a:solidFill>
              </a:rPr>
              <a:t>üç gün </a:t>
            </a:r>
            <a:r>
              <a:rPr lang="tr-TR" dirty="0" smtClean="0"/>
              <a:t>içinde Sosyal Güvenlik Kurumuna bildirmelidir.</a:t>
            </a:r>
            <a:endParaRPr lang="tr-TR" dirty="0"/>
          </a:p>
        </p:txBody>
      </p:sp>
      <p:sp>
        <p:nvSpPr>
          <p:cNvPr id="4" name="3 Başlık"/>
          <p:cNvSpPr>
            <a:spLocks noGrp="1"/>
          </p:cNvSpPr>
          <p:nvPr>
            <p:ph type="title"/>
          </p:nvPr>
        </p:nvSpPr>
        <p:spPr>
          <a:xfrm>
            <a:off x="0" y="-70438"/>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pPr>
              <a:buNone/>
            </a:pPr>
            <a:r>
              <a:rPr lang="tr-TR" b="1" dirty="0" smtClean="0"/>
              <a:t>Madde 14: </a:t>
            </a:r>
            <a:r>
              <a:rPr lang="tr-TR" dirty="0" smtClean="0"/>
              <a:t>İşveren,</a:t>
            </a:r>
          </a:p>
          <a:p>
            <a:r>
              <a:rPr lang="tr-TR" dirty="0" smtClean="0"/>
              <a:t>Sağlık hizmeti sunucuları veya işyeri hekimi tarafından kendisine bildirilen meslek hastalıklarını, öğrendiği tarihten itibaren </a:t>
            </a:r>
            <a:r>
              <a:rPr lang="tr-TR" b="1" dirty="0" smtClean="0">
                <a:solidFill>
                  <a:srgbClr val="C00000"/>
                </a:solidFill>
              </a:rPr>
              <a:t>üç iş </a:t>
            </a:r>
            <a:r>
              <a:rPr lang="tr-TR" dirty="0" smtClean="0"/>
              <a:t>günü içinde Sosyal güvenlik Kurumuna bildirimde bulunur.</a:t>
            </a:r>
          </a:p>
          <a:p>
            <a:r>
              <a:rPr lang="tr-TR" dirty="0" smtClean="0"/>
              <a:t>İşveren ramak kala olaylarının kayıtlarını tutacak.</a:t>
            </a:r>
          </a:p>
          <a:p>
            <a:endParaRPr lang="tr-TR" dirty="0"/>
          </a:p>
        </p:txBody>
      </p:sp>
      <p:sp>
        <p:nvSpPr>
          <p:cNvPr id="4" name="3 Başlık"/>
          <p:cNvSpPr>
            <a:spLocks noGrp="1"/>
          </p:cNvSpPr>
          <p:nvPr>
            <p:ph type="title"/>
          </p:nvPr>
        </p:nvSpPr>
        <p:spPr>
          <a:xfrm>
            <a:off x="0" y="0"/>
            <a:ext cx="9144000" cy="955681"/>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67544" y="1196752"/>
            <a:ext cx="8229600" cy="4525963"/>
          </a:xfrm>
        </p:spPr>
        <p:txBody>
          <a:bodyPr>
            <a:normAutofit fontScale="85000" lnSpcReduction="10000"/>
          </a:bodyPr>
          <a:lstStyle/>
          <a:p>
            <a:pPr>
              <a:buNone/>
            </a:pPr>
            <a:r>
              <a:rPr lang="tr-TR" b="1" dirty="0" smtClean="0"/>
              <a:t>Madde 15: </a:t>
            </a:r>
            <a:r>
              <a:rPr lang="tr-TR" dirty="0" smtClean="0"/>
              <a:t>Sağlık Gözetimi</a:t>
            </a:r>
          </a:p>
          <a:p>
            <a:pPr>
              <a:buNone/>
            </a:pPr>
            <a:r>
              <a:rPr lang="tr-TR" b="1" dirty="0" smtClean="0"/>
              <a:t>(b) </a:t>
            </a:r>
            <a:r>
              <a:rPr lang="tr-TR" dirty="0" smtClean="0"/>
              <a:t>İşveren; çalışanların</a:t>
            </a:r>
          </a:p>
          <a:p>
            <a:pPr>
              <a:buNone/>
            </a:pPr>
            <a:r>
              <a:rPr lang="tr-TR" dirty="0" smtClean="0"/>
              <a:t>1. İşe girdiklerinde,</a:t>
            </a:r>
          </a:p>
          <a:p>
            <a:pPr>
              <a:buNone/>
            </a:pPr>
            <a:r>
              <a:rPr lang="tr-TR" dirty="0" smtClean="0"/>
              <a:t>2. İş değişikliğinde,</a:t>
            </a:r>
          </a:p>
          <a:p>
            <a:pPr>
              <a:buNone/>
            </a:pPr>
            <a:r>
              <a:rPr lang="tr-TR" dirty="0" smtClean="0"/>
              <a:t>3. İş kazası, meslek hastalığı veya sağlık nedeniyle işten uzaklaşma sonrası işe dönüşlerinde, işin tehlike sınıfına göre Bakanlıkça belirlenen düzenli aralıklar ile sağlık muayenelerinin yapılmasını sağlamak zorundadır. </a:t>
            </a:r>
          </a:p>
          <a:p>
            <a:pPr>
              <a:buNone/>
            </a:pPr>
            <a:endParaRPr lang="tr-TR" dirty="0" smtClean="0"/>
          </a:p>
          <a:p>
            <a:pPr>
              <a:buNone/>
            </a:pPr>
            <a:r>
              <a:rPr lang="tr-TR" i="1" dirty="0" smtClean="0"/>
              <a:t>Sağlık gözetiminden doğan maliyet çalışana yansıtılamaz.</a:t>
            </a:r>
          </a:p>
        </p:txBody>
      </p:sp>
      <p:sp>
        <p:nvSpPr>
          <p:cNvPr id="4" name="3 Başlık"/>
          <p:cNvSpPr>
            <a:spLocks noGrp="1"/>
          </p:cNvSpPr>
          <p:nvPr>
            <p:ph type="title"/>
          </p:nvPr>
        </p:nvSpPr>
        <p:spPr>
          <a:xfrm>
            <a:off x="0" y="-71351"/>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pPr>
              <a:buNone/>
            </a:pPr>
            <a:r>
              <a:rPr lang="tr-TR" b="1" dirty="0" smtClean="0"/>
              <a:t>Madde 16: </a:t>
            </a:r>
            <a:r>
              <a:rPr lang="tr-TR" dirty="0" smtClean="0"/>
              <a:t>Çalışanların Bilgilendirmesi</a:t>
            </a:r>
          </a:p>
          <a:p>
            <a:pPr>
              <a:buNone/>
            </a:pPr>
            <a:r>
              <a:rPr lang="tr-TR" dirty="0" smtClean="0"/>
              <a:t>İşveren; çalışanları işyerinde karşılaşılabilecek sağlık ve güvenlik riskleri, koruyucu ve önleyici tedbirler konusunda bilgilendirir.</a:t>
            </a:r>
            <a:endParaRPr lang="tr-TR" dirty="0"/>
          </a:p>
        </p:txBody>
      </p:sp>
      <p:sp>
        <p:nvSpPr>
          <p:cNvPr id="4" name="3 Başlık"/>
          <p:cNvSpPr>
            <a:spLocks noGrp="1"/>
          </p:cNvSpPr>
          <p:nvPr>
            <p:ph type="title"/>
          </p:nvPr>
        </p:nvSpPr>
        <p:spPr>
          <a:xfrm>
            <a:off x="0" y="-43309"/>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95536" y="1268760"/>
            <a:ext cx="8229600" cy="4525963"/>
          </a:xfrm>
        </p:spPr>
        <p:txBody>
          <a:bodyPr/>
          <a:lstStyle/>
          <a:p>
            <a:pPr>
              <a:buNone/>
            </a:pPr>
            <a:r>
              <a:rPr lang="tr-TR" b="1" dirty="0" smtClean="0"/>
              <a:t>Madde 17: </a:t>
            </a:r>
            <a:r>
              <a:rPr lang="tr-TR" dirty="0" smtClean="0"/>
              <a:t>Çalışanların Eğitimi</a:t>
            </a:r>
          </a:p>
          <a:p>
            <a:pPr marL="514350" indent="-514350">
              <a:buAutoNum type="arabicParenBoth"/>
            </a:pPr>
            <a:r>
              <a:rPr lang="tr-TR" dirty="0" smtClean="0"/>
              <a:t>İşveren, çalışanların İSG eğitimlerini almasını sağlar.</a:t>
            </a:r>
          </a:p>
          <a:p>
            <a:pPr marL="514350" indent="-514350">
              <a:buAutoNum type="arabicParenBoth"/>
            </a:pPr>
            <a:r>
              <a:rPr lang="tr-TR" dirty="0" smtClean="0"/>
              <a:t>Çalışan temsilcileri özel olarak eğitilir.</a:t>
            </a:r>
          </a:p>
          <a:p>
            <a:pPr marL="514350" indent="-514350">
              <a:buAutoNum type="arabicParenBoth"/>
            </a:pPr>
            <a:r>
              <a:rPr lang="tr-TR" dirty="0" smtClean="0"/>
              <a:t>Tehlikeli ve çok tehlikeli sınıfta yer alan işlerde mesleki eğitim aldığını belgeleyemeyenler çalıştırılamaz.</a:t>
            </a:r>
            <a:endParaRPr lang="tr-TR" dirty="0"/>
          </a:p>
        </p:txBody>
      </p:sp>
      <p:sp>
        <p:nvSpPr>
          <p:cNvPr id="4" name="3 Başlık"/>
          <p:cNvSpPr>
            <a:spLocks noGrp="1"/>
          </p:cNvSpPr>
          <p:nvPr>
            <p:ph type="title"/>
          </p:nvPr>
        </p:nvSpPr>
        <p:spPr>
          <a:xfrm>
            <a:off x="0" y="0"/>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sp>
        <p:nvSpPr>
          <p:cNvPr id="3" name="2 İçerik Yer Tutucusu"/>
          <p:cNvSpPr>
            <a:spLocks noGrp="1"/>
          </p:cNvSpPr>
          <p:nvPr>
            <p:ph idx="1"/>
          </p:nvPr>
        </p:nvSpPr>
        <p:spPr/>
        <p:txBody>
          <a:bodyPr/>
          <a:lstStyle/>
          <a:p>
            <a:pPr>
              <a:buNone/>
            </a:pPr>
            <a:r>
              <a:rPr lang="tr-TR" b="1" dirty="0" smtClean="0"/>
              <a:t>Madde 17:</a:t>
            </a:r>
          </a:p>
          <a:p>
            <a:pPr>
              <a:buNone/>
            </a:pPr>
            <a:r>
              <a:rPr lang="tr-TR" dirty="0" smtClean="0"/>
              <a:t>(4) Herhangi bir sebeple altı ay işten uzak kalanlara, bilgi yenileme eğitimi verilir.</a:t>
            </a:r>
          </a:p>
          <a:p>
            <a:endParaRPr lang="tr-TR" dirty="0" smtClean="0"/>
          </a:p>
          <a:p>
            <a:r>
              <a:rPr lang="tr-TR" dirty="0" smtClean="0"/>
              <a:t>Bu madde kapsamında verilecek eğitim maliyeti çalışanlara yansıtılamaz.</a:t>
            </a:r>
            <a:endParaRPr lang="tr-TR" dirty="0"/>
          </a:p>
        </p:txBody>
      </p:sp>
      <p:sp>
        <p:nvSpPr>
          <p:cNvPr id="4" name="3 Başlık"/>
          <p:cNvSpPr txBox="1">
            <a:spLocks/>
          </p:cNvSpPr>
          <p:nvPr/>
        </p:nvSpPr>
        <p:spPr>
          <a:xfrm>
            <a:off x="0" y="0"/>
            <a:ext cx="9144000" cy="955681"/>
          </a:xfrm>
          <a:prstGeom prst="rect">
            <a:avLst/>
          </a:prstGeom>
          <a:solidFill>
            <a:schemeClr val="accent2">
              <a:lumMod val="40000"/>
              <a:lumOff val="60000"/>
            </a:schemeClr>
          </a:solidFill>
          <a:ln>
            <a:solidFill>
              <a:schemeClr val="bg1"/>
            </a:solidFill>
          </a:ln>
        </p:spPr>
        <p:txBody>
          <a:bodyPr vert="horz" wrap="square" lIns="91440" tIns="45720" rIns="91440" bIns="45720" rtlCol="0" anchor="ctr">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5400" b="1" i="0" u="none" strike="noStrike" kern="1200" cap="none" spc="0" normalizeH="0" baseline="0" noProof="0" smtClean="0">
                <a:ln w="10541" cmpd="sng">
                  <a:solidFill>
                    <a:schemeClr val="accent1">
                      <a:shade val="88000"/>
                      <a:satMod val="110000"/>
                    </a:schemeClr>
                  </a:solidFill>
                  <a:prstDash val="solid"/>
                </a:ln>
                <a:solidFill>
                  <a:schemeClr val="accent1">
                    <a:lumMod val="50000"/>
                  </a:schemeClr>
                </a:solidFill>
                <a:effectLst/>
                <a:uLnTx/>
                <a:uFillTx/>
                <a:latin typeface="+mj-lt"/>
                <a:ea typeface="+mj-ea"/>
                <a:cs typeface="+mj-cs"/>
              </a:rPr>
              <a:t>6331 Sayılı Kanun</a:t>
            </a:r>
            <a:endParaRPr kumimoji="0" lang="tr-TR" sz="5400" b="1" i="0" u="none" strike="noStrike" kern="1200" cap="none" spc="0" normalizeH="0" baseline="0" noProof="0" dirty="0">
              <a:ln w="10541" cmpd="sng">
                <a:solidFill>
                  <a:schemeClr val="accent1">
                    <a:shade val="88000"/>
                    <a:satMod val="110000"/>
                  </a:schemeClr>
                </a:solidFill>
                <a:prstDash val="solid"/>
              </a:ln>
              <a:solidFill>
                <a:schemeClr val="accent1">
                  <a:lumMod val="50000"/>
                </a:schemeClr>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pPr>
              <a:buNone/>
            </a:pPr>
            <a:endParaRPr lang="tr-TR" b="1" dirty="0" smtClean="0"/>
          </a:p>
          <a:p>
            <a:pPr>
              <a:buNone/>
            </a:pPr>
            <a:r>
              <a:rPr lang="tr-TR" b="1" dirty="0" smtClean="0"/>
              <a:t>Madde 18: </a:t>
            </a:r>
            <a:r>
              <a:rPr lang="tr-TR" dirty="0" smtClean="0"/>
              <a:t>Çalışanların Görüşlerinin Alınması ve Katılımlarının Sağlanması </a:t>
            </a:r>
            <a:endParaRPr lang="tr-TR" dirty="0"/>
          </a:p>
        </p:txBody>
      </p:sp>
      <p:sp>
        <p:nvSpPr>
          <p:cNvPr id="4" name="3 Başlık"/>
          <p:cNvSpPr>
            <a:spLocks noGrp="1"/>
          </p:cNvSpPr>
          <p:nvPr>
            <p:ph type="title"/>
          </p:nvPr>
        </p:nvSpPr>
        <p:spPr>
          <a:xfrm>
            <a:off x="0" y="0"/>
            <a:ext cx="9144000" cy="923330"/>
          </a:xfrm>
          <a:prstGeom prst="rect">
            <a:avLst/>
          </a:prstGeom>
          <a:solidFill>
            <a:schemeClr val="accent2">
              <a:lumMod val="40000"/>
              <a:lumOff val="60000"/>
            </a:schemeClr>
          </a:solidFill>
          <a:ln>
            <a:solidFill>
              <a:schemeClr val="bg1"/>
            </a:solidFill>
          </a:ln>
        </p:spPr>
        <p:txBody>
          <a:bodyPr wrap="square" lIns="91440" tIns="45720" rIns="91440" bIns="45720">
            <a:spAutoFit/>
          </a:bodyPr>
          <a:lstStyle/>
          <a:p>
            <a:pPr algn="ctr"/>
            <a:r>
              <a:rPr lang="tr-TR" sz="5400" b="1" cap="none" spc="0" dirty="0" smtClean="0">
                <a:ln w="10541" cmpd="sng">
                  <a:solidFill>
                    <a:schemeClr val="accent1">
                      <a:shade val="88000"/>
                      <a:satMod val="110000"/>
                    </a:schemeClr>
                  </a:solidFill>
                  <a:prstDash val="solid"/>
                </a:ln>
                <a:solidFill>
                  <a:schemeClr val="accent1">
                    <a:lumMod val="50000"/>
                  </a:schemeClr>
                </a:solidFill>
                <a:effectLst/>
              </a:rPr>
              <a:t>6331 Sayılı Kanun</a:t>
            </a:r>
            <a:endParaRPr lang="tr-TR" sz="5400" b="1" cap="none" spc="0" dirty="0">
              <a:ln w="10541" cmpd="sng">
                <a:solidFill>
                  <a:schemeClr val="accent1">
                    <a:shade val="88000"/>
                    <a:satMod val="110000"/>
                  </a:schemeClr>
                </a:solidFill>
                <a:prstDash val="solid"/>
              </a:ln>
              <a:solidFill>
                <a:schemeClr val="accent1">
                  <a:lumMod val="50000"/>
                </a:schemeClr>
              </a:solidFill>
              <a:effectLst/>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980728"/>
            <a:ext cx="8229600" cy="1143000"/>
          </a:xfrm>
        </p:spPr>
        <p:txBody>
          <a:bodyPr/>
          <a:lstStyle/>
          <a:p>
            <a:pPr algn="l"/>
            <a:r>
              <a:rPr lang="tr-TR" dirty="0" smtClean="0">
                <a:solidFill>
                  <a:srgbClr val="FF0000"/>
                </a:solidFill>
              </a:rPr>
              <a:t>İdari Ceza ve Yaptırımlar</a:t>
            </a:r>
            <a:endParaRPr lang="tr-TR" dirty="0">
              <a:solidFill>
                <a:srgbClr val="FF0000"/>
              </a:solidFill>
            </a:endParaRPr>
          </a:p>
        </p:txBody>
      </p:sp>
      <p:sp>
        <p:nvSpPr>
          <p:cNvPr id="3" name="2 İçerik Yer Tutucusu"/>
          <p:cNvSpPr>
            <a:spLocks noGrp="1"/>
          </p:cNvSpPr>
          <p:nvPr>
            <p:ph idx="1"/>
          </p:nvPr>
        </p:nvSpPr>
        <p:spPr>
          <a:xfrm>
            <a:off x="467544" y="1628800"/>
            <a:ext cx="8229600" cy="4525963"/>
          </a:xfrm>
        </p:spPr>
        <p:txBody>
          <a:bodyPr>
            <a:normAutofit fontScale="85000" lnSpcReduction="20000"/>
          </a:bodyPr>
          <a:lstStyle/>
          <a:p>
            <a:endParaRPr lang="tr-TR" dirty="0" smtClean="0"/>
          </a:p>
          <a:p>
            <a:pPr>
              <a:buNone/>
            </a:pPr>
            <a:r>
              <a:rPr lang="tr-TR" dirty="0" smtClean="0"/>
              <a:t>İşverenler veya işveren vekilleri iş sağlığı ve güvenliği konusunda düzenlenen bu hükümlere uymadıklarında </a:t>
            </a:r>
          </a:p>
          <a:p>
            <a:r>
              <a:rPr lang="tr-TR" b="1" dirty="0" smtClean="0"/>
              <a:t>idari para cezası </a:t>
            </a:r>
          </a:p>
          <a:p>
            <a:r>
              <a:rPr lang="tr-TR" b="1" dirty="0" smtClean="0"/>
              <a:t>işin durdurulması </a:t>
            </a:r>
            <a:r>
              <a:rPr lang="tr-TR" dirty="0" smtClean="0"/>
              <a:t>veya </a:t>
            </a:r>
            <a:r>
              <a:rPr lang="tr-TR" b="1" dirty="0" smtClean="0"/>
              <a:t>işyerinin kapatılması</a:t>
            </a:r>
            <a:r>
              <a:rPr lang="tr-TR" dirty="0" smtClean="0"/>
              <a:t>, işçilerin çalışmaktan alıkonulması gibi diğer idari yaptırımlarla karşılaşabilecekleri gibi, </a:t>
            </a:r>
          </a:p>
          <a:p>
            <a:r>
              <a:rPr lang="tr-TR" dirty="0" smtClean="0"/>
              <a:t>iş sağlığı ve güvenliği önlemlerini almamaları nedeniyle iş kazası veya meslek hastalığının ortaya çıkmasındaki kusurları suç oluşturmakta ise Türk Ceza kanununda düzenlenen hapis veya adli para cezalarına da çarptırılabilirler. </a:t>
            </a:r>
          </a:p>
          <a:p>
            <a:endParaRPr lang="tr-TR" dirty="0"/>
          </a:p>
        </p:txBody>
      </p:sp>
      <p:sp>
        <p:nvSpPr>
          <p:cNvPr id="4" name="3 Başlık"/>
          <p:cNvSpPr txBox="1">
            <a:spLocks/>
          </p:cNvSpPr>
          <p:nvPr/>
        </p:nvSpPr>
        <p:spPr>
          <a:xfrm>
            <a:off x="0" y="0"/>
            <a:ext cx="9144000" cy="923330"/>
          </a:xfrm>
          <a:prstGeom prst="rect">
            <a:avLst/>
          </a:prstGeom>
          <a:solidFill>
            <a:schemeClr val="accent2">
              <a:lumMod val="40000"/>
              <a:lumOff val="60000"/>
            </a:schemeClr>
          </a:solidFill>
          <a:ln>
            <a:solidFill>
              <a:schemeClr val="bg1"/>
            </a:solidFill>
          </a:ln>
        </p:spPr>
        <p:txBody>
          <a:bodyPr vert="horz" wrap="square" lIns="91440" tIns="45720" rIns="91440" bIns="45720" rtlCol="0" anchor="ctr">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tr-TR" sz="5400" b="1" i="0" u="none" strike="noStrike" kern="1200" cap="none" spc="0" normalizeH="0" baseline="0" noProof="0" dirty="0" smtClean="0">
                <a:ln w="10541" cmpd="sng">
                  <a:solidFill>
                    <a:schemeClr val="accent1">
                      <a:shade val="88000"/>
                      <a:satMod val="110000"/>
                    </a:schemeClr>
                  </a:solidFill>
                  <a:prstDash val="solid"/>
                </a:ln>
                <a:solidFill>
                  <a:schemeClr val="accent1">
                    <a:lumMod val="50000"/>
                  </a:schemeClr>
                </a:solidFill>
                <a:effectLst/>
                <a:uLnTx/>
                <a:uFillTx/>
                <a:latin typeface="+mj-lt"/>
                <a:ea typeface="+mj-ea"/>
                <a:cs typeface="+mj-cs"/>
              </a:rPr>
              <a:t>6331 Sayılı Kanun</a:t>
            </a:r>
            <a:endParaRPr kumimoji="0" lang="tr-TR" sz="5400" b="1" i="0" u="none" strike="noStrike" kern="1200" cap="none" spc="0" normalizeH="0" baseline="0" noProof="0" dirty="0">
              <a:ln w="10541" cmpd="sng">
                <a:solidFill>
                  <a:schemeClr val="accent1">
                    <a:shade val="88000"/>
                    <a:satMod val="110000"/>
                  </a:schemeClr>
                </a:solidFill>
                <a:prstDash val="solid"/>
              </a:ln>
              <a:solidFill>
                <a:schemeClr val="accent1">
                  <a:lumMod val="50000"/>
                </a:schemeClr>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1" name="Rectangle 3"/>
          <p:cNvSpPr>
            <a:spLocks noGrp="1" noChangeArrowheads="1"/>
          </p:cNvSpPr>
          <p:nvPr>
            <p:ph type="title"/>
          </p:nvPr>
        </p:nvSpPr>
        <p:spPr>
          <a:xfrm>
            <a:off x="395288" y="188913"/>
            <a:ext cx="8229600" cy="1052512"/>
          </a:xfrm>
        </p:spPr>
        <p:txBody>
          <a:bodyPr/>
          <a:lstStyle/>
          <a:p>
            <a:r>
              <a:rPr lang="tr-TR" sz="3600" b="1" smtClean="0">
                <a:solidFill>
                  <a:srgbClr val="00008E"/>
                </a:solidFill>
              </a:rPr>
              <a:t>4857 Sayılı İş Kanunu </a:t>
            </a:r>
            <a:r>
              <a:rPr lang="tr-TR" sz="3600" b="1" i="1" smtClean="0">
                <a:solidFill>
                  <a:srgbClr val="00008E"/>
                </a:solidFill>
              </a:rPr>
              <a:t>(10.06.2003)</a:t>
            </a:r>
          </a:p>
        </p:txBody>
      </p:sp>
      <p:sp>
        <p:nvSpPr>
          <p:cNvPr id="288772" name="Rectangle 4"/>
          <p:cNvSpPr>
            <a:spLocks noGrp="1" noChangeArrowheads="1"/>
          </p:cNvSpPr>
          <p:nvPr>
            <p:ph type="body" idx="1"/>
          </p:nvPr>
        </p:nvSpPr>
        <p:spPr>
          <a:xfrm>
            <a:off x="323850" y="1600200"/>
            <a:ext cx="8640763" cy="3844925"/>
          </a:xfrm>
        </p:spPr>
        <p:txBody>
          <a:bodyPr/>
          <a:lstStyle/>
          <a:p>
            <a:endParaRPr lang="tr-TR" sz="2800" b="1" smtClean="0">
              <a:solidFill>
                <a:srgbClr val="00008E"/>
              </a:solidFill>
            </a:endParaRPr>
          </a:p>
          <a:p>
            <a:r>
              <a:rPr lang="tr-TR" sz="2800" b="1" smtClean="0">
                <a:solidFill>
                  <a:srgbClr val="00008E"/>
                </a:solidFill>
              </a:rPr>
              <a:t>5. Bölüm</a:t>
            </a:r>
            <a:r>
              <a:rPr lang="tr-TR" sz="2800" smtClean="0">
                <a:solidFill>
                  <a:srgbClr val="00008E"/>
                </a:solidFill>
              </a:rPr>
              <a:t> İş Sağlığı ve Güvenliği Hükümlerini İçerir</a:t>
            </a:r>
          </a:p>
          <a:p>
            <a:endParaRPr lang="tr-TR" sz="2800" b="1" smtClean="0">
              <a:solidFill>
                <a:srgbClr val="00008E"/>
              </a:solidFill>
            </a:endParaRPr>
          </a:p>
          <a:p>
            <a:endParaRPr lang="tr-TR" sz="2800" b="1" smtClean="0">
              <a:solidFill>
                <a:srgbClr val="00008E"/>
              </a:solidFill>
            </a:endParaRPr>
          </a:p>
          <a:p>
            <a:r>
              <a:rPr lang="tr-TR" sz="2800" b="1" smtClean="0">
                <a:solidFill>
                  <a:srgbClr val="00008E"/>
                </a:solidFill>
              </a:rPr>
              <a:t>77-89 Maddeleri</a:t>
            </a:r>
            <a:r>
              <a:rPr lang="tr-TR" sz="2800" smtClean="0">
                <a:solidFill>
                  <a:srgbClr val="00008E"/>
                </a:solidFill>
              </a:rPr>
              <a:t>  İş sağlığı ve Güvenliği ile doğrudan ilişkilidir.</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ctrTitle" sz="quarter"/>
          </p:nvPr>
        </p:nvSpPr>
        <p:spPr>
          <a:xfrm>
            <a:off x="395536" y="0"/>
            <a:ext cx="8062912" cy="5616575"/>
          </a:xfrm>
        </p:spPr>
        <p:txBody>
          <a:bodyPr/>
          <a:lstStyle/>
          <a:p>
            <a:pPr>
              <a:lnSpc>
                <a:spcPct val="160000"/>
              </a:lnSpc>
            </a:pPr>
            <a:r>
              <a:rPr lang="tr-TR" sz="3900" dirty="0" smtClean="0">
                <a:solidFill>
                  <a:schemeClr val="tx2">
                    <a:lumMod val="60000"/>
                    <a:lumOff val="40000"/>
                  </a:schemeClr>
                </a:solidFill>
                <a:effectLst/>
              </a:rPr>
              <a:t> </a:t>
            </a:r>
            <a:r>
              <a:rPr lang="tr-TR" sz="3900" b="1" dirty="0" smtClean="0">
                <a:solidFill>
                  <a:schemeClr val="tx2">
                    <a:lumMod val="60000"/>
                    <a:lumOff val="40000"/>
                  </a:schemeClr>
                </a:solidFill>
                <a:effectLst/>
              </a:rPr>
              <a:t>4857 Sayılı İş Kanunu </a:t>
            </a:r>
            <a:r>
              <a:rPr lang="tr-TR" sz="3900" b="1" dirty="0" smtClean="0">
                <a:solidFill>
                  <a:srgbClr val="003300"/>
                </a:solidFill>
                <a:effectLst/>
              </a:rPr>
              <a:t>ile çalışma hayatında </a:t>
            </a:r>
            <a:r>
              <a:rPr lang="tr-TR" sz="3900" b="1" dirty="0" smtClean="0">
                <a:solidFill>
                  <a:srgbClr val="FF0000"/>
                </a:solidFill>
                <a:effectLst/>
              </a:rPr>
              <a:t>yeni risklerin</a:t>
            </a:r>
            <a:r>
              <a:rPr lang="tr-TR" sz="3900" b="1" dirty="0" smtClean="0">
                <a:solidFill>
                  <a:srgbClr val="003300"/>
                </a:solidFill>
                <a:effectLst/>
              </a:rPr>
              <a:t> ortaya çıktığı dikkate alınarak, işverenlere ve işçilere daha büyük sorumluluklar ve yükümlülükler getirilmiştir.</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ChangeArrowheads="1"/>
          </p:cNvSpPr>
          <p:nvPr>
            <p:ph type="title"/>
          </p:nvPr>
        </p:nvSpPr>
        <p:spPr>
          <a:xfrm>
            <a:off x="457200" y="44450"/>
            <a:ext cx="8229600" cy="941388"/>
          </a:xfrm>
        </p:spPr>
        <p:txBody>
          <a:bodyPr/>
          <a:lstStyle/>
          <a:p>
            <a:pPr>
              <a:defRPr/>
            </a:pPr>
            <a:r>
              <a:rPr lang="tr-TR" b="1">
                <a:solidFill>
                  <a:srgbClr val="FF3300"/>
                </a:solidFill>
              </a:rPr>
              <a:t>HEDEF</a:t>
            </a:r>
          </a:p>
        </p:txBody>
      </p:sp>
      <p:sp>
        <p:nvSpPr>
          <p:cNvPr id="67587" name="Rectangle 3"/>
          <p:cNvSpPr>
            <a:spLocks noGrp="1" noChangeArrowheads="1"/>
          </p:cNvSpPr>
          <p:nvPr>
            <p:ph idx="1"/>
          </p:nvPr>
        </p:nvSpPr>
        <p:spPr>
          <a:xfrm>
            <a:off x="179388" y="1198563"/>
            <a:ext cx="8507412" cy="5183187"/>
          </a:xfrm>
        </p:spPr>
        <p:txBody>
          <a:bodyPr/>
          <a:lstStyle/>
          <a:p>
            <a:pPr algn="just">
              <a:lnSpc>
                <a:spcPct val="150000"/>
              </a:lnSpc>
              <a:buFont typeface="Wingdings" pitchFamily="2" charset="2"/>
              <a:buNone/>
            </a:pPr>
            <a:r>
              <a:rPr lang="tr-TR" sz="2800" smtClean="0">
                <a:effectLst/>
              </a:rPr>
              <a:t>	</a:t>
            </a:r>
            <a:r>
              <a:rPr lang="tr-TR" sz="2800" smtClean="0">
                <a:solidFill>
                  <a:srgbClr val="003300"/>
                </a:solidFill>
                <a:effectLst/>
              </a:rPr>
              <a:t>İşyerinde meydana gelen, iş göremezlikle, maluliyetle ve ölümle sonuçlanan, maddi ve manevi tazminatlarla işvereni ve işletmeyi büyük sıkıntılara sokan</a:t>
            </a:r>
            <a:r>
              <a:rPr lang="tr-TR" sz="2800" smtClean="0">
                <a:effectLst/>
              </a:rPr>
              <a:t> </a:t>
            </a:r>
            <a:r>
              <a:rPr lang="tr-TR" sz="2800" smtClean="0">
                <a:solidFill>
                  <a:srgbClr val="FF3300"/>
                </a:solidFill>
                <a:effectLst/>
              </a:rPr>
              <a:t>İŞ KAZALARININ</a:t>
            </a:r>
            <a:r>
              <a:rPr lang="tr-TR" sz="2800" smtClean="0">
                <a:effectLst/>
              </a:rPr>
              <a:t> </a:t>
            </a:r>
            <a:r>
              <a:rPr lang="tr-TR" sz="2800" smtClean="0">
                <a:solidFill>
                  <a:srgbClr val="003300"/>
                </a:solidFill>
                <a:effectLst/>
              </a:rPr>
              <a:t>ve</a:t>
            </a:r>
            <a:r>
              <a:rPr lang="tr-TR" sz="2800" smtClean="0">
                <a:effectLst/>
              </a:rPr>
              <a:t> </a:t>
            </a:r>
            <a:r>
              <a:rPr lang="tr-TR" sz="2800" smtClean="0">
                <a:solidFill>
                  <a:srgbClr val="FF3300"/>
                </a:solidFill>
                <a:effectLst/>
              </a:rPr>
              <a:t>MESLEK HASTALIKLARININ</a:t>
            </a:r>
            <a:r>
              <a:rPr lang="tr-TR" sz="2800" smtClean="0">
                <a:effectLst/>
              </a:rPr>
              <a:t> </a:t>
            </a:r>
            <a:r>
              <a:rPr lang="tr-TR" sz="2800" smtClean="0">
                <a:solidFill>
                  <a:srgbClr val="003300"/>
                </a:solidFill>
                <a:effectLst/>
              </a:rPr>
              <a:t>asgari seviyelere indirilmesi,</a:t>
            </a:r>
            <a:r>
              <a:rPr lang="tr-TR" sz="2800" smtClean="0">
                <a:effectLst/>
              </a:rPr>
              <a:t> </a:t>
            </a:r>
            <a:r>
              <a:rPr lang="tr-TR" sz="2800" smtClean="0">
                <a:solidFill>
                  <a:srgbClr val="0000FF"/>
                </a:solidFill>
                <a:effectLst/>
              </a:rPr>
              <a:t>iş veriminin ve kazancın artmasını sağlamaktır.</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tr-TR" sz="3200" b="1" smtClean="0">
                <a:solidFill>
                  <a:srgbClr val="FF3300"/>
                </a:solidFill>
                <a:effectLst/>
              </a:rPr>
              <a:t>AMAÇ</a:t>
            </a:r>
            <a:r>
              <a:rPr lang="tr-TR" sz="3200" b="1" smtClean="0">
                <a:solidFill>
                  <a:srgbClr val="003300"/>
                </a:solidFill>
                <a:effectLst/>
              </a:rPr>
              <a:t>,</a:t>
            </a:r>
            <a:r>
              <a:rPr lang="tr-TR" sz="3200" b="1" smtClean="0">
                <a:effectLst/>
              </a:rPr>
              <a:t> </a:t>
            </a:r>
            <a:r>
              <a:rPr lang="tr-TR" sz="3200" b="1" smtClean="0">
                <a:solidFill>
                  <a:srgbClr val="003300"/>
                </a:solidFill>
                <a:effectLst/>
              </a:rPr>
              <a:t>işyerlerinin daha sağlıklı ve güvenli olmasını sağlamaktır.</a:t>
            </a:r>
            <a:r>
              <a:rPr lang="tr-TR" sz="3200" smtClean="0">
                <a:effectLst/>
              </a:rPr>
              <a:t> </a:t>
            </a:r>
          </a:p>
        </p:txBody>
      </p:sp>
      <p:sp>
        <p:nvSpPr>
          <p:cNvPr id="68611" name="Rectangle 3"/>
          <p:cNvSpPr>
            <a:spLocks noGrp="1" noChangeArrowheads="1"/>
          </p:cNvSpPr>
          <p:nvPr>
            <p:ph idx="1"/>
          </p:nvPr>
        </p:nvSpPr>
        <p:spPr>
          <a:xfrm>
            <a:off x="323850" y="1773238"/>
            <a:ext cx="8569325" cy="4525962"/>
          </a:xfrm>
        </p:spPr>
        <p:txBody>
          <a:bodyPr/>
          <a:lstStyle/>
          <a:p>
            <a:pPr>
              <a:lnSpc>
                <a:spcPct val="130000"/>
              </a:lnSpc>
              <a:buFont typeface="Wingdings" pitchFamily="2" charset="2"/>
              <a:buNone/>
            </a:pPr>
            <a:r>
              <a:rPr lang="tr-TR" sz="2400" b="1" smtClean="0">
                <a:solidFill>
                  <a:srgbClr val="003300"/>
                </a:solidFill>
                <a:effectLst/>
              </a:rPr>
              <a:t>Bu nedenle, </a:t>
            </a:r>
          </a:p>
          <a:p>
            <a:pPr>
              <a:lnSpc>
                <a:spcPct val="130000"/>
              </a:lnSpc>
              <a:buFont typeface="Wingdings" pitchFamily="2" charset="2"/>
              <a:buNone/>
            </a:pPr>
            <a:r>
              <a:rPr lang="tr-TR" sz="2400" b="1" smtClean="0">
                <a:solidFill>
                  <a:srgbClr val="003300"/>
                </a:solidFill>
                <a:effectLst/>
              </a:rPr>
              <a:t>	</a:t>
            </a:r>
            <a:r>
              <a:rPr lang="tr-TR" sz="2400" b="1" smtClean="0">
                <a:solidFill>
                  <a:schemeClr val="folHlink"/>
                </a:solidFill>
                <a:effectLst/>
              </a:rPr>
              <a:t>İşverenlere</a:t>
            </a:r>
            <a:r>
              <a:rPr lang="tr-TR" sz="2400" b="1" smtClean="0">
                <a:solidFill>
                  <a:srgbClr val="003300"/>
                </a:solidFill>
                <a:effectLst/>
              </a:rPr>
              <a:t>;</a:t>
            </a:r>
          </a:p>
          <a:p>
            <a:pPr>
              <a:lnSpc>
                <a:spcPct val="130000"/>
              </a:lnSpc>
              <a:buFont typeface="Wingdings" pitchFamily="2" charset="2"/>
              <a:buNone/>
            </a:pPr>
            <a:r>
              <a:rPr lang="tr-TR" sz="2400" b="1" smtClean="0">
                <a:solidFill>
                  <a:srgbClr val="003300"/>
                </a:solidFill>
                <a:effectLst/>
              </a:rPr>
              <a:t>	İş Sağlığı ve Güvenliği  Konusunda </a:t>
            </a:r>
            <a:r>
              <a:rPr lang="tr-TR" sz="2400" b="1" smtClean="0">
                <a:solidFill>
                  <a:schemeClr val="folHlink"/>
                </a:solidFill>
                <a:effectLst/>
              </a:rPr>
              <a:t>işçileri</a:t>
            </a:r>
            <a:r>
              <a:rPr lang="tr-TR" sz="2400" b="1" smtClean="0">
                <a:solidFill>
                  <a:srgbClr val="003300"/>
                </a:solidFill>
                <a:effectLst/>
              </a:rPr>
              <a:t>,</a:t>
            </a:r>
          </a:p>
          <a:p>
            <a:pPr>
              <a:lnSpc>
                <a:spcPct val="130000"/>
              </a:lnSpc>
              <a:buFont typeface="Wingdings" pitchFamily="2" charset="2"/>
              <a:buNone/>
            </a:pPr>
            <a:r>
              <a:rPr lang="tr-TR" sz="2400" b="1" smtClean="0">
                <a:effectLst/>
              </a:rPr>
              <a:t>	</a:t>
            </a:r>
            <a:r>
              <a:rPr lang="tr-TR" sz="2400" b="1" smtClean="0">
                <a:solidFill>
                  <a:srgbClr val="003300"/>
                </a:solidFill>
                <a:effectLst/>
              </a:rPr>
              <a:t>1.</a:t>
            </a:r>
            <a:r>
              <a:rPr lang="tr-TR" sz="2400" b="1" smtClean="0">
                <a:effectLst/>
              </a:rPr>
              <a:t> </a:t>
            </a:r>
            <a:r>
              <a:rPr lang="tr-TR" sz="2400" b="1" smtClean="0">
                <a:solidFill>
                  <a:srgbClr val="0000FF"/>
                </a:solidFill>
                <a:effectLst/>
              </a:rPr>
              <a:t>Eğitme</a:t>
            </a:r>
            <a:br>
              <a:rPr lang="tr-TR" sz="2400" b="1" smtClean="0">
                <a:solidFill>
                  <a:srgbClr val="0000FF"/>
                </a:solidFill>
                <a:effectLst/>
              </a:rPr>
            </a:br>
            <a:r>
              <a:rPr lang="tr-TR" sz="2400" b="1" smtClean="0">
                <a:solidFill>
                  <a:srgbClr val="003300"/>
                </a:solidFill>
                <a:effectLst/>
              </a:rPr>
              <a:t>2.</a:t>
            </a:r>
            <a:r>
              <a:rPr lang="tr-TR" sz="2400" b="1" smtClean="0">
                <a:effectLst/>
              </a:rPr>
              <a:t> </a:t>
            </a:r>
            <a:r>
              <a:rPr lang="tr-TR" sz="2400" b="1" smtClean="0">
                <a:solidFill>
                  <a:srgbClr val="FF3300"/>
                </a:solidFill>
                <a:effectLst/>
              </a:rPr>
              <a:t>Bilgilendirme</a:t>
            </a:r>
            <a:br>
              <a:rPr lang="tr-TR" sz="2400" b="1" smtClean="0">
                <a:solidFill>
                  <a:srgbClr val="FF3300"/>
                </a:solidFill>
                <a:effectLst/>
              </a:rPr>
            </a:br>
            <a:r>
              <a:rPr lang="tr-TR" sz="2400" b="1" smtClean="0">
                <a:solidFill>
                  <a:srgbClr val="003300"/>
                </a:solidFill>
                <a:effectLst/>
              </a:rPr>
              <a:t>3.</a:t>
            </a:r>
            <a:r>
              <a:rPr lang="tr-TR" sz="2400" b="1" smtClean="0">
                <a:effectLst/>
              </a:rPr>
              <a:t> </a:t>
            </a:r>
            <a:r>
              <a:rPr lang="tr-TR" sz="2400" b="1" smtClean="0">
                <a:solidFill>
                  <a:srgbClr val="33CC33"/>
                </a:solidFill>
                <a:effectLst/>
              </a:rPr>
              <a:t>Denetleme </a:t>
            </a:r>
          </a:p>
          <a:p>
            <a:pPr>
              <a:lnSpc>
                <a:spcPct val="130000"/>
              </a:lnSpc>
              <a:buFont typeface="Wingdings" pitchFamily="2" charset="2"/>
              <a:buNone/>
            </a:pPr>
            <a:r>
              <a:rPr lang="tr-TR" sz="2400" b="1" smtClean="0">
                <a:effectLst/>
              </a:rPr>
              <a:t>                           </a:t>
            </a:r>
            <a:r>
              <a:rPr lang="tr-TR" sz="2400" b="1" smtClean="0">
                <a:solidFill>
                  <a:srgbClr val="003300"/>
                </a:solidFill>
                <a:effectLst/>
              </a:rPr>
              <a:t>yükümlülüğü getirilmiştir.</a:t>
            </a:r>
            <a:r>
              <a:rPr lang="tr-TR" sz="2400" b="1" smtClean="0">
                <a:effectLst/>
              </a:rPr>
              <a:t> </a:t>
            </a:r>
            <a:r>
              <a:rPr lang="tr-TR" sz="2400" b="1" smtClean="0">
                <a:solidFill>
                  <a:srgbClr val="003300"/>
                </a:solidFill>
                <a:effectLst/>
              </a:rPr>
              <a:t>(Md.77)</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323850" y="260350"/>
            <a:ext cx="8507413" cy="1008063"/>
          </a:xfrm>
        </p:spPr>
        <p:txBody>
          <a:bodyPr>
            <a:normAutofit fontScale="90000"/>
          </a:bodyPr>
          <a:lstStyle/>
          <a:p>
            <a:r>
              <a:rPr lang="tr-TR" sz="3200" b="1" smtClean="0">
                <a:solidFill>
                  <a:srgbClr val="0000FF"/>
                </a:solidFill>
                <a:effectLst/>
              </a:rPr>
              <a:t>4857 sayılı İş Kanunu’nun</a:t>
            </a:r>
            <a:br>
              <a:rPr lang="tr-TR" sz="3200" b="1" smtClean="0">
                <a:solidFill>
                  <a:srgbClr val="0000FF"/>
                </a:solidFill>
                <a:effectLst/>
              </a:rPr>
            </a:br>
            <a:r>
              <a:rPr lang="tr-TR" sz="3200" b="1" smtClean="0">
                <a:solidFill>
                  <a:srgbClr val="0000FF"/>
                </a:solidFill>
                <a:effectLst/>
              </a:rPr>
              <a:t> 77. maddesine göre;</a:t>
            </a:r>
          </a:p>
        </p:txBody>
      </p:sp>
      <p:sp>
        <p:nvSpPr>
          <p:cNvPr id="69635" name="Rectangle 3"/>
          <p:cNvSpPr>
            <a:spLocks noGrp="1" noChangeArrowheads="1"/>
          </p:cNvSpPr>
          <p:nvPr>
            <p:ph idx="1"/>
          </p:nvPr>
        </p:nvSpPr>
        <p:spPr>
          <a:xfrm>
            <a:off x="468313" y="1711325"/>
            <a:ext cx="8229600" cy="4886325"/>
          </a:xfrm>
        </p:spPr>
        <p:txBody>
          <a:bodyPr/>
          <a:lstStyle/>
          <a:p>
            <a:pPr algn="just">
              <a:lnSpc>
                <a:spcPct val="130000"/>
              </a:lnSpc>
            </a:pPr>
            <a:r>
              <a:rPr lang="tr-TR" sz="2800" smtClean="0">
                <a:solidFill>
                  <a:srgbClr val="FF3300"/>
                </a:solidFill>
                <a:effectLst/>
              </a:rPr>
              <a:t>İşverenler,</a:t>
            </a:r>
            <a:r>
              <a:rPr lang="tr-TR" sz="2800" smtClean="0">
                <a:solidFill>
                  <a:srgbClr val="003300"/>
                </a:solidFill>
                <a:effectLst/>
              </a:rPr>
              <a:t> işyerlerinde İş Sağlığı ve Güvenliğinin sağlanması için gerekli her türlü önlemi almak, araç ve gereçleri noksansız bulundurmak, </a:t>
            </a:r>
          </a:p>
          <a:p>
            <a:pPr algn="just">
              <a:lnSpc>
                <a:spcPct val="130000"/>
              </a:lnSpc>
            </a:pPr>
            <a:endParaRPr lang="tr-TR" sz="2800" smtClean="0">
              <a:solidFill>
                <a:srgbClr val="003300"/>
              </a:solidFill>
              <a:effectLst/>
            </a:endParaRPr>
          </a:p>
          <a:p>
            <a:pPr algn="just">
              <a:lnSpc>
                <a:spcPct val="130000"/>
              </a:lnSpc>
            </a:pPr>
            <a:r>
              <a:rPr lang="tr-TR" sz="2800" smtClean="0">
                <a:solidFill>
                  <a:srgbClr val="FF3300"/>
                </a:solidFill>
                <a:effectLst/>
              </a:rPr>
              <a:t>İşçilerde,</a:t>
            </a:r>
            <a:r>
              <a:rPr lang="tr-TR" sz="2800" smtClean="0">
                <a:solidFill>
                  <a:srgbClr val="003300"/>
                </a:solidFill>
                <a:effectLst/>
              </a:rPr>
              <a:t> İş Sağlığı ve Güvenliği konusunda alınan her türlü önleme uymakla yükümlüdürler.</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357166"/>
            <a:ext cx="8229600" cy="1071570"/>
          </a:xfrm>
        </p:spPr>
        <p:txBody>
          <a:bodyPr>
            <a:normAutofit/>
          </a:bodyPr>
          <a:lstStyle/>
          <a:p>
            <a:pPr algn="ctr"/>
            <a:r>
              <a:rPr lang="tr-TR" sz="4000" b="1" dirty="0" smtClean="0"/>
              <a:t>SAĞLIK TARAMASI YAPILACAK</a:t>
            </a:r>
            <a:endParaRPr lang="tr-TR" sz="4000" b="1" dirty="0"/>
          </a:p>
        </p:txBody>
      </p:sp>
      <p:sp>
        <p:nvSpPr>
          <p:cNvPr id="3" name="2 İçerik Yer Tutucusu"/>
          <p:cNvSpPr>
            <a:spLocks noGrp="1"/>
          </p:cNvSpPr>
          <p:nvPr>
            <p:ph idx="1"/>
          </p:nvPr>
        </p:nvSpPr>
        <p:spPr/>
        <p:txBody>
          <a:bodyPr/>
          <a:lstStyle/>
          <a:p>
            <a:r>
              <a:rPr lang="tr-TR" dirty="0" smtClean="0"/>
              <a:t>Tüm çalışanların; ilk işe girişlerde, iş değişikliğinde, iş kazası veya sağlık nedeni ile verilen aralardan sonra ve </a:t>
            </a:r>
            <a:r>
              <a:rPr lang="tr-TR" b="1" i="1" dirty="0" smtClean="0"/>
              <a:t>belli periyotlarda </a:t>
            </a:r>
            <a:r>
              <a:rPr lang="tr-TR" dirty="0" smtClean="0"/>
              <a:t>sağlık muayeneleri yapılarak sağlık raporları düzenlenecek</a:t>
            </a:r>
          </a:p>
          <a:p>
            <a:r>
              <a:rPr lang="tr-TR" b="1" i="1" dirty="0" smtClean="0"/>
              <a:t>Sağlık Raporlarını İşyeri Hekimi Düzenleyecek.</a:t>
            </a:r>
            <a:endParaRPr lang="tr-TR" b="1" i="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975</TotalTime>
  <Words>1890</Words>
  <Application>Microsoft Office PowerPoint</Application>
  <PresentationFormat>Ekran Gösterisi (4:3)</PresentationFormat>
  <Paragraphs>226</Paragraphs>
  <Slides>47</Slides>
  <Notes>1</Notes>
  <HiddenSlides>0</HiddenSlides>
  <MMClips>0</MMClips>
  <ScaleCrop>false</ScaleCrop>
  <HeadingPairs>
    <vt:vector size="4" baseType="variant">
      <vt:variant>
        <vt:lpstr>Tema</vt:lpstr>
      </vt:variant>
      <vt:variant>
        <vt:i4>1</vt:i4>
      </vt:variant>
      <vt:variant>
        <vt:lpstr>Slayt Başlıkları</vt:lpstr>
      </vt:variant>
      <vt:variant>
        <vt:i4>47</vt:i4>
      </vt:variant>
    </vt:vector>
  </HeadingPairs>
  <TitlesOfParts>
    <vt:vector size="48" baseType="lpstr">
      <vt:lpstr>Ofis Teması</vt:lpstr>
      <vt:lpstr>Slayt 1</vt:lpstr>
      <vt:lpstr>Hukuk düzeni piramidi: </vt:lpstr>
      <vt:lpstr>Slayt 3</vt:lpstr>
      <vt:lpstr>Slayt 4</vt:lpstr>
      <vt:lpstr>Slayt 5</vt:lpstr>
      <vt:lpstr>ANAYASA (17, 49, 50, 55, 56, 60)</vt:lpstr>
      <vt:lpstr>ANAYASA (17, 48, 49, 50, 55, 56, 60)  </vt:lpstr>
      <vt:lpstr>ANAYASA (17, 48, 49, 50, 55, 56, 60)</vt:lpstr>
      <vt:lpstr>ANAYASA</vt:lpstr>
      <vt:lpstr>ANAYASA</vt:lpstr>
      <vt:lpstr>6331 Sayılı Kanun Kapsamı </vt:lpstr>
      <vt:lpstr>Slayt 12</vt:lpstr>
      <vt:lpstr>İŞVEREN ÇALIŞAN TEMSİLCİSİ GÖREVLENDİRECEK</vt:lpstr>
      <vt:lpstr>  </vt:lpstr>
      <vt:lpstr>Slayt 15</vt:lpstr>
      <vt:lpstr>6331 Sayılı Kanun</vt:lpstr>
      <vt:lpstr>6331 Sayılı Kanun</vt:lpstr>
      <vt:lpstr>6331 Sayılı Kanun</vt:lpstr>
      <vt:lpstr>Tehlike Sınıfları</vt:lpstr>
      <vt:lpstr>Slayt 20</vt:lpstr>
      <vt:lpstr>6331 Sayılı Kanun</vt:lpstr>
      <vt:lpstr>6331 sayılı İş Sağlığı ve Güvenliği Kanunun İşverenlere ve Çalışanlara Getirdiği Hak ve Yükümlülükler</vt:lpstr>
      <vt:lpstr> </vt:lpstr>
      <vt:lpstr> </vt:lpstr>
      <vt:lpstr>Risklerden korunma ilkeleri  Madde 5: (1) işverenin yükümlülüklerinin yerine getirilmesinde aşağıdaki ilkeler göz önünde bulundurulur:  </vt:lpstr>
      <vt:lpstr>Madde 5: (1) işverenin yükümlülüklerinin yerine getirilmesinde aşağıdaki ilkeler göz önünde bulundurulur:</vt:lpstr>
      <vt:lpstr>Madde 6: İş Sağlığı ve Güvenliği hizmetlerinin sunulması için işveren; </vt:lpstr>
      <vt:lpstr>Madde 7: İş Sağlığı ve Güvenliği Hizmetlerinin Desteklenmesi</vt:lpstr>
      <vt:lpstr> </vt:lpstr>
      <vt:lpstr> </vt:lpstr>
      <vt:lpstr>6331 Sayılı Kanun</vt:lpstr>
      <vt:lpstr>Madde 11: Acil Durum Planları, Yangınla Mücadele ve İlk Yardım</vt:lpstr>
      <vt:lpstr>6331 Sayılı Kanun</vt:lpstr>
      <vt:lpstr>6331 Sayılı Kanun</vt:lpstr>
      <vt:lpstr>6331 Sayılı Kanun</vt:lpstr>
      <vt:lpstr>6331 Sayılı Kanun</vt:lpstr>
      <vt:lpstr>6331 Sayılı Kanun</vt:lpstr>
      <vt:lpstr>6331 Sayılı Kanun</vt:lpstr>
      <vt:lpstr>Slayt 39</vt:lpstr>
      <vt:lpstr>6331 Sayılı Kanun</vt:lpstr>
      <vt:lpstr>İdari Ceza ve Yaptırımlar</vt:lpstr>
      <vt:lpstr>4857 Sayılı İş Kanunu (10.06.2003)</vt:lpstr>
      <vt:lpstr> 4857 Sayılı İş Kanunu ile çalışma hayatında yeni risklerin ortaya çıktığı dikkate alınarak, işverenlere ve işçilere daha büyük sorumluluklar ve yükümlülükler getirilmiştir.</vt:lpstr>
      <vt:lpstr>HEDEF</vt:lpstr>
      <vt:lpstr>AMAÇ, işyerlerinin daha sağlıklı ve güvenli olmasını sağlamaktır. </vt:lpstr>
      <vt:lpstr>4857 sayılı İş Kanunu’nun  77. maddesine göre;</vt:lpstr>
      <vt:lpstr>SAĞLIK TARAMASI YAPILACAK</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Toshiba</dc:creator>
  <cp:lastModifiedBy>Toshiba</cp:lastModifiedBy>
  <cp:revision>77</cp:revision>
  <dcterms:created xsi:type="dcterms:W3CDTF">2017-10-11T12:09:31Z</dcterms:created>
  <dcterms:modified xsi:type="dcterms:W3CDTF">2020-11-10T10:34:42Z</dcterms:modified>
</cp:coreProperties>
</file>