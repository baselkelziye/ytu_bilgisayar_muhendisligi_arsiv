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9" r:id="rId2"/>
    <p:sldId id="290" r:id="rId3"/>
    <p:sldId id="291"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EF0939-5985-442D-BD1B-2B71F5FE8CB9}" type="datetimeFigureOut">
              <a:rPr lang="tr-TR" smtClean="0"/>
              <a:pPr/>
              <a:t>2.11.2023</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703FCB-32DA-4B63-8127-81D79833E1BB}"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D1E9869E-0249-4D0E-9383-487FAB4C49D6}" type="slidenum">
              <a:rPr lang="tr-TR" smtClean="0"/>
              <a:pPr/>
              <a:t>17</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C3F285A4-7711-400B-B0BE-24A1988CA7AB}" type="datetimeFigureOut">
              <a:rPr lang="tr-TR" smtClean="0"/>
              <a:pPr/>
              <a:t>2.11.2023</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285A4-7711-400B-B0BE-24A1988CA7AB}" type="datetimeFigureOut">
              <a:rPr lang="tr-TR" smtClean="0"/>
              <a:pPr/>
              <a:t>2.11.2023</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5268A-0367-427E-A861-12BCF247E67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3.3.4.4. </a:t>
            </a:r>
            <a:r>
              <a:rPr lang="tr-TR" b="1" dirty="0" smtClean="0"/>
              <a:t>Yazılım Tasarımı</a:t>
            </a:r>
            <a:r>
              <a:rPr lang="tr-TR" dirty="0" smtClean="0"/>
              <a:t> </a:t>
            </a:r>
            <a:br>
              <a:rPr lang="tr-TR" dirty="0" smtClean="0"/>
            </a:br>
            <a:endParaRPr lang="tr-TR" dirty="0"/>
          </a:p>
        </p:txBody>
      </p:sp>
      <p:sp>
        <p:nvSpPr>
          <p:cNvPr id="3" name="2 İçerik Yer Tutucusu"/>
          <p:cNvSpPr>
            <a:spLocks noGrp="1"/>
          </p:cNvSpPr>
          <p:nvPr>
            <p:ph idx="1"/>
          </p:nvPr>
        </p:nvSpPr>
        <p:spPr/>
        <p:txBody>
          <a:bodyPr>
            <a:normAutofit fontScale="85000" lnSpcReduction="10000"/>
          </a:bodyPr>
          <a:lstStyle/>
          <a:p>
            <a:r>
              <a:rPr lang="tr-TR" dirty="0" smtClean="0"/>
              <a:t>Yazılım Tasarımı basamağında, veri yapıları, program yapısı ve işlemler ele alınmaktadır. Önce ön tasarım, sonra da ayrıntılı tasarım gözden geçirilmektedir. </a:t>
            </a:r>
          </a:p>
          <a:p>
            <a:r>
              <a:rPr lang="tr-TR" dirty="0" smtClean="0"/>
              <a:t>	Ön tasarımın incelenmesinde; gereksinimlerin tasarıma dönüştürülmesi ve yazılım mimarisi konuları üzerinde durulmaktadır. Genellikle; gereksinimlerin yazılım mimarisine doğru yansıtılmış olması, modüllerin etkenliği ve işlevsel bağımsızlığı, program yapısının uygunluğu, dış sistem öğeleri ve modüllere ait arabirimlerin tanımlanması, veri yapısının bilgi alanı ile tutarlığı, bakım ve onarım sorunları incelenmektedir.</a:t>
            </a:r>
          </a:p>
          <a:p>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3.3.4.5. </a:t>
            </a:r>
            <a:r>
              <a:rPr lang="tr-TR" b="1" dirty="0" smtClean="0"/>
              <a:t>Yazılım Kodlama</a:t>
            </a:r>
            <a:endParaRPr lang="tr-TR" dirty="0"/>
          </a:p>
        </p:txBody>
      </p:sp>
      <p:sp>
        <p:nvSpPr>
          <p:cNvPr id="3" name="2 İçerik Yer Tutucusu"/>
          <p:cNvSpPr>
            <a:spLocks noGrp="1"/>
          </p:cNvSpPr>
          <p:nvPr>
            <p:ph idx="1"/>
          </p:nvPr>
        </p:nvSpPr>
        <p:spPr>
          <a:xfrm>
            <a:off x="457200" y="1412776"/>
            <a:ext cx="8229600" cy="4713387"/>
          </a:xfrm>
        </p:spPr>
        <p:txBody>
          <a:bodyPr>
            <a:normAutofit fontScale="92500" lnSpcReduction="20000"/>
          </a:bodyPr>
          <a:lstStyle/>
          <a:p>
            <a:r>
              <a:rPr lang="tr-TR" dirty="0" smtClean="0"/>
              <a:t>Kodlama (gerçekleme)basamağında, ayrıntılı tasarımın programlama diline dönüştürülmesi sırasında hata yapılabilmektedir</a:t>
            </a:r>
          </a:p>
          <a:p>
            <a:pPr>
              <a:buNone/>
            </a:pPr>
            <a:r>
              <a:rPr lang="tr-TR" dirty="0" smtClean="0"/>
              <a:t>		</a:t>
            </a:r>
            <a:r>
              <a:rPr lang="tr-TR" b="1" dirty="0" smtClean="0"/>
              <a:t>Kodlamanın izlenmesinde</a:t>
            </a:r>
            <a:r>
              <a:rPr lang="tr-TR" dirty="0" smtClean="0"/>
              <a:t>: </a:t>
            </a:r>
          </a:p>
          <a:p>
            <a:r>
              <a:rPr lang="tr-TR" dirty="0" smtClean="0"/>
              <a:t>tasarımın kaynak programa dönüştürme işleminin doğruluğu, </a:t>
            </a:r>
          </a:p>
          <a:p>
            <a:r>
              <a:rPr lang="tr-TR" dirty="0" smtClean="0"/>
              <a:t>yazım hataları, </a:t>
            </a:r>
          </a:p>
          <a:p>
            <a:r>
              <a:rPr lang="tr-TR" dirty="0" smtClean="0"/>
              <a:t>kodlama standartlarına uygunluk, </a:t>
            </a:r>
          </a:p>
          <a:p>
            <a:r>
              <a:rPr lang="tr-TR" dirty="0" smtClean="0"/>
              <a:t>açıklamaların tutarlığı ve uygunluğu, </a:t>
            </a:r>
          </a:p>
          <a:p>
            <a:r>
              <a:rPr lang="tr-TR" dirty="0" smtClean="0"/>
              <a:t>tasarım hatalarının düzeltilmiş olduğu vb. araştırılmaktadır.</a:t>
            </a:r>
          </a:p>
          <a:p>
            <a:endParaRPr lang="tr-T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3.3.5. Gözden Geçirme Standartları</a:t>
            </a:r>
            <a:br>
              <a:rPr lang="tr-TR" dirty="0" smtClean="0"/>
            </a:br>
            <a:r>
              <a:rPr lang="tr-TR" dirty="0" smtClean="0"/>
              <a:t>Örnekleri</a:t>
            </a:r>
            <a:endParaRPr lang="tr-TR" dirty="0"/>
          </a:p>
        </p:txBody>
      </p:sp>
      <p:sp>
        <p:nvSpPr>
          <p:cNvPr id="3" name="2 İçerik Yer Tutucusu"/>
          <p:cNvSpPr>
            <a:spLocks noGrp="1"/>
          </p:cNvSpPr>
          <p:nvPr>
            <p:ph idx="1"/>
          </p:nvPr>
        </p:nvSpPr>
        <p:spPr/>
        <p:txBody>
          <a:bodyPr/>
          <a:lstStyle/>
          <a:p>
            <a:r>
              <a:rPr lang="tr-TR" dirty="0" smtClean="0"/>
              <a:t>SDR – </a:t>
            </a:r>
            <a:r>
              <a:rPr lang="tr-TR" dirty="0" err="1" smtClean="0"/>
              <a:t>System</a:t>
            </a:r>
            <a:r>
              <a:rPr lang="tr-TR" dirty="0" smtClean="0"/>
              <a:t> </a:t>
            </a:r>
            <a:r>
              <a:rPr lang="tr-TR" dirty="0" err="1" smtClean="0"/>
              <a:t>Design</a:t>
            </a:r>
            <a:r>
              <a:rPr lang="tr-TR" dirty="0" smtClean="0"/>
              <a:t> </a:t>
            </a:r>
            <a:r>
              <a:rPr lang="tr-TR" dirty="0" err="1" smtClean="0"/>
              <a:t>Review</a:t>
            </a:r>
            <a:r>
              <a:rPr lang="tr-TR" dirty="0" smtClean="0"/>
              <a:t> (Sistem Tasarım Değerlendirme)</a:t>
            </a:r>
          </a:p>
          <a:p>
            <a:r>
              <a:rPr lang="tr-TR" dirty="0" smtClean="0"/>
              <a:t>Software </a:t>
            </a:r>
            <a:r>
              <a:rPr lang="tr-TR" dirty="0" err="1" smtClean="0"/>
              <a:t>Spesification</a:t>
            </a:r>
            <a:r>
              <a:rPr lang="tr-TR" dirty="0" smtClean="0"/>
              <a:t> </a:t>
            </a:r>
            <a:r>
              <a:rPr lang="tr-TR" dirty="0" err="1" smtClean="0"/>
              <a:t>Review</a:t>
            </a:r>
            <a:r>
              <a:rPr lang="tr-TR" dirty="0" smtClean="0"/>
              <a:t>; (SSR)</a:t>
            </a:r>
          </a:p>
          <a:p>
            <a:r>
              <a:rPr lang="tr-TR" dirty="0" smtClean="0"/>
              <a:t>Ön Tasarım (PDR) </a:t>
            </a:r>
            <a:r>
              <a:rPr lang="tr-TR" dirty="0" err="1" smtClean="0"/>
              <a:t>Preliminary</a:t>
            </a:r>
            <a:r>
              <a:rPr lang="tr-TR" dirty="0" smtClean="0"/>
              <a:t> </a:t>
            </a:r>
            <a:r>
              <a:rPr lang="tr-TR" dirty="0" err="1" smtClean="0"/>
              <a:t>Design</a:t>
            </a:r>
            <a:r>
              <a:rPr lang="tr-TR" dirty="0" smtClean="0"/>
              <a:t> </a:t>
            </a:r>
            <a:r>
              <a:rPr lang="tr-TR" dirty="0" err="1" smtClean="0"/>
              <a:t>Review</a:t>
            </a:r>
            <a:r>
              <a:rPr lang="tr-TR" dirty="0" smtClean="0"/>
              <a:t>  </a:t>
            </a:r>
          </a:p>
          <a:p>
            <a:r>
              <a:rPr lang="tr-TR" dirty="0" smtClean="0"/>
              <a:t>Sınama işlerine Hazır olmanın Değerlendirilmesi, Test </a:t>
            </a:r>
            <a:r>
              <a:rPr lang="tr-TR" dirty="0" err="1" smtClean="0"/>
              <a:t>Readinness</a:t>
            </a:r>
            <a:r>
              <a:rPr lang="tr-TR" dirty="0" smtClean="0"/>
              <a:t> </a:t>
            </a:r>
            <a:r>
              <a:rPr lang="tr-TR" dirty="0" err="1" smtClean="0"/>
              <a:t>Review</a:t>
            </a:r>
            <a:r>
              <a:rPr lang="tr-TR" dirty="0" smtClean="0"/>
              <a:t> (TRR)</a:t>
            </a:r>
            <a:endParaRPr lang="tr-T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4. YAZILIM İNCELEME</a:t>
            </a:r>
            <a:br>
              <a:rPr lang="tr-TR" dirty="0" smtClean="0"/>
            </a:br>
            <a:endParaRPr lang="tr-TR" dirty="0"/>
          </a:p>
        </p:txBody>
      </p:sp>
      <p:sp>
        <p:nvSpPr>
          <p:cNvPr id="3" name="2 İçerik Yer Tutucusu"/>
          <p:cNvSpPr>
            <a:spLocks noGrp="1"/>
          </p:cNvSpPr>
          <p:nvPr>
            <p:ph idx="1"/>
          </p:nvPr>
        </p:nvSpPr>
        <p:spPr/>
        <p:txBody>
          <a:bodyPr/>
          <a:lstStyle/>
          <a:p>
            <a:pPr>
              <a:buNone/>
            </a:pPr>
            <a:r>
              <a:rPr lang="tr-TR" dirty="0" smtClean="0"/>
              <a:t>4.0.Bolum Hedefleri</a:t>
            </a:r>
          </a:p>
          <a:p>
            <a:r>
              <a:rPr lang="tr-TR" dirty="0" smtClean="0"/>
              <a:t>Yazılım Kalite değerlendirmede incelemenin (</a:t>
            </a:r>
            <a:r>
              <a:rPr lang="tr-TR" dirty="0" err="1" smtClean="0"/>
              <a:t>inspection</a:t>
            </a:r>
            <a:r>
              <a:rPr lang="tr-TR" dirty="0" smtClean="0"/>
              <a:t>) yerini anlama</a:t>
            </a:r>
          </a:p>
          <a:p>
            <a:r>
              <a:rPr lang="tr-TR" dirty="0" smtClean="0"/>
              <a:t>Test ve İncelemenin farkını anlama</a:t>
            </a:r>
          </a:p>
          <a:p>
            <a:r>
              <a:rPr lang="tr-TR" dirty="0" smtClean="0"/>
              <a:t>İnceleme ekibi yapısı ve rollerini öğrenme</a:t>
            </a:r>
          </a:p>
          <a:p>
            <a:r>
              <a:rPr lang="tr-TR" dirty="0" smtClean="0"/>
              <a:t>Teknik İnceleme Raporu</a:t>
            </a:r>
          </a:p>
          <a:p>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Yazılım incelemesi Temel Kavramlar</a:t>
            </a:r>
            <a:endParaRPr lang="tr-TR" dirty="0"/>
          </a:p>
        </p:txBody>
      </p:sp>
      <p:sp>
        <p:nvSpPr>
          <p:cNvPr id="3" name="2 İçerik Yer Tutucusu"/>
          <p:cNvSpPr>
            <a:spLocks noGrp="1"/>
          </p:cNvSpPr>
          <p:nvPr>
            <p:ph idx="1"/>
          </p:nvPr>
        </p:nvSpPr>
        <p:spPr/>
        <p:txBody>
          <a:bodyPr/>
          <a:lstStyle/>
          <a:p>
            <a:r>
              <a:rPr lang="tr-TR" dirty="0" smtClean="0"/>
              <a:t>Yazılım incelemesi, test yöntemiyle birlikte yazılım kalitesinin sağlanması için en çok kullanılan yöntemdir. Test yönteminin aksine hataları kodları çalıştırmadan tespit etme esasına dayanır. Statik geçerleme yöntemidir (Şekil 4.1).</a:t>
            </a:r>
          </a:p>
          <a:p>
            <a:endParaRPr lang="tr-T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642918"/>
            <a:ext cx="8229600" cy="985882"/>
          </a:xfrm>
        </p:spPr>
        <p:txBody>
          <a:bodyPr>
            <a:normAutofit/>
          </a:bodyPr>
          <a:lstStyle/>
          <a:p>
            <a:r>
              <a:rPr lang="tr-TR" sz="2400" dirty="0" smtClean="0"/>
              <a:t>Şekil 4.1. Statik ve Dinamik geçerleme ve Doğrulama</a:t>
            </a:r>
            <a:endParaRPr lang="tr-TR" sz="2400" dirty="0"/>
          </a:p>
        </p:txBody>
      </p:sp>
      <p:sp>
        <p:nvSpPr>
          <p:cNvPr id="3" name="2 İçerik Yer Tutucusu"/>
          <p:cNvSpPr>
            <a:spLocks noGrp="1"/>
          </p:cNvSpPr>
          <p:nvPr>
            <p:ph idx="1"/>
          </p:nvPr>
        </p:nvSpPr>
        <p:spPr>
          <a:xfrm>
            <a:off x="457200" y="1556792"/>
            <a:ext cx="8229600" cy="4569371"/>
          </a:xfrm>
        </p:spPr>
        <p:txBody>
          <a:bodyPr/>
          <a:lstStyle/>
          <a:p>
            <a:pPr>
              <a:buNone/>
            </a:pPr>
            <a:endParaRPr lang="tr-TR" dirty="0"/>
          </a:p>
        </p:txBody>
      </p:sp>
      <p:sp>
        <p:nvSpPr>
          <p:cNvPr id="4" name="3 Dikdörtgen"/>
          <p:cNvSpPr/>
          <p:nvPr/>
        </p:nvSpPr>
        <p:spPr>
          <a:xfrm>
            <a:off x="3786182" y="1857364"/>
            <a:ext cx="1143008" cy="57150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solidFill>
                  <a:schemeClr val="tx1"/>
                </a:solidFill>
              </a:rPr>
              <a:t>Yazılım İncelemeleri</a:t>
            </a:r>
            <a:endParaRPr lang="tr-TR" sz="1100" dirty="0">
              <a:solidFill>
                <a:schemeClr val="tx1"/>
              </a:solidFill>
            </a:endParaRPr>
          </a:p>
        </p:txBody>
      </p:sp>
      <p:sp>
        <p:nvSpPr>
          <p:cNvPr id="6" name="5 Dikdörtgen"/>
          <p:cNvSpPr/>
          <p:nvPr/>
        </p:nvSpPr>
        <p:spPr>
          <a:xfrm>
            <a:off x="1643042" y="3643314"/>
            <a:ext cx="1071570" cy="57150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solidFill>
                  <a:schemeClr val="tx1"/>
                </a:solidFill>
              </a:rPr>
              <a:t>Prototip</a:t>
            </a:r>
          </a:p>
          <a:p>
            <a:pPr algn="ctr"/>
            <a:endParaRPr lang="tr-TR" sz="1100" dirty="0">
              <a:solidFill>
                <a:schemeClr val="tx1"/>
              </a:solidFill>
            </a:endParaRPr>
          </a:p>
        </p:txBody>
      </p:sp>
      <p:sp>
        <p:nvSpPr>
          <p:cNvPr id="7" name="6 Dikdörtgen"/>
          <p:cNvSpPr/>
          <p:nvPr/>
        </p:nvSpPr>
        <p:spPr>
          <a:xfrm>
            <a:off x="6286512" y="2786058"/>
            <a:ext cx="928694" cy="57150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solidFill>
                  <a:schemeClr val="tx1"/>
                </a:solidFill>
              </a:rPr>
              <a:t>Program</a:t>
            </a:r>
            <a:endParaRPr lang="tr-TR" sz="1100" dirty="0">
              <a:solidFill>
                <a:schemeClr val="tx1"/>
              </a:solidFill>
            </a:endParaRPr>
          </a:p>
        </p:txBody>
      </p:sp>
      <p:sp>
        <p:nvSpPr>
          <p:cNvPr id="8" name="7 Dikdörtgen"/>
          <p:cNvSpPr/>
          <p:nvPr/>
        </p:nvSpPr>
        <p:spPr>
          <a:xfrm>
            <a:off x="5143504" y="2786058"/>
            <a:ext cx="928694" cy="57150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solidFill>
                  <a:schemeClr val="tx1"/>
                </a:solidFill>
              </a:rPr>
              <a:t>Ayrıntılı T</a:t>
            </a:r>
            <a:r>
              <a:rPr lang="tr-TR" sz="1100" i="1" dirty="0" smtClean="0">
                <a:solidFill>
                  <a:schemeClr val="tx1"/>
                </a:solidFill>
              </a:rPr>
              <a:t>asarım</a:t>
            </a:r>
            <a:endParaRPr lang="tr-TR" sz="1100" dirty="0">
              <a:solidFill>
                <a:schemeClr val="tx1"/>
              </a:solidFill>
            </a:endParaRPr>
          </a:p>
        </p:txBody>
      </p:sp>
      <p:sp>
        <p:nvSpPr>
          <p:cNvPr id="9" name="8 Dikdörtgen"/>
          <p:cNvSpPr/>
          <p:nvPr/>
        </p:nvSpPr>
        <p:spPr>
          <a:xfrm>
            <a:off x="4000496" y="2786058"/>
            <a:ext cx="1000132" cy="57150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err="1" smtClean="0">
                <a:solidFill>
                  <a:schemeClr val="tx1"/>
                </a:solidFill>
              </a:rPr>
              <a:t>Formal</a:t>
            </a:r>
            <a:r>
              <a:rPr lang="tr-TR" sz="1100" dirty="0" smtClean="0">
                <a:solidFill>
                  <a:schemeClr val="tx1"/>
                </a:solidFill>
              </a:rPr>
              <a:t> </a:t>
            </a:r>
            <a:r>
              <a:rPr lang="tr-TR" sz="1100" dirty="0" err="1" smtClean="0">
                <a:solidFill>
                  <a:schemeClr val="tx1"/>
                </a:solidFill>
              </a:rPr>
              <a:t>Spesifikasyon</a:t>
            </a:r>
            <a:endParaRPr lang="tr-TR" sz="1100" dirty="0">
              <a:solidFill>
                <a:schemeClr val="tx1"/>
              </a:solidFill>
            </a:endParaRPr>
          </a:p>
        </p:txBody>
      </p:sp>
      <p:sp>
        <p:nvSpPr>
          <p:cNvPr id="10" name="9 Dikdörtgen"/>
          <p:cNvSpPr/>
          <p:nvPr/>
        </p:nvSpPr>
        <p:spPr>
          <a:xfrm>
            <a:off x="2857488" y="2786058"/>
            <a:ext cx="1000132" cy="57150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solidFill>
                  <a:schemeClr val="tx1"/>
                </a:solidFill>
              </a:rPr>
              <a:t>Yüksek seviye T</a:t>
            </a:r>
            <a:r>
              <a:rPr lang="tr-TR" sz="1100" i="1" dirty="0" smtClean="0">
                <a:solidFill>
                  <a:schemeClr val="tx1"/>
                </a:solidFill>
              </a:rPr>
              <a:t>asarım</a:t>
            </a:r>
            <a:endParaRPr lang="tr-TR" sz="1100" dirty="0">
              <a:solidFill>
                <a:schemeClr val="tx1"/>
              </a:solidFill>
            </a:endParaRPr>
          </a:p>
        </p:txBody>
      </p:sp>
      <p:sp>
        <p:nvSpPr>
          <p:cNvPr id="11" name="10 Dikdörtgen"/>
          <p:cNvSpPr/>
          <p:nvPr/>
        </p:nvSpPr>
        <p:spPr>
          <a:xfrm>
            <a:off x="1643042" y="2786058"/>
            <a:ext cx="1071570" cy="57150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solidFill>
                  <a:schemeClr val="tx1"/>
                </a:solidFill>
              </a:rPr>
              <a:t>Gereksinim </a:t>
            </a:r>
            <a:r>
              <a:rPr lang="tr-TR" sz="1100" dirty="0" err="1" smtClean="0">
                <a:solidFill>
                  <a:schemeClr val="tx1"/>
                </a:solidFill>
              </a:rPr>
              <a:t>Spesifikasyonu</a:t>
            </a:r>
            <a:endParaRPr lang="tr-TR" sz="1100" dirty="0">
              <a:solidFill>
                <a:schemeClr val="tx1"/>
              </a:solidFill>
            </a:endParaRPr>
          </a:p>
        </p:txBody>
      </p:sp>
      <p:cxnSp>
        <p:nvCxnSpPr>
          <p:cNvPr id="13" name="12 Düz Ok Bağlayıcısı"/>
          <p:cNvCxnSpPr>
            <a:stCxn id="11" idx="2"/>
            <a:endCxn id="6" idx="0"/>
          </p:cNvCxnSpPr>
          <p:nvPr/>
        </p:nvCxnSpPr>
        <p:spPr>
          <a:xfrm rot="5400000">
            <a:off x="2035951" y="350043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5 Düz Ok Bağlayıcısı"/>
          <p:cNvCxnSpPr>
            <a:stCxn id="4" idx="2"/>
          </p:cNvCxnSpPr>
          <p:nvPr/>
        </p:nvCxnSpPr>
        <p:spPr>
          <a:xfrm rot="5400000">
            <a:off x="3214678" y="1571612"/>
            <a:ext cx="285752" cy="20002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17 Düz Ok Bağlayıcısı"/>
          <p:cNvCxnSpPr>
            <a:stCxn id="4" idx="2"/>
          </p:cNvCxnSpPr>
          <p:nvPr/>
        </p:nvCxnSpPr>
        <p:spPr>
          <a:xfrm rot="5400000">
            <a:off x="3714744" y="2143116"/>
            <a:ext cx="357190" cy="9286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22 Düz Ok Bağlayıcısı"/>
          <p:cNvCxnSpPr>
            <a:stCxn id="4" idx="2"/>
            <a:endCxn id="9" idx="0"/>
          </p:cNvCxnSpPr>
          <p:nvPr/>
        </p:nvCxnSpPr>
        <p:spPr>
          <a:xfrm rot="16200000" flipH="1">
            <a:off x="4250529" y="2536025"/>
            <a:ext cx="357190"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24 Düz Ok Bağlayıcısı"/>
          <p:cNvCxnSpPr>
            <a:stCxn id="4" idx="2"/>
          </p:cNvCxnSpPr>
          <p:nvPr/>
        </p:nvCxnSpPr>
        <p:spPr>
          <a:xfrm rot="16200000" flipH="1">
            <a:off x="4857752" y="1928802"/>
            <a:ext cx="285752" cy="12858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26 Düz Ok Bağlayıcısı"/>
          <p:cNvCxnSpPr>
            <a:stCxn id="4" idx="2"/>
          </p:cNvCxnSpPr>
          <p:nvPr/>
        </p:nvCxnSpPr>
        <p:spPr>
          <a:xfrm rot="16200000" flipH="1">
            <a:off x="5357818" y="1428736"/>
            <a:ext cx="285752" cy="2286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28 Akış Çizelgesi: Öteki İşlem"/>
          <p:cNvSpPr/>
          <p:nvPr/>
        </p:nvSpPr>
        <p:spPr>
          <a:xfrm>
            <a:off x="6215074" y="3643314"/>
            <a:ext cx="1000132" cy="500066"/>
          </a:xfrm>
          <a:prstGeom prst="flowChartAlternateProcess">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smtClean="0">
                <a:solidFill>
                  <a:schemeClr val="tx1"/>
                </a:solidFill>
              </a:rPr>
              <a:t>Program Test</a:t>
            </a:r>
            <a:endParaRPr lang="tr-TR" sz="1200" dirty="0">
              <a:solidFill>
                <a:schemeClr val="tx1"/>
              </a:solidFill>
            </a:endParaRPr>
          </a:p>
        </p:txBody>
      </p:sp>
      <p:cxnSp>
        <p:nvCxnSpPr>
          <p:cNvPr id="31" name="30 Düz Ok Bağlayıcısı"/>
          <p:cNvCxnSpPr/>
          <p:nvPr/>
        </p:nvCxnSpPr>
        <p:spPr>
          <a:xfrm rot="16200000" flipV="1">
            <a:off x="6590123" y="3482578"/>
            <a:ext cx="285752"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36 Düz Ok Bağlayıcısı"/>
          <p:cNvCxnSpPr>
            <a:stCxn id="29" idx="1"/>
            <a:endCxn id="6" idx="3"/>
          </p:cNvCxnSpPr>
          <p:nvPr/>
        </p:nvCxnSpPr>
        <p:spPr>
          <a:xfrm rot="10800000" flipV="1">
            <a:off x="2714612" y="3893346"/>
            <a:ext cx="3500462"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4.1.2. Genel Yazılım inceleme süreci</a:t>
            </a:r>
            <a:br>
              <a:rPr lang="tr-TR" dirty="0" smtClean="0"/>
            </a:br>
            <a:endParaRPr lang="tr-TR" dirty="0"/>
          </a:p>
        </p:txBody>
      </p:sp>
      <p:sp>
        <p:nvSpPr>
          <p:cNvPr id="3" name="2 İçerik Yer Tutucusu"/>
          <p:cNvSpPr>
            <a:spLocks noGrp="1"/>
          </p:cNvSpPr>
          <p:nvPr>
            <p:ph idx="1"/>
          </p:nvPr>
        </p:nvSpPr>
        <p:spPr/>
        <p:txBody>
          <a:bodyPr>
            <a:normAutofit fontScale="85000" lnSpcReduction="20000"/>
          </a:bodyPr>
          <a:lstStyle/>
          <a:p>
            <a:r>
              <a:rPr lang="tr-TR" dirty="0" smtClean="0"/>
              <a:t>Yazılım inceleme süreci genel olarak 3 aşamadan oluşur (sekil 4.2). </a:t>
            </a:r>
          </a:p>
          <a:p>
            <a:pPr>
              <a:buNone/>
            </a:pPr>
            <a:endParaRPr lang="tr-TR" dirty="0" smtClean="0"/>
          </a:p>
          <a:p>
            <a:pPr lvl="0"/>
            <a:r>
              <a:rPr lang="tr-TR" b="1" dirty="0" smtClean="0"/>
              <a:t>Planlama ve Hazırlık Aşaması:</a:t>
            </a:r>
            <a:r>
              <a:rPr lang="tr-TR" dirty="0" smtClean="0"/>
              <a:t>   İnceleme ile ilgili genel soruları cevaplamayı amaçlar.    Bu sorular,</a:t>
            </a:r>
          </a:p>
          <a:p>
            <a:pPr lvl="0"/>
            <a:r>
              <a:rPr lang="tr-TR" dirty="0" smtClean="0"/>
              <a:t>İncelemenin amaç ve hedefleri nelerdir?</a:t>
            </a:r>
          </a:p>
          <a:p>
            <a:pPr lvl="0"/>
            <a:r>
              <a:rPr lang="tr-TR" dirty="0" smtClean="0"/>
              <a:t>İncelenecek yazılım parçaları hangileri olacaktır?</a:t>
            </a:r>
          </a:p>
          <a:p>
            <a:pPr lvl="0"/>
            <a:r>
              <a:rPr lang="tr-TR" dirty="0" smtClean="0"/>
              <a:t>Bu incelemeyi kim yapacak?</a:t>
            </a:r>
          </a:p>
          <a:p>
            <a:pPr lvl="0"/>
            <a:r>
              <a:rPr lang="tr-TR" dirty="0" smtClean="0"/>
              <a:t>İncelemeyi yapacak kişiler hangi özellikleri taşımalılar?</a:t>
            </a:r>
          </a:p>
          <a:p>
            <a:pPr lvl="0"/>
            <a:r>
              <a:rPr lang="tr-TR" dirty="0" smtClean="0"/>
              <a:t>Bütün süreç boyunca hangi inceleme teknikleri ve takip eylemleri uygulanacak?</a:t>
            </a:r>
          </a:p>
          <a:p>
            <a:endParaRPr lang="tr-T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9 İçerik Yer Tutucusu"/>
          <p:cNvGrpSpPr>
            <a:grpSpLocks noGrp="1"/>
          </p:cNvGrpSpPr>
          <p:nvPr>
            <p:ph idx="1"/>
          </p:nvPr>
        </p:nvGrpSpPr>
        <p:grpSpPr>
          <a:xfrm>
            <a:off x="457200" y="1600201"/>
            <a:ext cx="8258204" cy="1971675"/>
            <a:chOff x="533400" y="1752600"/>
            <a:chExt cx="7543800" cy="1905000"/>
          </a:xfrm>
        </p:grpSpPr>
        <p:grpSp>
          <p:nvGrpSpPr>
            <p:cNvPr id="3" name="17 Grup"/>
            <p:cNvGrpSpPr/>
            <p:nvPr/>
          </p:nvGrpSpPr>
          <p:grpSpPr>
            <a:xfrm>
              <a:off x="533400" y="1752600"/>
              <a:ext cx="7543800" cy="1905000"/>
              <a:chOff x="533400" y="1752600"/>
              <a:chExt cx="7543800" cy="1905000"/>
            </a:xfrm>
          </p:grpSpPr>
          <p:sp>
            <p:nvSpPr>
              <p:cNvPr id="43" name="Rectangle 4"/>
              <p:cNvSpPr>
                <a:spLocks noChangeArrowheads="1"/>
              </p:cNvSpPr>
              <p:nvPr/>
            </p:nvSpPr>
            <p:spPr bwMode="auto">
              <a:xfrm>
                <a:off x="1371600" y="1828800"/>
                <a:ext cx="1371600" cy="609600"/>
              </a:xfrm>
              <a:prstGeom prst="rect">
                <a:avLst/>
              </a:prstGeom>
              <a:noFill/>
              <a:ln w="9525">
                <a:solidFill>
                  <a:schemeClr val="tx1"/>
                </a:solidFill>
                <a:miter lim="800000"/>
                <a:headEnd/>
                <a:tailEnd/>
              </a:ln>
              <a:effectLst/>
            </p:spPr>
            <p:txBody>
              <a:bodyPr wrap="none" anchor="ctr"/>
              <a:lstStyle/>
              <a:p>
                <a:pPr algn="ctr"/>
                <a:r>
                  <a:rPr lang="tr-TR" dirty="0">
                    <a:solidFill>
                      <a:srgbClr val="000000"/>
                    </a:solidFill>
                  </a:rPr>
                  <a:t>Planlama &amp;</a:t>
                </a:r>
              </a:p>
              <a:p>
                <a:pPr algn="ctr"/>
                <a:r>
                  <a:rPr lang="tr-TR" dirty="0">
                    <a:solidFill>
                      <a:srgbClr val="000000"/>
                    </a:solidFill>
                  </a:rPr>
                  <a:t> Hazırlık</a:t>
                </a:r>
              </a:p>
            </p:txBody>
          </p:sp>
          <p:sp>
            <p:nvSpPr>
              <p:cNvPr id="44" name="Line 5"/>
              <p:cNvSpPr>
                <a:spLocks noChangeShapeType="1"/>
              </p:cNvSpPr>
              <p:nvPr/>
            </p:nvSpPr>
            <p:spPr bwMode="auto">
              <a:xfrm>
                <a:off x="533400" y="2133600"/>
                <a:ext cx="762000" cy="0"/>
              </a:xfrm>
              <a:prstGeom prst="line">
                <a:avLst/>
              </a:prstGeom>
              <a:noFill/>
              <a:ln w="9525">
                <a:solidFill>
                  <a:srgbClr val="000000"/>
                </a:solidFill>
                <a:round/>
                <a:headEnd/>
                <a:tailEnd type="triangle" w="med" len="med"/>
              </a:ln>
              <a:effectLst/>
            </p:spPr>
            <p:txBody>
              <a:bodyPr/>
              <a:lstStyle/>
              <a:p>
                <a:endParaRPr lang="tr-TR"/>
              </a:p>
            </p:txBody>
          </p:sp>
          <p:sp>
            <p:nvSpPr>
              <p:cNvPr id="45" name="Text Box 6"/>
              <p:cNvSpPr txBox="1">
                <a:spLocks noChangeArrowheads="1"/>
              </p:cNvSpPr>
              <p:nvPr/>
            </p:nvSpPr>
            <p:spPr bwMode="auto">
              <a:xfrm>
                <a:off x="533400" y="1752600"/>
                <a:ext cx="762000" cy="366713"/>
              </a:xfrm>
              <a:prstGeom prst="rect">
                <a:avLst/>
              </a:prstGeom>
              <a:noFill/>
              <a:ln w="9525">
                <a:noFill/>
                <a:miter lim="800000"/>
                <a:headEnd/>
                <a:tailEnd/>
              </a:ln>
              <a:effectLst/>
            </p:spPr>
            <p:txBody>
              <a:bodyPr>
                <a:spAutoFit/>
              </a:bodyPr>
              <a:lstStyle/>
              <a:p>
                <a:pPr>
                  <a:spcBef>
                    <a:spcPct val="50000"/>
                  </a:spcBef>
                </a:pPr>
                <a:r>
                  <a:rPr lang="tr-TR" dirty="0">
                    <a:solidFill>
                      <a:srgbClr val="000000"/>
                    </a:solidFill>
                  </a:rPr>
                  <a:t>Giriş</a:t>
                </a:r>
              </a:p>
            </p:txBody>
          </p:sp>
          <p:sp>
            <p:nvSpPr>
              <p:cNvPr id="46" name="Line 7"/>
              <p:cNvSpPr>
                <a:spLocks noChangeShapeType="1"/>
              </p:cNvSpPr>
              <p:nvPr/>
            </p:nvSpPr>
            <p:spPr bwMode="auto">
              <a:xfrm>
                <a:off x="2743200" y="2133600"/>
                <a:ext cx="838200" cy="0"/>
              </a:xfrm>
              <a:prstGeom prst="line">
                <a:avLst/>
              </a:prstGeom>
              <a:noFill/>
              <a:ln w="9525">
                <a:solidFill>
                  <a:srgbClr val="000000"/>
                </a:solidFill>
                <a:round/>
                <a:headEnd/>
                <a:tailEnd type="triangle" w="med" len="med"/>
              </a:ln>
              <a:effectLst/>
            </p:spPr>
            <p:txBody>
              <a:bodyPr/>
              <a:lstStyle/>
              <a:p>
                <a:endParaRPr lang="tr-TR"/>
              </a:p>
            </p:txBody>
          </p:sp>
          <p:sp>
            <p:nvSpPr>
              <p:cNvPr id="47" name="Rectangle 10"/>
              <p:cNvSpPr>
                <a:spLocks noChangeArrowheads="1"/>
              </p:cNvSpPr>
              <p:nvPr/>
            </p:nvSpPr>
            <p:spPr bwMode="auto">
              <a:xfrm>
                <a:off x="3581400" y="1828800"/>
                <a:ext cx="1371600" cy="609600"/>
              </a:xfrm>
              <a:prstGeom prst="rect">
                <a:avLst/>
              </a:prstGeom>
              <a:noFill/>
              <a:ln w="9525">
                <a:solidFill>
                  <a:schemeClr val="tx1"/>
                </a:solidFill>
                <a:miter lim="800000"/>
                <a:headEnd/>
                <a:tailEnd/>
              </a:ln>
              <a:effectLst/>
            </p:spPr>
            <p:txBody>
              <a:bodyPr wrap="none" anchor="ctr"/>
              <a:lstStyle/>
              <a:p>
                <a:pPr algn="ctr"/>
                <a:r>
                  <a:rPr lang="tr-TR" dirty="0">
                    <a:solidFill>
                      <a:srgbClr val="000000"/>
                    </a:solidFill>
                  </a:rPr>
                  <a:t>İnceleme &amp;</a:t>
                </a:r>
              </a:p>
              <a:p>
                <a:pPr algn="ctr"/>
                <a:r>
                  <a:rPr lang="tr-TR" dirty="0">
                    <a:solidFill>
                      <a:srgbClr val="000000"/>
                    </a:solidFill>
                  </a:rPr>
                  <a:t> Toparlama</a:t>
                </a:r>
              </a:p>
            </p:txBody>
          </p:sp>
          <p:sp>
            <p:nvSpPr>
              <p:cNvPr id="48" name="Rectangle 11"/>
              <p:cNvSpPr>
                <a:spLocks noChangeArrowheads="1"/>
              </p:cNvSpPr>
              <p:nvPr/>
            </p:nvSpPr>
            <p:spPr bwMode="auto">
              <a:xfrm>
                <a:off x="5867400" y="1828800"/>
                <a:ext cx="1371600" cy="609600"/>
              </a:xfrm>
              <a:prstGeom prst="rect">
                <a:avLst/>
              </a:prstGeom>
              <a:noFill/>
              <a:ln w="9525">
                <a:solidFill>
                  <a:schemeClr val="tx1"/>
                </a:solidFill>
                <a:miter lim="800000"/>
                <a:headEnd/>
                <a:tailEnd/>
              </a:ln>
              <a:effectLst/>
            </p:spPr>
            <p:txBody>
              <a:bodyPr wrap="none" anchor="ctr"/>
              <a:lstStyle/>
              <a:p>
                <a:pPr algn="ctr"/>
                <a:r>
                  <a:rPr lang="tr-TR" dirty="0">
                    <a:solidFill>
                      <a:srgbClr val="000000"/>
                    </a:solidFill>
                  </a:rPr>
                  <a:t>Düzeltme &amp;</a:t>
                </a:r>
              </a:p>
              <a:p>
                <a:pPr algn="ctr"/>
                <a:r>
                  <a:rPr lang="tr-TR" dirty="0">
                    <a:solidFill>
                      <a:srgbClr val="000000"/>
                    </a:solidFill>
                  </a:rPr>
                  <a:t> Tamamlama</a:t>
                </a:r>
              </a:p>
            </p:txBody>
          </p:sp>
          <p:sp>
            <p:nvSpPr>
              <p:cNvPr id="49" name="Line 12"/>
              <p:cNvSpPr>
                <a:spLocks noChangeShapeType="1"/>
              </p:cNvSpPr>
              <p:nvPr/>
            </p:nvSpPr>
            <p:spPr bwMode="auto">
              <a:xfrm>
                <a:off x="5029200" y="2133600"/>
                <a:ext cx="838200" cy="0"/>
              </a:xfrm>
              <a:prstGeom prst="line">
                <a:avLst/>
              </a:prstGeom>
              <a:noFill/>
              <a:ln w="9525">
                <a:solidFill>
                  <a:srgbClr val="000000"/>
                </a:solidFill>
                <a:round/>
                <a:headEnd/>
                <a:tailEnd type="triangle" w="med" len="med"/>
              </a:ln>
              <a:effectLst/>
            </p:spPr>
            <p:txBody>
              <a:bodyPr/>
              <a:lstStyle/>
              <a:p>
                <a:endParaRPr lang="tr-TR"/>
              </a:p>
            </p:txBody>
          </p:sp>
          <p:sp>
            <p:nvSpPr>
              <p:cNvPr id="50" name="Text Box 17"/>
              <p:cNvSpPr txBox="1">
                <a:spLocks noChangeArrowheads="1"/>
              </p:cNvSpPr>
              <p:nvPr/>
            </p:nvSpPr>
            <p:spPr bwMode="auto">
              <a:xfrm>
                <a:off x="7315200" y="1752600"/>
                <a:ext cx="762000" cy="366713"/>
              </a:xfrm>
              <a:prstGeom prst="rect">
                <a:avLst/>
              </a:prstGeom>
              <a:noFill/>
              <a:ln w="9525">
                <a:noFill/>
                <a:miter lim="800000"/>
                <a:headEnd/>
                <a:tailEnd/>
              </a:ln>
              <a:effectLst/>
            </p:spPr>
            <p:txBody>
              <a:bodyPr>
                <a:spAutoFit/>
              </a:bodyPr>
              <a:lstStyle/>
              <a:p>
                <a:pPr>
                  <a:spcBef>
                    <a:spcPct val="50000"/>
                  </a:spcBef>
                </a:pPr>
                <a:r>
                  <a:rPr lang="tr-TR">
                    <a:solidFill>
                      <a:srgbClr val="000000"/>
                    </a:solidFill>
                  </a:rPr>
                  <a:t>Çıkış</a:t>
                </a:r>
              </a:p>
            </p:txBody>
          </p:sp>
          <p:sp>
            <p:nvSpPr>
              <p:cNvPr id="51" name="Line 18"/>
              <p:cNvSpPr>
                <a:spLocks noChangeShapeType="1"/>
              </p:cNvSpPr>
              <p:nvPr/>
            </p:nvSpPr>
            <p:spPr bwMode="auto">
              <a:xfrm>
                <a:off x="6553200" y="2514600"/>
                <a:ext cx="0" cy="1143000"/>
              </a:xfrm>
              <a:prstGeom prst="line">
                <a:avLst/>
              </a:prstGeom>
              <a:noFill/>
              <a:ln w="9525">
                <a:solidFill>
                  <a:srgbClr val="000000"/>
                </a:solidFill>
                <a:round/>
                <a:headEnd/>
                <a:tailEnd type="triangle" w="med" len="med"/>
              </a:ln>
              <a:effectLst/>
            </p:spPr>
            <p:txBody>
              <a:bodyPr/>
              <a:lstStyle/>
              <a:p>
                <a:endParaRPr lang="tr-TR"/>
              </a:p>
            </p:txBody>
          </p:sp>
          <p:sp>
            <p:nvSpPr>
              <p:cNvPr id="52" name="Line 19"/>
              <p:cNvSpPr>
                <a:spLocks noChangeShapeType="1"/>
              </p:cNvSpPr>
              <p:nvPr/>
            </p:nvSpPr>
            <p:spPr bwMode="auto">
              <a:xfrm flipH="1">
                <a:off x="1905000" y="3657600"/>
                <a:ext cx="4648200" cy="0"/>
              </a:xfrm>
              <a:prstGeom prst="line">
                <a:avLst/>
              </a:prstGeom>
              <a:noFill/>
              <a:ln w="9525">
                <a:solidFill>
                  <a:srgbClr val="000000"/>
                </a:solidFill>
                <a:round/>
                <a:headEnd/>
                <a:tailEnd type="triangle" w="med" len="med"/>
              </a:ln>
              <a:effectLst/>
            </p:spPr>
            <p:txBody>
              <a:bodyPr/>
              <a:lstStyle/>
              <a:p>
                <a:endParaRPr lang="tr-TR"/>
              </a:p>
            </p:txBody>
          </p:sp>
          <p:sp>
            <p:nvSpPr>
              <p:cNvPr id="53" name="Line 20"/>
              <p:cNvSpPr>
                <a:spLocks noChangeShapeType="1"/>
              </p:cNvSpPr>
              <p:nvPr/>
            </p:nvSpPr>
            <p:spPr bwMode="auto">
              <a:xfrm flipV="1">
                <a:off x="1905000" y="2438400"/>
                <a:ext cx="0" cy="1219200"/>
              </a:xfrm>
              <a:prstGeom prst="line">
                <a:avLst/>
              </a:prstGeom>
              <a:noFill/>
              <a:ln w="9525">
                <a:solidFill>
                  <a:srgbClr val="000000"/>
                </a:solidFill>
                <a:round/>
                <a:headEnd/>
                <a:tailEnd type="triangle" w="med" len="med"/>
              </a:ln>
              <a:effectLst/>
            </p:spPr>
            <p:txBody>
              <a:bodyPr/>
              <a:lstStyle/>
              <a:p>
                <a:endParaRPr lang="tr-TR"/>
              </a:p>
            </p:txBody>
          </p:sp>
        </p:grpSp>
        <p:sp>
          <p:nvSpPr>
            <p:cNvPr id="42" name="Text Box 21"/>
            <p:cNvSpPr txBox="1">
              <a:spLocks noChangeArrowheads="1"/>
            </p:cNvSpPr>
            <p:nvPr/>
          </p:nvSpPr>
          <p:spPr bwMode="auto">
            <a:xfrm>
              <a:off x="3200400" y="3276600"/>
              <a:ext cx="2286000" cy="366713"/>
            </a:xfrm>
            <a:prstGeom prst="rect">
              <a:avLst/>
            </a:prstGeom>
            <a:noFill/>
            <a:ln w="9525">
              <a:noFill/>
              <a:miter lim="800000"/>
              <a:headEnd/>
              <a:tailEnd/>
            </a:ln>
            <a:effectLst/>
          </p:spPr>
          <p:txBody>
            <a:bodyPr>
              <a:spAutoFit/>
            </a:bodyPr>
            <a:lstStyle/>
            <a:p>
              <a:pPr>
                <a:spcBef>
                  <a:spcPct val="50000"/>
                </a:spcBef>
              </a:pPr>
              <a:r>
                <a:rPr lang="tr-TR" dirty="0">
                  <a:solidFill>
                    <a:srgbClr val="000000"/>
                  </a:solidFill>
                </a:rPr>
                <a:t>Yeniden inceleme </a:t>
              </a:r>
            </a:p>
          </p:txBody>
        </p:sp>
      </p:grpSp>
      <p:sp>
        <p:nvSpPr>
          <p:cNvPr id="54" name="Text Box 22"/>
          <p:cNvSpPr txBox="1">
            <a:spLocks noGrp="1" noChangeArrowheads="1"/>
          </p:cNvSpPr>
          <p:nvPr>
            <p:ph type="title"/>
          </p:nvPr>
        </p:nvSpPr>
        <p:spPr bwMode="auto">
          <a:xfrm>
            <a:off x="285720" y="642918"/>
            <a:ext cx="8229600" cy="400110"/>
          </a:xfrm>
          <a:prstGeom prst="rect">
            <a:avLst/>
          </a:prstGeom>
          <a:noFill/>
          <a:ln w="9525">
            <a:noFill/>
            <a:miter lim="800000"/>
            <a:headEnd/>
            <a:tailEnd/>
          </a:ln>
          <a:effectLst/>
        </p:spPr>
        <p:txBody>
          <a:bodyPr>
            <a:spAutoFit/>
          </a:bodyPr>
          <a:lstStyle/>
          <a:p>
            <a:pPr>
              <a:spcBef>
                <a:spcPct val="50000"/>
              </a:spcBef>
            </a:pPr>
            <a:r>
              <a:rPr lang="tr-TR" sz="2000" dirty="0" smtClean="0"/>
              <a:t>Şekil 4.2. İNCELEME SÜRECİ</a:t>
            </a:r>
            <a:endParaRPr lang="tr-T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mtClean="0"/>
              <a:t>Genel Yazılım inceleme süreci</a:t>
            </a:r>
            <a:br>
              <a:rPr lang="tr-TR" smtClean="0"/>
            </a:br>
            <a:endParaRPr lang="tr-TR"/>
          </a:p>
        </p:txBody>
      </p:sp>
      <p:sp>
        <p:nvSpPr>
          <p:cNvPr id="3" name="2 İçerik Yer Tutucusu"/>
          <p:cNvSpPr>
            <a:spLocks noGrp="1"/>
          </p:cNvSpPr>
          <p:nvPr>
            <p:ph idx="1"/>
          </p:nvPr>
        </p:nvSpPr>
        <p:spPr/>
        <p:txBody>
          <a:bodyPr>
            <a:normAutofit fontScale="92500" lnSpcReduction="10000"/>
          </a:bodyPr>
          <a:lstStyle/>
          <a:p>
            <a:pPr lvl="0"/>
            <a:r>
              <a:rPr lang="tr-TR" b="1" dirty="0" smtClean="0"/>
              <a:t>İnceleme ve toparlama aşaması: </a:t>
            </a:r>
            <a:r>
              <a:rPr lang="tr-TR" dirty="0" smtClean="0"/>
              <a:t>Belirlenen kriterlere uygun olarak inceleme işleminin yapılması,  hataların tespit edilmesi ve bu hataların bir sonraki aşamada düzeltilmek amacıyla kayıt altına alınması.</a:t>
            </a:r>
          </a:p>
          <a:p>
            <a:pPr lvl="0"/>
            <a:r>
              <a:rPr lang="tr-TR" b="1" dirty="0" smtClean="0"/>
              <a:t>Düzeltme ve tamamlama aşaması: </a:t>
            </a:r>
            <a:r>
              <a:rPr lang="tr-TR" dirty="0" smtClean="0"/>
              <a:t>Bulunan hataların, yazılımları incelemekle sorumlu kişiler tarafından düzeltilmesi ve  takip edilmesidir. İstenen sonuçlar elde edilemezse yeniden inceleme için sürecin başına dönülür. </a:t>
            </a:r>
          </a:p>
          <a:p>
            <a:endParaRPr lang="tr-T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t>
            </a:r>
            <a:br>
              <a:rPr lang="tr-TR" dirty="0" smtClean="0"/>
            </a:br>
            <a:r>
              <a:rPr lang="tr-TR" dirty="0" smtClean="0"/>
              <a:t>Şekil.4.3. İnceleme (</a:t>
            </a:r>
            <a:r>
              <a:rPr lang="tr-TR" dirty="0" err="1" smtClean="0"/>
              <a:t>inspection</a:t>
            </a:r>
            <a:r>
              <a:rPr lang="tr-TR" dirty="0" smtClean="0"/>
              <a:t>) Süreci, </a:t>
            </a:r>
            <a:r>
              <a:rPr lang="tr-TR" dirty="0" err="1" smtClean="0"/>
              <a:t>Fagan</a:t>
            </a:r>
            <a:r>
              <a:rPr lang="tr-TR" dirty="0" smtClean="0"/>
              <a:t> (1986) </a:t>
            </a:r>
            <a:br>
              <a:rPr lang="tr-TR" dirty="0" smtClean="0"/>
            </a:br>
            <a:endParaRPr lang="tr-TR" dirty="0"/>
          </a:p>
        </p:txBody>
      </p:sp>
      <p:sp>
        <p:nvSpPr>
          <p:cNvPr id="5" name="4 Metin kutusu"/>
          <p:cNvSpPr txBox="1"/>
          <p:nvPr/>
        </p:nvSpPr>
        <p:spPr>
          <a:xfrm>
            <a:off x="857224" y="2928934"/>
            <a:ext cx="857256" cy="276999"/>
          </a:xfrm>
          <a:prstGeom prst="rect">
            <a:avLst/>
          </a:prstGeom>
          <a:noFill/>
          <a:ln w="6350" cmpd="sng">
            <a:solidFill>
              <a:schemeClr val="tx1"/>
            </a:solidFill>
          </a:ln>
        </p:spPr>
        <p:txBody>
          <a:bodyPr wrap="square" rtlCol="0">
            <a:spAutoFit/>
          </a:bodyPr>
          <a:lstStyle/>
          <a:p>
            <a:r>
              <a:rPr lang="tr-TR" sz="1200" dirty="0" smtClean="0"/>
              <a:t>Planlama</a:t>
            </a:r>
            <a:endParaRPr lang="tr-TR" sz="1200" dirty="0"/>
          </a:p>
        </p:txBody>
      </p:sp>
      <p:sp>
        <p:nvSpPr>
          <p:cNvPr id="6" name="5 İçerik Yer Tutucusu"/>
          <p:cNvSpPr txBox="1">
            <a:spLocks noGrp="1"/>
          </p:cNvSpPr>
          <p:nvPr>
            <p:ph idx="1"/>
          </p:nvPr>
        </p:nvSpPr>
        <p:spPr>
          <a:xfrm>
            <a:off x="457200" y="1600200"/>
            <a:ext cx="8229600" cy="307777"/>
          </a:xfrm>
          <a:prstGeom prst="rect">
            <a:avLst/>
          </a:prstGeom>
          <a:noFill/>
        </p:spPr>
        <p:txBody>
          <a:bodyPr wrap="square" rtlCol="0">
            <a:spAutoFit/>
          </a:bodyPr>
          <a:lstStyle/>
          <a:p>
            <a:pPr>
              <a:buNone/>
            </a:pPr>
            <a:endParaRPr lang="tr-TR" sz="1400" dirty="0"/>
          </a:p>
        </p:txBody>
      </p:sp>
      <p:sp>
        <p:nvSpPr>
          <p:cNvPr id="7" name="6 Metin kutusu"/>
          <p:cNvSpPr txBox="1"/>
          <p:nvPr/>
        </p:nvSpPr>
        <p:spPr>
          <a:xfrm>
            <a:off x="1785918" y="3214686"/>
            <a:ext cx="1000132" cy="461665"/>
          </a:xfrm>
          <a:prstGeom prst="rect">
            <a:avLst/>
          </a:prstGeom>
          <a:noFill/>
          <a:ln w="6350" cmpd="sng">
            <a:solidFill>
              <a:schemeClr val="tx1"/>
            </a:solidFill>
          </a:ln>
        </p:spPr>
        <p:txBody>
          <a:bodyPr wrap="square" rtlCol="0">
            <a:spAutoFit/>
          </a:bodyPr>
          <a:lstStyle/>
          <a:p>
            <a:r>
              <a:rPr lang="tr-TR" sz="1200" dirty="0" smtClean="0"/>
              <a:t>Gözden Geçirme</a:t>
            </a:r>
            <a:endParaRPr lang="tr-TR" sz="1200" dirty="0"/>
          </a:p>
        </p:txBody>
      </p:sp>
      <p:sp>
        <p:nvSpPr>
          <p:cNvPr id="8" name="7 Metin kutusu"/>
          <p:cNvSpPr txBox="1"/>
          <p:nvPr/>
        </p:nvSpPr>
        <p:spPr>
          <a:xfrm>
            <a:off x="2928926" y="3500438"/>
            <a:ext cx="1000132" cy="461665"/>
          </a:xfrm>
          <a:prstGeom prst="rect">
            <a:avLst/>
          </a:prstGeom>
          <a:noFill/>
          <a:ln w="6350" cmpd="sng">
            <a:solidFill>
              <a:schemeClr val="tx1"/>
            </a:solidFill>
          </a:ln>
        </p:spPr>
        <p:txBody>
          <a:bodyPr wrap="square" rtlCol="0">
            <a:spAutoFit/>
          </a:bodyPr>
          <a:lstStyle/>
          <a:p>
            <a:r>
              <a:rPr lang="tr-TR" sz="1200" dirty="0" smtClean="0"/>
              <a:t>Kişisel Kod İnceleme</a:t>
            </a:r>
            <a:endParaRPr lang="tr-TR" sz="1200" dirty="0"/>
          </a:p>
        </p:txBody>
      </p:sp>
      <p:sp>
        <p:nvSpPr>
          <p:cNvPr id="9" name="8 Metin kutusu"/>
          <p:cNvSpPr txBox="1"/>
          <p:nvPr/>
        </p:nvSpPr>
        <p:spPr>
          <a:xfrm>
            <a:off x="6000760" y="3071810"/>
            <a:ext cx="1071570" cy="461665"/>
          </a:xfrm>
          <a:prstGeom prst="rect">
            <a:avLst/>
          </a:prstGeom>
          <a:noFill/>
          <a:ln w="6350" cmpd="sng">
            <a:solidFill>
              <a:schemeClr val="tx1"/>
            </a:solidFill>
          </a:ln>
        </p:spPr>
        <p:txBody>
          <a:bodyPr wrap="square" rtlCol="0">
            <a:spAutoFit/>
          </a:bodyPr>
          <a:lstStyle/>
          <a:p>
            <a:r>
              <a:rPr lang="tr-TR" sz="1200" dirty="0" smtClean="0"/>
              <a:t>Tamamlama ve Rapor</a:t>
            </a:r>
            <a:endParaRPr lang="tr-TR" sz="1200" dirty="0"/>
          </a:p>
        </p:txBody>
      </p:sp>
      <p:sp>
        <p:nvSpPr>
          <p:cNvPr id="11" name="10 Metin kutusu"/>
          <p:cNvSpPr txBox="1"/>
          <p:nvPr/>
        </p:nvSpPr>
        <p:spPr>
          <a:xfrm>
            <a:off x="4000496" y="3786190"/>
            <a:ext cx="928694" cy="461665"/>
          </a:xfrm>
          <a:prstGeom prst="rect">
            <a:avLst/>
          </a:prstGeom>
          <a:noFill/>
          <a:ln w="6350" cmpd="sng">
            <a:solidFill>
              <a:schemeClr val="tx1"/>
            </a:solidFill>
          </a:ln>
        </p:spPr>
        <p:txBody>
          <a:bodyPr wrap="square" rtlCol="0">
            <a:spAutoFit/>
          </a:bodyPr>
          <a:lstStyle/>
          <a:p>
            <a:r>
              <a:rPr lang="tr-TR" sz="1200" dirty="0" smtClean="0"/>
              <a:t>İnceleme Toplantısı</a:t>
            </a:r>
            <a:endParaRPr lang="tr-TR" sz="1200" dirty="0"/>
          </a:p>
        </p:txBody>
      </p:sp>
      <p:sp>
        <p:nvSpPr>
          <p:cNvPr id="12" name="11 Metin kutusu"/>
          <p:cNvSpPr txBox="1"/>
          <p:nvPr/>
        </p:nvSpPr>
        <p:spPr>
          <a:xfrm>
            <a:off x="5000628" y="3571876"/>
            <a:ext cx="928694" cy="276999"/>
          </a:xfrm>
          <a:prstGeom prst="rect">
            <a:avLst/>
          </a:prstGeom>
          <a:noFill/>
          <a:ln w="6350" cmpd="sng">
            <a:solidFill>
              <a:schemeClr val="tx1"/>
            </a:solidFill>
          </a:ln>
        </p:spPr>
        <p:txBody>
          <a:bodyPr wrap="square" rtlCol="0">
            <a:spAutoFit/>
          </a:bodyPr>
          <a:lstStyle/>
          <a:p>
            <a:r>
              <a:rPr lang="tr-TR" sz="1200" dirty="0" smtClean="0"/>
              <a:t>Düzeltme </a:t>
            </a:r>
            <a:endParaRPr lang="tr-TR" sz="1200" dirty="0"/>
          </a:p>
        </p:txBody>
      </p:sp>
      <p:cxnSp>
        <p:nvCxnSpPr>
          <p:cNvPr id="14" name="13 Dirsek Bağlayıcısı"/>
          <p:cNvCxnSpPr>
            <a:stCxn id="5" idx="0"/>
            <a:endCxn id="7" idx="0"/>
          </p:cNvCxnSpPr>
          <p:nvPr/>
        </p:nvCxnSpPr>
        <p:spPr>
          <a:xfrm rot="16200000" flipH="1">
            <a:off x="1643042" y="2571744"/>
            <a:ext cx="285752" cy="1000132"/>
          </a:xfrm>
          <a:prstGeom prst="bentConnector3">
            <a:avLst>
              <a:gd name="adj1" fmla="val -7999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5 Şekil"/>
          <p:cNvCxnSpPr>
            <a:endCxn id="8" idx="0"/>
          </p:cNvCxnSpPr>
          <p:nvPr/>
        </p:nvCxnSpPr>
        <p:spPr>
          <a:xfrm>
            <a:off x="2571736" y="3214686"/>
            <a:ext cx="857256" cy="28575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19 Şekil"/>
          <p:cNvCxnSpPr>
            <a:endCxn id="11" idx="0"/>
          </p:cNvCxnSpPr>
          <p:nvPr/>
        </p:nvCxnSpPr>
        <p:spPr>
          <a:xfrm>
            <a:off x="3643306" y="3500438"/>
            <a:ext cx="821537" cy="28575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21 Şekil"/>
          <p:cNvCxnSpPr>
            <a:endCxn id="12" idx="0"/>
          </p:cNvCxnSpPr>
          <p:nvPr/>
        </p:nvCxnSpPr>
        <p:spPr>
          <a:xfrm flipV="1">
            <a:off x="4714876" y="3571876"/>
            <a:ext cx="750099" cy="214314"/>
          </a:xfrm>
          <a:prstGeom prst="bentConnector4">
            <a:avLst>
              <a:gd name="adj1" fmla="val 19048"/>
              <a:gd name="adj2" fmla="val 206666"/>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23 Şekil"/>
          <p:cNvCxnSpPr>
            <a:endCxn id="9" idx="0"/>
          </p:cNvCxnSpPr>
          <p:nvPr/>
        </p:nvCxnSpPr>
        <p:spPr>
          <a:xfrm flipV="1">
            <a:off x="5715008" y="3071810"/>
            <a:ext cx="821537" cy="500066"/>
          </a:xfrm>
          <a:prstGeom prst="bentConnector4">
            <a:avLst>
              <a:gd name="adj1" fmla="val 17391"/>
              <a:gd name="adj2" fmla="val 145714"/>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İnceleme (</a:t>
            </a:r>
            <a:r>
              <a:rPr lang="tr-TR" dirty="0" err="1" smtClean="0"/>
              <a:t>inspection</a:t>
            </a:r>
            <a:r>
              <a:rPr lang="tr-TR" dirty="0" smtClean="0"/>
              <a:t>) Süreci, </a:t>
            </a:r>
            <a:r>
              <a:rPr lang="tr-TR" dirty="0" err="1" smtClean="0"/>
              <a:t>Fagan</a:t>
            </a:r>
            <a:r>
              <a:rPr lang="tr-TR" dirty="0" smtClean="0"/>
              <a:t> (1986)</a:t>
            </a:r>
            <a:endParaRPr lang="tr-TR" dirty="0"/>
          </a:p>
        </p:txBody>
      </p:sp>
      <p:sp>
        <p:nvSpPr>
          <p:cNvPr id="3" name="2 İçerik Yer Tutucusu"/>
          <p:cNvSpPr>
            <a:spLocks noGrp="1"/>
          </p:cNvSpPr>
          <p:nvPr>
            <p:ph idx="1"/>
          </p:nvPr>
        </p:nvSpPr>
        <p:spPr>
          <a:xfrm>
            <a:off x="457200" y="1412776"/>
            <a:ext cx="8229600" cy="4713387"/>
          </a:xfrm>
        </p:spPr>
        <p:txBody>
          <a:bodyPr>
            <a:normAutofit lnSpcReduction="10000"/>
          </a:bodyPr>
          <a:lstStyle/>
          <a:p>
            <a:pPr>
              <a:buNone/>
            </a:pPr>
            <a:r>
              <a:rPr lang="tr-TR" dirty="0" smtClean="0"/>
              <a:t> Kod okuma</a:t>
            </a:r>
          </a:p>
          <a:p>
            <a:r>
              <a:rPr lang="tr-TR" sz="2600" dirty="0" smtClean="0"/>
              <a:t>Etkili bir kod okuma tekniği hem  yukarıdan-aşağıya hem de aşağıdan –yukarıya incelemenin bir birleşimi olmalıdır. </a:t>
            </a:r>
          </a:p>
          <a:p>
            <a:r>
              <a:rPr lang="tr-TR" sz="2600" dirty="0" smtClean="0"/>
              <a:t>Program mümkün olan en küçük parçalara ( örneğin fonksiyon, prosedür, altprogram) ayrılarak öncelikle bu parçaların kendi içindeki bütünlüğü ve doğruluğu incelenmeli sonra da programın bütünü ile olan uyumları incelenmelidir.</a:t>
            </a:r>
          </a:p>
          <a:p>
            <a:r>
              <a:rPr lang="tr-TR" sz="2800" dirty="0" smtClean="0"/>
              <a:t>4.4. İnceleme Ekibi</a:t>
            </a:r>
          </a:p>
          <a:p>
            <a:r>
              <a:rPr lang="tr-TR" sz="2800" dirty="0" smtClean="0"/>
              <a:t>İnceleme Ekibi, İnceleme Sorumlusu  - İnceleyiciler - Yazar – Kod  Okuyucu  ve Kayıtçı dan oluşmaktadır. </a:t>
            </a:r>
          </a:p>
          <a:p>
            <a:endParaRPr lang="tr-TR" sz="2600" dirty="0" smtClean="0"/>
          </a:p>
          <a:p>
            <a:endParaRPr lang="tr-T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Teknik İnceleme Özet Raporu</a:t>
            </a:r>
            <a:br>
              <a:rPr lang="tr-TR" dirty="0" smtClean="0"/>
            </a:br>
            <a:endParaRPr lang="tr-TR" dirty="0"/>
          </a:p>
        </p:txBody>
      </p:sp>
      <p:sp>
        <p:nvSpPr>
          <p:cNvPr id="3" name="2 İçerik Yer Tutucusu"/>
          <p:cNvSpPr>
            <a:spLocks noGrp="1"/>
          </p:cNvSpPr>
          <p:nvPr>
            <p:ph idx="1"/>
          </p:nvPr>
        </p:nvSpPr>
        <p:spPr/>
        <p:txBody>
          <a:bodyPr>
            <a:normAutofit fontScale="85000" lnSpcReduction="10000"/>
          </a:bodyPr>
          <a:lstStyle/>
          <a:p>
            <a:r>
              <a:rPr lang="tr-TR" dirty="0" smtClean="0"/>
              <a:t>Teknik inceleme raporunda;</a:t>
            </a:r>
          </a:p>
          <a:p>
            <a:pPr lvl="1"/>
            <a:r>
              <a:rPr lang="tr-TR" dirty="0" smtClean="0"/>
              <a:t>Neyin gözden geçirildiği </a:t>
            </a:r>
          </a:p>
          <a:p>
            <a:pPr lvl="1"/>
            <a:r>
              <a:rPr lang="tr-TR" dirty="0" smtClean="0"/>
              <a:t>Kimin gözden geçirdiği </a:t>
            </a:r>
          </a:p>
          <a:p>
            <a:pPr lvl="1"/>
            <a:r>
              <a:rPr lang="tr-TR" dirty="0" smtClean="0"/>
              <a:t>Hangi hata ve eksiklerin bulunduğu ve ne yapılması gerektiği </a:t>
            </a:r>
          </a:p>
          <a:p>
            <a:r>
              <a:rPr lang="tr-TR" dirty="0" smtClean="0"/>
              <a:t>konuları açıklanmaktadır. Sonuç olarak da:</a:t>
            </a:r>
          </a:p>
          <a:p>
            <a:pPr lvl="1"/>
            <a:r>
              <a:rPr lang="tr-TR" b="1" dirty="0" smtClean="0"/>
              <a:t>a)</a:t>
            </a:r>
            <a:r>
              <a:rPr lang="tr-TR" dirty="0" smtClean="0"/>
              <a:t> Değişiklik yapılmaksızın kabul edilmesi, </a:t>
            </a:r>
            <a:br>
              <a:rPr lang="tr-TR" dirty="0" smtClean="0"/>
            </a:br>
            <a:r>
              <a:rPr lang="tr-TR" b="1" dirty="0" smtClean="0"/>
              <a:t>b)</a:t>
            </a:r>
            <a:r>
              <a:rPr lang="tr-TR" dirty="0" smtClean="0"/>
              <a:t> Belirtilen önemsiz hataların düzeltilmesi koşulu ile kabul edilmesi, </a:t>
            </a:r>
            <a:br>
              <a:rPr lang="tr-TR" dirty="0" smtClean="0"/>
            </a:br>
            <a:r>
              <a:rPr lang="tr-TR" b="1" dirty="0" smtClean="0"/>
              <a:t>c)</a:t>
            </a:r>
            <a:r>
              <a:rPr lang="tr-TR" dirty="0" smtClean="0"/>
              <a:t> Reddedilerek düzeltme sonunda yeniden incelenmesi</a:t>
            </a:r>
          </a:p>
          <a:p>
            <a:pPr>
              <a:buNone/>
            </a:pPr>
            <a:r>
              <a:rPr lang="tr-TR" dirty="0" smtClean="0"/>
              <a:t>kararlarından biri verilmektedir.</a:t>
            </a:r>
          </a:p>
          <a:p>
            <a:endParaRPr lang="tr-T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200" dirty="0" smtClean="0"/>
              <a:t/>
            </a:r>
            <a:br>
              <a:rPr lang="tr-TR" sz="3200" dirty="0" smtClean="0"/>
            </a:br>
            <a:r>
              <a:rPr lang="tr-TR" sz="3200" dirty="0" smtClean="0"/>
              <a:t>5.GEÇERLEME ve DOĞRULAMA TEKNİKLERİ</a:t>
            </a:r>
            <a:br>
              <a:rPr lang="tr-TR" sz="3200" dirty="0" smtClean="0"/>
            </a:br>
            <a:endParaRPr lang="tr-TR" sz="3200" dirty="0"/>
          </a:p>
        </p:txBody>
      </p:sp>
      <p:sp>
        <p:nvSpPr>
          <p:cNvPr id="3" name="2 İçerik Yer Tutucusu"/>
          <p:cNvSpPr>
            <a:spLocks noGrp="1"/>
          </p:cNvSpPr>
          <p:nvPr>
            <p:ph idx="1"/>
          </p:nvPr>
        </p:nvSpPr>
        <p:spPr/>
        <p:txBody>
          <a:bodyPr>
            <a:normAutofit/>
          </a:bodyPr>
          <a:lstStyle/>
          <a:p>
            <a:r>
              <a:rPr lang="tr-TR" dirty="0" smtClean="0"/>
              <a:t>5.0.Bolüm Hedefi</a:t>
            </a:r>
          </a:p>
          <a:p>
            <a:pPr lvl="1"/>
            <a:r>
              <a:rPr lang="tr-TR" dirty="0" smtClean="0"/>
              <a:t>Dinamik Geçerleme (</a:t>
            </a:r>
            <a:r>
              <a:rPr lang="tr-TR" dirty="0" err="1" smtClean="0"/>
              <a:t>verification</a:t>
            </a:r>
            <a:r>
              <a:rPr lang="tr-TR" dirty="0" smtClean="0"/>
              <a:t>), yazılım test sürecini tanımlama</a:t>
            </a:r>
          </a:p>
          <a:p>
            <a:pPr lvl="1"/>
            <a:r>
              <a:rPr lang="tr-TR" dirty="0" smtClean="0"/>
              <a:t>Birim test ve Bütünlük test işlemlerini özetlenmesi</a:t>
            </a:r>
          </a:p>
          <a:p>
            <a:pPr lvl="1"/>
            <a:r>
              <a:rPr lang="tr-TR" dirty="0" smtClean="0"/>
              <a:t>Regresyon testini tanıma</a:t>
            </a:r>
          </a:p>
          <a:p>
            <a:pPr lvl="1"/>
            <a:r>
              <a:rPr lang="tr-TR" dirty="0" smtClean="0"/>
              <a:t>Saydam kutu Kara kutu Test tiplerini inceleme</a:t>
            </a:r>
          </a:p>
          <a:p>
            <a:pPr lvl="1"/>
            <a:r>
              <a:rPr lang="tr-TR" dirty="0" smtClean="0"/>
              <a:t>Performans, Dayanıklılık ve Güvenlik Testi olarak Sistem Testini tanımlama</a:t>
            </a:r>
          </a:p>
          <a:p>
            <a:endParaRPr lang="tr-T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5.1.Yazılım Sınama (Test)</a:t>
            </a:r>
            <a:br>
              <a:rPr lang="tr-TR" dirty="0" smtClean="0"/>
            </a:br>
            <a:endParaRPr lang="tr-TR" dirty="0"/>
          </a:p>
        </p:txBody>
      </p:sp>
      <p:sp>
        <p:nvSpPr>
          <p:cNvPr id="3" name="2 İçerik Yer Tutucusu"/>
          <p:cNvSpPr>
            <a:spLocks noGrp="1"/>
          </p:cNvSpPr>
          <p:nvPr>
            <p:ph idx="1"/>
          </p:nvPr>
        </p:nvSpPr>
        <p:spPr>
          <a:xfrm>
            <a:off x="457200" y="1196752"/>
            <a:ext cx="8229600" cy="4929411"/>
          </a:xfrm>
        </p:spPr>
        <p:txBody>
          <a:bodyPr>
            <a:normAutofit/>
          </a:bodyPr>
          <a:lstStyle/>
          <a:p>
            <a:r>
              <a:rPr lang="tr-TR" dirty="0" smtClean="0"/>
              <a:t>5.1.Yazılım Sınama</a:t>
            </a:r>
          </a:p>
          <a:p>
            <a:r>
              <a:rPr lang="tr-TR" dirty="0" smtClean="0"/>
              <a:t>Sınama (</a:t>
            </a:r>
            <a:r>
              <a:rPr lang="tr-TR" dirty="0" err="1" smtClean="0"/>
              <a:t>testing</a:t>
            </a:r>
            <a:r>
              <a:rPr lang="tr-TR" dirty="0" smtClean="0"/>
              <a:t>); bir programdaki hataları bulmak amacı ile yapılan işlemlerdir.</a:t>
            </a:r>
          </a:p>
          <a:p>
            <a:r>
              <a:rPr lang="tr-TR" dirty="0" smtClean="0"/>
              <a:t> Sınama, yazılımın</a:t>
            </a:r>
          </a:p>
          <a:p>
            <a:pPr lvl="1">
              <a:buNone/>
            </a:pPr>
            <a:r>
              <a:rPr lang="tr-TR" dirty="0" smtClean="0"/>
              <a:t> a) fonksiyonel,</a:t>
            </a:r>
          </a:p>
          <a:p>
            <a:pPr lvl="1">
              <a:buNone/>
            </a:pPr>
            <a:r>
              <a:rPr lang="tr-TR" dirty="0" smtClean="0"/>
              <a:t> b) performans, </a:t>
            </a:r>
          </a:p>
          <a:p>
            <a:pPr lvl="1">
              <a:buNone/>
            </a:pPr>
            <a:r>
              <a:rPr lang="tr-TR" dirty="0" smtClean="0"/>
              <a:t>c) </a:t>
            </a:r>
            <a:r>
              <a:rPr lang="tr-TR" dirty="0" err="1" smtClean="0"/>
              <a:t>dayanıklık</a:t>
            </a:r>
            <a:r>
              <a:rPr lang="tr-TR" dirty="0" smtClean="0"/>
              <a:t>, </a:t>
            </a:r>
          </a:p>
          <a:p>
            <a:pPr lvl="1">
              <a:buNone/>
            </a:pPr>
            <a:r>
              <a:rPr lang="tr-TR" dirty="0" smtClean="0"/>
              <a:t>d) yapısal </a:t>
            </a:r>
          </a:p>
          <a:p>
            <a:pPr>
              <a:buNone/>
            </a:pPr>
            <a:r>
              <a:rPr lang="tr-TR" dirty="0" smtClean="0"/>
              <a:t>bakımlardan yeterliğini denetlemektedir.</a:t>
            </a:r>
          </a:p>
          <a:p>
            <a:endParaRPr lang="tr-T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V  Model yaklaşımı</a:t>
            </a:r>
            <a:endParaRPr lang="tr-TR" dirty="0"/>
          </a:p>
        </p:txBody>
      </p:sp>
      <p:sp>
        <p:nvSpPr>
          <p:cNvPr id="5" name="4 Dikdörtgen"/>
          <p:cNvSpPr/>
          <p:nvPr/>
        </p:nvSpPr>
        <p:spPr>
          <a:xfrm>
            <a:off x="3867144" y="5010160"/>
            <a:ext cx="776294"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Kodlama &amp; Birim Test </a:t>
            </a:r>
            <a:endParaRPr lang="tr-TR" sz="1000" dirty="0">
              <a:solidFill>
                <a:schemeClr val="tx1"/>
              </a:solidFill>
            </a:endParaRPr>
          </a:p>
        </p:txBody>
      </p:sp>
      <p:sp>
        <p:nvSpPr>
          <p:cNvPr id="6" name="5 Dikdörtgen"/>
          <p:cNvSpPr/>
          <p:nvPr/>
        </p:nvSpPr>
        <p:spPr>
          <a:xfrm>
            <a:off x="3857620" y="5000636"/>
            <a:ext cx="78581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Kodlama &amp; Birim Test </a:t>
            </a:r>
            <a:endParaRPr lang="tr-TR" sz="1000" dirty="0">
              <a:solidFill>
                <a:schemeClr val="tx1"/>
              </a:solidFill>
            </a:endParaRPr>
          </a:p>
        </p:txBody>
      </p:sp>
      <p:sp>
        <p:nvSpPr>
          <p:cNvPr id="7" name="6 Dikdörtgen"/>
          <p:cNvSpPr/>
          <p:nvPr/>
        </p:nvSpPr>
        <p:spPr>
          <a:xfrm>
            <a:off x="2928926" y="4357694"/>
            <a:ext cx="847732"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Alçak düzey Tasarım</a:t>
            </a:r>
            <a:endParaRPr lang="tr-TR" sz="1000" dirty="0">
              <a:solidFill>
                <a:schemeClr val="tx1"/>
              </a:solidFill>
            </a:endParaRPr>
          </a:p>
        </p:txBody>
      </p:sp>
      <p:sp>
        <p:nvSpPr>
          <p:cNvPr id="8" name="7 Dikdörtgen"/>
          <p:cNvSpPr/>
          <p:nvPr/>
        </p:nvSpPr>
        <p:spPr>
          <a:xfrm>
            <a:off x="4500562" y="4357694"/>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Bileşen Test </a:t>
            </a:r>
            <a:endParaRPr lang="tr-TR" sz="1000" dirty="0">
              <a:solidFill>
                <a:schemeClr val="tx1"/>
              </a:solidFill>
            </a:endParaRPr>
          </a:p>
        </p:txBody>
      </p:sp>
      <p:sp>
        <p:nvSpPr>
          <p:cNvPr id="9" name="8 Dikdörtgen"/>
          <p:cNvSpPr/>
          <p:nvPr/>
        </p:nvSpPr>
        <p:spPr>
          <a:xfrm>
            <a:off x="5143504" y="300037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smtClean="0">
                <a:solidFill>
                  <a:schemeClr val="tx1"/>
                </a:solidFill>
              </a:rPr>
              <a:t>Sistem </a:t>
            </a:r>
          </a:p>
          <a:p>
            <a:r>
              <a:rPr lang="tr-TR" sz="1000" dirty="0" smtClean="0">
                <a:solidFill>
                  <a:schemeClr val="tx1"/>
                </a:solidFill>
              </a:rPr>
              <a:t>Test </a:t>
            </a:r>
            <a:endParaRPr lang="tr-TR" sz="1000" dirty="0">
              <a:solidFill>
                <a:schemeClr val="tx1"/>
              </a:solidFill>
            </a:endParaRPr>
          </a:p>
        </p:txBody>
      </p:sp>
      <p:sp>
        <p:nvSpPr>
          <p:cNvPr id="10" name="9 Dikdörtgen"/>
          <p:cNvSpPr/>
          <p:nvPr/>
        </p:nvSpPr>
        <p:spPr>
          <a:xfrm>
            <a:off x="2643174" y="3714752"/>
            <a:ext cx="919170"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Yüksek düzey tasarım</a:t>
            </a:r>
            <a:endParaRPr lang="tr-TR" sz="1000" dirty="0">
              <a:solidFill>
                <a:schemeClr val="tx1"/>
              </a:solidFill>
            </a:endParaRPr>
          </a:p>
        </p:txBody>
      </p:sp>
      <p:sp>
        <p:nvSpPr>
          <p:cNvPr id="11" name="10 Dikdörtgen"/>
          <p:cNvSpPr/>
          <p:nvPr/>
        </p:nvSpPr>
        <p:spPr>
          <a:xfrm>
            <a:off x="2357422" y="3000372"/>
            <a:ext cx="99060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Ürün </a:t>
            </a:r>
            <a:r>
              <a:rPr lang="tr-TR" sz="1000" dirty="0" err="1" smtClean="0">
                <a:solidFill>
                  <a:schemeClr val="tx1"/>
                </a:solidFill>
              </a:rPr>
              <a:t>Spesifikasyon</a:t>
            </a:r>
            <a:endParaRPr lang="tr-TR" sz="1000" dirty="0">
              <a:solidFill>
                <a:schemeClr val="tx1"/>
              </a:solidFill>
            </a:endParaRPr>
          </a:p>
        </p:txBody>
      </p:sp>
      <p:sp>
        <p:nvSpPr>
          <p:cNvPr id="12" name="11 Dikdörtgen"/>
          <p:cNvSpPr/>
          <p:nvPr/>
        </p:nvSpPr>
        <p:spPr>
          <a:xfrm>
            <a:off x="5000628" y="371475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smtClean="0">
                <a:solidFill>
                  <a:schemeClr val="tx1"/>
                </a:solidFill>
              </a:rPr>
              <a:t>Bütünlük  Test </a:t>
            </a:r>
            <a:endParaRPr lang="tr-TR" sz="1000" dirty="0">
              <a:solidFill>
                <a:schemeClr val="tx1"/>
              </a:solidFill>
            </a:endParaRPr>
          </a:p>
        </p:txBody>
      </p:sp>
      <p:sp>
        <p:nvSpPr>
          <p:cNvPr id="13" name="12 Oval"/>
          <p:cNvSpPr/>
          <p:nvPr/>
        </p:nvSpPr>
        <p:spPr>
          <a:xfrm>
            <a:off x="2000232" y="2143116"/>
            <a:ext cx="1357322" cy="500066"/>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Müşteri Gereksinimleri</a:t>
            </a:r>
            <a:endParaRPr lang="tr-TR" sz="1000" dirty="0">
              <a:solidFill>
                <a:schemeClr val="tx1"/>
              </a:solidFill>
            </a:endParaRPr>
          </a:p>
        </p:txBody>
      </p:sp>
      <p:sp>
        <p:nvSpPr>
          <p:cNvPr id="14" name="13 Oval"/>
          <p:cNvSpPr/>
          <p:nvPr/>
        </p:nvSpPr>
        <p:spPr>
          <a:xfrm>
            <a:off x="5000628" y="2143116"/>
            <a:ext cx="1357322"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İşlemsel kullanım</a:t>
            </a:r>
            <a:endParaRPr lang="tr-TR" sz="1000" dirty="0">
              <a:solidFill>
                <a:schemeClr val="tx1"/>
              </a:solidFill>
            </a:endParaRPr>
          </a:p>
        </p:txBody>
      </p:sp>
      <p:cxnSp>
        <p:nvCxnSpPr>
          <p:cNvPr id="16" name="15 Düz Ok Bağlayıcısı"/>
          <p:cNvCxnSpPr>
            <a:stCxn id="13" idx="6"/>
          </p:cNvCxnSpPr>
          <p:nvPr/>
        </p:nvCxnSpPr>
        <p:spPr>
          <a:xfrm flipV="1">
            <a:off x="3357554" y="2357430"/>
            <a:ext cx="1643074" cy="3571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p:nvPr/>
        </p:nvCxnSpPr>
        <p:spPr>
          <a:xfrm>
            <a:off x="3357554" y="3214686"/>
            <a:ext cx="179547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23 Düz Ok Bağlayıcısı"/>
          <p:cNvCxnSpPr>
            <a:stCxn id="10" idx="3"/>
            <a:endCxn id="12" idx="1"/>
          </p:cNvCxnSpPr>
          <p:nvPr/>
        </p:nvCxnSpPr>
        <p:spPr>
          <a:xfrm>
            <a:off x="3562344" y="3893347"/>
            <a:ext cx="143828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6" name="25 Metin kutusu"/>
          <p:cNvSpPr txBox="1"/>
          <p:nvPr/>
        </p:nvSpPr>
        <p:spPr>
          <a:xfrm>
            <a:off x="3500430" y="2071678"/>
            <a:ext cx="857256" cy="246221"/>
          </a:xfrm>
          <a:prstGeom prst="rect">
            <a:avLst/>
          </a:prstGeom>
          <a:noFill/>
          <a:ln w="0">
            <a:noFill/>
          </a:ln>
        </p:spPr>
        <p:txBody>
          <a:bodyPr wrap="square" rtlCol="0">
            <a:spAutoFit/>
          </a:bodyPr>
          <a:lstStyle/>
          <a:p>
            <a:r>
              <a:rPr lang="tr-TR" sz="1000" dirty="0" smtClean="0"/>
              <a:t>GEÇERLEME</a:t>
            </a:r>
            <a:endParaRPr lang="tr-TR" sz="1000" dirty="0" smtClean="0"/>
          </a:p>
        </p:txBody>
      </p:sp>
      <p:sp>
        <p:nvSpPr>
          <p:cNvPr id="27" name="26 Metin kutusu"/>
          <p:cNvSpPr txBox="1"/>
          <p:nvPr/>
        </p:nvSpPr>
        <p:spPr>
          <a:xfrm rot="4467546">
            <a:off x="1239365" y="3394493"/>
            <a:ext cx="1428760" cy="400110"/>
          </a:xfrm>
          <a:prstGeom prst="rect">
            <a:avLst/>
          </a:prstGeom>
          <a:noFill/>
          <a:ln w="0">
            <a:noFill/>
          </a:ln>
        </p:spPr>
        <p:txBody>
          <a:bodyPr wrap="square" rtlCol="0">
            <a:spAutoFit/>
          </a:bodyPr>
          <a:lstStyle/>
          <a:p>
            <a:r>
              <a:rPr lang="tr-TR" sz="1000" dirty="0" smtClean="0"/>
              <a:t>Yazılım Geliştirme   G/D Aktiviteleri</a:t>
            </a:r>
          </a:p>
        </p:txBody>
      </p:sp>
      <p:sp>
        <p:nvSpPr>
          <p:cNvPr id="29" name="28 Metin kutusu"/>
          <p:cNvSpPr txBox="1"/>
          <p:nvPr/>
        </p:nvSpPr>
        <p:spPr>
          <a:xfrm>
            <a:off x="3786182" y="3500438"/>
            <a:ext cx="857256" cy="246221"/>
          </a:xfrm>
          <a:prstGeom prst="rect">
            <a:avLst/>
          </a:prstGeom>
          <a:noFill/>
          <a:ln w="0">
            <a:noFill/>
          </a:ln>
        </p:spPr>
        <p:txBody>
          <a:bodyPr wrap="square" rtlCol="0">
            <a:spAutoFit/>
          </a:bodyPr>
          <a:lstStyle/>
          <a:p>
            <a:r>
              <a:rPr lang="tr-TR" sz="1000" dirty="0" smtClean="0"/>
              <a:t>Doğrulama</a:t>
            </a:r>
            <a:endParaRPr lang="tr-TR" sz="1000" dirty="0" smtClean="0"/>
          </a:p>
        </p:txBody>
      </p:sp>
      <p:sp>
        <p:nvSpPr>
          <p:cNvPr id="30" name="29 Metin kutusu"/>
          <p:cNvSpPr txBox="1"/>
          <p:nvPr/>
        </p:nvSpPr>
        <p:spPr>
          <a:xfrm>
            <a:off x="3786182" y="4286256"/>
            <a:ext cx="857256" cy="246221"/>
          </a:xfrm>
          <a:prstGeom prst="rect">
            <a:avLst/>
          </a:prstGeom>
          <a:noFill/>
          <a:ln w="0">
            <a:noFill/>
          </a:ln>
        </p:spPr>
        <p:txBody>
          <a:bodyPr wrap="square" rtlCol="0">
            <a:spAutoFit/>
          </a:bodyPr>
          <a:lstStyle/>
          <a:p>
            <a:r>
              <a:rPr lang="tr-TR" sz="1000" dirty="0" smtClean="0"/>
              <a:t>Doğrulama</a:t>
            </a:r>
            <a:endParaRPr lang="tr-TR" sz="1000" dirty="0" smtClean="0"/>
          </a:p>
        </p:txBody>
      </p:sp>
      <p:cxnSp>
        <p:nvCxnSpPr>
          <p:cNvPr id="32" name="31 Düz Ok Bağlayıcısı"/>
          <p:cNvCxnSpPr>
            <a:stCxn id="13" idx="4"/>
            <a:endCxn id="11" idx="0"/>
          </p:cNvCxnSpPr>
          <p:nvPr/>
        </p:nvCxnSpPr>
        <p:spPr>
          <a:xfrm rot="16200000" flipH="1">
            <a:off x="2587214" y="2734860"/>
            <a:ext cx="357190" cy="1738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Düz Ok Bağlayıcısı"/>
          <p:cNvCxnSpPr/>
          <p:nvPr/>
        </p:nvCxnSpPr>
        <p:spPr>
          <a:xfrm rot="16200000" flipH="1">
            <a:off x="3000364" y="3429000"/>
            <a:ext cx="357190"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Düz Ok Bağlayıcısı"/>
          <p:cNvCxnSpPr/>
          <p:nvPr/>
        </p:nvCxnSpPr>
        <p:spPr>
          <a:xfrm rot="16200000" flipH="1">
            <a:off x="3321835" y="4107661"/>
            <a:ext cx="285752"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p:nvPr/>
        </p:nvCxnSpPr>
        <p:spPr>
          <a:xfrm rot="16200000" flipH="1">
            <a:off x="3786182"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5400000" flipH="1" flipV="1">
            <a:off x="4429124"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2" idx="0"/>
            <a:endCxn id="9" idx="2"/>
          </p:cNvCxnSpPr>
          <p:nvPr/>
        </p:nvCxnSpPr>
        <p:spPr>
          <a:xfrm rot="5400000" flipH="1" flipV="1">
            <a:off x="5317337" y="3464719"/>
            <a:ext cx="357190"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Ok Bağlayıcısı"/>
          <p:cNvCxnSpPr/>
          <p:nvPr/>
        </p:nvCxnSpPr>
        <p:spPr>
          <a:xfrm rot="5400000" flipH="1" flipV="1">
            <a:off x="5072066" y="4143380"/>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49 Düz Ok Bağlayıcısı"/>
          <p:cNvCxnSpPr>
            <a:stCxn id="9" idx="0"/>
            <a:endCxn id="14" idx="4"/>
          </p:cNvCxnSpPr>
          <p:nvPr/>
        </p:nvCxnSpPr>
        <p:spPr>
          <a:xfrm rot="5400000" flipH="1" flipV="1">
            <a:off x="5444734" y="2765818"/>
            <a:ext cx="357190" cy="1119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51 Şekil"/>
          <p:cNvCxnSpPr>
            <a:stCxn id="6" idx="1"/>
          </p:cNvCxnSpPr>
          <p:nvPr/>
        </p:nvCxnSpPr>
        <p:spPr>
          <a:xfrm rot="10800000">
            <a:off x="2000232" y="2500307"/>
            <a:ext cx="1857388" cy="2678925"/>
          </a:xfrm>
          <a:prstGeom prst="curvedConnector2">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3" name="52 Metin kutusu"/>
          <p:cNvSpPr txBox="1"/>
          <p:nvPr/>
        </p:nvSpPr>
        <p:spPr>
          <a:xfrm>
            <a:off x="3652830" y="3009896"/>
            <a:ext cx="1428760" cy="246221"/>
          </a:xfrm>
          <a:prstGeom prst="rect">
            <a:avLst/>
          </a:prstGeom>
          <a:noFill/>
          <a:ln w="0">
            <a:noFill/>
          </a:ln>
        </p:spPr>
        <p:txBody>
          <a:bodyPr wrap="square" rtlCol="0">
            <a:spAutoFit/>
          </a:bodyPr>
          <a:lstStyle/>
          <a:p>
            <a:r>
              <a:rPr lang="tr-TR" sz="1000" dirty="0" smtClean="0"/>
              <a:t>Geçerleme/Doğrulama</a:t>
            </a:r>
          </a:p>
        </p:txBody>
      </p:sp>
      <p:sp>
        <p:nvSpPr>
          <p:cNvPr id="54" name="53 Metin kutusu"/>
          <p:cNvSpPr txBox="1"/>
          <p:nvPr/>
        </p:nvSpPr>
        <p:spPr>
          <a:xfrm>
            <a:off x="1357290" y="5643578"/>
            <a:ext cx="6715172" cy="276999"/>
          </a:xfrm>
          <a:prstGeom prst="rect">
            <a:avLst/>
          </a:prstGeom>
          <a:noFill/>
          <a:ln w="0">
            <a:solidFill>
              <a:schemeClr val="tx1"/>
            </a:solidFill>
          </a:ln>
        </p:spPr>
        <p:txBody>
          <a:bodyPr wrap="square" rtlCol="0">
            <a:spAutoFit/>
          </a:bodyPr>
          <a:lstStyle/>
          <a:p>
            <a:r>
              <a:rPr lang="tr-TR" sz="1200" dirty="0" smtClean="0"/>
              <a:t>Şekil 3.2  Yazılım geliştirme ve Test sürecindeki Geçerleme &amp; Doğrulama Aktiviteleri (V  Model yaklaşımı)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5.GEÇERLEME ve DOĞRULAMA TEKNİKLERİ</a:t>
            </a:r>
          </a:p>
        </p:txBody>
      </p:sp>
      <p:sp>
        <p:nvSpPr>
          <p:cNvPr id="3" name="2 İçerik Yer Tutucusu"/>
          <p:cNvSpPr>
            <a:spLocks noGrp="1"/>
          </p:cNvSpPr>
          <p:nvPr>
            <p:ph idx="1"/>
          </p:nvPr>
        </p:nvSpPr>
        <p:spPr/>
        <p:txBody>
          <a:bodyPr>
            <a:normAutofit fontScale="92500" lnSpcReduction="10000"/>
          </a:bodyPr>
          <a:lstStyle/>
          <a:p>
            <a:r>
              <a:rPr lang="tr-TR" dirty="0" smtClean="0"/>
              <a:t>	</a:t>
            </a:r>
          </a:p>
          <a:p>
            <a:r>
              <a:rPr lang="tr-TR" dirty="0" smtClean="0"/>
              <a:t>Dinamik Geçerleme (</a:t>
            </a:r>
            <a:r>
              <a:rPr lang="tr-TR" dirty="0" err="1" smtClean="0"/>
              <a:t>verification</a:t>
            </a:r>
            <a:r>
              <a:rPr lang="tr-TR" dirty="0" smtClean="0"/>
              <a:t>), yazılım test sürecini tanımlama</a:t>
            </a:r>
          </a:p>
          <a:p>
            <a:r>
              <a:rPr lang="tr-TR" dirty="0" smtClean="0"/>
              <a:t>Birim test ve Bütünlük test işlemlerini özetlenmesi</a:t>
            </a:r>
          </a:p>
          <a:p>
            <a:r>
              <a:rPr lang="tr-TR" dirty="0" smtClean="0"/>
              <a:t>Regresyon testini tanıma</a:t>
            </a:r>
          </a:p>
          <a:p>
            <a:r>
              <a:rPr lang="tr-TR" dirty="0" smtClean="0"/>
              <a:t>Saydam kutu Kara kutu Test tiplerini inceleme</a:t>
            </a:r>
          </a:p>
          <a:p>
            <a:r>
              <a:rPr lang="tr-TR" dirty="0" smtClean="0"/>
              <a:t>Performans, Dayanıklılık ve Güvenlik Testi olarak Sistem Testini tanımlama</a:t>
            </a:r>
            <a:endParaRPr lang="tr-T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1071546"/>
            <a:ext cx="8229600" cy="928694"/>
          </a:xfrm>
        </p:spPr>
        <p:txBody>
          <a:bodyPr>
            <a:normAutofit/>
          </a:bodyPr>
          <a:lstStyle/>
          <a:p>
            <a:r>
              <a:rPr lang="en-US" sz="2000" b="1" dirty="0" err="1" smtClean="0"/>
              <a:t>Şekil</a:t>
            </a:r>
            <a:r>
              <a:rPr lang="en-US" sz="2000" b="1" dirty="0" smtClean="0"/>
              <a:t> –</a:t>
            </a:r>
            <a:r>
              <a:rPr lang="tr-TR" sz="2000" b="1" dirty="0" smtClean="0"/>
              <a:t>5.1. Yazılım sınama basamakları</a:t>
            </a:r>
            <a:endParaRPr lang="tr-TR" sz="2000" b="1" dirty="0"/>
          </a:p>
        </p:txBody>
      </p:sp>
      <p:pic>
        <p:nvPicPr>
          <p:cNvPr id="4" name="3 İçerik Yer Tutucusu" descr="Sınama_SB"/>
          <p:cNvPicPr>
            <a:picLocks noGrp="1"/>
          </p:cNvPicPr>
          <p:nvPr>
            <p:ph idx="1"/>
          </p:nvPr>
        </p:nvPicPr>
        <p:blipFill>
          <a:blip r:embed="rId3" cstate="print"/>
          <a:srcRect/>
          <a:stretch>
            <a:fillRect/>
          </a:stretch>
        </p:blipFill>
        <p:spPr bwMode="auto">
          <a:xfrm>
            <a:off x="1719262" y="2410619"/>
            <a:ext cx="5705475" cy="29051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dirty="0"/>
          </a:p>
        </p:txBody>
      </p:sp>
      <p:sp>
        <p:nvSpPr>
          <p:cNvPr id="5" name="4 Dikdörtgen"/>
          <p:cNvSpPr/>
          <p:nvPr/>
        </p:nvSpPr>
        <p:spPr>
          <a:xfrm>
            <a:off x="3867144" y="5010160"/>
            <a:ext cx="776294"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Kodlama &amp; Birim Test </a:t>
            </a:r>
            <a:endParaRPr lang="tr-TR" sz="1000" dirty="0">
              <a:solidFill>
                <a:schemeClr val="tx1"/>
              </a:solidFill>
            </a:endParaRPr>
          </a:p>
        </p:txBody>
      </p:sp>
      <p:sp>
        <p:nvSpPr>
          <p:cNvPr id="6" name="5 Dikdörtgen"/>
          <p:cNvSpPr/>
          <p:nvPr/>
        </p:nvSpPr>
        <p:spPr>
          <a:xfrm>
            <a:off x="3857620" y="5000636"/>
            <a:ext cx="78581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Kodlama &amp; Birim Test </a:t>
            </a:r>
            <a:endParaRPr lang="tr-TR" sz="1000" dirty="0">
              <a:solidFill>
                <a:schemeClr val="tx1"/>
              </a:solidFill>
            </a:endParaRPr>
          </a:p>
        </p:txBody>
      </p:sp>
      <p:sp>
        <p:nvSpPr>
          <p:cNvPr id="7" name="6 Dikdörtgen"/>
          <p:cNvSpPr/>
          <p:nvPr/>
        </p:nvSpPr>
        <p:spPr>
          <a:xfrm>
            <a:off x="2928926" y="4357694"/>
            <a:ext cx="847732"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Alçak düzey Tasarım</a:t>
            </a:r>
            <a:endParaRPr lang="tr-TR" sz="1000" dirty="0">
              <a:solidFill>
                <a:schemeClr val="tx1"/>
              </a:solidFill>
            </a:endParaRPr>
          </a:p>
        </p:txBody>
      </p:sp>
      <p:sp>
        <p:nvSpPr>
          <p:cNvPr id="8" name="7 Dikdörtgen"/>
          <p:cNvSpPr/>
          <p:nvPr/>
        </p:nvSpPr>
        <p:spPr>
          <a:xfrm>
            <a:off x="4500562" y="4357694"/>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Bileşen Test </a:t>
            </a:r>
            <a:endParaRPr lang="tr-TR" sz="1000" dirty="0">
              <a:solidFill>
                <a:schemeClr val="tx1"/>
              </a:solidFill>
            </a:endParaRPr>
          </a:p>
        </p:txBody>
      </p:sp>
      <p:sp>
        <p:nvSpPr>
          <p:cNvPr id="9" name="8 Dikdörtgen"/>
          <p:cNvSpPr/>
          <p:nvPr/>
        </p:nvSpPr>
        <p:spPr>
          <a:xfrm>
            <a:off x="5143504" y="300037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smtClean="0">
                <a:solidFill>
                  <a:schemeClr val="tx1"/>
                </a:solidFill>
              </a:rPr>
              <a:t>Sistem </a:t>
            </a:r>
          </a:p>
          <a:p>
            <a:r>
              <a:rPr lang="tr-TR" sz="1000" dirty="0" smtClean="0">
                <a:solidFill>
                  <a:schemeClr val="tx1"/>
                </a:solidFill>
              </a:rPr>
              <a:t>Test </a:t>
            </a:r>
            <a:endParaRPr lang="tr-TR" sz="1000" dirty="0">
              <a:solidFill>
                <a:schemeClr val="tx1"/>
              </a:solidFill>
            </a:endParaRPr>
          </a:p>
        </p:txBody>
      </p:sp>
      <p:sp>
        <p:nvSpPr>
          <p:cNvPr id="10" name="9 Dikdörtgen"/>
          <p:cNvSpPr/>
          <p:nvPr/>
        </p:nvSpPr>
        <p:spPr>
          <a:xfrm>
            <a:off x="2571736" y="3714752"/>
            <a:ext cx="99060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Yüksek düzey tasarım</a:t>
            </a:r>
            <a:endParaRPr lang="tr-TR" sz="1000" dirty="0">
              <a:solidFill>
                <a:schemeClr val="tx1"/>
              </a:solidFill>
            </a:endParaRPr>
          </a:p>
        </p:txBody>
      </p:sp>
      <p:sp>
        <p:nvSpPr>
          <p:cNvPr id="11" name="10 Dikdörtgen"/>
          <p:cNvSpPr/>
          <p:nvPr/>
        </p:nvSpPr>
        <p:spPr>
          <a:xfrm>
            <a:off x="2428860" y="2928934"/>
            <a:ext cx="919170" cy="42862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Ürün </a:t>
            </a:r>
            <a:r>
              <a:rPr lang="tr-TR" sz="1000" dirty="0" err="1" smtClean="0">
                <a:solidFill>
                  <a:schemeClr val="tx1"/>
                </a:solidFill>
              </a:rPr>
              <a:t>Spesifikasyon</a:t>
            </a:r>
            <a:endParaRPr lang="tr-TR" sz="1000" dirty="0">
              <a:solidFill>
                <a:schemeClr val="tx1"/>
              </a:solidFill>
            </a:endParaRPr>
          </a:p>
        </p:txBody>
      </p:sp>
      <p:sp>
        <p:nvSpPr>
          <p:cNvPr id="12" name="11 Dikdörtgen"/>
          <p:cNvSpPr/>
          <p:nvPr/>
        </p:nvSpPr>
        <p:spPr>
          <a:xfrm>
            <a:off x="5000628" y="371475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smtClean="0">
                <a:solidFill>
                  <a:schemeClr val="tx1"/>
                </a:solidFill>
              </a:rPr>
              <a:t>Bütünlük  Test </a:t>
            </a:r>
            <a:endParaRPr lang="tr-TR" sz="1000" dirty="0">
              <a:solidFill>
                <a:schemeClr val="tx1"/>
              </a:solidFill>
            </a:endParaRPr>
          </a:p>
        </p:txBody>
      </p:sp>
      <p:sp>
        <p:nvSpPr>
          <p:cNvPr id="13" name="12 Oval"/>
          <p:cNvSpPr/>
          <p:nvPr/>
        </p:nvSpPr>
        <p:spPr>
          <a:xfrm>
            <a:off x="2000232" y="2143116"/>
            <a:ext cx="1357322" cy="500066"/>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Müşteri Gereksinimleri</a:t>
            </a:r>
            <a:endParaRPr lang="tr-TR" sz="1000" dirty="0">
              <a:solidFill>
                <a:schemeClr val="tx1"/>
              </a:solidFill>
            </a:endParaRPr>
          </a:p>
        </p:txBody>
      </p:sp>
      <p:sp>
        <p:nvSpPr>
          <p:cNvPr id="14" name="13 Oval"/>
          <p:cNvSpPr/>
          <p:nvPr/>
        </p:nvSpPr>
        <p:spPr>
          <a:xfrm>
            <a:off x="5000628" y="2143116"/>
            <a:ext cx="1357322"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smtClean="0">
                <a:solidFill>
                  <a:schemeClr val="tx1"/>
                </a:solidFill>
              </a:rPr>
              <a:t>İşlemsel kullanım</a:t>
            </a:r>
            <a:endParaRPr lang="tr-TR" sz="1000" dirty="0">
              <a:solidFill>
                <a:schemeClr val="tx1"/>
              </a:solidFill>
            </a:endParaRPr>
          </a:p>
        </p:txBody>
      </p:sp>
      <p:cxnSp>
        <p:nvCxnSpPr>
          <p:cNvPr id="16" name="15 Düz Ok Bağlayıcısı"/>
          <p:cNvCxnSpPr>
            <a:stCxn id="13" idx="6"/>
          </p:cNvCxnSpPr>
          <p:nvPr/>
        </p:nvCxnSpPr>
        <p:spPr>
          <a:xfrm flipV="1">
            <a:off x="3357554" y="2357430"/>
            <a:ext cx="1643074" cy="3571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p:nvPr/>
        </p:nvCxnSpPr>
        <p:spPr>
          <a:xfrm>
            <a:off x="3357554" y="3214686"/>
            <a:ext cx="179547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23 Düz Ok Bağlayıcısı"/>
          <p:cNvCxnSpPr>
            <a:stCxn id="10" idx="3"/>
            <a:endCxn id="12" idx="1"/>
          </p:cNvCxnSpPr>
          <p:nvPr/>
        </p:nvCxnSpPr>
        <p:spPr>
          <a:xfrm>
            <a:off x="3562344" y="3893347"/>
            <a:ext cx="143828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6" name="25 Metin kutusu"/>
          <p:cNvSpPr txBox="1"/>
          <p:nvPr/>
        </p:nvSpPr>
        <p:spPr>
          <a:xfrm>
            <a:off x="3500430" y="2071678"/>
            <a:ext cx="857256" cy="246221"/>
          </a:xfrm>
          <a:prstGeom prst="rect">
            <a:avLst/>
          </a:prstGeom>
          <a:noFill/>
          <a:ln w="0">
            <a:noFill/>
          </a:ln>
        </p:spPr>
        <p:txBody>
          <a:bodyPr wrap="square" rtlCol="0">
            <a:spAutoFit/>
          </a:bodyPr>
          <a:lstStyle/>
          <a:p>
            <a:r>
              <a:rPr lang="tr-TR" sz="1000" dirty="0" smtClean="0"/>
              <a:t>Geçerleme</a:t>
            </a:r>
            <a:endParaRPr lang="tr-TR" sz="1000" dirty="0" smtClean="0"/>
          </a:p>
        </p:txBody>
      </p:sp>
      <p:sp>
        <p:nvSpPr>
          <p:cNvPr id="27" name="26 Metin kutusu"/>
          <p:cNvSpPr txBox="1"/>
          <p:nvPr/>
        </p:nvSpPr>
        <p:spPr>
          <a:xfrm rot="4467546">
            <a:off x="1239365" y="3394493"/>
            <a:ext cx="1428760" cy="400110"/>
          </a:xfrm>
          <a:prstGeom prst="rect">
            <a:avLst/>
          </a:prstGeom>
          <a:noFill/>
          <a:ln w="0">
            <a:noFill/>
          </a:ln>
        </p:spPr>
        <p:txBody>
          <a:bodyPr wrap="square" rtlCol="0">
            <a:spAutoFit/>
          </a:bodyPr>
          <a:lstStyle/>
          <a:p>
            <a:r>
              <a:rPr lang="tr-TR" sz="1000" dirty="0" smtClean="0"/>
              <a:t>Yazılım Geliştirme   G/D Aktiviteleri</a:t>
            </a:r>
          </a:p>
        </p:txBody>
      </p:sp>
      <p:sp>
        <p:nvSpPr>
          <p:cNvPr id="29" name="28 Metin kutusu"/>
          <p:cNvSpPr txBox="1"/>
          <p:nvPr/>
        </p:nvSpPr>
        <p:spPr>
          <a:xfrm>
            <a:off x="3786182" y="3500438"/>
            <a:ext cx="857256" cy="246221"/>
          </a:xfrm>
          <a:prstGeom prst="rect">
            <a:avLst/>
          </a:prstGeom>
          <a:noFill/>
          <a:ln w="0">
            <a:noFill/>
          </a:ln>
        </p:spPr>
        <p:txBody>
          <a:bodyPr wrap="square" rtlCol="0">
            <a:spAutoFit/>
          </a:bodyPr>
          <a:lstStyle/>
          <a:p>
            <a:r>
              <a:rPr lang="tr-TR" sz="1000" dirty="0" smtClean="0"/>
              <a:t>Doğrulama</a:t>
            </a:r>
            <a:endParaRPr lang="tr-TR" sz="1000" dirty="0" smtClean="0"/>
          </a:p>
        </p:txBody>
      </p:sp>
      <p:sp>
        <p:nvSpPr>
          <p:cNvPr id="30" name="29 Metin kutusu"/>
          <p:cNvSpPr txBox="1"/>
          <p:nvPr/>
        </p:nvSpPr>
        <p:spPr>
          <a:xfrm>
            <a:off x="3786182" y="4286256"/>
            <a:ext cx="857256" cy="246221"/>
          </a:xfrm>
          <a:prstGeom prst="rect">
            <a:avLst/>
          </a:prstGeom>
          <a:noFill/>
          <a:ln w="0">
            <a:noFill/>
          </a:ln>
        </p:spPr>
        <p:txBody>
          <a:bodyPr wrap="square" rtlCol="0">
            <a:spAutoFit/>
          </a:bodyPr>
          <a:lstStyle/>
          <a:p>
            <a:r>
              <a:rPr lang="tr-TR" sz="1000" dirty="0" smtClean="0"/>
              <a:t>Doğrulama</a:t>
            </a:r>
            <a:endParaRPr lang="tr-TR" sz="1000" dirty="0" smtClean="0"/>
          </a:p>
        </p:txBody>
      </p:sp>
      <p:cxnSp>
        <p:nvCxnSpPr>
          <p:cNvPr id="32" name="31 Düz Ok Bağlayıcısı"/>
          <p:cNvCxnSpPr>
            <a:stCxn id="13" idx="4"/>
            <a:endCxn id="11" idx="0"/>
          </p:cNvCxnSpPr>
          <p:nvPr/>
        </p:nvCxnSpPr>
        <p:spPr>
          <a:xfrm rot="16200000" flipH="1">
            <a:off x="2640793" y="2681282"/>
            <a:ext cx="285752" cy="2095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Düz Ok Bağlayıcısı"/>
          <p:cNvCxnSpPr/>
          <p:nvPr/>
        </p:nvCxnSpPr>
        <p:spPr>
          <a:xfrm rot="16200000" flipH="1">
            <a:off x="3000364" y="3429000"/>
            <a:ext cx="357190"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Düz Ok Bağlayıcısı"/>
          <p:cNvCxnSpPr/>
          <p:nvPr/>
        </p:nvCxnSpPr>
        <p:spPr>
          <a:xfrm rot="16200000" flipH="1">
            <a:off x="3321835" y="4107661"/>
            <a:ext cx="285752"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p:nvPr/>
        </p:nvCxnSpPr>
        <p:spPr>
          <a:xfrm rot="16200000" flipH="1">
            <a:off x="3786182"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5400000" flipH="1" flipV="1">
            <a:off x="4429124"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2" idx="0"/>
            <a:endCxn id="9" idx="2"/>
          </p:cNvCxnSpPr>
          <p:nvPr/>
        </p:nvCxnSpPr>
        <p:spPr>
          <a:xfrm rot="5400000" flipH="1" flipV="1">
            <a:off x="5317337" y="3464719"/>
            <a:ext cx="357190"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Ok Bağlayıcısı"/>
          <p:cNvCxnSpPr/>
          <p:nvPr/>
        </p:nvCxnSpPr>
        <p:spPr>
          <a:xfrm rot="5400000" flipH="1" flipV="1">
            <a:off x="5072066" y="4143380"/>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49 Düz Ok Bağlayıcısı"/>
          <p:cNvCxnSpPr>
            <a:stCxn id="9" idx="0"/>
            <a:endCxn id="14" idx="4"/>
          </p:cNvCxnSpPr>
          <p:nvPr/>
        </p:nvCxnSpPr>
        <p:spPr>
          <a:xfrm rot="5400000" flipH="1" flipV="1">
            <a:off x="5444734" y="2765818"/>
            <a:ext cx="357190" cy="1119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51 Şekil"/>
          <p:cNvCxnSpPr>
            <a:stCxn id="6" idx="1"/>
          </p:cNvCxnSpPr>
          <p:nvPr/>
        </p:nvCxnSpPr>
        <p:spPr>
          <a:xfrm rot="10800000">
            <a:off x="2000232" y="2500307"/>
            <a:ext cx="1857388" cy="2678925"/>
          </a:xfrm>
          <a:prstGeom prst="curvedConnector2">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3" name="52 Metin kutusu"/>
          <p:cNvSpPr txBox="1"/>
          <p:nvPr/>
        </p:nvSpPr>
        <p:spPr>
          <a:xfrm>
            <a:off x="3652830" y="3009896"/>
            <a:ext cx="1428760" cy="246221"/>
          </a:xfrm>
          <a:prstGeom prst="rect">
            <a:avLst/>
          </a:prstGeom>
          <a:noFill/>
          <a:ln w="0">
            <a:noFill/>
          </a:ln>
        </p:spPr>
        <p:txBody>
          <a:bodyPr wrap="square" rtlCol="0">
            <a:spAutoFit/>
          </a:bodyPr>
          <a:lstStyle/>
          <a:p>
            <a:r>
              <a:rPr lang="tr-TR" sz="1000" dirty="0" smtClean="0"/>
              <a:t>Geçerleme/Doğrulama</a:t>
            </a:r>
          </a:p>
        </p:txBody>
      </p:sp>
      <p:sp>
        <p:nvSpPr>
          <p:cNvPr id="54" name="53 Metin kutusu"/>
          <p:cNvSpPr txBox="1"/>
          <p:nvPr/>
        </p:nvSpPr>
        <p:spPr>
          <a:xfrm>
            <a:off x="1357290" y="5643578"/>
            <a:ext cx="6715172" cy="276999"/>
          </a:xfrm>
          <a:prstGeom prst="rect">
            <a:avLst/>
          </a:prstGeom>
          <a:noFill/>
          <a:ln w="0">
            <a:solidFill>
              <a:schemeClr val="tx1"/>
            </a:solidFill>
          </a:ln>
        </p:spPr>
        <p:txBody>
          <a:bodyPr wrap="square" rtlCol="0">
            <a:spAutoFit/>
          </a:bodyPr>
          <a:lstStyle/>
          <a:p>
            <a:r>
              <a:rPr lang="tr-TR" sz="1200" dirty="0" smtClean="0"/>
              <a:t>Şekil 5.6  Test sürecindeki Alt Test Adımları  (V  Model yaklaşımına göre) </a:t>
            </a:r>
          </a:p>
        </p:txBody>
      </p:sp>
      <p:sp>
        <p:nvSpPr>
          <p:cNvPr id="37" name="36 Dikdörtgen"/>
          <p:cNvSpPr/>
          <p:nvPr/>
        </p:nvSpPr>
        <p:spPr>
          <a:xfrm>
            <a:off x="5715008" y="3643314"/>
            <a:ext cx="857256"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tr-TR" sz="1000" dirty="0" smtClean="0">
                <a:solidFill>
                  <a:schemeClr val="tx1"/>
                </a:solidFill>
              </a:rPr>
              <a:t>Regresyon  Test </a:t>
            </a:r>
            <a:endParaRPr lang="tr-TR" sz="1000" dirty="0">
              <a:solidFill>
                <a:schemeClr val="tx1"/>
              </a:solidFill>
            </a:endParaRPr>
          </a:p>
        </p:txBody>
      </p:sp>
      <p:sp>
        <p:nvSpPr>
          <p:cNvPr id="38" name="37 Dikdörtgen"/>
          <p:cNvSpPr/>
          <p:nvPr/>
        </p:nvSpPr>
        <p:spPr>
          <a:xfrm>
            <a:off x="4643438" y="2428868"/>
            <a:ext cx="714380"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smtClean="0">
                <a:solidFill>
                  <a:schemeClr val="tx1"/>
                </a:solidFill>
              </a:rPr>
              <a:t>Beta</a:t>
            </a:r>
          </a:p>
          <a:p>
            <a:r>
              <a:rPr lang="tr-TR" sz="1000" dirty="0" smtClean="0">
                <a:solidFill>
                  <a:schemeClr val="tx1"/>
                </a:solidFill>
              </a:rPr>
              <a:t>  Test </a:t>
            </a:r>
            <a:endParaRPr lang="tr-TR" sz="1000" dirty="0">
              <a:solidFill>
                <a:schemeClr val="tx1"/>
              </a:solidFill>
            </a:endParaRPr>
          </a:p>
        </p:txBody>
      </p:sp>
      <p:sp>
        <p:nvSpPr>
          <p:cNvPr id="39" name="38 Dikdörtgen"/>
          <p:cNvSpPr/>
          <p:nvPr/>
        </p:nvSpPr>
        <p:spPr>
          <a:xfrm>
            <a:off x="6215074" y="2143116"/>
            <a:ext cx="642942"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tr-TR" sz="1000" dirty="0" smtClean="0">
                <a:solidFill>
                  <a:schemeClr val="tx1"/>
                </a:solidFill>
              </a:rPr>
              <a:t>Teşhis</a:t>
            </a:r>
          </a:p>
          <a:p>
            <a:pPr algn="r"/>
            <a:r>
              <a:rPr lang="tr-TR" sz="1000" dirty="0" smtClean="0">
                <a:solidFill>
                  <a:schemeClr val="tx1"/>
                </a:solidFill>
              </a:rPr>
              <a:t>  Test </a:t>
            </a:r>
            <a:endParaRPr lang="tr-TR" sz="1000" dirty="0">
              <a:solidFill>
                <a:schemeClr val="tx1"/>
              </a:solidFill>
            </a:endParaRPr>
          </a:p>
        </p:txBody>
      </p:sp>
      <p:cxnSp>
        <p:nvCxnSpPr>
          <p:cNvPr id="43" name="42 Düz Ok Bağlayıcısı"/>
          <p:cNvCxnSpPr/>
          <p:nvPr/>
        </p:nvCxnSpPr>
        <p:spPr>
          <a:xfrm rot="5400000" flipH="1" flipV="1">
            <a:off x="6465107" y="3393281"/>
            <a:ext cx="357190" cy="142876"/>
          </a:xfrm>
          <a:prstGeom prst="straightConnector1">
            <a:avLst/>
          </a:prstGeom>
          <a:ln>
            <a:prstDash val="sysDot"/>
            <a:tailEnd type="arrow"/>
          </a:ln>
        </p:spPr>
        <p:style>
          <a:lnRef idx="1">
            <a:schemeClr val="accent1"/>
          </a:lnRef>
          <a:fillRef idx="0">
            <a:schemeClr val="accent1"/>
          </a:fillRef>
          <a:effectRef idx="0">
            <a:schemeClr val="accent1"/>
          </a:effectRef>
          <a:fontRef idx="minor">
            <a:schemeClr val="tx1"/>
          </a:fontRef>
        </p:style>
      </p:cxnSp>
      <p:cxnSp>
        <p:nvCxnSpPr>
          <p:cNvPr id="45" name="44 Düz Ok Bağlayıcısı"/>
          <p:cNvCxnSpPr/>
          <p:nvPr/>
        </p:nvCxnSpPr>
        <p:spPr>
          <a:xfrm rot="5400000">
            <a:off x="6572264" y="2643182"/>
            <a:ext cx="428628" cy="142876"/>
          </a:xfrm>
          <a:prstGeom prst="straightConnector1">
            <a:avLst/>
          </a:prstGeom>
          <a:ln>
            <a:prstDash val="sysDot"/>
            <a:tailEnd type="arrow"/>
          </a:ln>
        </p:spPr>
        <p:style>
          <a:lnRef idx="1">
            <a:schemeClr val="accent1"/>
          </a:lnRef>
          <a:fillRef idx="0">
            <a:schemeClr val="accent1"/>
          </a:fillRef>
          <a:effectRef idx="0">
            <a:schemeClr val="accent1"/>
          </a:effectRef>
          <a:fontRef idx="minor">
            <a:schemeClr val="tx1"/>
          </a:fontRef>
        </p:style>
      </p:cxnSp>
      <p:sp>
        <p:nvSpPr>
          <p:cNvPr id="55" name="54 Dikdörtgen"/>
          <p:cNvSpPr/>
          <p:nvPr/>
        </p:nvSpPr>
        <p:spPr>
          <a:xfrm>
            <a:off x="5867408" y="3009896"/>
            <a:ext cx="714380"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tr-TR" sz="1000" dirty="0" smtClean="0">
                <a:solidFill>
                  <a:schemeClr val="tx1"/>
                </a:solidFill>
              </a:rPr>
              <a:t>Kabul</a:t>
            </a:r>
          </a:p>
          <a:p>
            <a:pPr algn="r"/>
            <a:r>
              <a:rPr lang="tr-TR" sz="1000" dirty="0" smtClean="0">
                <a:solidFill>
                  <a:schemeClr val="tx1"/>
                </a:solidFill>
              </a:rPr>
              <a:t>  Test </a:t>
            </a:r>
            <a:endParaRPr lang="tr-TR" sz="10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5.2.1.Birim Test</a:t>
            </a:r>
            <a:br>
              <a:rPr lang="tr-TR" dirty="0" smtClean="0"/>
            </a:br>
            <a:endParaRPr lang="tr-TR" dirty="0"/>
          </a:p>
        </p:txBody>
      </p:sp>
      <p:sp>
        <p:nvSpPr>
          <p:cNvPr id="3" name="2 İçerik Yer Tutucusu"/>
          <p:cNvSpPr>
            <a:spLocks noGrp="1"/>
          </p:cNvSpPr>
          <p:nvPr>
            <p:ph idx="1"/>
          </p:nvPr>
        </p:nvSpPr>
        <p:spPr/>
        <p:txBody>
          <a:bodyPr>
            <a:normAutofit fontScale="92500" lnSpcReduction="20000"/>
          </a:bodyPr>
          <a:lstStyle/>
          <a:p>
            <a:r>
              <a:rPr lang="tr-TR" dirty="0" smtClean="0"/>
              <a:t>Ünite (birim) testi, yazılım tasarımının en küçük birimi olan modül üzerinde uygulanmaktadır. Ayrıntılı tasarım tanımlarına dayanılarak, modül içerisindeki hataları bulmak üzere, önemli kontrol yolları sınanmaktadır.</a:t>
            </a:r>
          </a:p>
          <a:p>
            <a:r>
              <a:rPr lang="tr-TR" dirty="0" smtClean="0"/>
              <a:t> Saydam kutu testi olarak uygulanan bu işlem, çok sayıdaki modül üzerinde, paralel olarak yürütülmektedir.</a:t>
            </a:r>
          </a:p>
          <a:p>
            <a:r>
              <a:rPr lang="tr-TR" dirty="0" smtClean="0"/>
              <a:t>Birim testinde; modülün arabirim, lokal veri yapısı, kontrol yapıları arasındaki ana yollar, hata arama yolları ve modül sınırları sınanmaktadır.</a:t>
            </a:r>
          </a:p>
          <a:p>
            <a:endParaRPr lang="tr-T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428604"/>
            <a:ext cx="7329510" cy="571504"/>
          </a:xfrm>
        </p:spPr>
        <p:txBody>
          <a:bodyPr>
            <a:normAutofit/>
          </a:bodyPr>
          <a:lstStyle/>
          <a:p>
            <a:r>
              <a:rPr lang="tr-TR" sz="1400" dirty="0" smtClean="0"/>
              <a:t>Şekil 5.2. Birim Test Ortamı</a:t>
            </a:r>
            <a:endParaRPr lang="tr-TR" sz="1400" dirty="0"/>
          </a:p>
        </p:txBody>
      </p:sp>
      <p:sp>
        <p:nvSpPr>
          <p:cNvPr id="5" name="4 Dikdörtgen"/>
          <p:cNvSpPr/>
          <p:nvPr/>
        </p:nvSpPr>
        <p:spPr>
          <a:xfrm>
            <a:off x="1285852" y="3000372"/>
            <a:ext cx="8572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5 Dikdörtgen"/>
          <p:cNvSpPr/>
          <p:nvPr/>
        </p:nvSpPr>
        <p:spPr>
          <a:xfrm>
            <a:off x="1357290" y="3071810"/>
            <a:ext cx="8572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6 Dikdörtgen"/>
          <p:cNvSpPr/>
          <p:nvPr/>
        </p:nvSpPr>
        <p:spPr>
          <a:xfrm>
            <a:off x="1428728" y="3143248"/>
            <a:ext cx="8572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Test Programı</a:t>
            </a:r>
            <a:endParaRPr lang="tr-TR" sz="1100" dirty="0"/>
          </a:p>
        </p:txBody>
      </p:sp>
      <p:sp>
        <p:nvSpPr>
          <p:cNvPr id="11" name="10 Dikdörtgen"/>
          <p:cNvSpPr/>
          <p:nvPr/>
        </p:nvSpPr>
        <p:spPr>
          <a:xfrm>
            <a:off x="3000364" y="2214554"/>
            <a:ext cx="78581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Test Sürücü</a:t>
            </a:r>
            <a:endParaRPr lang="tr-TR" sz="1100" dirty="0"/>
          </a:p>
        </p:txBody>
      </p:sp>
      <p:cxnSp>
        <p:nvCxnSpPr>
          <p:cNvPr id="23" name="22 Dirsek Bağlayıcısı"/>
          <p:cNvCxnSpPr>
            <a:stCxn id="7" idx="3"/>
            <a:endCxn id="11" idx="1"/>
          </p:cNvCxnSpPr>
          <p:nvPr/>
        </p:nvCxnSpPr>
        <p:spPr>
          <a:xfrm flipV="1">
            <a:off x="2285984" y="2571744"/>
            <a:ext cx="714380" cy="82153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32 İçerik Yer Tutucusu"/>
          <p:cNvSpPr>
            <a:spLocks noGrp="1"/>
          </p:cNvSpPr>
          <p:nvPr>
            <p:ph idx="1"/>
          </p:nvPr>
        </p:nvSpPr>
        <p:spPr>
          <a:xfrm>
            <a:off x="457200" y="1500174"/>
            <a:ext cx="8229600" cy="4625989"/>
          </a:xfrm>
        </p:spPr>
        <p:txBody>
          <a:bodyPr>
            <a:normAutofit/>
          </a:bodyPr>
          <a:lstStyle/>
          <a:p>
            <a:pPr>
              <a:buNone/>
            </a:pPr>
            <a:endParaRPr lang="tr-TR" sz="1200" dirty="0" smtClean="0"/>
          </a:p>
        </p:txBody>
      </p:sp>
      <p:sp>
        <p:nvSpPr>
          <p:cNvPr id="34" name="33 Dikdörtgen"/>
          <p:cNvSpPr/>
          <p:nvPr/>
        </p:nvSpPr>
        <p:spPr>
          <a:xfrm>
            <a:off x="3000364" y="4000504"/>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Koçan 2</a:t>
            </a:r>
            <a:endParaRPr lang="tr-TR" sz="1100" dirty="0"/>
          </a:p>
        </p:txBody>
      </p:sp>
      <p:sp>
        <p:nvSpPr>
          <p:cNvPr id="36" name="35 Dikdörtgen"/>
          <p:cNvSpPr/>
          <p:nvPr/>
        </p:nvSpPr>
        <p:spPr>
          <a:xfrm>
            <a:off x="1928794" y="4000504"/>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Koçan 1</a:t>
            </a:r>
            <a:endParaRPr lang="tr-TR" sz="1100" dirty="0"/>
          </a:p>
        </p:txBody>
      </p:sp>
      <p:sp>
        <p:nvSpPr>
          <p:cNvPr id="40" name="39 Dikdörtgen"/>
          <p:cNvSpPr/>
          <p:nvPr/>
        </p:nvSpPr>
        <p:spPr>
          <a:xfrm>
            <a:off x="4143372" y="4000504"/>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Koçan n</a:t>
            </a:r>
            <a:endParaRPr lang="tr-TR" sz="1100" dirty="0"/>
          </a:p>
        </p:txBody>
      </p:sp>
      <p:sp>
        <p:nvSpPr>
          <p:cNvPr id="41" name="40 Dikdörtgen"/>
          <p:cNvSpPr/>
          <p:nvPr/>
        </p:nvSpPr>
        <p:spPr>
          <a:xfrm>
            <a:off x="4572000" y="2285992"/>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Sonuçlar </a:t>
            </a:r>
            <a:endParaRPr lang="tr-TR" sz="1100" dirty="0"/>
          </a:p>
        </p:txBody>
      </p:sp>
      <p:cxnSp>
        <p:nvCxnSpPr>
          <p:cNvPr id="43" name="42 Düz Bağlayıcı"/>
          <p:cNvCxnSpPr>
            <a:stCxn id="34" idx="3"/>
            <a:endCxn id="40" idx="1"/>
          </p:cNvCxnSpPr>
          <p:nvPr/>
        </p:nvCxnSpPr>
        <p:spPr>
          <a:xfrm>
            <a:off x="3786182" y="4250537"/>
            <a:ext cx="357190" cy="1588"/>
          </a:xfrm>
          <a:prstGeom prst="line">
            <a:avLst/>
          </a:prstGeom>
          <a:ln w="15875">
            <a:prstDash val="sysDot"/>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1" idx="3"/>
            <a:endCxn id="41" idx="1"/>
          </p:cNvCxnSpPr>
          <p:nvPr/>
        </p:nvCxnSpPr>
        <p:spPr>
          <a:xfrm flipV="1">
            <a:off x="3786182" y="2536025"/>
            <a:ext cx="785818"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52 Düz Bağlayıcı"/>
          <p:cNvCxnSpPr>
            <a:stCxn id="36" idx="0"/>
          </p:cNvCxnSpPr>
          <p:nvPr/>
        </p:nvCxnSpPr>
        <p:spPr>
          <a:xfrm rot="5400000" flipH="1" flipV="1">
            <a:off x="2661033" y="3375422"/>
            <a:ext cx="285752" cy="964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54 Düz Bağlayıcı"/>
          <p:cNvCxnSpPr>
            <a:endCxn id="34" idx="0"/>
          </p:cNvCxnSpPr>
          <p:nvPr/>
        </p:nvCxnSpPr>
        <p:spPr>
          <a:xfrm rot="5400000">
            <a:off x="3250397" y="3857628"/>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56 Düz Bağlayıcı"/>
          <p:cNvCxnSpPr>
            <a:endCxn id="40" idx="0"/>
          </p:cNvCxnSpPr>
          <p:nvPr/>
        </p:nvCxnSpPr>
        <p:spPr>
          <a:xfrm rot="16200000" flipH="1">
            <a:off x="3821901" y="3286124"/>
            <a:ext cx="285752" cy="1143008"/>
          </a:xfrm>
          <a:prstGeom prst="line">
            <a:avLst/>
          </a:prstGeom>
        </p:spPr>
        <p:style>
          <a:lnRef idx="1">
            <a:schemeClr val="accent1"/>
          </a:lnRef>
          <a:fillRef idx="0">
            <a:schemeClr val="accent1"/>
          </a:fillRef>
          <a:effectRef idx="0">
            <a:schemeClr val="accent1"/>
          </a:effectRef>
          <a:fontRef idx="minor">
            <a:schemeClr val="tx1"/>
          </a:fontRef>
        </p:style>
      </p:cxnSp>
      <p:sp>
        <p:nvSpPr>
          <p:cNvPr id="22" name="21 Dikdörtgen"/>
          <p:cNvSpPr/>
          <p:nvPr/>
        </p:nvSpPr>
        <p:spPr>
          <a:xfrm>
            <a:off x="3000364" y="3071810"/>
            <a:ext cx="857256"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smtClean="0"/>
              <a:t>Test edilen birim</a:t>
            </a:r>
          </a:p>
          <a:p>
            <a:pPr algn="ctr"/>
            <a:endParaRPr lang="tr-TR" sz="1200" dirty="0"/>
          </a:p>
        </p:txBody>
      </p:sp>
      <p:cxnSp>
        <p:nvCxnSpPr>
          <p:cNvPr id="25" name="24 Düz Bağlayıcı"/>
          <p:cNvCxnSpPr>
            <a:stCxn id="11" idx="2"/>
            <a:endCxn id="22" idx="0"/>
          </p:cNvCxnSpPr>
          <p:nvPr/>
        </p:nvCxnSpPr>
        <p:spPr>
          <a:xfrm rot="16200000" flipH="1">
            <a:off x="3339694" y="2982512"/>
            <a:ext cx="142876" cy="3571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Birim Test</a:t>
            </a:r>
            <a:endParaRPr lang="tr-TR" dirty="0"/>
          </a:p>
        </p:txBody>
      </p:sp>
      <p:sp>
        <p:nvSpPr>
          <p:cNvPr id="3" name="2 İçerik Yer Tutucusu"/>
          <p:cNvSpPr>
            <a:spLocks noGrp="1"/>
          </p:cNvSpPr>
          <p:nvPr>
            <p:ph idx="1"/>
          </p:nvPr>
        </p:nvSpPr>
        <p:spPr>
          <a:xfrm>
            <a:off x="457200" y="1412776"/>
            <a:ext cx="8507288" cy="4713387"/>
          </a:xfrm>
        </p:spPr>
        <p:txBody>
          <a:bodyPr>
            <a:normAutofit fontScale="92500" lnSpcReduction="20000"/>
          </a:bodyPr>
          <a:lstStyle/>
          <a:p>
            <a:r>
              <a:rPr lang="tr-TR" dirty="0" smtClean="0"/>
              <a:t>Test senaryosu (test </a:t>
            </a:r>
            <a:r>
              <a:rPr lang="tr-TR" dirty="0" err="1" smtClean="0"/>
              <a:t>case</a:t>
            </a:r>
            <a:r>
              <a:rPr lang="tr-TR" dirty="0" smtClean="0"/>
              <a:t>); belirli bir program yolunu işlemek ya da özel bir gereksinime uygunluğu onaylamak amacı ile düzenlenen bir dizi sınama verisinden ve buna ilişkin işlemlerden oluşturulmaktadır. </a:t>
            </a:r>
          </a:p>
          <a:p>
            <a:r>
              <a:rPr lang="tr-TR" dirty="0" smtClean="0"/>
              <a:t>Test programlarının geliştirilmesi, diğer yazılımlar gibidir. Geliştirmeye de, test plânı uyarınca ve yazılım tasarımı ile birlikte başlanmalıdır.</a:t>
            </a:r>
          </a:p>
          <a:p>
            <a:r>
              <a:rPr lang="tr-TR" dirty="0" smtClean="0"/>
              <a:t>Modülün bağımsız olmaması halinde, sınamada diğer modüller de dikkate alınmalıdır. Bu amaçla her ünite testi için bir “test sürücü”(</a:t>
            </a:r>
            <a:r>
              <a:rPr lang="tr-TR" dirty="0" err="1" smtClean="0"/>
              <a:t>driver</a:t>
            </a:r>
            <a:r>
              <a:rPr lang="tr-TR" dirty="0" smtClean="0"/>
              <a:t>) ve/veya  “koçan”(</a:t>
            </a:r>
            <a:r>
              <a:rPr lang="tr-TR" dirty="0" err="1" smtClean="0"/>
              <a:t>stub</a:t>
            </a:r>
            <a:r>
              <a:rPr lang="tr-TR" dirty="0" smtClean="0"/>
              <a:t>) yazılımı geliştirilmektedir. </a:t>
            </a:r>
            <a:endParaRPr lang="tr-TR" dirty="0"/>
          </a:p>
        </p:txBody>
      </p:sp>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852</Words>
  <Application>Microsoft Office PowerPoint</Application>
  <PresentationFormat>Ekran Gösterisi (4:3)</PresentationFormat>
  <Paragraphs>159</Paragraphs>
  <Slides>21</Slides>
  <Notes>1</Notes>
  <HiddenSlides>0</HiddenSlides>
  <MMClips>0</MMClips>
  <ScaleCrop>false</ScaleCrop>
  <HeadingPairs>
    <vt:vector size="4" baseType="variant">
      <vt:variant>
        <vt:lpstr>Tema</vt:lpstr>
      </vt:variant>
      <vt:variant>
        <vt:i4>1</vt:i4>
      </vt:variant>
      <vt:variant>
        <vt:lpstr>Slayt Başlıkları</vt:lpstr>
      </vt:variant>
      <vt:variant>
        <vt:i4>21</vt:i4>
      </vt:variant>
    </vt:vector>
  </HeadingPairs>
  <TitlesOfParts>
    <vt:vector size="22" baseType="lpstr">
      <vt:lpstr>Ofis Teması</vt:lpstr>
      <vt:lpstr>3.3.4.4. Yazılım Tasarımı  </vt:lpstr>
      <vt:lpstr>3.3.4.5. Yazılım Kodlama</vt:lpstr>
      <vt:lpstr>3.3.5. Gözden Geçirme Standartları Örnekleri</vt:lpstr>
      <vt:lpstr>4. YAZILIM İNCELEME </vt:lpstr>
      <vt:lpstr>Yazılım incelemesi Temel Kavramlar</vt:lpstr>
      <vt:lpstr>Şekil 4.1. Statik ve Dinamik geçerleme ve Doğrulama</vt:lpstr>
      <vt:lpstr>4.1.2. Genel Yazılım inceleme süreci </vt:lpstr>
      <vt:lpstr>Şekil 4.2. İNCELEME SÜRECİ</vt:lpstr>
      <vt:lpstr>Genel Yazılım inceleme süreci </vt:lpstr>
      <vt:lpstr>  Şekil.4.3. İnceleme (inspection) Süreci, Fagan (1986)  </vt:lpstr>
      <vt:lpstr>. İnceleme (inspection) Süreci, Fagan (1986)</vt:lpstr>
      <vt:lpstr>Teknik İnceleme Özet Raporu </vt:lpstr>
      <vt:lpstr> 5.GEÇERLEME ve DOĞRULAMA TEKNİKLERİ </vt:lpstr>
      <vt:lpstr>5.1.Yazılım Sınama (Test) </vt:lpstr>
      <vt:lpstr>V  Model yaklaşımı</vt:lpstr>
      <vt:lpstr>5.GEÇERLEME ve DOĞRULAMA TEKNİKLERİ</vt:lpstr>
      <vt:lpstr>Şekil –5.1. Yazılım sınama basamakları</vt:lpstr>
      <vt:lpstr>Slayt 18</vt:lpstr>
      <vt:lpstr>5.2.1.Birim Test </vt:lpstr>
      <vt:lpstr>Şekil 5.2. Birim Test Ortamı</vt:lpstr>
      <vt:lpstr>Birim Test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2.2.2. Yazılım Kalite Maliyeti</dc:title>
  <dc:creator>oyalar</dc:creator>
  <cp:lastModifiedBy>ercan</cp:lastModifiedBy>
  <cp:revision>21</cp:revision>
  <dcterms:created xsi:type="dcterms:W3CDTF">2015-03-03T17:28:16Z</dcterms:created>
  <dcterms:modified xsi:type="dcterms:W3CDTF">2023-11-02T06:34:26Z</dcterms:modified>
</cp:coreProperties>
</file>