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273" r:id="rId2"/>
    <p:sldId id="274" r:id="rId3"/>
    <p:sldId id="275" r:id="rId4"/>
    <p:sldId id="276" r:id="rId5"/>
    <p:sldId id="277" r:id="rId6"/>
    <p:sldId id="278" r:id="rId7"/>
    <p:sldId id="279" r:id="rId8"/>
    <p:sldId id="256" r:id="rId9"/>
    <p:sldId id="257" r:id="rId10"/>
    <p:sldId id="258" r:id="rId11"/>
    <p:sldId id="259" r:id="rId12"/>
    <p:sldId id="260" r:id="rId13"/>
    <p:sldId id="261" r:id="rId14"/>
    <p:sldId id="262" r:id="rId15"/>
    <p:sldId id="264" r:id="rId16"/>
    <p:sldId id="263" r:id="rId17"/>
    <p:sldId id="265" r:id="rId18"/>
    <p:sldId id="266" r:id="rId19"/>
    <p:sldId id="267" r:id="rId20"/>
    <p:sldId id="268" r:id="rId21"/>
    <p:sldId id="269" r:id="rId22"/>
    <p:sldId id="270" r:id="rId23"/>
    <p:sldId id="271" r:id="rId24"/>
    <p:sldId id="272" r:id="rId25"/>
  </p:sldIdLst>
  <p:sldSz cx="9144000" cy="6858000" type="screen4x3"/>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p:cViewPr varScale="1">
        <p:scale>
          <a:sx n="70" d="100"/>
          <a:sy n="70" d="100"/>
        </p:scale>
        <p:origin x="1204" y="5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Üstbilgi Yer Tutucusu"/>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tr-TR"/>
          </a:p>
        </p:txBody>
      </p:sp>
      <p:sp>
        <p:nvSpPr>
          <p:cNvPr id="3" name="2 Veri Yer Tutucusu"/>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5D9ADA-D58E-4781-8578-38E157F5CDE7}" type="datetimeFigureOut">
              <a:rPr lang="tr-TR" smtClean="0"/>
              <a:pPr/>
              <a:t>11.11.2025</a:t>
            </a:fld>
            <a:endParaRPr lang="tr-TR"/>
          </a:p>
        </p:txBody>
      </p:sp>
      <p:sp>
        <p:nvSpPr>
          <p:cNvPr id="4" name="3 Slayt Görüntüsü Yer Tutucusu"/>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tr-TR"/>
          </a:p>
        </p:txBody>
      </p:sp>
      <p:sp>
        <p:nvSpPr>
          <p:cNvPr id="5" name="4 Not Yer Tutucusu"/>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6" name="5 Altbilgi Yer Tutucusu"/>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tr-TR"/>
          </a:p>
        </p:txBody>
      </p:sp>
      <p:sp>
        <p:nvSpPr>
          <p:cNvPr id="7" name="6 Slayt Numarası Yer Tutucusu"/>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CEB2D50-6C9A-4939-9EF8-50EBF1F44034}" type="slidenum">
              <a:rPr lang="tr-TR" smtClean="0"/>
              <a:pPr/>
              <a:t>‹#›</a:t>
            </a:fld>
            <a:endParaRPr lang="tr-T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Slayt Görüntüsü Yer Tutucusu"/>
          <p:cNvSpPr>
            <a:spLocks noGrp="1" noRot="1" noChangeAspect="1"/>
          </p:cNvSpPr>
          <p:nvPr>
            <p:ph type="sldImg"/>
          </p:nvPr>
        </p:nvSpPr>
        <p:spPr/>
      </p:sp>
      <p:sp>
        <p:nvSpPr>
          <p:cNvPr id="3" name="2 Not Yer Tutucusu"/>
          <p:cNvSpPr>
            <a:spLocks noGrp="1"/>
          </p:cNvSpPr>
          <p:nvPr>
            <p:ph type="body" idx="1"/>
          </p:nvPr>
        </p:nvSpPr>
        <p:spPr/>
        <p:txBody>
          <a:bodyPr>
            <a:normAutofit/>
          </a:bodyPr>
          <a:lstStyle/>
          <a:p>
            <a:endParaRPr lang="tr-TR" dirty="0"/>
          </a:p>
        </p:txBody>
      </p:sp>
      <p:sp>
        <p:nvSpPr>
          <p:cNvPr id="4" name="3 Slayt Numarası Yer Tutucusu"/>
          <p:cNvSpPr>
            <a:spLocks noGrp="1"/>
          </p:cNvSpPr>
          <p:nvPr>
            <p:ph type="sldNum" sz="quarter" idx="10"/>
          </p:nvPr>
        </p:nvSpPr>
        <p:spPr/>
        <p:txBody>
          <a:bodyPr/>
          <a:lstStyle/>
          <a:p>
            <a:fld id="{6CEB2D50-6C9A-4939-9EF8-50EBF1F44034}" type="slidenum">
              <a:rPr lang="tr-TR" smtClean="0"/>
              <a:pPr/>
              <a:t>23</a:t>
            </a:fld>
            <a:endParaRPr lang="tr-T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1 Başlık"/>
          <p:cNvSpPr>
            <a:spLocks noGrp="1"/>
          </p:cNvSpPr>
          <p:nvPr>
            <p:ph type="ctrTitle"/>
          </p:nvPr>
        </p:nvSpPr>
        <p:spPr>
          <a:xfrm>
            <a:off x="685800" y="2130425"/>
            <a:ext cx="7772400" cy="1470025"/>
          </a:xfrm>
        </p:spPr>
        <p:txBody>
          <a:bodyPr/>
          <a:lstStyle/>
          <a:p>
            <a:r>
              <a:rPr lang="tr-TR"/>
              <a:t>Asıl başlık stili için tıklatın</a:t>
            </a:r>
          </a:p>
        </p:txBody>
      </p:sp>
      <p:sp>
        <p:nvSpPr>
          <p:cNvPr id="3" name="2 Alt Başlık"/>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tr-TR"/>
              <a:t>Asıl alt başlık stilini düzenlemek için tıklatın</a:t>
            </a:r>
          </a:p>
        </p:txBody>
      </p:sp>
      <p:sp>
        <p:nvSpPr>
          <p:cNvPr id="4" name="3 Veri Yer Tutucusu"/>
          <p:cNvSpPr>
            <a:spLocks noGrp="1"/>
          </p:cNvSpPr>
          <p:nvPr>
            <p:ph type="dt" sz="half" idx="10"/>
          </p:nvPr>
        </p:nvSpPr>
        <p:spPr/>
        <p:txBody>
          <a:bodyPr/>
          <a:lstStyle/>
          <a:p>
            <a:fld id="{F689AB6A-E1A2-4DB6-810F-538849EC2EB0}" type="datetimeFigureOut">
              <a:rPr lang="tr-TR" smtClean="0"/>
              <a:pPr/>
              <a:t>11.11.2025</a:t>
            </a:fld>
            <a:endParaRPr lang="tr-TR"/>
          </a:p>
        </p:txBody>
      </p:sp>
      <p:sp>
        <p:nvSpPr>
          <p:cNvPr id="5" name="4 Altbilgi Yer Tutucusu"/>
          <p:cNvSpPr>
            <a:spLocks noGrp="1"/>
          </p:cNvSpPr>
          <p:nvPr>
            <p:ph type="ftr" sz="quarter" idx="11"/>
          </p:nvPr>
        </p:nvSpPr>
        <p:spPr/>
        <p:txBody>
          <a:bodyPr/>
          <a:lstStyle/>
          <a:p>
            <a:endParaRPr lang="tr-TR"/>
          </a:p>
        </p:txBody>
      </p:sp>
      <p:sp>
        <p:nvSpPr>
          <p:cNvPr id="6" name="5 Slayt Numarası Yer Tutucusu"/>
          <p:cNvSpPr>
            <a:spLocks noGrp="1"/>
          </p:cNvSpPr>
          <p:nvPr>
            <p:ph type="sldNum" sz="quarter" idx="12"/>
          </p:nvPr>
        </p:nvSpPr>
        <p:spPr/>
        <p:txBody>
          <a:bodyPr/>
          <a:lstStyle/>
          <a:p>
            <a:fld id="{4437A875-9460-4ADA-ADC4-0EB2CB6D878F}" type="slidenum">
              <a:rPr lang="tr-TR" smtClean="0"/>
              <a:pPr/>
              <a:t>‹#›</a:t>
            </a:fld>
            <a:endParaRPr lang="tr-T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a:t>Asıl başlık stili için tıklatın</a:t>
            </a:r>
          </a:p>
        </p:txBody>
      </p:sp>
      <p:sp>
        <p:nvSpPr>
          <p:cNvPr id="3" name="2 İçerik Yer Tutucusu"/>
          <p:cNvSpPr>
            <a:spLocks noGrp="1"/>
          </p:cNvSpPr>
          <p:nvPr>
            <p:ph idx="1"/>
          </p:nvPr>
        </p:nvSpPr>
        <p:spPr/>
        <p:txBody>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3 Veri Yer Tutucusu"/>
          <p:cNvSpPr>
            <a:spLocks noGrp="1"/>
          </p:cNvSpPr>
          <p:nvPr>
            <p:ph type="dt" sz="half" idx="10"/>
          </p:nvPr>
        </p:nvSpPr>
        <p:spPr/>
        <p:txBody>
          <a:bodyPr/>
          <a:lstStyle/>
          <a:p>
            <a:fld id="{F689AB6A-E1A2-4DB6-810F-538849EC2EB0}" type="datetimeFigureOut">
              <a:rPr lang="tr-TR" smtClean="0"/>
              <a:pPr/>
              <a:t>11.11.2025</a:t>
            </a:fld>
            <a:endParaRPr lang="tr-TR"/>
          </a:p>
        </p:txBody>
      </p:sp>
      <p:sp>
        <p:nvSpPr>
          <p:cNvPr id="5" name="4 Altbilgi Yer Tutucusu"/>
          <p:cNvSpPr>
            <a:spLocks noGrp="1"/>
          </p:cNvSpPr>
          <p:nvPr>
            <p:ph type="ftr" sz="quarter" idx="11"/>
          </p:nvPr>
        </p:nvSpPr>
        <p:spPr/>
        <p:txBody>
          <a:bodyPr/>
          <a:lstStyle/>
          <a:p>
            <a:endParaRPr lang="tr-TR"/>
          </a:p>
        </p:txBody>
      </p:sp>
      <p:sp>
        <p:nvSpPr>
          <p:cNvPr id="6" name="5 Slayt Numarası Yer Tutucusu"/>
          <p:cNvSpPr>
            <a:spLocks noGrp="1"/>
          </p:cNvSpPr>
          <p:nvPr>
            <p:ph type="sldNum" sz="quarter" idx="12"/>
          </p:nvPr>
        </p:nvSpPr>
        <p:spPr/>
        <p:txBody>
          <a:bodyPr/>
          <a:lstStyle/>
          <a:p>
            <a:fld id="{4437A875-9460-4ADA-ADC4-0EB2CB6D878F}" type="slidenum">
              <a:rPr lang="tr-TR" smtClean="0"/>
              <a:pPr/>
              <a:t>‹#›</a:t>
            </a:fld>
            <a:endParaRPr lang="tr-T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bilgisi">
    <p:spTree>
      <p:nvGrpSpPr>
        <p:cNvPr id="1" name=""/>
        <p:cNvGrpSpPr/>
        <p:nvPr/>
      </p:nvGrpSpPr>
      <p:grpSpPr>
        <a:xfrm>
          <a:off x="0" y="0"/>
          <a:ext cx="0" cy="0"/>
          <a:chOff x="0" y="0"/>
          <a:chExt cx="0" cy="0"/>
        </a:xfrm>
      </p:grpSpPr>
      <p:sp>
        <p:nvSpPr>
          <p:cNvPr id="2" name="1 Başlık"/>
          <p:cNvSpPr>
            <a:spLocks noGrp="1"/>
          </p:cNvSpPr>
          <p:nvPr>
            <p:ph type="title"/>
          </p:nvPr>
        </p:nvSpPr>
        <p:spPr>
          <a:xfrm>
            <a:off x="722313" y="4406900"/>
            <a:ext cx="7772400" cy="1362075"/>
          </a:xfrm>
        </p:spPr>
        <p:txBody>
          <a:bodyPr anchor="t"/>
          <a:lstStyle>
            <a:lvl1pPr algn="l">
              <a:defRPr sz="4000" b="1" cap="all"/>
            </a:lvl1pPr>
          </a:lstStyle>
          <a:p>
            <a:r>
              <a:rPr lang="tr-TR"/>
              <a:t>Asıl başlık stili için tıklatın</a:t>
            </a:r>
          </a:p>
        </p:txBody>
      </p:sp>
      <p:sp>
        <p:nvSpPr>
          <p:cNvPr id="3" name="2 Metin Yer Tutucusu"/>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düzenlemek için tıklatın</a:t>
            </a:r>
          </a:p>
        </p:txBody>
      </p:sp>
      <p:sp>
        <p:nvSpPr>
          <p:cNvPr id="4" name="3 Veri Yer Tutucusu"/>
          <p:cNvSpPr>
            <a:spLocks noGrp="1"/>
          </p:cNvSpPr>
          <p:nvPr>
            <p:ph type="dt" sz="half" idx="10"/>
          </p:nvPr>
        </p:nvSpPr>
        <p:spPr/>
        <p:txBody>
          <a:bodyPr/>
          <a:lstStyle/>
          <a:p>
            <a:fld id="{F689AB6A-E1A2-4DB6-810F-538849EC2EB0}" type="datetimeFigureOut">
              <a:rPr lang="tr-TR" smtClean="0"/>
              <a:pPr/>
              <a:t>11.11.2025</a:t>
            </a:fld>
            <a:endParaRPr lang="tr-TR"/>
          </a:p>
        </p:txBody>
      </p:sp>
      <p:sp>
        <p:nvSpPr>
          <p:cNvPr id="5" name="4 Altbilgi Yer Tutucusu"/>
          <p:cNvSpPr>
            <a:spLocks noGrp="1"/>
          </p:cNvSpPr>
          <p:nvPr>
            <p:ph type="ftr" sz="quarter" idx="11"/>
          </p:nvPr>
        </p:nvSpPr>
        <p:spPr/>
        <p:txBody>
          <a:bodyPr/>
          <a:lstStyle/>
          <a:p>
            <a:endParaRPr lang="tr-TR"/>
          </a:p>
        </p:txBody>
      </p:sp>
      <p:sp>
        <p:nvSpPr>
          <p:cNvPr id="6" name="5 Slayt Numarası Yer Tutucusu"/>
          <p:cNvSpPr>
            <a:spLocks noGrp="1"/>
          </p:cNvSpPr>
          <p:nvPr>
            <p:ph type="sldNum" sz="quarter" idx="12"/>
          </p:nvPr>
        </p:nvSpPr>
        <p:spPr/>
        <p:txBody>
          <a:bodyPr/>
          <a:lstStyle/>
          <a:p>
            <a:fld id="{4437A875-9460-4ADA-ADC4-0EB2CB6D878F}" type="slidenum">
              <a:rPr lang="tr-TR" smtClean="0"/>
              <a:pPr/>
              <a:t>‹#›</a:t>
            </a:fld>
            <a:endParaRPr lang="tr-T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a:t>Asıl başlık stili için tıklatın</a:t>
            </a:r>
          </a:p>
        </p:txBody>
      </p:sp>
      <p:sp>
        <p:nvSpPr>
          <p:cNvPr id="3" name="2 İçerik Yer Tutucusu"/>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3 İçerik Yer Tutucusu"/>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5" name="4 Veri Yer Tutucusu"/>
          <p:cNvSpPr>
            <a:spLocks noGrp="1"/>
          </p:cNvSpPr>
          <p:nvPr>
            <p:ph type="dt" sz="half" idx="10"/>
          </p:nvPr>
        </p:nvSpPr>
        <p:spPr/>
        <p:txBody>
          <a:bodyPr/>
          <a:lstStyle/>
          <a:p>
            <a:fld id="{F689AB6A-E1A2-4DB6-810F-538849EC2EB0}" type="datetimeFigureOut">
              <a:rPr lang="tr-TR" smtClean="0"/>
              <a:pPr/>
              <a:t>11.11.2025</a:t>
            </a:fld>
            <a:endParaRPr lang="tr-TR"/>
          </a:p>
        </p:txBody>
      </p:sp>
      <p:sp>
        <p:nvSpPr>
          <p:cNvPr id="6" name="5 Altbilgi Yer Tutucusu"/>
          <p:cNvSpPr>
            <a:spLocks noGrp="1"/>
          </p:cNvSpPr>
          <p:nvPr>
            <p:ph type="ftr" sz="quarter" idx="11"/>
          </p:nvPr>
        </p:nvSpPr>
        <p:spPr/>
        <p:txBody>
          <a:bodyPr/>
          <a:lstStyle/>
          <a:p>
            <a:endParaRPr lang="tr-TR"/>
          </a:p>
        </p:txBody>
      </p:sp>
      <p:sp>
        <p:nvSpPr>
          <p:cNvPr id="7" name="6 Slayt Numarası Yer Tutucusu"/>
          <p:cNvSpPr>
            <a:spLocks noGrp="1"/>
          </p:cNvSpPr>
          <p:nvPr>
            <p:ph type="sldNum" sz="quarter" idx="12"/>
          </p:nvPr>
        </p:nvSpPr>
        <p:spPr/>
        <p:txBody>
          <a:bodyPr/>
          <a:lstStyle/>
          <a:p>
            <a:fld id="{4437A875-9460-4ADA-ADC4-0EB2CB6D878F}" type="slidenum">
              <a:rPr lang="tr-TR" smtClean="0"/>
              <a:pPr/>
              <a:t>‹#›</a:t>
            </a:fld>
            <a:endParaRPr lang="tr-T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lvl1pPr>
              <a:defRPr/>
            </a:lvl1pPr>
          </a:lstStyle>
          <a:p>
            <a:r>
              <a:rPr lang="tr-TR"/>
              <a:t>Asıl başlık stili için tıklatın</a:t>
            </a:r>
          </a:p>
        </p:txBody>
      </p:sp>
      <p:sp>
        <p:nvSpPr>
          <p:cNvPr id="3" name="2 Metin Yer Tutucusu"/>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tıklatın</a:t>
            </a:r>
          </a:p>
        </p:txBody>
      </p:sp>
      <p:sp>
        <p:nvSpPr>
          <p:cNvPr id="4" name="3 İçerik Yer Tutucusu"/>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5" name="4 Metin Yer Tutucusu"/>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tıklatın</a:t>
            </a:r>
          </a:p>
        </p:txBody>
      </p:sp>
      <p:sp>
        <p:nvSpPr>
          <p:cNvPr id="6" name="5 İçerik Yer Tutucusu"/>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7" name="6 Veri Yer Tutucusu"/>
          <p:cNvSpPr>
            <a:spLocks noGrp="1"/>
          </p:cNvSpPr>
          <p:nvPr>
            <p:ph type="dt" sz="half" idx="10"/>
          </p:nvPr>
        </p:nvSpPr>
        <p:spPr/>
        <p:txBody>
          <a:bodyPr/>
          <a:lstStyle/>
          <a:p>
            <a:fld id="{F689AB6A-E1A2-4DB6-810F-538849EC2EB0}" type="datetimeFigureOut">
              <a:rPr lang="tr-TR" smtClean="0"/>
              <a:pPr/>
              <a:t>11.11.2025</a:t>
            </a:fld>
            <a:endParaRPr lang="tr-TR"/>
          </a:p>
        </p:txBody>
      </p:sp>
      <p:sp>
        <p:nvSpPr>
          <p:cNvPr id="8" name="7 Altbilgi Yer Tutucusu"/>
          <p:cNvSpPr>
            <a:spLocks noGrp="1"/>
          </p:cNvSpPr>
          <p:nvPr>
            <p:ph type="ftr" sz="quarter" idx="11"/>
          </p:nvPr>
        </p:nvSpPr>
        <p:spPr/>
        <p:txBody>
          <a:bodyPr/>
          <a:lstStyle/>
          <a:p>
            <a:endParaRPr lang="tr-TR"/>
          </a:p>
        </p:txBody>
      </p:sp>
      <p:sp>
        <p:nvSpPr>
          <p:cNvPr id="9" name="8 Slayt Numarası Yer Tutucusu"/>
          <p:cNvSpPr>
            <a:spLocks noGrp="1"/>
          </p:cNvSpPr>
          <p:nvPr>
            <p:ph type="sldNum" sz="quarter" idx="12"/>
          </p:nvPr>
        </p:nvSpPr>
        <p:spPr/>
        <p:txBody>
          <a:bodyPr/>
          <a:lstStyle/>
          <a:p>
            <a:fld id="{4437A875-9460-4ADA-ADC4-0EB2CB6D878F}" type="slidenum">
              <a:rPr lang="tr-TR" smtClean="0"/>
              <a:pPr/>
              <a:t>‹#›</a:t>
            </a:fld>
            <a:endParaRPr lang="tr-T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a:t>Asıl başlık stili için tıklatın</a:t>
            </a:r>
          </a:p>
        </p:txBody>
      </p:sp>
      <p:sp>
        <p:nvSpPr>
          <p:cNvPr id="3" name="2 Veri Yer Tutucusu"/>
          <p:cNvSpPr>
            <a:spLocks noGrp="1"/>
          </p:cNvSpPr>
          <p:nvPr>
            <p:ph type="dt" sz="half" idx="10"/>
          </p:nvPr>
        </p:nvSpPr>
        <p:spPr/>
        <p:txBody>
          <a:bodyPr/>
          <a:lstStyle/>
          <a:p>
            <a:fld id="{F689AB6A-E1A2-4DB6-810F-538849EC2EB0}" type="datetimeFigureOut">
              <a:rPr lang="tr-TR" smtClean="0"/>
              <a:pPr/>
              <a:t>11.11.2025</a:t>
            </a:fld>
            <a:endParaRPr lang="tr-TR"/>
          </a:p>
        </p:txBody>
      </p:sp>
      <p:sp>
        <p:nvSpPr>
          <p:cNvPr id="4" name="3 Altbilgi Yer Tutucusu"/>
          <p:cNvSpPr>
            <a:spLocks noGrp="1"/>
          </p:cNvSpPr>
          <p:nvPr>
            <p:ph type="ftr" sz="quarter" idx="11"/>
          </p:nvPr>
        </p:nvSpPr>
        <p:spPr/>
        <p:txBody>
          <a:bodyPr/>
          <a:lstStyle/>
          <a:p>
            <a:endParaRPr lang="tr-TR"/>
          </a:p>
        </p:txBody>
      </p:sp>
      <p:sp>
        <p:nvSpPr>
          <p:cNvPr id="5" name="4 Slayt Numarası Yer Tutucusu"/>
          <p:cNvSpPr>
            <a:spLocks noGrp="1"/>
          </p:cNvSpPr>
          <p:nvPr>
            <p:ph type="sldNum" sz="quarter" idx="12"/>
          </p:nvPr>
        </p:nvSpPr>
        <p:spPr/>
        <p:txBody>
          <a:bodyPr/>
          <a:lstStyle/>
          <a:p>
            <a:fld id="{4437A875-9460-4ADA-ADC4-0EB2CB6D878F}" type="slidenum">
              <a:rPr lang="tr-TR" smtClean="0"/>
              <a:pPr/>
              <a:t>‹#›</a:t>
            </a:fld>
            <a:endParaRPr lang="tr-T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1 Veri Yer Tutucusu"/>
          <p:cNvSpPr>
            <a:spLocks noGrp="1"/>
          </p:cNvSpPr>
          <p:nvPr>
            <p:ph type="dt" sz="half" idx="10"/>
          </p:nvPr>
        </p:nvSpPr>
        <p:spPr/>
        <p:txBody>
          <a:bodyPr/>
          <a:lstStyle/>
          <a:p>
            <a:fld id="{F689AB6A-E1A2-4DB6-810F-538849EC2EB0}" type="datetimeFigureOut">
              <a:rPr lang="tr-TR" smtClean="0"/>
              <a:pPr/>
              <a:t>11.11.2025</a:t>
            </a:fld>
            <a:endParaRPr lang="tr-TR"/>
          </a:p>
        </p:txBody>
      </p:sp>
      <p:sp>
        <p:nvSpPr>
          <p:cNvPr id="3" name="2 Altbilgi Yer Tutucusu"/>
          <p:cNvSpPr>
            <a:spLocks noGrp="1"/>
          </p:cNvSpPr>
          <p:nvPr>
            <p:ph type="ftr" sz="quarter" idx="11"/>
          </p:nvPr>
        </p:nvSpPr>
        <p:spPr/>
        <p:txBody>
          <a:bodyPr/>
          <a:lstStyle/>
          <a:p>
            <a:endParaRPr lang="tr-TR"/>
          </a:p>
        </p:txBody>
      </p:sp>
      <p:sp>
        <p:nvSpPr>
          <p:cNvPr id="4" name="3 Slayt Numarası Yer Tutucusu"/>
          <p:cNvSpPr>
            <a:spLocks noGrp="1"/>
          </p:cNvSpPr>
          <p:nvPr>
            <p:ph type="sldNum" sz="quarter" idx="12"/>
          </p:nvPr>
        </p:nvSpPr>
        <p:spPr/>
        <p:txBody>
          <a:bodyPr/>
          <a:lstStyle/>
          <a:p>
            <a:fld id="{4437A875-9460-4ADA-ADC4-0EB2CB6D878F}" type="slidenum">
              <a:rPr lang="tr-TR" smtClean="0"/>
              <a:pPr/>
              <a:t>‹#›</a:t>
            </a:fld>
            <a:endParaRPr lang="tr-T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1 Başlık"/>
          <p:cNvSpPr>
            <a:spLocks noGrp="1"/>
          </p:cNvSpPr>
          <p:nvPr>
            <p:ph type="title"/>
          </p:nvPr>
        </p:nvSpPr>
        <p:spPr>
          <a:xfrm>
            <a:off x="457200" y="273050"/>
            <a:ext cx="3008313" cy="1162050"/>
          </a:xfrm>
        </p:spPr>
        <p:txBody>
          <a:bodyPr anchor="b"/>
          <a:lstStyle>
            <a:lvl1pPr algn="l">
              <a:defRPr sz="2000" b="1"/>
            </a:lvl1pPr>
          </a:lstStyle>
          <a:p>
            <a:r>
              <a:rPr lang="tr-TR"/>
              <a:t>Asıl başlık stili için tıklatın</a:t>
            </a:r>
          </a:p>
        </p:txBody>
      </p:sp>
      <p:sp>
        <p:nvSpPr>
          <p:cNvPr id="3" name="2 İçerik Yer Tutucusu"/>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3 Metin Yer Tutucusu"/>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tıklatın</a:t>
            </a:r>
          </a:p>
        </p:txBody>
      </p:sp>
      <p:sp>
        <p:nvSpPr>
          <p:cNvPr id="5" name="4 Veri Yer Tutucusu"/>
          <p:cNvSpPr>
            <a:spLocks noGrp="1"/>
          </p:cNvSpPr>
          <p:nvPr>
            <p:ph type="dt" sz="half" idx="10"/>
          </p:nvPr>
        </p:nvSpPr>
        <p:spPr/>
        <p:txBody>
          <a:bodyPr/>
          <a:lstStyle/>
          <a:p>
            <a:fld id="{F689AB6A-E1A2-4DB6-810F-538849EC2EB0}" type="datetimeFigureOut">
              <a:rPr lang="tr-TR" smtClean="0"/>
              <a:pPr/>
              <a:t>11.11.2025</a:t>
            </a:fld>
            <a:endParaRPr lang="tr-TR"/>
          </a:p>
        </p:txBody>
      </p:sp>
      <p:sp>
        <p:nvSpPr>
          <p:cNvPr id="6" name="5 Altbilgi Yer Tutucusu"/>
          <p:cNvSpPr>
            <a:spLocks noGrp="1"/>
          </p:cNvSpPr>
          <p:nvPr>
            <p:ph type="ftr" sz="quarter" idx="11"/>
          </p:nvPr>
        </p:nvSpPr>
        <p:spPr/>
        <p:txBody>
          <a:bodyPr/>
          <a:lstStyle/>
          <a:p>
            <a:endParaRPr lang="tr-TR"/>
          </a:p>
        </p:txBody>
      </p:sp>
      <p:sp>
        <p:nvSpPr>
          <p:cNvPr id="7" name="6 Slayt Numarası Yer Tutucusu"/>
          <p:cNvSpPr>
            <a:spLocks noGrp="1"/>
          </p:cNvSpPr>
          <p:nvPr>
            <p:ph type="sldNum" sz="quarter" idx="12"/>
          </p:nvPr>
        </p:nvSpPr>
        <p:spPr/>
        <p:txBody>
          <a:bodyPr/>
          <a:lstStyle/>
          <a:p>
            <a:fld id="{4437A875-9460-4ADA-ADC4-0EB2CB6D878F}" type="slidenum">
              <a:rPr lang="tr-TR" smtClean="0"/>
              <a:pPr/>
              <a:t>‹#›</a:t>
            </a:fld>
            <a:endParaRPr lang="tr-T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1 Başlık"/>
          <p:cNvSpPr>
            <a:spLocks noGrp="1"/>
          </p:cNvSpPr>
          <p:nvPr>
            <p:ph type="title"/>
          </p:nvPr>
        </p:nvSpPr>
        <p:spPr>
          <a:xfrm>
            <a:off x="1792288" y="4800600"/>
            <a:ext cx="5486400" cy="566738"/>
          </a:xfrm>
        </p:spPr>
        <p:txBody>
          <a:bodyPr anchor="b"/>
          <a:lstStyle>
            <a:lvl1pPr algn="l">
              <a:defRPr sz="2000" b="1"/>
            </a:lvl1pPr>
          </a:lstStyle>
          <a:p>
            <a:r>
              <a:rPr lang="tr-TR"/>
              <a:t>Asıl başlık stili için tıklatın</a:t>
            </a:r>
          </a:p>
        </p:txBody>
      </p:sp>
      <p:sp>
        <p:nvSpPr>
          <p:cNvPr id="3" name="2 Resim Yer Tutucusu"/>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r-TR"/>
          </a:p>
        </p:txBody>
      </p:sp>
      <p:sp>
        <p:nvSpPr>
          <p:cNvPr id="4" name="3 Metin Yer Tutucusu"/>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tıklatın</a:t>
            </a:r>
          </a:p>
        </p:txBody>
      </p:sp>
      <p:sp>
        <p:nvSpPr>
          <p:cNvPr id="5" name="4 Veri Yer Tutucusu"/>
          <p:cNvSpPr>
            <a:spLocks noGrp="1"/>
          </p:cNvSpPr>
          <p:nvPr>
            <p:ph type="dt" sz="half" idx="10"/>
          </p:nvPr>
        </p:nvSpPr>
        <p:spPr/>
        <p:txBody>
          <a:bodyPr/>
          <a:lstStyle/>
          <a:p>
            <a:fld id="{F689AB6A-E1A2-4DB6-810F-538849EC2EB0}" type="datetimeFigureOut">
              <a:rPr lang="tr-TR" smtClean="0"/>
              <a:pPr/>
              <a:t>11.11.2025</a:t>
            </a:fld>
            <a:endParaRPr lang="tr-TR"/>
          </a:p>
        </p:txBody>
      </p:sp>
      <p:sp>
        <p:nvSpPr>
          <p:cNvPr id="6" name="5 Altbilgi Yer Tutucusu"/>
          <p:cNvSpPr>
            <a:spLocks noGrp="1"/>
          </p:cNvSpPr>
          <p:nvPr>
            <p:ph type="ftr" sz="quarter" idx="11"/>
          </p:nvPr>
        </p:nvSpPr>
        <p:spPr/>
        <p:txBody>
          <a:bodyPr/>
          <a:lstStyle/>
          <a:p>
            <a:endParaRPr lang="tr-TR"/>
          </a:p>
        </p:txBody>
      </p:sp>
      <p:sp>
        <p:nvSpPr>
          <p:cNvPr id="7" name="6 Slayt Numarası Yer Tutucusu"/>
          <p:cNvSpPr>
            <a:spLocks noGrp="1"/>
          </p:cNvSpPr>
          <p:nvPr>
            <p:ph type="sldNum" sz="quarter" idx="12"/>
          </p:nvPr>
        </p:nvSpPr>
        <p:spPr/>
        <p:txBody>
          <a:bodyPr/>
          <a:lstStyle/>
          <a:p>
            <a:fld id="{4437A875-9460-4ADA-ADC4-0EB2CB6D878F}" type="slidenum">
              <a:rPr lang="tr-TR" smtClean="0"/>
              <a:pPr/>
              <a:t>‹#›</a:t>
            </a:fld>
            <a:endParaRPr lang="tr-T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Dikey Metin">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a:t>Asıl başlık stili için tıklatın</a:t>
            </a:r>
          </a:p>
        </p:txBody>
      </p:sp>
      <p:sp>
        <p:nvSpPr>
          <p:cNvPr id="3" name="2 Dikey Metin Yer Tutucusu"/>
          <p:cNvSpPr>
            <a:spLocks noGrp="1"/>
          </p:cNvSpPr>
          <p:nvPr>
            <p:ph type="body" orient="vert" idx="1"/>
          </p:nvPr>
        </p:nvSpPr>
        <p:spPr/>
        <p:txBody>
          <a:bodyPr vert="eaVert"/>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3 Veri Yer Tutucusu"/>
          <p:cNvSpPr>
            <a:spLocks noGrp="1"/>
          </p:cNvSpPr>
          <p:nvPr>
            <p:ph type="dt" sz="half" idx="10"/>
          </p:nvPr>
        </p:nvSpPr>
        <p:spPr/>
        <p:txBody>
          <a:bodyPr/>
          <a:lstStyle/>
          <a:p>
            <a:fld id="{F689AB6A-E1A2-4DB6-810F-538849EC2EB0}" type="datetimeFigureOut">
              <a:rPr lang="tr-TR" smtClean="0"/>
              <a:pPr/>
              <a:t>11.11.2025</a:t>
            </a:fld>
            <a:endParaRPr lang="tr-TR"/>
          </a:p>
        </p:txBody>
      </p:sp>
      <p:sp>
        <p:nvSpPr>
          <p:cNvPr id="5" name="4 Altbilgi Yer Tutucusu"/>
          <p:cNvSpPr>
            <a:spLocks noGrp="1"/>
          </p:cNvSpPr>
          <p:nvPr>
            <p:ph type="ftr" sz="quarter" idx="11"/>
          </p:nvPr>
        </p:nvSpPr>
        <p:spPr/>
        <p:txBody>
          <a:bodyPr/>
          <a:lstStyle/>
          <a:p>
            <a:endParaRPr lang="tr-TR"/>
          </a:p>
        </p:txBody>
      </p:sp>
      <p:sp>
        <p:nvSpPr>
          <p:cNvPr id="6" name="5 Slayt Numarası Yer Tutucusu"/>
          <p:cNvSpPr>
            <a:spLocks noGrp="1"/>
          </p:cNvSpPr>
          <p:nvPr>
            <p:ph type="sldNum" sz="quarter" idx="12"/>
          </p:nvPr>
        </p:nvSpPr>
        <p:spPr/>
        <p:txBody>
          <a:bodyPr/>
          <a:lstStyle/>
          <a:p>
            <a:fld id="{4437A875-9460-4ADA-ADC4-0EB2CB6D878F}" type="slidenum">
              <a:rPr lang="tr-TR" smtClean="0"/>
              <a:pPr/>
              <a:t>‹#›</a:t>
            </a:fld>
            <a:endParaRPr lang="tr-T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1 Dikey Başlık"/>
          <p:cNvSpPr>
            <a:spLocks noGrp="1"/>
          </p:cNvSpPr>
          <p:nvPr>
            <p:ph type="title" orient="vert"/>
          </p:nvPr>
        </p:nvSpPr>
        <p:spPr>
          <a:xfrm>
            <a:off x="6629400" y="274638"/>
            <a:ext cx="2057400" cy="5851525"/>
          </a:xfrm>
        </p:spPr>
        <p:txBody>
          <a:bodyPr vert="eaVert"/>
          <a:lstStyle/>
          <a:p>
            <a:r>
              <a:rPr lang="tr-TR"/>
              <a:t>Asıl başlık stili için tıklatın</a:t>
            </a:r>
          </a:p>
        </p:txBody>
      </p:sp>
      <p:sp>
        <p:nvSpPr>
          <p:cNvPr id="3" name="2 Dikey Metin Yer Tutucusu"/>
          <p:cNvSpPr>
            <a:spLocks noGrp="1"/>
          </p:cNvSpPr>
          <p:nvPr>
            <p:ph type="body" orient="vert" idx="1"/>
          </p:nvPr>
        </p:nvSpPr>
        <p:spPr>
          <a:xfrm>
            <a:off x="457200" y="274638"/>
            <a:ext cx="6019800" cy="5851525"/>
          </a:xfrm>
        </p:spPr>
        <p:txBody>
          <a:bodyPr vert="eaVert"/>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3 Veri Yer Tutucusu"/>
          <p:cNvSpPr>
            <a:spLocks noGrp="1"/>
          </p:cNvSpPr>
          <p:nvPr>
            <p:ph type="dt" sz="half" idx="10"/>
          </p:nvPr>
        </p:nvSpPr>
        <p:spPr/>
        <p:txBody>
          <a:bodyPr/>
          <a:lstStyle/>
          <a:p>
            <a:fld id="{F689AB6A-E1A2-4DB6-810F-538849EC2EB0}" type="datetimeFigureOut">
              <a:rPr lang="tr-TR" smtClean="0"/>
              <a:pPr/>
              <a:t>11.11.2025</a:t>
            </a:fld>
            <a:endParaRPr lang="tr-TR"/>
          </a:p>
        </p:txBody>
      </p:sp>
      <p:sp>
        <p:nvSpPr>
          <p:cNvPr id="5" name="4 Altbilgi Yer Tutucusu"/>
          <p:cNvSpPr>
            <a:spLocks noGrp="1"/>
          </p:cNvSpPr>
          <p:nvPr>
            <p:ph type="ftr" sz="quarter" idx="11"/>
          </p:nvPr>
        </p:nvSpPr>
        <p:spPr/>
        <p:txBody>
          <a:bodyPr/>
          <a:lstStyle/>
          <a:p>
            <a:endParaRPr lang="tr-TR"/>
          </a:p>
        </p:txBody>
      </p:sp>
      <p:sp>
        <p:nvSpPr>
          <p:cNvPr id="6" name="5 Slayt Numarası Yer Tutucusu"/>
          <p:cNvSpPr>
            <a:spLocks noGrp="1"/>
          </p:cNvSpPr>
          <p:nvPr>
            <p:ph type="sldNum" sz="quarter" idx="12"/>
          </p:nvPr>
        </p:nvSpPr>
        <p:spPr/>
        <p:txBody>
          <a:bodyPr/>
          <a:lstStyle/>
          <a:p>
            <a:fld id="{4437A875-9460-4ADA-ADC4-0EB2CB6D878F}" type="slidenum">
              <a:rPr lang="tr-TR" smtClean="0"/>
              <a:pPr/>
              <a:t>‹#›</a:t>
            </a:fld>
            <a:endParaRPr lang="tr-T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Başlık Yer Tutucusu"/>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tr-TR"/>
              <a:t>Asıl başlık stili için tıklatın</a:t>
            </a:r>
          </a:p>
        </p:txBody>
      </p:sp>
      <p:sp>
        <p:nvSpPr>
          <p:cNvPr id="3" name="2 Metin Yer Tutucusu"/>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3 Veri Yer Tutucusu"/>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689AB6A-E1A2-4DB6-810F-538849EC2EB0}" type="datetimeFigureOut">
              <a:rPr lang="tr-TR" smtClean="0"/>
              <a:pPr/>
              <a:t>11.11.2025</a:t>
            </a:fld>
            <a:endParaRPr lang="tr-TR"/>
          </a:p>
        </p:txBody>
      </p:sp>
      <p:sp>
        <p:nvSpPr>
          <p:cNvPr id="5" name="4 Altbilgi Yer Tutucusu"/>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tr-TR"/>
          </a:p>
        </p:txBody>
      </p:sp>
      <p:sp>
        <p:nvSpPr>
          <p:cNvPr id="6" name="5 Slayt Numarası Yer Tutucusu"/>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437A875-9460-4ADA-ADC4-0EB2CB6D878F}" type="slidenum">
              <a:rPr lang="tr-TR" smtClean="0"/>
              <a:pPr/>
              <a:t>‹#›</a:t>
            </a:fld>
            <a:endParaRPr lang="tr-T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a:bodyPr>
          <a:lstStyle/>
          <a:p>
            <a:pPr lvl="1"/>
            <a:r>
              <a:rPr lang="tr-TR" sz="2800" dirty="0"/>
              <a:t>Yazılım Mühendisliğinde Kalitenin Yeri</a:t>
            </a:r>
          </a:p>
        </p:txBody>
      </p:sp>
      <p:sp>
        <p:nvSpPr>
          <p:cNvPr id="3" name="2 İçerik Yer Tutucusu"/>
          <p:cNvSpPr>
            <a:spLocks noGrp="1"/>
          </p:cNvSpPr>
          <p:nvPr>
            <p:ph idx="1"/>
          </p:nvPr>
        </p:nvSpPr>
        <p:spPr/>
        <p:txBody>
          <a:bodyPr/>
          <a:lstStyle/>
          <a:p>
            <a:r>
              <a:rPr lang="tr-TR" dirty="0"/>
              <a:t>Yazılım mühendisliği, bilgisayar bilimi, yönetim bilimi, ekonomi ve bilişim bilim dallarından yararlanmakta ve sorun çözümünde mühendislik yöntemlerini kullanmaktadır.  Yazılım mühendisliğinin, temelinde kalite bakış açısı olan,  mühendislik yöntemleri, süreçler, metodolojiler ve yazılım araçları ( CASE </a:t>
            </a:r>
            <a:r>
              <a:rPr lang="tr-TR" dirty="0" err="1"/>
              <a:t>tool</a:t>
            </a:r>
            <a:r>
              <a:rPr lang="tr-TR" dirty="0"/>
              <a:t>) olan katmanlı bir yapısı vardır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8 Oval"/>
          <p:cNvSpPr/>
          <p:nvPr/>
        </p:nvSpPr>
        <p:spPr>
          <a:xfrm>
            <a:off x="2339752" y="2924944"/>
            <a:ext cx="4032448" cy="864096"/>
          </a:xfrm>
          <a:prstGeom prst="ellipse">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5" name="4 Oval"/>
          <p:cNvSpPr/>
          <p:nvPr/>
        </p:nvSpPr>
        <p:spPr>
          <a:xfrm>
            <a:off x="2483768" y="2708920"/>
            <a:ext cx="3672408" cy="720080"/>
          </a:xfrm>
          <a:prstGeom prst="ellipse">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6" name="5 Oval"/>
          <p:cNvSpPr/>
          <p:nvPr/>
        </p:nvSpPr>
        <p:spPr>
          <a:xfrm>
            <a:off x="2843808" y="2348880"/>
            <a:ext cx="3096344" cy="720080"/>
          </a:xfrm>
          <a:prstGeom prst="ellipse">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4" name="3 Oval"/>
          <p:cNvSpPr/>
          <p:nvPr/>
        </p:nvSpPr>
        <p:spPr>
          <a:xfrm>
            <a:off x="3059832" y="2276872"/>
            <a:ext cx="2736304" cy="432048"/>
          </a:xfrm>
          <a:prstGeom prst="ellipse">
            <a:avLst/>
          </a:prstGeom>
          <a:solidFill>
            <a:schemeClr val="accent3">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7" name="6 Metin kutusu"/>
          <p:cNvSpPr txBox="1"/>
          <p:nvPr/>
        </p:nvSpPr>
        <p:spPr>
          <a:xfrm>
            <a:off x="3635896" y="2348880"/>
            <a:ext cx="1656184" cy="307777"/>
          </a:xfrm>
          <a:prstGeom prst="rect">
            <a:avLst/>
          </a:prstGeom>
          <a:noFill/>
        </p:spPr>
        <p:txBody>
          <a:bodyPr wrap="square" rtlCol="0">
            <a:spAutoFit/>
          </a:bodyPr>
          <a:lstStyle/>
          <a:p>
            <a:r>
              <a:rPr lang="tr-TR" sz="1400" dirty="0"/>
              <a:t>YAZILIM ARAÇLARI</a:t>
            </a:r>
          </a:p>
        </p:txBody>
      </p:sp>
      <p:sp>
        <p:nvSpPr>
          <p:cNvPr id="8" name="7 Metin kutusu"/>
          <p:cNvSpPr txBox="1"/>
          <p:nvPr/>
        </p:nvSpPr>
        <p:spPr>
          <a:xfrm>
            <a:off x="3851920" y="2780928"/>
            <a:ext cx="1152128" cy="307777"/>
          </a:xfrm>
          <a:prstGeom prst="rect">
            <a:avLst/>
          </a:prstGeom>
          <a:noFill/>
        </p:spPr>
        <p:txBody>
          <a:bodyPr wrap="square" rtlCol="0">
            <a:spAutoFit/>
          </a:bodyPr>
          <a:lstStyle/>
          <a:p>
            <a:r>
              <a:rPr lang="tr-TR" sz="1400" dirty="0"/>
              <a:t>YÖNTEMLER</a:t>
            </a:r>
          </a:p>
        </p:txBody>
      </p:sp>
      <p:sp>
        <p:nvSpPr>
          <p:cNvPr id="10" name="9 Metin kutusu"/>
          <p:cNvSpPr txBox="1"/>
          <p:nvPr/>
        </p:nvSpPr>
        <p:spPr>
          <a:xfrm>
            <a:off x="3707904" y="3140969"/>
            <a:ext cx="1368152" cy="307777"/>
          </a:xfrm>
          <a:prstGeom prst="rect">
            <a:avLst/>
          </a:prstGeom>
          <a:noFill/>
        </p:spPr>
        <p:txBody>
          <a:bodyPr wrap="square" rtlCol="0">
            <a:spAutoFit/>
          </a:bodyPr>
          <a:lstStyle/>
          <a:p>
            <a:r>
              <a:rPr lang="tr-TR" sz="1400" dirty="0"/>
              <a:t>SÜREÇLER</a:t>
            </a:r>
          </a:p>
        </p:txBody>
      </p:sp>
      <p:sp>
        <p:nvSpPr>
          <p:cNvPr id="11" name="10 İçerik Yer Tutucusu"/>
          <p:cNvSpPr txBox="1">
            <a:spLocks noGrp="1"/>
          </p:cNvSpPr>
          <p:nvPr>
            <p:ph idx="1"/>
          </p:nvPr>
        </p:nvSpPr>
        <p:spPr>
          <a:xfrm>
            <a:off x="3347864" y="3429000"/>
            <a:ext cx="1872208" cy="307777"/>
          </a:xfrm>
          <a:prstGeom prst="rect">
            <a:avLst/>
          </a:prstGeom>
          <a:noFill/>
        </p:spPr>
        <p:txBody>
          <a:bodyPr wrap="square" rtlCol="0">
            <a:spAutoFit/>
          </a:bodyPr>
          <a:lstStyle/>
          <a:p>
            <a:pPr>
              <a:buNone/>
            </a:pPr>
            <a:r>
              <a:rPr lang="tr-TR" sz="1400" dirty="0"/>
              <a:t>KALİTE BAKIŞ AÇISI</a:t>
            </a:r>
          </a:p>
        </p:txBody>
      </p:sp>
      <p:sp>
        <p:nvSpPr>
          <p:cNvPr id="12" name="11 Metin kutusu"/>
          <p:cNvSpPr txBox="1"/>
          <p:nvPr/>
        </p:nvSpPr>
        <p:spPr>
          <a:xfrm>
            <a:off x="1475656" y="4005064"/>
            <a:ext cx="5544616" cy="369332"/>
          </a:xfrm>
          <a:prstGeom prst="rect">
            <a:avLst/>
          </a:prstGeom>
          <a:noFill/>
        </p:spPr>
        <p:txBody>
          <a:bodyPr wrap="square" rtlCol="0">
            <a:spAutoFit/>
          </a:bodyPr>
          <a:lstStyle/>
          <a:p>
            <a:r>
              <a:rPr lang="tr-TR" dirty="0"/>
              <a:t>Şekil 1.1. Yazılım Mühendisliği Katmanlı Yapısı</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fontScale="90000"/>
          </a:bodyPr>
          <a:lstStyle/>
          <a:p>
            <a:r>
              <a:rPr lang="tr-TR" dirty="0"/>
              <a:t>. Yazılım geliştirme süreci esas süreç adımları</a:t>
            </a:r>
          </a:p>
        </p:txBody>
      </p:sp>
      <p:sp>
        <p:nvSpPr>
          <p:cNvPr id="3" name="2 İçerik Yer Tutucusu"/>
          <p:cNvSpPr>
            <a:spLocks noGrp="1"/>
          </p:cNvSpPr>
          <p:nvPr>
            <p:ph idx="1"/>
          </p:nvPr>
        </p:nvSpPr>
        <p:spPr/>
        <p:txBody>
          <a:bodyPr/>
          <a:lstStyle/>
          <a:p>
            <a:r>
              <a:rPr lang="tr-TR" dirty="0"/>
              <a:t>,</a:t>
            </a:r>
            <a:endParaRPr lang="tr-TR" sz="2800" dirty="0"/>
          </a:p>
          <a:p>
            <a:pPr lvl="0"/>
            <a:r>
              <a:rPr lang="en-US" dirty="0" err="1"/>
              <a:t>Gereksinim</a:t>
            </a:r>
            <a:r>
              <a:rPr lang="en-US" dirty="0"/>
              <a:t> </a:t>
            </a:r>
            <a:r>
              <a:rPr lang="en-US" dirty="0" err="1"/>
              <a:t>Analizi</a:t>
            </a:r>
            <a:r>
              <a:rPr lang="en-US" dirty="0"/>
              <a:t> </a:t>
            </a:r>
            <a:endParaRPr lang="tr-TR" dirty="0"/>
          </a:p>
          <a:p>
            <a:pPr lvl="0"/>
            <a:r>
              <a:rPr lang="tr-TR" sz="2800" dirty="0"/>
              <a:t>Tasarım</a:t>
            </a:r>
          </a:p>
          <a:p>
            <a:pPr lvl="0"/>
            <a:r>
              <a:rPr lang="en-US" dirty="0" err="1"/>
              <a:t>Kodlama</a:t>
            </a:r>
            <a:r>
              <a:rPr lang="en-US" dirty="0"/>
              <a:t> </a:t>
            </a:r>
            <a:endParaRPr lang="tr-TR" dirty="0"/>
          </a:p>
          <a:p>
            <a:pPr lvl="0"/>
            <a:r>
              <a:rPr lang="en-US" dirty="0"/>
              <a:t>Test </a:t>
            </a:r>
            <a:endParaRPr lang="tr-TR" sz="2400" dirty="0"/>
          </a:p>
          <a:p>
            <a:pPr lvl="1"/>
            <a:r>
              <a:rPr lang="en-US" dirty="0" err="1"/>
              <a:t>Bakım</a:t>
            </a:r>
            <a:r>
              <a:rPr lang="en-US" dirty="0"/>
              <a:t> </a:t>
            </a:r>
            <a:endParaRPr lang="tr-TR" sz="2400" dirty="0"/>
          </a:p>
          <a:p>
            <a:r>
              <a:rPr lang="tr-TR" dirty="0"/>
              <a:t>Yazılımın hazırlanması için temel işlemlerdir</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fontScale="90000"/>
          </a:bodyPr>
          <a:lstStyle/>
          <a:p>
            <a:r>
              <a:rPr lang="tr-TR" dirty="0"/>
              <a:t>Yazılım Mühendisliği destek süreç adımları</a:t>
            </a:r>
          </a:p>
        </p:txBody>
      </p:sp>
      <p:sp>
        <p:nvSpPr>
          <p:cNvPr id="3" name="2 İçerik Yer Tutucusu"/>
          <p:cNvSpPr>
            <a:spLocks noGrp="1"/>
          </p:cNvSpPr>
          <p:nvPr>
            <p:ph idx="1"/>
          </p:nvPr>
        </p:nvSpPr>
        <p:spPr/>
        <p:txBody>
          <a:bodyPr>
            <a:normAutofit lnSpcReduction="10000"/>
          </a:bodyPr>
          <a:lstStyle/>
          <a:p>
            <a:pPr>
              <a:buNone/>
            </a:pPr>
            <a:endParaRPr lang="tr-TR" sz="2800" dirty="0"/>
          </a:p>
          <a:p>
            <a:pPr lvl="1"/>
            <a:r>
              <a:rPr lang="tr-TR" dirty="0"/>
              <a:t>Proje Yönetimi </a:t>
            </a:r>
            <a:endParaRPr lang="tr-TR" sz="2400" dirty="0"/>
          </a:p>
          <a:p>
            <a:pPr lvl="1"/>
            <a:r>
              <a:rPr lang="tr-TR" dirty="0"/>
              <a:t>Kalite Yönetimi </a:t>
            </a:r>
            <a:endParaRPr lang="tr-TR" sz="2400" dirty="0"/>
          </a:p>
          <a:p>
            <a:pPr lvl="1"/>
            <a:r>
              <a:rPr lang="tr-TR" dirty="0"/>
              <a:t>Geçerleme Doğrulama</a:t>
            </a:r>
            <a:endParaRPr lang="tr-TR" sz="2400" dirty="0"/>
          </a:p>
          <a:p>
            <a:pPr lvl="1"/>
            <a:r>
              <a:rPr lang="tr-TR" dirty="0" err="1"/>
              <a:t>Formal</a:t>
            </a:r>
            <a:r>
              <a:rPr lang="tr-TR" dirty="0"/>
              <a:t> ve teknik gözden geçirme</a:t>
            </a:r>
            <a:endParaRPr lang="tr-TR" sz="2400" dirty="0"/>
          </a:p>
          <a:p>
            <a:pPr lvl="1"/>
            <a:r>
              <a:rPr lang="tr-TR" dirty="0"/>
              <a:t>Yazılım Konfigürasyon Yönetimi </a:t>
            </a:r>
            <a:endParaRPr lang="tr-TR" sz="2400" dirty="0"/>
          </a:p>
          <a:p>
            <a:pPr lvl="1"/>
            <a:r>
              <a:rPr lang="tr-TR" dirty="0"/>
              <a:t>Yeniden kullanılabilirlik Yönetimi</a:t>
            </a:r>
            <a:endParaRPr lang="tr-TR" sz="2400" dirty="0"/>
          </a:p>
          <a:p>
            <a:pPr lvl="1"/>
            <a:r>
              <a:rPr lang="tr-TR" dirty="0"/>
              <a:t>Yazılım Ölçümü</a:t>
            </a:r>
            <a:endParaRPr lang="tr-TR" sz="2400" dirty="0"/>
          </a:p>
          <a:p>
            <a:pPr lvl="1"/>
            <a:r>
              <a:rPr lang="tr-TR" dirty="0"/>
              <a:t>Risk Yönetimi</a:t>
            </a:r>
            <a:endParaRPr lang="tr-TR"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fontScale="90000"/>
          </a:bodyPr>
          <a:lstStyle/>
          <a:p>
            <a:r>
              <a:rPr lang="tr-TR" dirty="0"/>
              <a:t>Yazılım Geliştirme Süreç Modelleri</a:t>
            </a:r>
            <a:br>
              <a:rPr lang="tr-TR" dirty="0"/>
            </a:br>
            <a:endParaRPr lang="tr-TR" dirty="0"/>
          </a:p>
        </p:txBody>
      </p:sp>
      <p:sp>
        <p:nvSpPr>
          <p:cNvPr id="3" name="2 İçerik Yer Tutucusu"/>
          <p:cNvSpPr>
            <a:spLocks noGrp="1"/>
          </p:cNvSpPr>
          <p:nvPr>
            <p:ph idx="1"/>
          </p:nvPr>
        </p:nvSpPr>
        <p:spPr>
          <a:xfrm>
            <a:off x="457200" y="1268760"/>
            <a:ext cx="8229600" cy="4857403"/>
          </a:xfrm>
        </p:spPr>
        <p:txBody>
          <a:bodyPr>
            <a:normAutofit fontScale="92500" lnSpcReduction="10000"/>
          </a:bodyPr>
          <a:lstStyle/>
          <a:p>
            <a:pPr>
              <a:buNone/>
            </a:pPr>
            <a:r>
              <a:rPr lang="tr-TR" dirty="0"/>
              <a:t> yazılım geliştirme süreci adımlarının hangi sırada ve düzende uygulanacağını tanımlar. Başlıca yazılım geliştirme süreç modelleri,</a:t>
            </a:r>
          </a:p>
          <a:p>
            <a:pPr lvl="0"/>
            <a:r>
              <a:rPr lang="tr-TR" dirty="0"/>
              <a:t>Klasik doğrusal akış (</a:t>
            </a:r>
            <a:r>
              <a:rPr lang="tr-TR" i="1" dirty="0" err="1"/>
              <a:t>Waterfall</a:t>
            </a:r>
            <a:r>
              <a:rPr lang="tr-TR" dirty="0"/>
              <a:t>)</a:t>
            </a:r>
          </a:p>
          <a:p>
            <a:pPr lvl="0"/>
            <a:r>
              <a:rPr lang="tr-TR" dirty="0"/>
              <a:t>Prototip model</a:t>
            </a:r>
          </a:p>
          <a:p>
            <a:pPr lvl="0"/>
            <a:r>
              <a:rPr lang="tr-TR" dirty="0"/>
              <a:t>Artımlı (</a:t>
            </a:r>
            <a:r>
              <a:rPr lang="tr-TR" i="1" dirty="0" err="1"/>
              <a:t>incremental</a:t>
            </a:r>
            <a:r>
              <a:rPr lang="tr-TR" dirty="0"/>
              <a:t>) model</a:t>
            </a:r>
          </a:p>
          <a:p>
            <a:pPr lvl="0"/>
            <a:r>
              <a:rPr lang="tr-TR" dirty="0"/>
              <a:t>Helezon (</a:t>
            </a:r>
            <a:r>
              <a:rPr lang="tr-TR" i="1" dirty="0"/>
              <a:t>Spiral</a:t>
            </a:r>
            <a:r>
              <a:rPr lang="tr-TR" dirty="0"/>
              <a:t>) Model</a:t>
            </a:r>
          </a:p>
          <a:p>
            <a:pPr lvl="0"/>
            <a:r>
              <a:rPr lang="tr-TR" dirty="0"/>
              <a:t>Hızlı Uygulama Geliştirme (</a:t>
            </a:r>
            <a:r>
              <a:rPr lang="tr-TR" i="1" dirty="0" err="1"/>
              <a:t>Rapid</a:t>
            </a:r>
            <a:r>
              <a:rPr lang="tr-TR" i="1" dirty="0"/>
              <a:t> </a:t>
            </a:r>
            <a:r>
              <a:rPr lang="tr-TR" i="1" dirty="0" err="1"/>
              <a:t>Application</a:t>
            </a:r>
            <a:r>
              <a:rPr lang="tr-TR" i="1" dirty="0"/>
              <a:t> </a:t>
            </a:r>
            <a:r>
              <a:rPr lang="tr-TR" i="1" dirty="0" err="1"/>
              <a:t>Development</a:t>
            </a:r>
            <a:r>
              <a:rPr lang="tr-TR" dirty="0"/>
              <a:t>) </a:t>
            </a:r>
          </a:p>
          <a:p>
            <a:pPr lvl="0"/>
            <a:r>
              <a:rPr lang="tr-TR" dirty="0"/>
              <a:t>Birleştirilmiş Süreç (</a:t>
            </a:r>
            <a:r>
              <a:rPr lang="tr-TR" i="1" dirty="0" err="1"/>
              <a:t>Unified</a:t>
            </a:r>
            <a:r>
              <a:rPr lang="tr-TR" i="1" dirty="0"/>
              <a:t> </a:t>
            </a:r>
            <a:r>
              <a:rPr lang="tr-TR" i="1" dirty="0" err="1"/>
              <a:t>Process</a:t>
            </a:r>
            <a:r>
              <a:rPr lang="tr-TR" dirty="0"/>
              <a:t>) Model</a:t>
            </a:r>
          </a:p>
          <a:p>
            <a:endParaRPr lang="tr-T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a:xfrm>
            <a:off x="457200" y="785794"/>
            <a:ext cx="8229600" cy="1143008"/>
          </a:xfrm>
        </p:spPr>
        <p:txBody>
          <a:bodyPr>
            <a:normAutofit fontScale="90000"/>
          </a:bodyPr>
          <a:lstStyle/>
          <a:p>
            <a:br>
              <a:rPr lang="tr-TR" sz="2000" dirty="0"/>
            </a:br>
            <a:br>
              <a:rPr lang="tr-TR" sz="2000" dirty="0"/>
            </a:br>
            <a:r>
              <a:rPr lang="tr-TR" sz="2000" dirty="0"/>
              <a:t>Şekil 1.2. </a:t>
            </a:r>
            <a:r>
              <a:rPr lang="tr-TR" sz="2000" i="1" dirty="0"/>
              <a:t>Spiral</a:t>
            </a:r>
            <a:r>
              <a:rPr lang="tr-TR" sz="2000" dirty="0"/>
              <a:t> Modelin evrimsel yazılım geliştirme süreç yapısı</a:t>
            </a:r>
            <a:br>
              <a:rPr lang="tr-TR" sz="2000" dirty="0"/>
            </a:br>
            <a:endParaRPr lang="tr-TR" sz="2000" dirty="0"/>
          </a:p>
        </p:txBody>
      </p:sp>
      <p:pic>
        <p:nvPicPr>
          <p:cNvPr id="4" name="Picture 3"/>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2052952" y="2472705"/>
            <a:ext cx="5038096" cy="278095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a:t>Spiral model</a:t>
            </a:r>
            <a:endParaRPr lang="tr-TR" dirty="0"/>
          </a:p>
        </p:txBody>
      </p:sp>
      <p:sp>
        <p:nvSpPr>
          <p:cNvPr id="3" name="2 İçerik Yer Tutucusu"/>
          <p:cNvSpPr>
            <a:spLocks noGrp="1"/>
          </p:cNvSpPr>
          <p:nvPr>
            <p:ph idx="1"/>
          </p:nvPr>
        </p:nvSpPr>
        <p:spPr/>
        <p:txBody>
          <a:bodyPr>
            <a:normAutofit fontScale="77500" lnSpcReduction="20000"/>
          </a:bodyPr>
          <a:lstStyle/>
          <a:p>
            <a:r>
              <a:rPr lang="tr-TR" dirty="0"/>
              <a:t>Şekil –1.2’de de gösterildiği gibi altı aşamadan oluşmaktadır;</a:t>
            </a:r>
          </a:p>
          <a:p>
            <a:pPr lvl="0"/>
            <a:r>
              <a:rPr lang="tr-TR" dirty="0"/>
              <a:t>Müşteri İletişim: Geliştirici ve müşteri arasındaki etkin iletişimi sağlama. </a:t>
            </a:r>
          </a:p>
          <a:p>
            <a:pPr lvl="0"/>
            <a:r>
              <a:rPr lang="tr-TR" dirty="0"/>
              <a:t>Planlama:  Proje için zaman ve kaynak yöntem tanımı yapma </a:t>
            </a:r>
          </a:p>
          <a:p>
            <a:pPr lvl="0"/>
            <a:r>
              <a:rPr lang="tr-TR" dirty="0"/>
              <a:t>Risk Analizi: Teknik ve yönetim risklerini belirleme </a:t>
            </a:r>
          </a:p>
          <a:p>
            <a:pPr lvl="0"/>
            <a:r>
              <a:rPr lang="tr-TR" dirty="0"/>
              <a:t>Mühendislik: Uygulamanın tanımının yapılması (tasarım) </a:t>
            </a:r>
          </a:p>
          <a:p>
            <a:pPr lvl="0"/>
            <a:r>
              <a:rPr lang="tr-TR" dirty="0"/>
              <a:t>Yapım ve Değişim (</a:t>
            </a:r>
            <a:r>
              <a:rPr lang="tr-TR" dirty="0" err="1"/>
              <a:t>Construction</a:t>
            </a:r>
            <a:r>
              <a:rPr lang="tr-TR" dirty="0"/>
              <a:t> &amp; </a:t>
            </a:r>
            <a:r>
              <a:rPr lang="tr-TR" dirty="0" err="1"/>
              <a:t>Release</a:t>
            </a:r>
            <a:r>
              <a:rPr lang="tr-TR" dirty="0"/>
              <a:t>): Gerçekleştirme test, kuruluş ve kullanıcı desteği (belgeleme ve eğitim) </a:t>
            </a:r>
          </a:p>
          <a:p>
            <a:pPr lvl="0"/>
            <a:r>
              <a:rPr lang="tr-TR" dirty="0"/>
              <a:t>Müşteri değerlendirme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ctrTitle"/>
          </p:nvPr>
        </p:nvSpPr>
        <p:spPr>
          <a:xfrm>
            <a:off x="683568" y="476672"/>
            <a:ext cx="7772400" cy="1470025"/>
          </a:xfrm>
        </p:spPr>
        <p:txBody>
          <a:bodyPr/>
          <a:lstStyle/>
          <a:p>
            <a:r>
              <a:rPr lang="tr-TR" dirty="0"/>
              <a:t>Çevik Yaklaşımlar ile Yazılım Geliştirme</a:t>
            </a:r>
          </a:p>
        </p:txBody>
      </p:sp>
      <p:sp>
        <p:nvSpPr>
          <p:cNvPr id="3" name="2 Alt Başlık"/>
          <p:cNvSpPr>
            <a:spLocks noGrp="1"/>
          </p:cNvSpPr>
          <p:nvPr>
            <p:ph type="subTitle" idx="1"/>
          </p:nvPr>
        </p:nvSpPr>
        <p:spPr>
          <a:xfrm>
            <a:off x="1371600" y="2204864"/>
            <a:ext cx="6400800" cy="3433936"/>
          </a:xfrm>
        </p:spPr>
        <p:txBody>
          <a:bodyPr>
            <a:normAutofit fontScale="85000" lnSpcReduction="20000"/>
          </a:bodyPr>
          <a:lstStyle/>
          <a:p>
            <a:endParaRPr lang="tr-TR" dirty="0"/>
          </a:p>
          <a:p>
            <a:pPr algn="just"/>
            <a:r>
              <a:rPr lang="tr-TR" dirty="0"/>
              <a:t>		</a:t>
            </a:r>
            <a:r>
              <a:rPr lang="tr-TR" b="1" dirty="0"/>
              <a:t>Çevik yaklaşımlar</a:t>
            </a:r>
            <a:r>
              <a:rPr lang="tr-TR" dirty="0"/>
              <a:t>, artan müşteri taleplerini daha hızlı karşılamak amacıyla geleneksel sistem geliştirme modellerine alternatif olarak ortaya çıkmıştır. Çevik yaklaşımlar, yazılım geliştirme safhasında geç ortaya çıkan gereksinim değişimlerini çabuk karşılamayı esas alan modellere verilen genel bir isimdir.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fontScale="90000"/>
          </a:bodyPr>
          <a:lstStyle/>
          <a:p>
            <a:r>
              <a:rPr lang="tr-TR" dirty="0"/>
              <a:t>XP(</a:t>
            </a:r>
            <a:r>
              <a:rPr lang="tr-TR" i="1" dirty="0" err="1"/>
              <a:t>eXtreme</a:t>
            </a:r>
            <a:r>
              <a:rPr lang="tr-TR" i="1" dirty="0"/>
              <a:t> </a:t>
            </a:r>
            <a:r>
              <a:rPr lang="tr-TR" i="1" dirty="0" err="1"/>
              <a:t>Programming</a:t>
            </a:r>
            <a:r>
              <a:rPr lang="tr-TR" dirty="0"/>
              <a:t>),</a:t>
            </a:r>
            <a:br>
              <a:rPr lang="tr-TR" dirty="0"/>
            </a:br>
            <a:endParaRPr lang="tr-TR" dirty="0"/>
          </a:p>
        </p:txBody>
      </p:sp>
      <p:sp>
        <p:nvSpPr>
          <p:cNvPr id="3" name="2 İçerik Yer Tutucusu"/>
          <p:cNvSpPr>
            <a:spLocks noGrp="1"/>
          </p:cNvSpPr>
          <p:nvPr>
            <p:ph idx="1"/>
          </p:nvPr>
        </p:nvSpPr>
        <p:spPr/>
        <p:txBody>
          <a:bodyPr>
            <a:normAutofit fontScale="77500" lnSpcReduction="20000"/>
          </a:bodyPr>
          <a:lstStyle/>
          <a:p>
            <a:pPr lvl="0"/>
            <a:r>
              <a:rPr lang="tr-TR" dirty="0"/>
              <a:t>Basitlik</a:t>
            </a:r>
          </a:p>
          <a:p>
            <a:pPr lvl="0"/>
            <a:r>
              <a:rPr lang="tr-TR" dirty="0"/>
              <a:t>İletişim</a:t>
            </a:r>
          </a:p>
          <a:p>
            <a:pPr lvl="0"/>
            <a:r>
              <a:rPr lang="tr-TR" dirty="0"/>
              <a:t>Geri Besleme</a:t>
            </a:r>
          </a:p>
          <a:p>
            <a:pPr lvl="0"/>
            <a:r>
              <a:rPr lang="tr-TR" dirty="0"/>
              <a:t>Cesaret</a:t>
            </a:r>
          </a:p>
          <a:p>
            <a:pPr>
              <a:buNone/>
            </a:pPr>
            <a:r>
              <a:rPr lang="tr-TR" dirty="0"/>
              <a:t>Olmak üzere 4 temel değere ve bunlar çevresinde oluşturulan; Planlama oyunu,  Küçük ve kısa aralıklı yayımlar,  Sistem metaforu,  Basit tasarım,  Test, Devamlı yeniden tasarım (</a:t>
            </a:r>
            <a:r>
              <a:rPr lang="tr-TR" i="1" dirty="0" err="1"/>
              <a:t>refactoring</a:t>
            </a:r>
            <a:r>
              <a:rPr lang="tr-TR" dirty="0"/>
              <a:t>),  Eşle programlama (</a:t>
            </a:r>
            <a:r>
              <a:rPr lang="tr-TR" i="1" dirty="0" err="1"/>
              <a:t>pair</a:t>
            </a:r>
            <a:r>
              <a:rPr lang="tr-TR" i="1" dirty="0"/>
              <a:t> </a:t>
            </a:r>
            <a:r>
              <a:rPr lang="tr-TR" i="1" dirty="0" err="1"/>
              <a:t>programming</a:t>
            </a:r>
            <a:r>
              <a:rPr lang="tr-TR" dirty="0"/>
              <a:t>) ,  Ortak kod mülkiyeti,  Sürekli tümleştirme (</a:t>
            </a:r>
            <a:r>
              <a:rPr lang="tr-TR" i="1" dirty="0" err="1"/>
              <a:t>continuous</a:t>
            </a:r>
            <a:r>
              <a:rPr lang="tr-TR" i="1" dirty="0"/>
              <a:t> </a:t>
            </a:r>
            <a:r>
              <a:rPr lang="tr-TR" i="1" dirty="0" err="1"/>
              <a:t>integration</a:t>
            </a:r>
            <a:r>
              <a:rPr lang="tr-TR" dirty="0"/>
              <a:t>),  Devam ettirilebilir hız( – 40 saat / hafta),  Ekip üyesi müşteri,  Kodlama standartları özelliklerine sahiptir.</a:t>
            </a:r>
          </a:p>
          <a:p>
            <a:endParaRPr lang="tr-T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a:xfrm>
            <a:off x="611560" y="404664"/>
            <a:ext cx="8229600" cy="1052736"/>
          </a:xfrm>
        </p:spPr>
        <p:txBody>
          <a:bodyPr>
            <a:normAutofit fontScale="90000"/>
          </a:bodyPr>
          <a:lstStyle/>
          <a:p>
            <a:r>
              <a:rPr lang="tr-TR" dirty="0"/>
              <a:t>Geleneksel yazılım geliştirme süreç modellerine göre çevik modellerde,</a:t>
            </a:r>
            <a:br>
              <a:rPr lang="tr-TR" dirty="0"/>
            </a:br>
            <a:endParaRPr lang="tr-TR" dirty="0"/>
          </a:p>
        </p:txBody>
      </p:sp>
      <p:sp>
        <p:nvSpPr>
          <p:cNvPr id="3" name="2 İçerik Yer Tutucusu"/>
          <p:cNvSpPr>
            <a:spLocks noGrp="1"/>
          </p:cNvSpPr>
          <p:nvPr>
            <p:ph idx="1"/>
          </p:nvPr>
        </p:nvSpPr>
        <p:spPr/>
        <p:txBody>
          <a:bodyPr>
            <a:normAutofit lnSpcReduction="10000"/>
          </a:bodyPr>
          <a:lstStyle/>
          <a:p>
            <a:pPr lvl="0"/>
            <a:r>
              <a:rPr lang="tr-TR" dirty="0"/>
              <a:t>Dinamik kalite değerlendirme statik değerlendirmeden daha fazla uygulanır,</a:t>
            </a:r>
          </a:p>
          <a:p>
            <a:pPr lvl="0"/>
            <a:r>
              <a:rPr lang="tr-TR" dirty="0"/>
              <a:t>Kalite ile ilgili işlemler daha sürecin daha erken adımlarında başlar,</a:t>
            </a:r>
          </a:p>
          <a:p>
            <a:pPr lvl="0"/>
            <a:r>
              <a:rPr lang="tr-TR" dirty="0"/>
              <a:t>Kalite ile ilgili aktiviteler daha az aralıklar ile yapılır.</a:t>
            </a:r>
          </a:p>
          <a:p>
            <a:r>
              <a:rPr lang="tr-TR" dirty="0"/>
              <a:t>Çevik yaklaşımlarda, kullanıcı hikayeleri, birim testler, müşteri geri beslemesi ile doğruluk ve süreklilik sağlanmaktadır.</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fontScale="90000"/>
          </a:bodyPr>
          <a:lstStyle/>
          <a:p>
            <a:r>
              <a:rPr lang="tr-TR" dirty="0"/>
              <a:t>. Test güdümlü yazılım geliştirme </a:t>
            </a:r>
            <a:br>
              <a:rPr lang="tr-TR" b="1" dirty="0"/>
            </a:br>
            <a:endParaRPr lang="tr-TR" dirty="0"/>
          </a:p>
        </p:txBody>
      </p:sp>
      <p:sp>
        <p:nvSpPr>
          <p:cNvPr id="3" name="2 İçerik Yer Tutucusu"/>
          <p:cNvSpPr>
            <a:spLocks noGrp="1"/>
          </p:cNvSpPr>
          <p:nvPr>
            <p:ph idx="1"/>
          </p:nvPr>
        </p:nvSpPr>
        <p:spPr/>
        <p:txBody>
          <a:bodyPr/>
          <a:lstStyle/>
          <a:p>
            <a:r>
              <a:rPr lang="tr-TR" dirty="0"/>
              <a:t>Test güdümlü yazılım geliştirme (TDD) stratejisi küçük ve hızlı </a:t>
            </a:r>
            <a:r>
              <a:rPr lang="tr-TR" dirty="0" err="1"/>
              <a:t>iterasyonlarla</a:t>
            </a:r>
            <a:r>
              <a:rPr lang="tr-TR" dirty="0"/>
              <a:t>, yazılım geliştirme araçları ile hazırlanmış testler yazılarak ilerleyen bir yazılım geliştirme metodolojisidir. Test güdümlü yazılım geliştirme, genellikle çevik yaklaşım uygulamaları için daha uygun bir yöntemdir.</a:t>
            </a:r>
          </a:p>
          <a:p>
            <a:endParaRPr lang="tr-TR"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a:xfrm>
            <a:off x="323528" y="0"/>
            <a:ext cx="8229600" cy="1143000"/>
          </a:xfrm>
        </p:spPr>
        <p:txBody>
          <a:bodyPr/>
          <a:lstStyle/>
          <a:p>
            <a:r>
              <a:rPr lang="tr-TR" dirty="0"/>
              <a:t> TDD Uygulama Basamakları</a:t>
            </a:r>
          </a:p>
        </p:txBody>
      </p:sp>
      <p:sp>
        <p:nvSpPr>
          <p:cNvPr id="3" name="2 İçerik Yer Tutucusu"/>
          <p:cNvSpPr>
            <a:spLocks noGrp="1"/>
          </p:cNvSpPr>
          <p:nvPr>
            <p:ph idx="1"/>
          </p:nvPr>
        </p:nvSpPr>
        <p:spPr/>
        <p:txBody>
          <a:bodyPr>
            <a:normAutofit fontScale="92500" lnSpcReduction="10000"/>
          </a:bodyPr>
          <a:lstStyle/>
          <a:p>
            <a:pPr>
              <a:buNone/>
            </a:pPr>
            <a:r>
              <a:rPr lang="tr-TR" dirty="0"/>
              <a:t>TDD yaklaşımı kullanarak yazılım mühendisleri aşağıdaki basamakları izleyerek kod geliştirmektedirler: </a:t>
            </a:r>
          </a:p>
          <a:p>
            <a:pPr lvl="0"/>
            <a:r>
              <a:rPr lang="tr-TR" dirty="0"/>
              <a:t>Birim test </a:t>
            </a:r>
            <a:r>
              <a:rPr lang="tr-TR" dirty="0" err="1"/>
              <a:t>case’leri</a:t>
            </a:r>
            <a:r>
              <a:rPr lang="tr-TR" dirty="0"/>
              <a:t> yazmak</a:t>
            </a:r>
          </a:p>
          <a:p>
            <a:pPr lvl="0"/>
            <a:r>
              <a:rPr lang="tr-TR" dirty="0"/>
              <a:t>Yazılmış test </a:t>
            </a:r>
            <a:r>
              <a:rPr lang="tr-TR" dirty="0" err="1"/>
              <a:t>case’lerinin</a:t>
            </a:r>
            <a:r>
              <a:rPr lang="tr-TR" dirty="0"/>
              <a:t> henüz kod yazılmadığı için başarısız olduğunu görmek için çalıştırma</a:t>
            </a:r>
          </a:p>
          <a:p>
            <a:pPr lvl="0"/>
            <a:r>
              <a:rPr lang="tr-TR" dirty="0"/>
              <a:t>Kod yazarak test </a:t>
            </a:r>
            <a:r>
              <a:rPr lang="tr-TR" dirty="0" err="1"/>
              <a:t>case’lerin</a:t>
            </a:r>
            <a:r>
              <a:rPr lang="tr-TR" dirty="0"/>
              <a:t> geçmesini sağlamak</a:t>
            </a:r>
          </a:p>
          <a:p>
            <a:pPr lvl="0"/>
            <a:r>
              <a:rPr lang="tr-TR" dirty="0"/>
              <a:t>Test </a:t>
            </a:r>
            <a:r>
              <a:rPr lang="tr-TR" dirty="0" err="1"/>
              <a:t>case’leri</a:t>
            </a:r>
            <a:r>
              <a:rPr lang="tr-TR" dirty="0"/>
              <a:t> tekrar koşturarak geçtiğini görmek</a:t>
            </a:r>
          </a:p>
          <a:p>
            <a:pPr lvl="0"/>
            <a:r>
              <a:rPr lang="tr-TR" dirty="0"/>
              <a:t>Kodu yeniden düzenlemek</a:t>
            </a:r>
          </a:p>
          <a:p>
            <a:endParaRPr lang="tr-TR"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a:xfrm>
            <a:off x="755576" y="274638"/>
            <a:ext cx="7931224" cy="1143000"/>
          </a:xfrm>
        </p:spPr>
        <p:txBody>
          <a:bodyPr>
            <a:normAutofit/>
          </a:bodyPr>
          <a:lstStyle/>
          <a:p>
            <a:pPr lvl="3"/>
            <a:r>
              <a:rPr lang="tr-TR" sz="2800" dirty="0"/>
              <a:t>TDD Hakkında Çalışmalar</a:t>
            </a:r>
            <a:endParaRPr lang="tr-TR" sz="2800" b="1" dirty="0"/>
          </a:p>
        </p:txBody>
      </p:sp>
      <p:sp>
        <p:nvSpPr>
          <p:cNvPr id="3" name="2 İçerik Yer Tutucusu"/>
          <p:cNvSpPr>
            <a:spLocks noGrp="1"/>
          </p:cNvSpPr>
          <p:nvPr>
            <p:ph idx="1"/>
          </p:nvPr>
        </p:nvSpPr>
        <p:spPr/>
        <p:txBody>
          <a:bodyPr>
            <a:normAutofit lnSpcReduction="10000"/>
          </a:bodyPr>
          <a:lstStyle/>
          <a:p>
            <a:r>
              <a:rPr lang="tr-TR" dirty="0"/>
              <a:t>H.</a:t>
            </a:r>
            <a:r>
              <a:rPr lang="tr-TR" dirty="0" err="1"/>
              <a:t>Erdoğmuş</a:t>
            </a:r>
            <a:r>
              <a:rPr lang="tr-TR" dirty="0"/>
              <a:t>  24 lisans öğrencisini kullanarak önce-test ve sonra-test yöntemleri hakkında bir araştırma yapmıştır. </a:t>
            </a:r>
          </a:p>
          <a:p>
            <a:r>
              <a:rPr lang="tr-TR" dirty="0"/>
              <a:t>Araştırma sonucunda </a:t>
            </a:r>
            <a:r>
              <a:rPr lang="tr-TR" dirty="0" err="1"/>
              <a:t>TDD’nin</a:t>
            </a:r>
            <a:r>
              <a:rPr lang="tr-TR" dirty="0"/>
              <a:t> programcı üretkenliğini artırdığı ancak daha iyi kalite sağlayamadığı görülmüştür. </a:t>
            </a:r>
          </a:p>
          <a:p>
            <a:r>
              <a:rPr lang="tr-TR" dirty="0"/>
              <a:t> önce-test yaklaşımının başarısının programcıyı kodları ve test sonuçlarını yedekleme konusunda teşvik etmeyle alakalı olduğudur. </a:t>
            </a:r>
          </a:p>
          <a:p>
            <a:endParaRPr lang="tr-TR"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fontScale="90000"/>
          </a:bodyPr>
          <a:lstStyle/>
          <a:p>
            <a:r>
              <a:rPr lang="tr-TR" dirty="0"/>
              <a:t>2.YAZILIM KALİTE TEMEL KAVRAMLAR</a:t>
            </a:r>
            <a:br>
              <a:rPr lang="tr-TR" dirty="0"/>
            </a:br>
            <a:endParaRPr lang="tr-TR" dirty="0"/>
          </a:p>
        </p:txBody>
      </p:sp>
      <p:sp>
        <p:nvSpPr>
          <p:cNvPr id="3" name="2 İçerik Yer Tutucusu"/>
          <p:cNvSpPr>
            <a:spLocks noGrp="1"/>
          </p:cNvSpPr>
          <p:nvPr>
            <p:ph idx="1"/>
          </p:nvPr>
        </p:nvSpPr>
        <p:spPr/>
        <p:txBody>
          <a:bodyPr/>
          <a:lstStyle/>
          <a:p>
            <a:r>
              <a:rPr lang="tr-TR" dirty="0"/>
              <a:t>Yazılım kalite faktörlerinin anlaşılması</a:t>
            </a:r>
          </a:p>
          <a:p>
            <a:r>
              <a:rPr lang="tr-TR" dirty="0"/>
              <a:t>Yazılım Kalite faktörleri Modelinin incelenmesi</a:t>
            </a:r>
          </a:p>
          <a:p>
            <a:r>
              <a:rPr lang="tr-TR" dirty="0"/>
              <a:t>Kalite Sağlama Aktivitelerini Özetleme</a:t>
            </a:r>
          </a:p>
          <a:p>
            <a:r>
              <a:rPr lang="tr-TR" dirty="0"/>
              <a:t>Kalite Maliyet Modellerini anlama</a:t>
            </a:r>
          </a:p>
          <a:p>
            <a:r>
              <a:rPr lang="tr-TR" dirty="0"/>
              <a:t>Geçerleme ve Doğrulamanın Yazılım Kalitesindeki yerini tanımlama </a:t>
            </a:r>
          </a:p>
          <a:p>
            <a:endParaRPr lang="tr-TR"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dirty="0"/>
              <a:t>Yazılım Kalite Özellikleri</a:t>
            </a:r>
          </a:p>
        </p:txBody>
      </p:sp>
      <p:sp>
        <p:nvSpPr>
          <p:cNvPr id="3" name="2 İçerik Yer Tutucusu"/>
          <p:cNvSpPr>
            <a:spLocks noGrp="1"/>
          </p:cNvSpPr>
          <p:nvPr>
            <p:ph idx="1"/>
          </p:nvPr>
        </p:nvSpPr>
        <p:spPr/>
        <p:txBody>
          <a:bodyPr/>
          <a:lstStyle/>
          <a:p>
            <a:pPr>
              <a:buNone/>
            </a:pPr>
            <a:endParaRPr lang="tr-TR" dirty="0"/>
          </a:p>
          <a:p>
            <a:r>
              <a:rPr lang="tr-TR" dirty="0"/>
              <a:t>Kaliteli yazılım; önceden belirlenmiş olan işlevsel gereksinimlere, yazılım geliştirme standartlarına uygun ve kabul edilebilir hata düzeyinde bir yazılımdır.</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19 Grup"/>
          <p:cNvGrpSpPr>
            <a:grpSpLocks noGrp="1"/>
          </p:cNvGrpSpPr>
          <p:nvPr/>
        </p:nvGrpSpPr>
        <p:grpSpPr bwMode="auto">
          <a:xfrm>
            <a:off x="706582" y="1600200"/>
            <a:ext cx="7813963" cy="4352903"/>
            <a:chOff x="571472" y="2428868"/>
            <a:chExt cx="6715172" cy="3497781"/>
          </a:xfrm>
        </p:grpSpPr>
        <p:sp>
          <p:nvSpPr>
            <p:cNvPr id="5" name="8 İkizkenar Üçgen"/>
            <p:cNvSpPr>
              <a:spLocks noChangeArrowheads="1"/>
            </p:cNvSpPr>
            <p:nvPr/>
          </p:nvSpPr>
          <p:spPr bwMode="auto">
            <a:xfrm>
              <a:off x="857224" y="2714620"/>
              <a:ext cx="6072230" cy="1785950"/>
            </a:xfrm>
            <a:prstGeom prst="triangle">
              <a:avLst>
                <a:gd name="adj" fmla="val 50000"/>
              </a:avLst>
            </a:prstGeom>
            <a:solidFill>
              <a:schemeClr val="accent1">
                <a:alpha val="43921"/>
              </a:schemeClr>
            </a:solidFill>
            <a:ln w="6350" algn="ctr">
              <a:solidFill>
                <a:schemeClr val="tx1"/>
              </a:solidFill>
              <a:round/>
              <a:headEnd/>
              <a:tailEnd/>
            </a:ln>
          </p:spPr>
          <p:txBody>
            <a:bodyPr/>
            <a:lstStyle/>
            <a:p>
              <a:endParaRPr lang="tr-TR"/>
            </a:p>
          </p:txBody>
        </p:sp>
        <p:sp>
          <p:nvSpPr>
            <p:cNvPr id="6" name="10 Metin kutusu"/>
            <p:cNvSpPr txBox="1">
              <a:spLocks noChangeArrowheads="1"/>
            </p:cNvSpPr>
            <p:nvPr/>
          </p:nvSpPr>
          <p:spPr bwMode="auto">
            <a:xfrm>
              <a:off x="1357290" y="2428868"/>
              <a:ext cx="1714512" cy="760208"/>
            </a:xfrm>
            <a:prstGeom prst="rect">
              <a:avLst/>
            </a:prstGeom>
            <a:noFill/>
            <a:ln w="9525">
              <a:noFill/>
              <a:miter lim="800000"/>
              <a:headEnd/>
              <a:tailEnd/>
            </a:ln>
          </p:spPr>
          <p:txBody>
            <a:bodyPr>
              <a:spAutoFit/>
            </a:bodyPr>
            <a:lstStyle/>
            <a:p>
              <a:pPr algn="l"/>
              <a:r>
                <a:rPr lang="tr-TR" sz="1400"/>
                <a:t>Bakım Yapılabilirlik</a:t>
              </a:r>
            </a:p>
            <a:p>
              <a:pPr algn="l"/>
              <a:r>
                <a:rPr lang="tr-TR" sz="1400"/>
                <a:t>Esneklik</a:t>
              </a:r>
            </a:p>
            <a:p>
              <a:pPr algn="l"/>
              <a:r>
                <a:rPr lang="tr-TR" sz="1400"/>
                <a:t>Testedilebilirlik</a:t>
              </a:r>
            </a:p>
          </p:txBody>
        </p:sp>
        <p:sp>
          <p:nvSpPr>
            <p:cNvPr id="7" name="12 Metin kutusu"/>
            <p:cNvSpPr txBox="1">
              <a:spLocks noChangeArrowheads="1"/>
            </p:cNvSpPr>
            <p:nvPr/>
          </p:nvSpPr>
          <p:spPr bwMode="auto">
            <a:xfrm>
              <a:off x="4286248" y="3429000"/>
              <a:ext cx="2071702" cy="286232"/>
            </a:xfrm>
            <a:prstGeom prst="rect">
              <a:avLst/>
            </a:prstGeom>
            <a:noFill/>
            <a:ln w="9525">
              <a:noFill/>
              <a:miter lim="800000"/>
              <a:headEnd/>
              <a:tailEnd/>
            </a:ln>
          </p:spPr>
          <p:txBody>
            <a:bodyPr>
              <a:spAutoFit/>
            </a:bodyPr>
            <a:lstStyle/>
            <a:p>
              <a:r>
                <a:rPr lang="tr-TR" sz="1400"/>
                <a:t>ÜRÜN GEÇİŞİ</a:t>
              </a:r>
            </a:p>
          </p:txBody>
        </p:sp>
        <p:sp>
          <p:nvSpPr>
            <p:cNvPr id="8" name="14 Metin kutusu"/>
            <p:cNvSpPr txBox="1">
              <a:spLocks noChangeArrowheads="1"/>
            </p:cNvSpPr>
            <p:nvPr/>
          </p:nvSpPr>
          <p:spPr bwMode="auto">
            <a:xfrm>
              <a:off x="2786050" y="4214818"/>
              <a:ext cx="2071702" cy="286232"/>
            </a:xfrm>
            <a:prstGeom prst="rect">
              <a:avLst/>
            </a:prstGeom>
            <a:noFill/>
            <a:ln w="9525">
              <a:noFill/>
              <a:miter lim="800000"/>
              <a:headEnd/>
              <a:tailEnd/>
            </a:ln>
          </p:spPr>
          <p:txBody>
            <a:bodyPr>
              <a:spAutoFit/>
            </a:bodyPr>
            <a:lstStyle/>
            <a:p>
              <a:r>
                <a:rPr lang="tr-TR" sz="1400"/>
                <a:t>ÜRÜN KULLANIMI</a:t>
              </a:r>
            </a:p>
          </p:txBody>
        </p:sp>
        <p:sp>
          <p:nvSpPr>
            <p:cNvPr id="9" name="15 Metin kutusu"/>
            <p:cNvSpPr txBox="1">
              <a:spLocks noChangeArrowheads="1"/>
            </p:cNvSpPr>
            <p:nvPr/>
          </p:nvSpPr>
          <p:spPr bwMode="auto">
            <a:xfrm>
              <a:off x="1376248" y="4702060"/>
              <a:ext cx="5009600" cy="247315"/>
            </a:xfrm>
            <a:prstGeom prst="rect">
              <a:avLst/>
            </a:prstGeom>
            <a:noFill/>
            <a:ln w="9525">
              <a:noFill/>
              <a:miter lim="800000"/>
              <a:headEnd/>
              <a:tailEnd/>
            </a:ln>
          </p:spPr>
          <p:txBody>
            <a:bodyPr wrap="square">
              <a:spAutoFit/>
            </a:bodyPr>
            <a:lstStyle/>
            <a:p>
              <a:r>
                <a:rPr lang="tr-TR" sz="1400" dirty="0"/>
                <a:t>Doğruluk    Güvenilirlik   Kullanışlılık      Bütünlük   Etkinlik</a:t>
              </a:r>
            </a:p>
          </p:txBody>
        </p:sp>
        <p:sp>
          <p:nvSpPr>
            <p:cNvPr id="10" name="16 Metin kutusu"/>
            <p:cNvSpPr txBox="1">
              <a:spLocks noChangeArrowheads="1"/>
            </p:cNvSpPr>
            <p:nvPr/>
          </p:nvSpPr>
          <p:spPr bwMode="auto">
            <a:xfrm>
              <a:off x="1214414" y="3429000"/>
              <a:ext cx="2071702" cy="286232"/>
            </a:xfrm>
            <a:prstGeom prst="rect">
              <a:avLst/>
            </a:prstGeom>
            <a:noFill/>
            <a:ln w="9525">
              <a:noFill/>
              <a:miter lim="800000"/>
              <a:headEnd/>
              <a:tailEnd/>
            </a:ln>
          </p:spPr>
          <p:txBody>
            <a:bodyPr>
              <a:spAutoFit/>
            </a:bodyPr>
            <a:lstStyle/>
            <a:p>
              <a:r>
                <a:rPr lang="tr-TR" sz="1400"/>
                <a:t>ÜRÜN DEĞİŞİKLİK</a:t>
              </a:r>
            </a:p>
          </p:txBody>
        </p:sp>
        <p:sp>
          <p:nvSpPr>
            <p:cNvPr id="11" name="17 Metin kutusu"/>
            <p:cNvSpPr txBox="1">
              <a:spLocks noChangeArrowheads="1"/>
            </p:cNvSpPr>
            <p:nvPr/>
          </p:nvSpPr>
          <p:spPr bwMode="auto">
            <a:xfrm>
              <a:off x="5143504" y="2500306"/>
              <a:ext cx="2143140" cy="760208"/>
            </a:xfrm>
            <a:prstGeom prst="rect">
              <a:avLst/>
            </a:prstGeom>
            <a:noFill/>
            <a:ln w="9525">
              <a:noFill/>
              <a:miter lim="800000"/>
              <a:headEnd/>
              <a:tailEnd/>
            </a:ln>
          </p:spPr>
          <p:txBody>
            <a:bodyPr>
              <a:spAutoFit/>
            </a:bodyPr>
            <a:lstStyle/>
            <a:p>
              <a:pPr algn="l"/>
              <a:r>
                <a:rPr lang="tr-TR" sz="1400" dirty="0"/>
                <a:t>Taşınabilirlik</a:t>
              </a:r>
            </a:p>
            <a:p>
              <a:pPr algn="l"/>
              <a:r>
                <a:rPr lang="tr-TR" sz="1400" dirty="0"/>
                <a:t>Yeniden  Kullanılabilirlik</a:t>
              </a:r>
            </a:p>
            <a:p>
              <a:pPr algn="l"/>
              <a:r>
                <a:rPr lang="tr-TR" sz="1400" dirty="0"/>
                <a:t>Birlikte çalışabilirlik</a:t>
              </a:r>
            </a:p>
          </p:txBody>
        </p:sp>
        <p:sp>
          <p:nvSpPr>
            <p:cNvPr id="12" name="18 Metin kutusu"/>
            <p:cNvSpPr txBox="1">
              <a:spLocks noChangeArrowheads="1"/>
            </p:cNvSpPr>
            <p:nvPr/>
          </p:nvSpPr>
          <p:spPr bwMode="auto">
            <a:xfrm>
              <a:off x="571472" y="5357826"/>
              <a:ext cx="4488324" cy="568823"/>
            </a:xfrm>
            <a:prstGeom prst="rect">
              <a:avLst/>
            </a:prstGeom>
            <a:noFill/>
            <a:ln w="9525">
              <a:noFill/>
              <a:miter lim="800000"/>
              <a:headEnd/>
              <a:tailEnd/>
            </a:ln>
          </p:spPr>
          <p:txBody>
            <a:bodyPr wrap="square">
              <a:spAutoFit/>
            </a:bodyPr>
            <a:lstStyle/>
            <a:p>
              <a:r>
                <a:rPr lang="tr-TR" sz="2000" dirty="0"/>
                <a:t>Şekil 1.1:   </a:t>
              </a:r>
              <a:r>
                <a:rPr lang="tr-TR" sz="2000" dirty="0" err="1"/>
                <a:t>Mc</a:t>
              </a:r>
              <a:r>
                <a:rPr lang="tr-TR" sz="2000" dirty="0"/>
                <a:t> </a:t>
              </a:r>
              <a:r>
                <a:rPr lang="tr-TR" sz="2000" dirty="0" err="1"/>
                <a:t>Call</a:t>
              </a:r>
              <a:r>
                <a:rPr lang="tr-TR" sz="2000" dirty="0"/>
                <a:t> Kalite Üçgeni</a:t>
              </a:r>
            </a:p>
            <a:p>
              <a:r>
                <a:rPr lang="tr-TR" sz="2000" dirty="0"/>
                <a:t> </a:t>
              </a:r>
            </a:p>
          </p:txBody>
        </p:sp>
      </p:grpSp>
      <p:sp>
        <p:nvSpPr>
          <p:cNvPr id="31" name="18 Metin kutusu"/>
          <p:cNvSpPr txBox="1">
            <a:spLocks noGrp="1" noChangeArrowheads="1"/>
          </p:cNvSpPr>
          <p:nvPr>
            <p:ph type="title"/>
          </p:nvPr>
        </p:nvSpPr>
        <p:spPr bwMode="auto">
          <a:xfrm>
            <a:off x="457200" y="274638"/>
            <a:ext cx="8229600" cy="707886"/>
          </a:xfrm>
          <a:prstGeom prst="rect">
            <a:avLst/>
          </a:prstGeom>
          <a:noFill/>
          <a:ln w="9525">
            <a:noFill/>
            <a:miter lim="800000"/>
            <a:headEnd/>
            <a:tailEnd/>
          </a:ln>
        </p:spPr>
        <p:txBody>
          <a:bodyPr wrap="square">
            <a:spAutoFit/>
          </a:bodyPr>
          <a:lstStyle/>
          <a:p>
            <a:r>
              <a:rPr lang="tr-TR" sz="2000" dirty="0"/>
              <a:t>Şekil 2.1:   Yazılım Kalite Faktörleri</a:t>
            </a:r>
          </a:p>
          <a:p>
            <a:r>
              <a:rPr lang="tr-TR" sz="2000" dirty="0"/>
              <a:t> </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dirty="0"/>
              <a:t>Yazılım Kalite Özellikleri  (1)</a:t>
            </a:r>
          </a:p>
        </p:txBody>
      </p:sp>
      <p:sp>
        <p:nvSpPr>
          <p:cNvPr id="3" name="2 İçerik Yer Tutucusu"/>
          <p:cNvSpPr>
            <a:spLocks noGrp="1"/>
          </p:cNvSpPr>
          <p:nvPr>
            <p:ph idx="1"/>
          </p:nvPr>
        </p:nvSpPr>
        <p:spPr/>
        <p:txBody>
          <a:bodyPr>
            <a:normAutofit fontScale="77500" lnSpcReduction="20000"/>
          </a:bodyPr>
          <a:lstStyle/>
          <a:p>
            <a:r>
              <a:rPr lang="tr-TR" dirty="0"/>
              <a:t>Doğruluk </a:t>
            </a:r>
            <a:r>
              <a:rPr lang="tr-TR" i="1" dirty="0"/>
              <a:t>(</a:t>
            </a:r>
            <a:r>
              <a:rPr lang="tr-TR" i="1" dirty="0" err="1"/>
              <a:t>correctness</a:t>
            </a:r>
            <a:r>
              <a:rPr lang="tr-TR" i="1" dirty="0"/>
              <a:t>)</a:t>
            </a:r>
            <a:r>
              <a:rPr lang="tr-TR" dirty="0"/>
              <a:t>: </a:t>
            </a:r>
            <a:r>
              <a:rPr lang="tr-TR" dirty="0" err="1"/>
              <a:t>Spesifikasyonlara</a:t>
            </a:r>
            <a:r>
              <a:rPr lang="tr-TR" dirty="0"/>
              <a:t> uygunluk ve müşteri isteklerini karşılama derecesi</a:t>
            </a:r>
          </a:p>
          <a:p>
            <a:r>
              <a:rPr lang="tr-TR" dirty="0"/>
              <a:t>Güvenirlik</a:t>
            </a:r>
            <a:r>
              <a:rPr lang="tr-TR" i="1" dirty="0"/>
              <a:t>(</a:t>
            </a:r>
            <a:r>
              <a:rPr lang="tr-TR" i="1" dirty="0" err="1"/>
              <a:t>reliability</a:t>
            </a:r>
            <a:r>
              <a:rPr lang="tr-TR" i="1" dirty="0"/>
              <a:t>)</a:t>
            </a:r>
            <a:r>
              <a:rPr lang="tr-TR" dirty="0"/>
              <a:t>: Tasarlanan işlevleri istenilen duyarlıkta yerine getirme olanağı</a:t>
            </a:r>
          </a:p>
          <a:p>
            <a:r>
              <a:rPr lang="tr-TR" dirty="0"/>
              <a:t>Verimlilik </a:t>
            </a:r>
            <a:r>
              <a:rPr lang="tr-TR" i="1" dirty="0"/>
              <a:t>(</a:t>
            </a:r>
            <a:r>
              <a:rPr lang="tr-TR" i="1" dirty="0" err="1"/>
              <a:t>efficiency</a:t>
            </a:r>
            <a:r>
              <a:rPr lang="tr-TR" i="1" dirty="0"/>
              <a:t>)</a:t>
            </a:r>
            <a:r>
              <a:rPr lang="tr-TR" dirty="0"/>
              <a:t>: Programın işlevlerini yerine getirebilmesi için gerekli bilgi işlem kaynaklarının (algoritmanın gerektirdiği bellek miktarı, işlem süresi)  ve kodlamanın gideridir.  Bir yazılım sistemi eğer maliyeti düşükse de etkindir. </a:t>
            </a:r>
          </a:p>
          <a:p>
            <a:r>
              <a:rPr lang="tr-TR" dirty="0"/>
              <a:t>Güvenlik </a:t>
            </a:r>
            <a:r>
              <a:rPr lang="tr-TR" i="1" dirty="0"/>
              <a:t>(</a:t>
            </a:r>
            <a:r>
              <a:rPr lang="tr-TR" i="1" dirty="0" err="1"/>
              <a:t>security</a:t>
            </a:r>
            <a:r>
              <a:rPr lang="tr-TR" i="1" dirty="0"/>
              <a:t>)</a:t>
            </a:r>
            <a:r>
              <a:rPr lang="tr-TR" dirty="0"/>
              <a:t>: Yetkisiz kişilerin yazılıma ve veriye girişini önleme olanağı, </a:t>
            </a:r>
          </a:p>
          <a:p>
            <a:r>
              <a:rPr lang="tr-TR" dirty="0"/>
              <a:t>Kullanışlılık </a:t>
            </a:r>
            <a:r>
              <a:rPr lang="tr-TR" i="1" dirty="0"/>
              <a:t>(</a:t>
            </a:r>
            <a:r>
              <a:rPr lang="tr-TR" i="1" dirty="0" err="1"/>
              <a:t>usability</a:t>
            </a:r>
            <a:r>
              <a:rPr lang="tr-TR" i="1" dirty="0"/>
              <a:t>)</a:t>
            </a:r>
            <a:r>
              <a:rPr lang="tr-TR" dirty="0"/>
              <a:t>  : Öğrenme, işletme , girdi hazırlama ve çıktı yorumlamada kolaylık derecesi</a:t>
            </a:r>
          </a:p>
          <a:p>
            <a:endParaRPr lang="tr-TR"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dirty="0"/>
              <a:t>Yazılım Kalite Özellikleri  (2)</a:t>
            </a:r>
          </a:p>
        </p:txBody>
      </p:sp>
      <p:sp>
        <p:nvSpPr>
          <p:cNvPr id="3" name="2 İçerik Yer Tutucusu"/>
          <p:cNvSpPr>
            <a:spLocks noGrp="1"/>
          </p:cNvSpPr>
          <p:nvPr>
            <p:ph idx="1"/>
          </p:nvPr>
        </p:nvSpPr>
        <p:spPr/>
        <p:txBody>
          <a:bodyPr>
            <a:normAutofit fontScale="85000" lnSpcReduction="10000"/>
          </a:bodyPr>
          <a:lstStyle/>
          <a:p>
            <a:r>
              <a:rPr lang="tr-TR" dirty="0"/>
              <a:t>Hata bulma Kolaylığı: Hatanın yerini bulma ve düzeltme olanağı</a:t>
            </a:r>
          </a:p>
          <a:p>
            <a:r>
              <a:rPr lang="tr-TR" dirty="0"/>
              <a:t>Esneklik </a:t>
            </a:r>
            <a:r>
              <a:rPr lang="tr-TR" i="1" dirty="0"/>
              <a:t>(</a:t>
            </a:r>
            <a:r>
              <a:rPr lang="tr-TR" i="1" dirty="0" err="1"/>
              <a:t>flexibility</a:t>
            </a:r>
            <a:r>
              <a:rPr lang="tr-TR" i="1" dirty="0"/>
              <a:t>)</a:t>
            </a:r>
            <a:r>
              <a:rPr lang="tr-TR" dirty="0"/>
              <a:t>: Yazılımda değişiklik yapma kolaylığı</a:t>
            </a:r>
          </a:p>
          <a:p>
            <a:r>
              <a:rPr lang="tr-TR" dirty="0"/>
              <a:t>Sınama Yapılabilirlik </a:t>
            </a:r>
            <a:r>
              <a:rPr lang="tr-TR" i="1" dirty="0"/>
              <a:t>(</a:t>
            </a:r>
            <a:r>
              <a:rPr lang="tr-TR" i="1" dirty="0" err="1"/>
              <a:t>testability</a:t>
            </a:r>
            <a:r>
              <a:rPr lang="tr-TR" i="1" dirty="0"/>
              <a:t>)</a:t>
            </a:r>
            <a:r>
              <a:rPr lang="tr-TR" dirty="0"/>
              <a:t>: Yazılımım doğruluğunu sınanmada kolaylık</a:t>
            </a:r>
          </a:p>
          <a:p>
            <a:r>
              <a:rPr lang="tr-TR" dirty="0"/>
              <a:t>Taşınabilirlik </a:t>
            </a:r>
            <a:r>
              <a:rPr lang="tr-TR" i="1" dirty="0"/>
              <a:t>(</a:t>
            </a:r>
            <a:r>
              <a:rPr lang="tr-TR" i="1" dirty="0" err="1"/>
              <a:t>portability</a:t>
            </a:r>
            <a:r>
              <a:rPr lang="tr-TR" i="1" dirty="0"/>
              <a:t>)</a:t>
            </a:r>
            <a:r>
              <a:rPr lang="tr-TR" dirty="0"/>
              <a:t>: Yazılımın farklı donanımlarda ve işletim yazılımı üzerinde kullanılma olanağı, Eğer bir yazılım sistemi başka bir donanım veya yazılım ortamına düşük maliyetle tanışabiliyorsa taşınabilirlik özelliği vardır</a:t>
            </a:r>
          </a:p>
          <a:p>
            <a:endParaRPr lang="tr-TR"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dirty="0"/>
              <a:t>Yazılım Kalite Özellikleri  (3)</a:t>
            </a:r>
          </a:p>
        </p:txBody>
      </p:sp>
      <p:sp>
        <p:nvSpPr>
          <p:cNvPr id="3" name="2 İçerik Yer Tutucusu"/>
          <p:cNvSpPr>
            <a:spLocks noGrp="1"/>
          </p:cNvSpPr>
          <p:nvPr>
            <p:ph idx="1"/>
          </p:nvPr>
        </p:nvSpPr>
        <p:spPr/>
        <p:txBody>
          <a:bodyPr>
            <a:normAutofit/>
          </a:bodyPr>
          <a:lstStyle/>
          <a:p>
            <a:r>
              <a:rPr lang="tr-TR" dirty="0"/>
              <a:t>Yeniden kullanılabilirlik </a:t>
            </a:r>
            <a:r>
              <a:rPr lang="tr-TR" i="1" dirty="0"/>
              <a:t>(</a:t>
            </a:r>
            <a:r>
              <a:rPr lang="tr-TR" i="1" dirty="0" err="1"/>
              <a:t>reusability</a:t>
            </a:r>
            <a:r>
              <a:rPr lang="tr-TR" i="1" dirty="0"/>
              <a:t>)</a:t>
            </a:r>
            <a:r>
              <a:rPr lang="tr-TR" dirty="0"/>
              <a:t>: Yazılımın tümünün veya bir bölümünün başka bir uygulamada kullanılma olanağı</a:t>
            </a:r>
          </a:p>
          <a:p>
            <a:r>
              <a:rPr lang="tr-TR" dirty="0"/>
              <a:t>Bağlanabilirlik</a:t>
            </a:r>
            <a:r>
              <a:rPr lang="tr-TR" i="1" dirty="0"/>
              <a:t>(</a:t>
            </a:r>
            <a:r>
              <a:rPr lang="tr-TR" i="1" dirty="0" err="1"/>
              <a:t>interoperability</a:t>
            </a:r>
            <a:r>
              <a:rPr lang="tr-TR" i="1" dirty="0"/>
              <a:t>)</a:t>
            </a:r>
            <a:r>
              <a:rPr lang="tr-TR" dirty="0"/>
              <a:t>: Bir sistemin diğerine bağlanabilme olanağı</a:t>
            </a:r>
          </a:p>
          <a:p>
            <a:endParaRPr lang="tr-TR" dirty="0"/>
          </a:p>
          <a:p>
            <a:endParaRPr lang="tr-TR"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dirty="0" err="1"/>
              <a:t>Mc</a:t>
            </a:r>
            <a:r>
              <a:rPr lang="tr-TR" dirty="0"/>
              <a:t> </a:t>
            </a:r>
            <a:r>
              <a:rPr lang="tr-TR" dirty="0" err="1"/>
              <a:t>Call</a:t>
            </a:r>
            <a:r>
              <a:rPr lang="tr-TR" dirty="0"/>
              <a:t> Yazılım Kalite Modeli</a:t>
            </a:r>
          </a:p>
        </p:txBody>
      </p:sp>
      <p:sp>
        <p:nvSpPr>
          <p:cNvPr id="3" name="2 İçerik Yer Tutucusu"/>
          <p:cNvSpPr>
            <a:spLocks noGrp="1"/>
          </p:cNvSpPr>
          <p:nvPr>
            <p:ph idx="1"/>
          </p:nvPr>
        </p:nvSpPr>
        <p:spPr/>
        <p:txBody>
          <a:bodyPr>
            <a:normAutofit/>
          </a:bodyPr>
          <a:lstStyle/>
          <a:p>
            <a:pPr>
              <a:buNone/>
            </a:pPr>
            <a:r>
              <a:rPr lang="tr-TR" dirty="0"/>
              <a:t>Yazılım kalite faktörleri (F</a:t>
            </a:r>
            <a:r>
              <a:rPr lang="tr-TR" baseline="-25000" dirty="0"/>
              <a:t>i</a:t>
            </a:r>
            <a:r>
              <a:rPr lang="tr-TR" dirty="0"/>
              <a:t>) doğrudan ölçülmeyip, ancak bazı özelliklere (</a:t>
            </a:r>
            <a:r>
              <a:rPr lang="tr-TR" dirty="0" err="1"/>
              <a:t>m</a:t>
            </a:r>
            <a:r>
              <a:rPr lang="tr-TR" baseline="-25000" dirty="0" err="1"/>
              <a:t>j</a:t>
            </a:r>
            <a:r>
              <a:rPr lang="tr-TR" dirty="0"/>
              <a:t>) bağlı birer doğrusal regresyon denklemi;</a:t>
            </a:r>
          </a:p>
          <a:p>
            <a:pPr>
              <a:buNone/>
            </a:pPr>
            <a:r>
              <a:rPr lang="tr-TR" b="1" dirty="0"/>
              <a:t>F</a:t>
            </a:r>
            <a:r>
              <a:rPr lang="tr-TR" b="1" baseline="-25000" dirty="0"/>
              <a:t>i</a:t>
            </a:r>
            <a:r>
              <a:rPr lang="tr-TR" b="1" dirty="0"/>
              <a:t> = c</a:t>
            </a:r>
            <a:r>
              <a:rPr lang="tr-TR" b="1" baseline="-25000" dirty="0"/>
              <a:t>1</a:t>
            </a:r>
            <a:r>
              <a:rPr lang="tr-TR" b="1" dirty="0"/>
              <a:t>m</a:t>
            </a:r>
            <a:r>
              <a:rPr lang="tr-TR" b="1" baseline="-25000" dirty="0"/>
              <a:t>1</a:t>
            </a:r>
            <a:r>
              <a:rPr lang="tr-TR" b="1" dirty="0"/>
              <a:t> + c</a:t>
            </a:r>
            <a:r>
              <a:rPr lang="tr-TR" b="1" baseline="-25000" dirty="0"/>
              <a:t>2</a:t>
            </a:r>
            <a:r>
              <a:rPr lang="tr-TR" b="1" dirty="0"/>
              <a:t>m</a:t>
            </a:r>
            <a:r>
              <a:rPr lang="tr-TR" b="1" baseline="-25000" dirty="0"/>
              <a:t>2</a:t>
            </a:r>
            <a:r>
              <a:rPr lang="tr-TR" b="1" dirty="0"/>
              <a:t> + c</a:t>
            </a:r>
            <a:r>
              <a:rPr lang="tr-TR" b="1" baseline="-25000" dirty="0"/>
              <a:t>3</a:t>
            </a:r>
            <a:r>
              <a:rPr lang="tr-TR" b="1" dirty="0"/>
              <a:t>m</a:t>
            </a:r>
            <a:r>
              <a:rPr lang="tr-TR" b="1" baseline="-25000" dirty="0"/>
              <a:t>3</a:t>
            </a:r>
            <a:r>
              <a:rPr lang="tr-TR" dirty="0"/>
              <a:t>  </a:t>
            </a:r>
          </a:p>
          <a:p>
            <a:pPr>
              <a:buNone/>
            </a:pPr>
            <a:endParaRPr lang="tr-TR" dirty="0"/>
          </a:p>
          <a:p>
            <a:pPr>
              <a:buNone/>
            </a:pPr>
            <a:r>
              <a:rPr lang="tr-TR" dirty="0"/>
              <a:t>biçiminde ya da faktör analizi (</a:t>
            </a:r>
            <a:r>
              <a:rPr lang="tr-TR" dirty="0" err="1"/>
              <a:t>diskriminant</a:t>
            </a:r>
            <a:r>
              <a:rPr lang="tr-TR" dirty="0"/>
              <a:t> fonksiyonu) ile kestirilebilir (Şekil 2.2).</a:t>
            </a:r>
          </a:p>
          <a:p>
            <a:endParaRPr lang="tr-TR"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a:bodyPr>
          <a:lstStyle/>
          <a:p>
            <a:r>
              <a:rPr lang="tr-TR" sz="2000" dirty="0"/>
              <a:t>Şekil 2.2:   </a:t>
            </a:r>
            <a:r>
              <a:rPr lang="tr-TR" sz="2000" dirty="0" err="1"/>
              <a:t>Mc</a:t>
            </a:r>
            <a:r>
              <a:rPr lang="tr-TR" sz="2000" dirty="0"/>
              <a:t> </a:t>
            </a:r>
            <a:r>
              <a:rPr lang="tr-TR" sz="2000" dirty="0" err="1"/>
              <a:t>Call</a:t>
            </a:r>
            <a:r>
              <a:rPr lang="tr-TR" sz="2000" dirty="0"/>
              <a:t> Kalite Modeli</a:t>
            </a:r>
          </a:p>
        </p:txBody>
      </p:sp>
      <p:grpSp>
        <p:nvGrpSpPr>
          <p:cNvPr id="3" name="Group 3"/>
          <p:cNvGrpSpPr>
            <a:grpSpLocks noGrp="1"/>
          </p:cNvGrpSpPr>
          <p:nvPr/>
        </p:nvGrpSpPr>
        <p:grpSpPr bwMode="auto">
          <a:xfrm>
            <a:off x="457200" y="1600200"/>
            <a:ext cx="8229600" cy="4525963"/>
            <a:chOff x="226" y="62"/>
            <a:chExt cx="5287" cy="3744"/>
          </a:xfrm>
        </p:grpSpPr>
        <p:sp>
          <p:nvSpPr>
            <p:cNvPr id="5" name="Text Box 4"/>
            <p:cNvSpPr txBox="1">
              <a:spLocks noChangeAspect="1" noChangeArrowheads="1"/>
            </p:cNvSpPr>
            <p:nvPr/>
          </p:nvSpPr>
          <p:spPr bwMode="auto">
            <a:xfrm>
              <a:off x="244" y="82"/>
              <a:ext cx="1809" cy="219"/>
            </a:xfrm>
            <a:prstGeom prst="rect">
              <a:avLst/>
            </a:prstGeom>
            <a:noFill/>
            <a:ln w="19050" cap="sq" algn="ctr">
              <a:solidFill>
                <a:srgbClr val="808080"/>
              </a:solidFill>
              <a:miter lim="800000"/>
              <a:headEnd/>
              <a:tailEnd/>
            </a:ln>
          </p:spPr>
          <p:txBody>
            <a:bodyPr wrap="none" anchor="ctr"/>
            <a:lstStyle/>
            <a:p>
              <a:pPr algn="l" eaLnBrk="0" hangingPunct="0">
                <a:lnSpc>
                  <a:spcPct val="100000"/>
                </a:lnSpc>
                <a:spcBef>
                  <a:spcPct val="50000"/>
                </a:spcBef>
              </a:pPr>
              <a:r>
                <a:rPr lang="tr-TR" sz="2500">
                  <a:solidFill>
                    <a:schemeClr val="accent2"/>
                  </a:solidFill>
                </a:rPr>
                <a:t>Doğruluk</a:t>
              </a:r>
              <a:endParaRPr lang="en-US" sz="2500">
                <a:solidFill>
                  <a:schemeClr val="accent2"/>
                </a:solidFill>
              </a:endParaRPr>
            </a:p>
          </p:txBody>
        </p:sp>
        <p:sp>
          <p:nvSpPr>
            <p:cNvPr id="6" name="Text Box 5"/>
            <p:cNvSpPr txBox="1">
              <a:spLocks noChangeAspect="1" noChangeArrowheads="1"/>
            </p:cNvSpPr>
            <p:nvPr/>
          </p:nvSpPr>
          <p:spPr bwMode="auto">
            <a:xfrm>
              <a:off x="244" y="406"/>
              <a:ext cx="1809" cy="219"/>
            </a:xfrm>
            <a:prstGeom prst="rect">
              <a:avLst/>
            </a:prstGeom>
            <a:noFill/>
            <a:ln w="19050" cap="sq" algn="ctr">
              <a:solidFill>
                <a:srgbClr val="808080"/>
              </a:solidFill>
              <a:miter lim="800000"/>
              <a:headEnd/>
              <a:tailEnd/>
            </a:ln>
          </p:spPr>
          <p:txBody>
            <a:bodyPr wrap="none" anchor="ctr"/>
            <a:lstStyle/>
            <a:p>
              <a:pPr algn="l" eaLnBrk="0" hangingPunct="0">
                <a:lnSpc>
                  <a:spcPct val="100000"/>
                </a:lnSpc>
                <a:spcBef>
                  <a:spcPct val="50000"/>
                </a:spcBef>
              </a:pPr>
              <a:r>
                <a:rPr lang="tr-TR" sz="2500">
                  <a:solidFill>
                    <a:schemeClr val="accent2"/>
                  </a:solidFill>
                </a:rPr>
                <a:t>Güvenirlik</a:t>
              </a:r>
              <a:endParaRPr lang="en-US" sz="2500">
                <a:solidFill>
                  <a:schemeClr val="accent2"/>
                </a:solidFill>
              </a:endParaRPr>
            </a:p>
          </p:txBody>
        </p:sp>
        <p:sp>
          <p:nvSpPr>
            <p:cNvPr id="7" name="Text Box 6"/>
            <p:cNvSpPr txBox="1">
              <a:spLocks noChangeAspect="1" noChangeArrowheads="1"/>
            </p:cNvSpPr>
            <p:nvPr/>
          </p:nvSpPr>
          <p:spPr bwMode="auto">
            <a:xfrm>
              <a:off x="244" y="732"/>
              <a:ext cx="1809" cy="219"/>
            </a:xfrm>
            <a:prstGeom prst="rect">
              <a:avLst/>
            </a:prstGeom>
            <a:noFill/>
            <a:ln w="19050" cap="sq" algn="ctr">
              <a:solidFill>
                <a:srgbClr val="808080"/>
              </a:solidFill>
              <a:miter lim="800000"/>
              <a:headEnd/>
              <a:tailEnd/>
            </a:ln>
          </p:spPr>
          <p:txBody>
            <a:bodyPr anchor="ctr"/>
            <a:lstStyle/>
            <a:p>
              <a:pPr algn="l" eaLnBrk="0" hangingPunct="0">
                <a:lnSpc>
                  <a:spcPct val="100000"/>
                </a:lnSpc>
                <a:spcBef>
                  <a:spcPct val="50000"/>
                </a:spcBef>
              </a:pPr>
              <a:r>
                <a:rPr lang="tr-TR" sz="2500">
                  <a:solidFill>
                    <a:schemeClr val="accent2"/>
                  </a:solidFill>
                </a:rPr>
                <a:t>Etkinlik</a:t>
              </a:r>
              <a:endParaRPr lang="en-US" sz="2500">
                <a:solidFill>
                  <a:schemeClr val="accent2"/>
                </a:solidFill>
              </a:endParaRPr>
            </a:p>
          </p:txBody>
        </p:sp>
        <p:sp>
          <p:nvSpPr>
            <p:cNvPr id="8" name="Text Box 7"/>
            <p:cNvSpPr txBox="1">
              <a:spLocks noChangeAspect="1" noChangeArrowheads="1"/>
            </p:cNvSpPr>
            <p:nvPr/>
          </p:nvSpPr>
          <p:spPr bwMode="auto">
            <a:xfrm>
              <a:off x="244" y="1050"/>
              <a:ext cx="1809" cy="219"/>
            </a:xfrm>
            <a:prstGeom prst="rect">
              <a:avLst/>
            </a:prstGeom>
            <a:noFill/>
            <a:ln w="19050" cap="sq" algn="ctr">
              <a:solidFill>
                <a:srgbClr val="808080"/>
              </a:solidFill>
              <a:miter lim="800000"/>
              <a:headEnd/>
              <a:tailEnd/>
            </a:ln>
          </p:spPr>
          <p:txBody>
            <a:bodyPr wrap="none" anchor="ctr"/>
            <a:lstStyle/>
            <a:p>
              <a:pPr algn="l" eaLnBrk="0" hangingPunct="0">
                <a:lnSpc>
                  <a:spcPct val="100000"/>
                </a:lnSpc>
                <a:spcBef>
                  <a:spcPct val="50000"/>
                </a:spcBef>
              </a:pPr>
              <a:r>
                <a:rPr lang="tr-TR" sz="2500">
                  <a:solidFill>
                    <a:schemeClr val="accent2"/>
                  </a:solidFill>
                </a:rPr>
                <a:t>Bütünlük</a:t>
              </a:r>
              <a:endParaRPr lang="en-US" sz="2500">
                <a:solidFill>
                  <a:schemeClr val="accent2"/>
                </a:solidFill>
              </a:endParaRPr>
            </a:p>
          </p:txBody>
        </p:sp>
        <p:sp>
          <p:nvSpPr>
            <p:cNvPr id="9" name="Text Box 8"/>
            <p:cNvSpPr txBox="1">
              <a:spLocks noChangeAspect="1" noChangeArrowheads="1"/>
            </p:cNvSpPr>
            <p:nvPr/>
          </p:nvSpPr>
          <p:spPr bwMode="auto">
            <a:xfrm>
              <a:off x="244" y="1373"/>
              <a:ext cx="1809" cy="219"/>
            </a:xfrm>
            <a:prstGeom prst="rect">
              <a:avLst/>
            </a:prstGeom>
            <a:noFill/>
            <a:ln w="19050" cap="sq" algn="ctr">
              <a:solidFill>
                <a:srgbClr val="808080"/>
              </a:solidFill>
              <a:miter lim="800000"/>
              <a:headEnd/>
              <a:tailEnd/>
            </a:ln>
          </p:spPr>
          <p:txBody>
            <a:bodyPr wrap="none" anchor="ctr"/>
            <a:lstStyle/>
            <a:p>
              <a:pPr algn="l" eaLnBrk="0" hangingPunct="0">
                <a:lnSpc>
                  <a:spcPct val="100000"/>
                </a:lnSpc>
                <a:spcBef>
                  <a:spcPct val="50000"/>
                </a:spcBef>
              </a:pPr>
              <a:r>
                <a:rPr lang="tr-TR" sz="2500">
                  <a:solidFill>
                    <a:schemeClr val="accent2"/>
                  </a:solidFill>
                </a:rPr>
                <a:t>Kullanılabilirlik</a:t>
              </a:r>
              <a:endParaRPr lang="en-US" sz="2500">
                <a:solidFill>
                  <a:schemeClr val="accent2"/>
                </a:solidFill>
              </a:endParaRPr>
            </a:p>
          </p:txBody>
        </p:sp>
        <p:sp>
          <p:nvSpPr>
            <p:cNvPr id="10" name="Text Box 9"/>
            <p:cNvSpPr txBox="1">
              <a:spLocks noChangeAspect="1" noChangeArrowheads="1"/>
            </p:cNvSpPr>
            <p:nvPr/>
          </p:nvSpPr>
          <p:spPr bwMode="auto">
            <a:xfrm>
              <a:off x="244" y="1694"/>
              <a:ext cx="1809" cy="219"/>
            </a:xfrm>
            <a:prstGeom prst="rect">
              <a:avLst/>
            </a:prstGeom>
            <a:noFill/>
            <a:ln w="19050" cap="sq" algn="ctr">
              <a:solidFill>
                <a:srgbClr val="808080"/>
              </a:solidFill>
              <a:miter lim="800000"/>
              <a:headEnd/>
              <a:tailEnd/>
            </a:ln>
          </p:spPr>
          <p:txBody>
            <a:bodyPr wrap="none" anchor="ctr"/>
            <a:lstStyle/>
            <a:p>
              <a:pPr algn="l" eaLnBrk="0" hangingPunct="0">
                <a:lnSpc>
                  <a:spcPct val="100000"/>
                </a:lnSpc>
                <a:spcBef>
                  <a:spcPct val="50000"/>
                </a:spcBef>
              </a:pPr>
              <a:r>
                <a:rPr lang="tr-TR" sz="2500">
                  <a:solidFill>
                    <a:schemeClr val="accent2"/>
                  </a:solidFill>
                </a:rPr>
                <a:t>Bakım Yapılabilirlik</a:t>
              </a:r>
              <a:endParaRPr lang="en-US" sz="2500">
                <a:solidFill>
                  <a:schemeClr val="accent2"/>
                </a:solidFill>
              </a:endParaRPr>
            </a:p>
          </p:txBody>
        </p:sp>
        <p:sp>
          <p:nvSpPr>
            <p:cNvPr id="11" name="Text Box 10"/>
            <p:cNvSpPr txBox="1">
              <a:spLocks noChangeAspect="1" noChangeArrowheads="1"/>
            </p:cNvSpPr>
            <p:nvPr/>
          </p:nvSpPr>
          <p:spPr bwMode="auto">
            <a:xfrm>
              <a:off x="226" y="2007"/>
              <a:ext cx="1815" cy="219"/>
            </a:xfrm>
            <a:prstGeom prst="rect">
              <a:avLst/>
            </a:prstGeom>
            <a:noFill/>
            <a:ln w="19050" cap="sq" algn="ctr">
              <a:solidFill>
                <a:srgbClr val="808080"/>
              </a:solidFill>
              <a:miter lim="800000"/>
              <a:headEnd/>
              <a:tailEnd/>
            </a:ln>
          </p:spPr>
          <p:txBody>
            <a:bodyPr wrap="none" anchor="ctr"/>
            <a:lstStyle/>
            <a:p>
              <a:pPr algn="l" eaLnBrk="0" hangingPunct="0">
                <a:lnSpc>
                  <a:spcPct val="100000"/>
                </a:lnSpc>
                <a:spcBef>
                  <a:spcPct val="50000"/>
                </a:spcBef>
              </a:pPr>
              <a:r>
                <a:rPr lang="en-US" sz="2500">
                  <a:solidFill>
                    <a:schemeClr val="accent2"/>
                  </a:solidFill>
                </a:rPr>
                <a:t>Test</a:t>
              </a:r>
              <a:r>
                <a:rPr lang="tr-TR" sz="2500">
                  <a:solidFill>
                    <a:schemeClr val="accent2"/>
                  </a:solidFill>
                </a:rPr>
                <a:t> edilebilirlik</a:t>
              </a:r>
              <a:endParaRPr lang="en-US" sz="2500">
                <a:solidFill>
                  <a:schemeClr val="accent2"/>
                </a:solidFill>
              </a:endParaRPr>
            </a:p>
          </p:txBody>
        </p:sp>
        <p:sp>
          <p:nvSpPr>
            <p:cNvPr id="12" name="Text Box 11"/>
            <p:cNvSpPr txBox="1">
              <a:spLocks noChangeAspect="1" noChangeArrowheads="1"/>
            </p:cNvSpPr>
            <p:nvPr/>
          </p:nvSpPr>
          <p:spPr bwMode="auto">
            <a:xfrm>
              <a:off x="244" y="2330"/>
              <a:ext cx="1809" cy="219"/>
            </a:xfrm>
            <a:prstGeom prst="rect">
              <a:avLst/>
            </a:prstGeom>
            <a:noFill/>
            <a:ln w="19050" cap="sq" algn="ctr">
              <a:solidFill>
                <a:srgbClr val="808080"/>
              </a:solidFill>
              <a:miter lim="800000"/>
              <a:headEnd/>
              <a:tailEnd/>
            </a:ln>
          </p:spPr>
          <p:txBody>
            <a:bodyPr wrap="none" anchor="ctr"/>
            <a:lstStyle/>
            <a:p>
              <a:pPr algn="l" eaLnBrk="0" hangingPunct="0">
                <a:lnSpc>
                  <a:spcPct val="100000"/>
                </a:lnSpc>
                <a:spcBef>
                  <a:spcPct val="50000"/>
                </a:spcBef>
              </a:pPr>
              <a:r>
                <a:rPr lang="tr-TR" sz="2500">
                  <a:solidFill>
                    <a:schemeClr val="accent2"/>
                  </a:solidFill>
                </a:rPr>
                <a:t>Esneklik</a:t>
              </a:r>
              <a:endParaRPr lang="en-US" sz="2500">
                <a:solidFill>
                  <a:schemeClr val="accent2"/>
                </a:solidFill>
              </a:endParaRPr>
            </a:p>
          </p:txBody>
        </p:sp>
        <p:sp>
          <p:nvSpPr>
            <p:cNvPr id="13" name="Text Box 12"/>
            <p:cNvSpPr txBox="1">
              <a:spLocks noChangeAspect="1" noChangeArrowheads="1"/>
            </p:cNvSpPr>
            <p:nvPr/>
          </p:nvSpPr>
          <p:spPr bwMode="auto">
            <a:xfrm>
              <a:off x="244" y="2644"/>
              <a:ext cx="1809" cy="218"/>
            </a:xfrm>
            <a:prstGeom prst="rect">
              <a:avLst/>
            </a:prstGeom>
            <a:noFill/>
            <a:ln w="19050" cap="sq" algn="ctr">
              <a:solidFill>
                <a:srgbClr val="808080"/>
              </a:solidFill>
              <a:miter lim="800000"/>
              <a:headEnd/>
              <a:tailEnd/>
            </a:ln>
          </p:spPr>
          <p:txBody>
            <a:bodyPr wrap="none" anchor="ctr"/>
            <a:lstStyle/>
            <a:p>
              <a:pPr algn="l" eaLnBrk="0" hangingPunct="0">
                <a:lnSpc>
                  <a:spcPct val="100000"/>
                </a:lnSpc>
                <a:spcBef>
                  <a:spcPct val="50000"/>
                </a:spcBef>
              </a:pPr>
              <a:r>
                <a:rPr lang="tr-TR" sz="2500">
                  <a:solidFill>
                    <a:schemeClr val="accent2"/>
                  </a:solidFill>
                </a:rPr>
                <a:t>Taşınabilirlik</a:t>
              </a:r>
              <a:endParaRPr lang="en-US" sz="2500">
                <a:solidFill>
                  <a:schemeClr val="accent2"/>
                </a:solidFill>
              </a:endParaRPr>
            </a:p>
          </p:txBody>
        </p:sp>
        <p:sp>
          <p:nvSpPr>
            <p:cNvPr id="14" name="Text Box 13"/>
            <p:cNvSpPr txBox="1">
              <a:spLocks noChangeAspect="1" noChangeArrowheads="1"/>
            </p:cNvSpPr>
            <p:nvPr/>
          </p:nvSpPr>
          <p:spPr bwMode="auto">
            <a:xfrm>
              <a:off x="244" y="2964"/>
              <a:ext cx="1809" cy="218"/>
            </a:xfrm>
            <a:prstGeom prst="rect">
              <a:avLst/>
            </a:prstGeom>
            <a:noFill/>
            <a:ln w="19050" cap="sq" algn="ctr">
              <a:solidFill>
                <a:srgbClr val="808080"/>
              </a:solidFill>
              <a:miter lim="800000"/>
              <a:headEnd/>
              <a:tailEnd/>
            </a:ln>
          </p:spPr>
          <p:txBody>
            <a:bodyPr wrap="none" anchor="ctr"/>
            <a:lstStyle/>
            <a:p>
              <a:pPr algn="l" eaLnBrk="0" hangingPunct="0">
                <a:lnSpc>
                  <a:spcPct val="100000"/>
                </a:lnSpc>
                <a:spcBef>
                  <a:spcPct val="50000"/>
                </a:spcBef>
              </a:pPr>
              <a:r>
                <a:rPr lang="tr-TR" sz="1500">
                  <a:solidFill>
                    <a:schemeClr val="accent2"/>
                  </a:solidFill>
                </a:rPr>
                <a:t>Yeniden kullanılabilirlik</a:t>
              </a:r>
              <a:endParaRPr lang="en-US" sz="1500">
                <a:solidFill>
                  <a:schemeClr val="accent2"/>
                </a:solidFill>
              </a:endParaRPr>
            </a:p>
          </p:txBody>
        </p:sp>
        <p:sp>
          <p:nvSpPr>
            <p:cNvPr id="15" name="Text Box 14"/>
            <p:cNvSpPr txBox="1">
              <a:spLocks noChangeAspect="1" noChangeArrowheads="1"/>
            </p:cNvSpPr>
            <p:nvPr/>
          </p:nvSpPr>
          <p:spPr bwMode="auto">
            <a:xfrm>
              <a:off x="244" y="3274"/>
              <a:ext cx="1809" cy="219"/>
            </a:xfrm>
            <a:prstGeom prst="rect">
              <a:avLst/>
            </a:prstGeom>
            <a:noFill/>
            <a:ln w="19050" cap="sq" algn="ctr">
              <a:solidFill>
                <a:srgbClr val="808080"/>
              </a:solidFill>
              <a:miter lim="800000"/>
              <a:headEnd/>
              <a:tailEnd/>
            </a:ln>
          </p:spPr>
          <p:txBody>
            <a:bodyPr wrap="none" anchor="ctr"/>
            <a:lstStyle/>
            <a:p>
              <a:pPr algn="l" eaLnBrk="0" hangingPunct="0">
                <a:lnSpc>
                  <a:spcPct val="100000"/>
                </a:lnSpc>
                <a:spcBef>
                  <a:spcPct val="50000"/>
                </a:spcBef>
              </a:pPr>
              <a:r>
                <a:rPr lang="tr-TR" sz="2500">
                  <a:solidFill>
                    <a:schemeClr val="accent2"/>
                  </a:solidFill>
                </a:rPr>
                <a:t>Birlikte çalışabilirlik</a:t>
              </a:r>
              <a:endParaRPr lang="en-US" sz="2500">
                <a:solidFill>
                  <a:schemeClr val="accent2"/>
                </a:solidFill>
              </a:endParaRPr>
            </a:p>
          </p:txBody>
        </p:sp>
        <p:sp>
          <p:nvSpPr>
            <p:cNvPr id="16" name="Text Box 15"/>
            <p:cNvSpPr txBox="1">
              <a:spLocks noChangeAspect="1" noChangeArrowheads="1"/>
            </p:cNvSpPr>
            <p:nvPr/>
          </p:nvSpPr>
          <p:spPr bwMode="auto">
            <a:xfrm>
              <a:off x="3704" y="62"/>
              <a:ext cx="1809" cy="139"/>
            </a:xfrm>
            <a:prstGeom prst="rect">
              <a:avLst/>
            </a:prstGeom>
            <a:noFill/>
            <a:ln w="19050" cap="sq" algn="ctr">
              <a:solidFill>
                <a:srgbClr val="808080"/>
              </a:solidFill>
              <a:miter lim="800000"/>
              <a:headEnd/>
              <a:tailEnd/>
            </a:ln>
          </p:spPr>
          <p:txBody>
            <a:bodyPr wrap="none" anchor="ctr"/>
            <a:lstStyle/>
            <a:p>
              <a:pPr algn="l" eaLnBrk="0" hangingPunct="0">
                <a:lnSpc>
                  <a:spcPct val="100000"/>
                </a:lnSpc>
                <a:spcBef>
                  <a:spcPct val="50000"/>
                </a:spcBef>
              </a:pPr>
              <a:r>
                <a:rPr lang="tr-TR" sz="1200">
                  <a:solidFill>
                    <a:schemeClr val="accent2"/>
                  </a:solidFill>
                </a:rPr>
                <a:t>İzlenebilirlik</a:t>
              </a:r>
              <a:endParaRPr lang="en-US" sz="1200">
                <a:solidFill>
                  <a:schemeClr val="accent2"/>
                </a:solidFill>
              </a:endParaRPr>
            </a:p>
          </p:txBody>
        </p:sp>
        <p:sp>
          <p:nvSpPr>
            <p:cNvPr id="17" name="Text Box 16"/>
            <p:cNvSpPr txBox="1">
              <a:spLocks noChangeAspect="1" noChangeArrowheads="1"/>
            </p:cNvSpPr>
            <p:nvPr/>
          </p:nvSpPr>
          <p:spPr bwMode="auto">
            <a:xfrm>
              <a:off x="3704" y="230"/>
              <a:ext cx="1809" cy="139"/>
            </a:xfrm>
            <a:prstGeom prst="rect">
              <a:avLst/>
            </a:prstGeom>
            <a:noFill/>
            <a:ln w="19050" cap="sq" algn="ctr">
              <a:solidFill>
                <a:srgbClr val="808080"/>
              </a:solidFill>
              <a:miter lim="800000"/>
              <a:headEnd/>
              <a:tailEnd/>
            </a:ln>
          </p:spPr>
          <p:txBody>
            <a:bodyPr wrap="none" anchor="ctr"/>
            <a:lstStyle/>
            <a:p>
              <a:pPr algn="l" eaLnBrk="0" hangingPunct="0">
                <a:lnSpc>
                  <a:spcPct val="100000"/>
                </a:lnSpc>
                <a:spcBef>
                  <a:spcPct val="50000"/>
                </a:spcBef>
              </a:pPr>
              <a:r>
                <a:rPr lang="tr-TR" sz="1200">
                  <a:solidFill>
                    <a:schemeClr val="accent2"/>
                  </a:solidFill>
                </a:rPr>
                <a:t>Tam olma</a:t>
              </a:r>
              <a:endParaRPr lang="en-US" sz="1200">
                <a:solidFill>
                  <a:schemeClr val="accent2"/>
                </a:solidFill>
              </a:endParaRPr>
            </a:p>
          </p:txBody>
        </p:sp>
        <p:sp>
          <p:nvSpPr>
            <p:cNvPr id="18" name="Text Box 17"/>
            <p:cNvSpPr txBox="1">
              <a:spLocks noChangeAspect="1" noChangeArrowheads="1"/>
            </p:cNvSpPr>
            <p:nvPr/>
          </p:nvSpPr>
          <p:spPr bwMode="auto">
            <a:xfrm>
              <a:off x="3704" y="410"/>
              <a:ext cx="1809" cy="139"/>
            </a:xfrm>
            <a:prstGeom prst="rect">
              <a:avLst/>
            </a:prstGeom>
            <a:noFill/>
            <a:ln w="19050" cap="sq" algn="ctr">
              <a:solidFill>
                <a:srgbClr val="808080"/>
              </a:solidFill>
              <a:miter lim="800000"/>
              <a:headEnd/>
              <a:tailEnd/>
            </a:ln>
          </p:spPr>
          <p:txBody>
            <a:bodyPr wrap="none" anchor="ctr"/>
            <a:lstStyle/>
            <a:p>
              <a:pPr algn="l" eaLnBrk="0" hangingPunct="0">
                <a:lnSpc>
                  <a:spcPct val="100000"/>
                </a:lnSpc>
                <a:spcBef>
                  <a:spcPct val="50000"/>
                </a:spcBef>
              </a:pPr>
              <a:r>
                <a:rPr lang="tr-TR" sz="1200">
                  <a:solidFill>
                    <a:schemeClr val="accent2"/>
                  </a:solidFill>
                </a:rPr>
                <a:t>Uyumluluk</a:t>
              </a:r>
              <a:endParaRPr lang="en-US" sz="1200">
                <a:solidFill>
                  <a:schemeClr val="accent2"/>
                </a:solidFill>
              </a:endParaRPr>
            </a:p>
          </p:txBody>
        </p:sp>
        <p:sp>
          <p:nvSpPr>
            <p:cNvPr id="19" name="Text Box 18"/>
            <p:cNvSpPr txBox="1">
              <a:spLocks noChangeAspect="1" noChangeArrowheads="1"/>
            </p:cNvSpPr>
            <p:nvPr/>
          </p:nvSpPr>
          <p:spPr bwMode="auto">
            <a:xfrm>
              <a:off x="3704" y="575"/>
              <a:ext cx="1809" cy="140"/>
            </a:xfrm>
            <a:prstGeom prst="rect">
              <a:avLst/>
            </a:prstGeom>
            <a:noFill/>
            <a:ln w="19050" cap="sq" algn="ctr">
              <a:solidFill>
                <a:srgbClr val="808080"/>
              </a:solidFill>
              <a:miter lim="800000"/>
              <a:headEnd/>
              <a:tailEnd/>
            </a:ln>
          </p:spPr>
          <p:txBody>
            <a:bodyPr wrap="none" anchor="ctr"/>
            <a:lstStyle/>
            <a:p>
              <a:pPr algn="l" eaLnBrk="0" hangingPunct="0">
                <a:lnSpc>
                  <a:spcPct val="100000"/>
                </a:lnSpc>
                <a:spcBef>
                  <a:spcPct val="50000"/>
                </a:spcBef>
              </a:pPr>
              <a:r>
                <a:rPr lang="tr-TR" sz="1200">
                  <a:solidFill>
                    <a:schemeClr val="accent2"/>
                  </a:solidFill>
                </a:rPr>
                <a:t>Doğruluk</a:t>
              </a:r>
              <a:endParaRPr lang="en-US" sz="1200">
                <a:solidFill>
                  <a:schemeClr val="accent2"/>
                </a:solidFill>
              </a:endParaRPr>
            </a:p>
          </p:txBody>
        </p:sp>
        <p:cxnSp>
          <p:nvCxnSpPr>
            <p:cNvPr id="20" name="AutoShape 19"/>
            <p:cNvCxnSpPr>
              <a:cxnSpLocks noChangeAspect="1" noChangeShapeType="1"/>
              <a:stCxn id="16" idx="1"/>
              <a:endCxn id="5" idx="3"/>
            </p:cNvCxnSpPr>
            <p:nvPr/>
          </p:nvCxnSpPr>
          <p:spPr bwMode="auto">
            <a:xfrm flipH="1">
              <a:off x="2059" y="132"/>
              <a:ext cx="1639" cy="60"/>
            </a:xfrm>
            <a:prstGeom prst="straightConnector1">
              <a:avLst/>
            </a:prstGeom>
            <a:noFill/>
            <a:ln w="31750" cap="sq">
              <a:solidFill>
                <a:srgbClr val="808080"/>
              </a:solidFill>
              <a:round/>
              <a:headEnd/>
              <a:tailEnd type="stealth" w="lg" len="lg"/>
            </a:ln>
          </p:spPr>
        </p:cxnSp>
        <p:cxnSp>
          <p:nvCxnSpPr>
            <p:cNvPr id="21" name="AutoShape 20"/>
            <p:cNvCxnSpPr>
              <a:cxnSpLocks noChangeAspect="1" noChangeShapeType="1"/>
              <a:stCxn id="17" idx="1"/>
              <a:endCxn id="5" idx="3"/>
            </p:cNvCxnSpPr>
            <p:nvPr/>
          </p:nvCxnSpPr>
          <p:spPr bwMode="auto">
            <a:xfrm flipH="1" flipV="1">
              <a:off x="2059" y="192"/>
              <a:ext cx="1639" cy="108"/>
            </a:xfrm>
            <a:prstGeom prst="straightConnector1">
              <a:avLst/>
            </a:prstGeom>
            <a:noFill/>
            <a:ln w="31750" cap="sq">
              <a:solidFill>
                <a:srgbClr val="808080"/>
              </a:solidFill>
              <a:round/>
              <a:headEnd/>
              <a:tailEnd type="stealth" w="lg" len="lg"/>
            </a:ln>
          </p:spPr>
        </p:cxnSp>
        <p:cxnSp>
          <p:nvCxnSpPr>
            <p:cNvPr id="22" name="AutoShape 21"/>
            <p:cNvCxnSpPr>
              <a:cxnSpLocks noChangeAspect="1" noChangeShapeType="1"/>
              <a:stCxn id="18" idx="1"/>
              <a:endCxn id="5" idx="3"/>
            </p:cNvCxnSpPr>
            <p:nvPr/>
          </p:nvCxnSpPr>
          <p:spPr bwMode="auto">
            <a:xfrm flipH="1" flipV="1">
              <a:off x="2059" y="192"/>
              <a:ext cx="1639" cy="288"/>
            </a:xfrm>
            <a:prstGeom prst="straightConnector1">
              <a:avLst/>
            </a:prstGeom>
            <a:noFill/>
            <a:ln w="31750" cap="sq">
              <a:solidFill>
                <a:srgbClr val="808080"/>
              </a:solidFill>
              <a:round/>
              <a:headEnd/>
              <a:tailEnd type="stealth" w="lg" len="lg"/>
            </a:ln>
          </p:spPr>
        </p:cxnSp>
        <p:cxnSp>
          <p:nvCxnSpPr>
            <p:cNvPr id="23" name="AutoShape 22"/>
            <p:cNvCxnSpPr>
              <a:cxnSpLocks noChangeAspect="1" noChangeShapeType="1"/>
              <a:stCxn id="19" idx="1"/>
              <a:endCxn id="6" idx="3"/>
            </p:cNvCxnSpPr>
            <p:nvPr/>
          </p:nvCxnSpPr>
          <p:spPr bwMode="auto">
            <a:xfrm flipH="1" flipV="1">
              <a:off x="2059" y="515"/>
              <a:ext cx="1639" cy="130"/>
            </a:xfrm>
            <a:prstGeom prst="straightConnector1">
              <a:avLst/>
            </a:prstGeom>
            <a:noFill/>
            <a:ln w="31750" cap="sq">
              <a:solidFill>
                <a:srgbClr val="808080"/>
              </a:solidFill>
              <a:round/>
              <a:headEnd/>
              <a:tailEnd type="stealth" w="lg" len="lg"/>
            </a:ln>
          </p:spPr>
        </p:cxnSp>
        <p:sp>
          <p:nvSpPr>
            <p:cNvPr id="24" name="Text Box 23"/>
            <p:cNvSpPr txBox="1">
              <a:spLocks noChangeAspect="1" noChangeArrowheads="1"/>
            </p:cNvSpPr>
            <p:nvPr/>
          </p:nvSpPr>
          <p:spPr bwMode="auto">
            <a:xfrm>
              <a:off x="3704" y="732"/>
              <a:ext cx="1809" cy="139"/>
            </a:xfrm>
            <a:prstGeom prst="rect">
              <a:avLst/>
            </a:prstGeom>
            <a:noFill/>
            <a:ln w="19050" cap="sq" algn="ctr">
              <a:solidFill>
                <a:srgbClr val="808080"/>
              </a:solidFill>
              <a:miter lim="800000"/>
              <a:headEnd/>
              <a:tailEnd/>
            </a:ln>
          </p:spPr>
          <p:txBody>
            <a:bodyPr wrap="none" anchor="ctr"/>
            <a:lstStyle/>
            <a:p>
              <a:pPr algn="l" eaLnBrk="0" hangingPunct="0">
                <a:lnSpc>
                  <a:spcPct val="100000"/>
                </a:lnSpc>
                <a:spcBef>
                  <a:spcPct val="50000"/>
                </a:spcBef>
              </a:pPr>
              <a:r>
                <a:rPr lang="tr-TR" sz="1200">
                  <a:solidFill>
                    <a:schemeClr val="accent2"/>
                  </a:solidFill>
                </a:rPr>
                <a:t>Hata toleransı</a:t>
              </a:r>
              <a:endParaRPr lang="en-US" sz="1200">
                <a:solidFill>
                  <a:schemeClr val="accent2"/>
                </a:solidFill>
              </a:endParaRPr>
            </a:p>
          </p:txBody>
        </p:sp>
        <p:sp>
          <p:nvSpPr>
            <p:cNvPr id="25" name="Text Box 24"/>
            <p:cNvSpPr txBox="1">
              <a:spLocks noChangeAspect="1" noChangeArrowheads="1"/>
            </p:cNvSpPr>
            <p:nvPr/>
          </p:nvSpPr>
          <p:spPr bwMode="auto">
            <a:xfrm>
              <a:off x="3704" y="895"/>
              <a:ext cx="1809" cy="139"/>
            </a:xfrm>
            <a:prstGeom prst="rect">
              <a:avLst/>
            </a:prstGeom>
            <a:noFill/>
            <a:ln w="19050" cap="sq" algn="ctr">
              <a:solidFill>
                <a:srgbClr val="808080"/>
              </a:solidFill>
              <a:miter lim="800000"/>
              <a:headEnd/>
              <a:tailEnd/>
            </a:ln>
          </p:spPr>
          <p:txBody>
            <a:bodyPr wrap="none" anchor="ctr"/>
            <a:lstStyle/>
            <a:p>
              <a:pPr algn="l" eaLnBrk="0" hangingPunct="0">
                <a:lnSpc>
                  <a:spcPct val="100000"/>
                </a:lnSpc>
                <a:spcBef>
                  <a:spcPct val="50000"/>
                </a:spcBef>
              </a:pPr>
              <a:r>
                <a:rPr lang="tr-TR" sz="1200">
                  <a:solidFill>
                    <a:schemeClr val="accent2"/>
                  </a:solidFill>
                </a:rPr>
                <a:t>Çalışma Etkinliği</a:t>
              </a:r>
              <a:endParaRPr lang="en-US" sz="1200">
                <a:solidFill>
                  <a:schemeClr val="accent2"/>
                </a:solidFill>
              </a:endParaRPr>
            </a:p>
          </p:txBody>
        </p:sp>
        <p:sp>
          <p:nvSpPr>
            <p:cNvPr id="26" name="Text Box 25"/>
            <p:cNvSpPr txBox="1">
              <a:spLocks noChangeAspect="1" noChangeArrowheads="1"/>
            </p:cNvSpPr>
            <p:nvPr/>
          </p:nvSpPr>
          <p:spPr bwMode="auto">
            <a:xfrm>
              <a:off x="3704" y="1059"/>
              <a:ext cx="1809" cy="139"/>
            </a:xfrm>
            <a:prstGeom prst="rect">
              <a:avLst/>
            </a:prstGeom>
            <a:noFill/>
            <a:ln w="19050" cap="sq" algn="ctr">
              <a:solidFill>
                <a:srgbClr val="808080"/>
              </a:solidFill>
              <a:miter lim="800000"/>
              <a:headEnd/>
              <a:tailEnd/>
            </a:ln>
          </p:spPr>
          <p:txBody>
            <a:bodyPr wrap="none" anchor="ctr"/>
            <a:lstStyle/>
            <a:p>
              <a:pPr algn="l" eaLnBrk="0" hangingPunct="0">
                <a:lnSpc>
                  <a:spcPct val="100000"/>
                </a:lnSpc>
                <a:spcBef>
                  <a:spcPct val="50000"/>
                </a:spcBef>
              </a:pPr>
              <a:r>
                <a:rPr lang="tr-TR" sz="1200">
                  <a:solidFill>
                    <a:schemeClr val="accent2"/>
                  </a:solidFill>
                </a:rPr>
                <a:t>Bellek etkinliği</a:t>
              </a:r>
              <a:endParaRPr lang="en-US" sz="1200">
                <a:solidFill>
                  <a:schemeClr val="accent2"/>
                </a:solidFill>
              </a:endParaRPr>
            </a:p>
          </p:txBody>
        </p:sp>
        <p:sp>
          <p:nvSpPr>
            <p:cNvPr id="27" name="Text Box 26"/>
            <p:cNvSpPr txBox="1">
              <a:spLocks noChangeAspect="1" noChangeArrowheads="1"/>
            </p:cNvSpPr>
            <p:nvPr/>
          </p:nvSpPr>
          <p:spPr bwMode="auto">
            <a:xfrm>
              <a:off x="3704" y="1231"/>
              <a:ext cx="1809" cy="139"/>
            </a:xfrm>
            <a:prstGeom prst="rect">
              <a:avLst/>
            </a:prstGeom>
            <a:noFill/>
            <a:ln w="19050" cap="sq" algn="ctr">
              <a:solidFill>
                <a:srgbClr val="808080"/>
              </a:solidFill>
              <a:miter lim="800000"/>
              <a:headEnd/>
              <a:tailEnd/>
            </a:ln>
          </p:spPr>
          <p:txBody>
            <a:bodyPr wrap="none" anchor="ctr"/>
            <a:lstStyle/>
            <a:p>
              <a:pPr algn="l" eaLnBrk="0" hangingPunct="0">
                <a:lnSpc>
                  <a:spcPct val="100000"/>
                </a:lnSpc>
                <a:spcBef>
                  <a:spcPct val="50000"/>
                </a:spcBef>
              </a:pPr>
              <a:r>
                <a:rPr lang="tr-TR" sz="1200">
                  <a:solidFill>
                    <a:schemeClr val="accent2"/>
                  </a:solidFill>
                </a:rPr>
                <a:t>Erişim kontrolu</a:t>
              </a:r>
              <a:endParaRPr lang="en-US" sz="1200">
                <a:solidFill>
                  <a:schemeClr val="accent2"/>
                </a:solidFill>
              </a:endParaRPr>
            </a:p>
          </p:txBody>
        </p:sp>
        <p:cxnSp>
          <p:nvCxnSpPr>
            <p:cNvPr id="28" name="AutoShape 27"/>
            <p:cNvCxnSpPr>
              <a:cxnSpLocks noChangeAspect="1" noChangeShapeType="1"/>
              <a:stCxn id="24" idx="1"/>
              <a:endCxn id="6" idx="3"/>
            </p:cNvCxnSpPr>
            <p:nvPr/>
          </p:nvCxnSpPr>
          <p:spPr bwMode="auto">
            <a:xfrm flipH="1" flipV="1">
              <a:off x="2059" y="515"/>
              <a:ext cx="1639" cy="287"/>
            </a:xfrm>
            <a:prstGeom prst="straightConnector1">
              <a:avLst/>
            </a:prstGeom>
            <a:noFill/>
            <a:ln w="31750" cap="sq">
              <a:solidFill>
                <a:srgbClr val="808080"/>
              </a:solidFill>
              <a:round/>
              <a:headEnd/>
              <a:tailEnd type="stealth" w="lg" len="lg"/>
            </a:ln>
          </p:spPr>
        </p:cxnSp>
        <p:cxnSp>
          <p:nvCxnSpPr>
            <p:cNvPr id="29" name="AutoShape 28"/>
            <p:cNvCxnSpPr>
              <a:cxnSpLocks noChangeAspect="1" noChangeShapeType="1"/>
              <a:stCxn id="25" idx="1"/>
              <a:endCxn id="7" idx="3"/>
            </p:cNvCxnSpPr>
            <p:nvPr/>
          </p:nvCxnSpPr>
          <p:spPr bwMode="auto">
            <a:xfrm flipH="1" flipV="1">
              <a:off x="2059" y="841"/>
              <a:ext cx="1639" cy="123"/>
            </a:xfrm>
            <a:prstGeom prst="straightConnector1">
              <a:avLst/>
            </a:prstGeom>
            <a:noFill/>
            <a:ln w="31750" cap="sq">
              <a:solidFill>
                <a:srgbClr val="808080"/>
              </a:solidFill>
              <a:round/>
              <a:headEnd/>
              <a:tailEnd type="stealth" w="lg" len="lg"/>
            </a:ln>
          </p:spPr>
        </p:cxnSp>
        <p:cxnSp>
          <p:nvCxnSpPr>
            <p:cNvPr id="30" name="AutoShape 29"/>
            <p:cNvCxnSpPr>
              <a:cxnSpLocks noChangeAspect="1" noChangeShapeType="1"/>
              <a:stCxn id="26" idx="1"/>
              <a:endCxn id="7" idx="3"/>
            </p:cNvCxnSpPr>
            <p:nvPr/>
          </p:nvCxnSpPr>
          <p:spPr bwMode="auto">
            <a:xfrm flipH="1" flipV="1">
              <a:off x="2059" y="841"/>
              <a:ext cx="1639" cy="288"/>
            </a:xfrm>
            <a:prstGeom prst="straightConnector1">
              <a:avLst/>
            </a:prstGeom>
            <a:noFill/>
            <a:ln w="31750" cap="sq">
              <a:solidFill>
                <a:srgbClr val="808080"/>
              </a:solidFill>
              <a:round/>
              <a:headEnd/>
              <a:tailEnd type="stealth" w="lg" len="lg"/>
            </a:ln>
          </p:spPr>
        </p:cxnSp>
        <p:cxnSp>
          <p:nvCxnSpPr>
            <p:cNvPr id="31" name="AutoShape 30"/>
            <p:cNvCxnSpPr>
              <a:cxnSpLocks noChangeAspect="1" noChangeShapeType="1"/>
              <a:stCxn id="27" idx="1"/>
              <a:endCxn id="8" idx="3"/>
            </p:cNvCxnSpPr>
            <p:nvPr/>
          </p:nvCxnSpPr>
          <p:spPr bwMode="auto">
            <a:xfrm flipH="1" flipV="1">
              <a:off x="2059" y="1159"/>
              <a:ext cx="1639" cy="142"/>
            </a:xfrm>
            <a:prstGeom prst="straightConnector1">
              <a:avLst/>
            </a:prstGeom>
            <a:noFill/>
            <a:ln w="31750" cap="sq">
              <a:solidFill>
                <a:srgbClr val="808080"/>
              </a:solidFill>
              <a:round/>
              <a:headEnd/>
              <a:tailEnd type="stealth" w="lg" len="lg"/>
            </a:ln>
          </p:spPr>
        </p:cxnSp>
        <p:sp>
          <p:nvSpPr>
            <p:cNvPr id="32" name="Text Box 31"/>
            <p:cNvSpPr txBox="1">
              <a:spLocks noChangeAspect="1" noChangeArrowheads="1"/>
            </p:cNvSpPr>
            <p:nvPr/>
          </p:nvSpPr>
          <p:spPr bwMode="auto">
            <a:xfrm>
              <a:off x="3704" y="1387"/>
              <a:ext cx="1809" cy="139"/>
            </a:xfrm>
            <a:prstGeom prst="rect">
              <a:avLst/>
            </a:prstGeom>
            <a:noFill/>
            <a:ln w="19050" cap="sq" algn="ctr">
              <a:solidFill>
                <a:srgbClr val="808080"/>
              </a:solidFill>
              <a:miter lim="800000"/>
              <a:headEnd/>
              <a:tailEnd/>
            </a:ln>
          </p:spPr>
          <p:txBody>
            <a:bodyPr wrap="none" anchor="ctr"/>
            <a:lstStyle/>
            <a:p>
              <a:pPr algn="l" eaLnBrk="0" hangingPunct="0">
                <a:lnSpc>
                  <a:spcPct val="100000"/>
                </a:lnSpc>
                <a:spcBef>
                  <a:spcPct val="50000"/>
                </a:spcBef>
              </a:pPr>
              <a:r>
                <a:rPr lang="tr-TR" sz="1200">
                  <a:solidFill>
                    <a:schemeClr val="accent2"/>
                  </a:solidFill>
                </a:rPr>
                <a:t>Erişim denetimi</a:t>
              </a:r>
              <a:endParaRPr lang="en-US" sz="1200">
                <a:solidFill>
                  <a:schemeClr val="accent2"/>
                </a:solidFill>
              </a:endParaRPr>
            </a:p>
          </p:txBody>
        </p:sp>
        <p:sp>
          <p:nvSpPr>
            <p:cNvPr id="33" name="Text Box 32"/>
            <p:cNvSpPr txBox="1">
              <a:spLocks noChangeAspect="1" noChangeArrowheads="1"/>
            </p:cNvSpPr>
            <p:nvPr/>
          </p:nvSpPr>
          <p:spPr bwMode="auto">
            <a:xfrm>
              <a:off x="3704" y="1550"/>
              <a:ext cx="1809" cy="139"/>
            </a:xfrm>
            <a:prstGeom prst="rect">
              <a:avLst/>
            </a:prstGeom>
            <a:noFill/>
            <a:ln w="19050" cap="sq" algn="ctr">
              <a:solidFill>
                <a:srgbClr val="808080"/>
              </a:solidFill>
              <a:miter lim="800000"/>
              <a:headEnd/>
              <a:tailEnd/>
            </a:ln>
          </p:spPr>
          <p:txBody>
            <a:bodyPr wrap="none" anchor="ctr"/>
            <a:lstStyle/>
            <a:p>
              <a:pPr algn="l" eaLnBrk="0" hangingPunct="0">
                <a:lnSpc>
                  <a:spcPct val="100000"/>
                </a:lnSpc>
                <a:spcBef>
                  <a:spcPct val="50000"/>
                </a:spcBef>
              </a:pPr>
              <a:r>
                <a:rPr lang="tr-TR" sz="1200">
                  <a:solidFill>
                    <a:schemeClr val="accent2"/>
                  </a:solidFill>
                </a:rPr>
                <a:t>Çalışabilirlik</a:t>
              </a:r>
              <a:endParaRPr lang="en-US" sz="1200">
                <a:solidFill>
                  <a:schemeClr val="accent2"/>
                </a:solidFill>
              </a:endParaRPr>
            </a:p>
          </p:txBody>
        </p:sp>
        <p:sp>
          <p:nvSpPr>
            <p:cNvPr id="34" name="Text Box 33"/>
            <p:cNvSpPr txBox="1">
              <a:spLocks noChangeAspect="1" noChangeArrowheads="1"/>
            </p:cNvSpPr>
            <p:nvPr/>
          </p:nvSpPr>
          <p:spPr bwMode="auto">
            <a:xfrm>
              <a:off x="3704" y="1719"/>
              <a:ext cx="1809" cy="140"/>
            </a:xfrm>
            <a:prstGeom prst="rect">
              <a:avLst/>
            </a:prstGeom>
            <a:noFill/>
            <a:ln w="19050" cap="sq" algn="ctr">
              <a:solidFill>
                <a:srgbClr val="808080"/>
              </a:solidFill>
              <a:miter lim="800000"/>
              <a:headEnd/>
              <a:tailEnd/>
            </a:ln>
          </p:spPr>
          <p:txBody>
            <a:bodyPr wrap="none" anchor="ctr"/>
            <a:lstStyle/>
            <a:p>
              <a:pPr algn="l" eaLnBrk="0" hangingPunct="0">
                <a:lnSpc>
                  <a:spcPct val="100000"/>
                </a:lnSpc>
                <a:spcBef>
                  <a:spcPct val="50000"/>
                </a:spcBef>
              </a:pPr>
              <a:r>
                <a:rPr lang="tr-TR" sz="1200">
                  <a:solidFill>
                    <a:schemeClr val="accent2"/>
                  </a:solidFill>
                </a:rPr>
                <a:t>Eğitim</a:t>
              </a:r>
              <a:endParaRPr lang="en-US" sz="1200">
                <a:solidFill>
                  <a:schemeClr val="accent2"/>
                </a:solidFill>
              </a:endParaRPr>
            </a:p>
          </p:txBody>
        </p:sp>
        <p:sp>
          <p:nvSpPr>
            <p:cNvPr id="35" name="Text Box 34"/>
            <p:cNvSpPr txBox="1">
              <a:spLocks noChangeAspect="1" noChangeArrowheads="1"/>
            </p:cNvSpPr>
            <p:nvPr/>
          </p:nvSpPr>
          <p:spPr bwMode="auto">
            <a:xfrm>
              <a:off x="3704" y="1888"/>
              <a:ext cx="1809" cy="139"/>
            </a:xfrm>
            <a:prstGeom prst="rect">
              <a:avLst/>
            </a:prstGeom>
            <a:noFill/>
            <a:ln w="19050" cap="sq" algn="ctr">
              <a:solidFill>
                <a:srgbClr val="808080"/>
              </a:solidFill>
              <a:miter lim="800000"/>
              <a:headEnd/>
              <a:tailEnd/>
            </a:ln>
          </p:spPr>
          <p:txBody>
            <a:bodyPr wrap="none" anchor="ctr"/>
            <a:lstStyle/>
            <a:p>
              <a:pPr algn="l" eaLnBrk="0" hangingPunct="0">
                <a:lnSpc>
                  <a:spcPct val="100000"/>
                </a:lnSpc>
                <a:spcBef>
                  <a:spcPct val="50000"/>
                </a:spcBef>
              </a:pPr>
              <a:r>
                <a:rPr lang="tr-TR" sz="1200">
                  <a:solidFill>
                    <a:schemeClr val="accent2"/>
                  </a:solidFill>
                </a:rPr>
                <a:t>İletişim yapılabilirlik</a:t>
              </a:r>
              <a:endParaRPr lang="en-US" sz="1200">
                <a:solidFill>
                  <a:schemeClr val="accent2"/>
                </a:solidFill>
              </a:endParaRPr>
            </a:p>
          </p:txBody>
        </p:sp>
        <p:cxnSp>
          <p:nvCxnSpPr>
            <p:cNvPr id="36" name="AutoShape 35"/>
            <p:cNvCxnSpPr>
              <a:cxnSpLocks noChangeAspect="1" noChangeShapeType="1"/>
              <a:stCxn id="32" idx="1"/>
              <a:endCxn id="8" idx="3"/>
            </p:cNvCxnSpPr>
            <p:nvPr/>
          </p:nvCxnSpPr>
          <p:spPr bwMode="auto">
            <a:xfrm flipH="1" flipV="1">
              <a:off x="2059" y="1159"/>
              <a:ext cx="1639" cy="297"/>
            </a:xfrm>
            <a:prstGeom prst="straightConnector1">
              <a:avLst/>
            </a:prstGeom>
            <a:noFill/>
            <a:ln w="31750" cap="sq">
              <a:solidFill>
                <a:srgbClr val="808080"/>
              </a:solidFill>
              <a:round/>
              <a:headEnd/>
              <a:tailEnd type="stealth" w="lg" len="lg"/>
            </a:ln>
          </p:spPr>
        </p:cxnSp>
        <p:cxnSp>
          <p:nvCxnSpPr>
            <p:cNvPr id="37" name="AutoShape 36"/>
            <p:cNvCxnSpPr>
              <a:cxnSpLocks noChangeAspect="1" noChangeShapeType="1"/>
              <a:stCxn id="33" idx="1"/>
              <a:endCxn id="9" idx="3"/>
            </p:cNvCxnSpPr>
            <p:nvPr/>
          </p:nvCxnSpPr>
          <p:spPr bwMode="auto">
            <a:xfrm flipH="1" flipV="1">
              <a:off x="2059" y="1482"/>
              <a:ext cx="1639" cy="138"/>
            </a:xfrm>
            <a:prstGeom prst="straightConnector1">
              <a:avLst/>
            </a:prstGeom>
            <a:noFill/>
            <a:ln w="31750" cap="sq">
              <a:solidFill>
                <a:srgbClr val="808080"/>
              </a:solidFill>
              <a:round/>
              <a:headEnd/>
              <a:tailEnd type="stealth" w="lg" len="lg"/>
            </a:ln>
          </p:spPr>
        </p:cxnSp>
        <p:cxnSp>
          <p:nvCxnSpPr>
            <p:cNvPr id="38" name="AutoShape 37"/>
            <p:cNvCxnSpPr>
              <a:cxnSpLocks noChangeAspect="1" noChangeShapeType="1"/>
              <a:stCxn id="34" idx="1"/>
            </p:cNvCxnSpPr>
            <p:nvPr/>
          </p:nvCxnSpPr>
          <p:spPr bwMode="auto">
            <a:xfrm flipH="1" flipV="1">
              <a:off x="2042" y="1491"/>
              <a:ext cx="1656" cy="298"/>
            </a:xfrm>
            <a:prstGeom prst="straightConnector1">
              <a:avLst/>
            </a:prstGeom>
            <a:noFill/>
            <a:ln w="31750" cap="sq">
              <a:solidFill>
                <a:srgbClr val="808080"/>
              </a:solidFill>
              <a:round/>
              <a:headEnd/>
              <a:tailEnd type="stealth" w="lg" len="lg"/>
            </a:ln>
          </p:spPr>
        </p:cxnSp>
        <p:cxnSp>
          <p:nvCxnSpPr>
            <p:cNvPr id="39" name="AutoShape 38"/>
            <p:cNvCxnSpPr>
              <a:cxnSpLocks noChangeAspect="1" noChangeShapeType="1"/>
              <a:stCxn id="35" idx="1"/>
              <a:endCxn id="9" idx="3"/>
            </p:cNvCxnSpPr>
            <p:nvPr/>
          </p:nvCxnSpPr>
          <p:spPr bwMode="auto">
            <a:xfrm flipH="1" flipV="1">
              <a:off x="2059" y="1482"/>
              <a:ext cx="1639" cy="475"/>
            </a:xfrm>
            <a:prstGeom prst="straightConnector1">
              <a:avLst/>
            </a:prstGeom>
            <a:noFill/>
            <a:ln w="31750" cap="sq">
              <a:solidFill>
                <a:srgbClr val="808080"/>
              </a:solidFill>
              <a:round/>
              <a:headEnd/>
              <a:tailEnd type="stealth" w="lg" len="lg"/>
            </a:ln>
          </p:spPr>
        </p:cxnSp>
        <p:sp>
          <p:nvSpPr>
            <p:cNvPr id="40" name="Text Box 39"/>
            <p:cNvSpPr txBox="1">
              <a:spLocks noChangeAspect="1" noChangeArrowheads="1"/>
            </p:cNvSpPr>
            <p:nvPr/>
          </p:nvSpPr>
          <p:spPr bwMode="auto">
            <a:xfrm>
              <a:off x="3704" y="2048"/>
              <a:ext cx="1809" cy="139"/>
            </a:xfrm>
            <a:prstGeom prst="rect">
              <a:avLst/>
            </a:prstGeom>
            <a:noFill/>
            <a:ln w="19050" cap="sq" algn="ctr">
              <a:solidFill>
                <a:srgbClr val="808080"/>
              </a:solidFill>
              <a:miter lim="800000"/>
              <a:headEnd/>
              <a:tailEnd/>
            </a:ln>
          </p:spPr>
          <p:txBody>
            <a:bodyPr wrap="none" anchor="ctr"/>
            <a:lstStyle/>
            <a:p>
              <a:pPr algn="l" eaLnBrk="0" hangingPunct="0">
                <a:lnSpc>
                  <a:spcPct val="100000"/>
                </a:lnSpc>
                <a:spcBef>
                  <a:spcPct val="50000"/>
                </a:spcBef>
              </a:pPr>
              <a:r>
                <a:rPr lang="tr-TR" sz="1200">
                  <a:solidFill>
                    <a:schemeClr val="accent2"/>
                  </a:solidFill>
                </a:rPr>
                <a:t>Basitlik</a:t>
              </a:r>
              <a:endParaRPr lang="en-US" sz="1200">
                <a:solidFill>
                  <a:schemeClr val="accent2"/>
                </a:solidFill>
              </a:endParaRPr>
            </a:p>
          </p:txBody>
        </p:sp>
        <p:sp>
          <p:nvSpPr>
            <p:cNvPr id="41" name="Text Box 40"/>
            <p:cNvSpPr txBox="1">
              <a:spLocks noChangeAspect="1" noChangeArrowheads="1"/>
            </p:cNvSpPr>
            <p:nvPr/>
          </p:nvSpPr>
          <p:spPr bwMode="auto">
            <a:xfrm>
              <a:off x="3704" y="2207"/>
              <a:ext cx="1809" cy="139"/>
            </a:xfrm>
            <a:prstGeom prst="rect">
              <a:avLst/>
            </a:prstGeom>
            <a:noFill/>
            <a:ln w="19050" cap="sq" algn="ctr">
              <a:solidFill>
                <a:srgbClr val="808080"/>
              </a:solidFill>
              <a:miter lim="800000"/>
              <a:headEnd/>
              <a:tailEnd/>
            </a:ln>
          </p:spPr>
          <p:txBody>
            <a:bodyPr wrap="none" anchor="ctr"/>
            <a:lstStyle/>
            <a:p>
              <a:pPr algn="l" eaLnBrk="0" hangingPunct="0">
                <a:lnSpc>
                  <a:spcPct val="100000"/>
                </a:lnSpc>
                <a:spcBef>
                  <a:spcPct val="50000"/>
                </a:spcBef>
              </a:pPr>
              <a:r>
                <a:rPr lang="en-US" sz="1200">
                  <a:solidFill>
                    <a:schemeClr val="accent2"/>
                  </a:solidFill>
                </a:rPr>
                <a:t>Conciseness</a:t>
              </a:r>
            </a:p>
          </p:txBody>
        </p:sp>
        <p:sp>
          <p:nvSpPr>
            <p:cNvPr id="42" name="Text Box 41"/>
            <p:cNvSpPr txBox="1">
              <a:spLocks noChangeAspect="1" noChangeArrowheads="1"/>
            </p:cNvSpPr>
            <p:nvPr/>
          </p:nvSpPr>
          <p:spPr bwMode="auto">
            <a:xfrm>
              <a:off x="3704" y="2377"/>
              <a:ext cx="1809" cy="139"/>
            </a:xfrm>
            <a:prstGeom prst="rect">
              <a:avLst/>
            </a:prstGeom>
            <a:noFill/>
            <a:ln w="19050" cap="sq" algn="ctr">
              <a:solidFill>
                <a:srgbClr val="808080"/>
              </a:solidFill>
              <a:miter lim="800000"/>
              <a:headEnd/>
              <a:tailEnd/>
            </a:ln>
          </p:spPr>
          <p:txBody>
            <a:bodyPr wrap="none" anchor="ctr"/>
            <a:lstStyle/>
            <a:p>
              <a:pPr algn="l" eaLnBrk="0" hangingPunct="0">
                <a:lnSpc>
                  <a:spcPct val="100000"/>
                </a:lnSpc>
                <a:spcBef>
                  <a:spcPct val="50000"/>
                </a:spcBef>
              </a:pPr>
              <a:r>
                <a:rPr lang="en-US" sz="1200">
                  <a:solidFill>
                    <a:schemeClr val="accent2"/>
                  </a:solidFill>
                </a:rPr>
                <a:t>Instrumentation</a:t>
              </a:r>
            </a:p>
          </p:txBody>
        </p:sp>
        <p:sp>
          <p:nvSpPr>
            <p:cNvPr id="43" name="Text Box 42"/>
            <p:cNvSpPr txBox="1">
              <a:spLocks noChangeAspect="1" noChangeArrowheads="1"/>
            </p:cNvSpPr>
            <p:nvPr/>
          </p:nvSpPr>
          <p:spPr bwMode="auto">
            <a:xfrm>
              <a:off x="3704" y="2533"/>
              <a:ext cx="1809" cy="139"/>
            </a:xfrm>
            <a:prstGeom prst="rect">
              <a:avLst/>
            </a:prstGeom>
            <a:noFill/>
            <a:ln w="19050" cap="sq" algn="ctr">
              <a:solidFill>
                <a:srgbClr val="808080"/>
              </a:solidFill>
              <a:miter lim="800000"/>
              <a:headEnd/>
              <a:tailEnd/>
            </a:ln>
          </p:spPr>
          <p:txBody>
            <a:bodyPr wrap="none" anchor="ctr"/>
            <a:lstStyle/>
            <a:p>
              <a:pPr algn="l" eaLnBrk="0" hangingPunct="0">
                <a:lnSpc>
                  <a:spcPct val="100000"/>
                </a:lnSpc>
                <a:spcBef>
                  <a:spcPct val="50000"/>
                </a:spcBef>
              </a:pPr>
              <a:r>
                <a:rPr lang="tr-TR" sz="1200">
                  <a:solidFill>
                    <a:schemeClr val="accent2"/>
                  </a:solidFill>
                </a:rPr>
                <a:t>İfade edilebilirlik</a:t>
              </a:r>
              <a:endParaRPr lang="en-US" sz="1200">
                <a:solidFill>
                  <a:schemeClr val="accent2"/>
                </a:solidFill>
              </a:endParaRPr>
            </a:p>
          </p:txBody>
        </p:sp>
        <p:sp>
          <p:nvSpPr>
            <p:cNvPr id="44" name="Text Box 43"/>
            <p:cNvSpPr txBox="1">
              <a:spLocks noChangeAspect="1" noChangeArrowheads="1"/>
            </p:cNvSpPr>
            <p:nvPr/>
          </p:nvSpPr>
          <p:spPr bwMode="auto">
            <a:xfrm>
              <a:off x="3704" y="2699"/>
              <a:ext cx="1809" cy="139"/>
            </a:xfrm>
            <a:prstGeom prst="rect">
              <a:avLst/>
            </a:prstGeom>
            <a:noFill/>
            <a:ln w="19050" cap="sq" algn="ctr">
              <a:solidFill>
                <a:srgbClr val="808080"/>
              </a:solidFill>
              <a:miter lim="800000"/>
              <a:headEnd/>
              <a:tailEnd/>
            </a:ln>
          </p:spPr>
          <p:txBody>
            <a:bodyPr wrap="none" anchor="ctr"/>
            <a:lstStyle/>
            <a:p>
              <a:pPr algn="l" eaLnBrk="0" hangingPunct="0">
                <a:lnSpc>
                  <a:spcPct val="100000"/>
                </a:lnSpc>
                <a:spcBef>
                  <a:spcPct val="50000"/>
                </a:spcBef>
              </a:pPr>
              <a:r>
                <a:rPr lang="tr-TR" sz="1200">
                  <a:solidFill>
                    <a:schemeClr val="accent2"/>
                  </a:solidFill>
                </a:rPr>
                <a:t>Geliştirilebilirlik</a:t>
              </a:r>
              <a:endParaRPr lang="en-US" sz="1200">
                <a:solidFill>
                  <a:schemeClr val="accent2"/>
                </a:solidFill>
              </a:endParaRPr>
            </a:p>
          </p:txBody>
        </p:sp>
        <p:sp>
          <p:nvSpPr>
            <p:cNvPr id="45" name="Text Box 44"/>
            <p:cNvSpPr txBox="1">
              <a:spLocks noChangeAspect="1" noChangeArrowheads="1"/>
            </p:cNvSpPr>
            <p:nvPr/>
          </p:nvSpPr>
          <p:spPr bwMode="auto">
            <a:xfrm>
              <a:off x="3704" y="2852"/>
              <a:ext cx="1809" cy="139"/>
            </a:xfrm>
            <a:prstGeom prst="rect">
              <a:avLst/>
            </a:prstGeom>
            <a:noFill/>
            <a:ln w="19050" cap="sq" algn="ctr">
              <a:solidFill>
                <a:srgbClr val="808080"/>
              </a:solidFill>
              <a:miter lim="800000"/>
              <a:headEnd/>
              <a:tailEnd/>
            </a:ln>
          </p:spPr>
          <p:txBody>
            <a:bodyPr wrap="none" anchor="ctr"/>
            <a:lstStyle/>
            <a:p>
              <a:pPr algn="l" eaLnBrk="0" hangingPunct="0">
                <a:lnSpc>
                  <a:spcPct val="100000"/>
                </a:lnSpc>
                <a:spcBef>
                  <a:spcPct val="50000"/>
                </a:spcBef>
              </a:pPr>
              <a:r>
                <a:rPr lang="tr-TR" sz="1200">
                  <a:solidFill>
                    <a:schemeClr val="accent2"/>
                  </a:solidFill>
                </a:rPr>
                <a:t>Genelleştirilebilirlik</a:t>
              </a:r>
              <a:endParaRPr lang="en-US" sz="1200">
                <a:solidFill>
                  <a:schemeClr val="accent2"/>
                </a:solidFill>
              </a:endParaRPr>
            </a:p>
          </p:txBody>
        </p:sp>
        <p:sp>
          <p:nvSpPr>
            <p:cNvPr id="46" name="Text Box 45"/>
            <p:cNvSpPr txBox="1">
              <a:spLocks noChangeAspect="1" noChangeArrowheads="1"/>
            </p:cNvSpPr>
            <p:nvPr/>
          </p:nvSpPr>
          <p:spPr bwMode="auto">
            <a:xfrm>
              <a:off x="3704" y="3016"/>
              <a:ext cx="1809" cy="139"/>
            </a:xfrm>
            <a:prstGeom prst="rect">
              <a:avLst/>
            </a:prstGeom>
            <a:noFill/>
            <a:ln w="19050" cap="sq" algn="ctr">
              <a:solidFill>
                <a:srgbClr val="808080"/>
              </a:solidFill>
              <a:miter lim="800000"/>
              <a:headEnd/>
              <a:tailEnd/>
            </a:ln>
          </p:spPr>
          <p:txBody>
            <a:bodyPr wrap="none" anchor="ctr"/>
            <a:lstStyle/>
            <a:p>
              <a:pPr algn="l" eaLnBrk="0" hangingPunct="0">
                <a:lnSpc>
                  <a:spcPct val="100000"/>
                </a:lnSpc>
                <a:spcBef>
                  <a:spcPct val="50000"/>
                </a:spcBef>
              </a:pPr>
              <a:r>
                <a:rPr lang="tr-TR" sz="1200">
                  <a:solidFill>
                    <a:schemeClr val="accent2"/>
                  </a:solidFill>
                </a:rPr>
                <a:t>Modularite</a:t>
              </a:r>
              <a:endParaRPr lang="en-US" sz="1200">
                <a:solidFill>
                  <a:schemeClr val="accent2"/>
                </a:solidFill>
              </a:endParaRPr>
            </a:p>
          </p:txBody>
        </p:sp>
        <p:sp>
          <p:nvSpPr>
            <p:cNvPr id="47" name="Text Box 46"/>
            <p:cNvSpPr txBox="1">
              <a:spLocks noChangeAspect="1" noChangeArrowheads="1"/>
            </p:cNvSpPr>
            <p:nvPr/>
          </p:nvSpPr>
          <p:spPr bwMode="auto">
            <a:xfrm>
              <a:off x="3704" y="3178"/>
              <a:ext cx="1809" cy="140"/>
            </a:xfrm>
            <a:prstGeom prst="rect">
              <a:avLst/>
            </a:prstGeom>
            <a:noFill/>
            <a:ln w="19050" cap="sq" algn="ctr">
              <a:solidFill>
                <a:srgbClr val="808080"/>
              </a:solidFill>
              <a:miter lim="800000"/>
              <a:headEnd/>
              <a:tailEnd/>
            </a:ln>
          </p:spPr>
          <p:txBody>
            <a:bodyPr wrap="none" anchor="ctr"/>
            <a:lstStyle/>
            <a:p>
              <a:pPr algn="l" eaLnBrk="0" hangingPunct="0">
                <a:lnSpc>
                  <a:spcPct val="100000"/>
                </a:lnSpc>
                <a:spcBef>
                  <a:spcPct val="50000"/>
                </a:spcBef>
              </a:pPr>
              <a:r>
                <a:rPr lang="tr-TR" sz="1200">
                  <a:solidFill>
                    <a:schemeClr val="accent2"/>
                  </a:solidFill>
                </a:rPr>
                <a:t>YazılımSistemi Bağımsızlığı</a:t>
              </a:r>
              <a:endParaRPr lang="en-US" sz="1200">
                <a:solidFill>
                  <a:schemeClr val="accent2"/>
                </a:solidFill>
              </a:endParaRPr>
            </a:p>
          </p:txBody>
        </p:sp>
        <p:sp>
          <p:nvSpPr>
            <p:cNvPr id="48" name="Text Box 47"/>
            <p:cNvSpPr txBox="1">
              <a:spLocks noChangeAspect="1" noChangeArrowheads="1"/>
            </p:cNvSpPr>
            <p:nvPr/>
          </p:nvSpPr>
          <p:spPr bwMode="auto">
            <a:xfrm>
              <a:off x="3704" y="3344"/>
              <a:ext cx="1809" cy="139"/>
            </a:xfrm>
            <a:prstGeom prst="rect">
              <a:avLst/>
            </a:prstGeom>
            <a:noFill/>
            <a:ln w="19050" cap="sq" algn="ctr">
              <a:solidFill>
                <a:srgbClr val="808080"/>
              </a:solidFill>
              <a:miter lim="800000"/>
              <a:headEnd/>
              <a:tailEnd/>
            </a:ln>
          </p:spPr>
          <p:txBody>
            <a:bodyPr wrap="none" anchor="ctr"/>
            <a:lstStyle/>
            <a:p>
              <a:pPr algn="l" eaLnBrk="0" hangingPunct="0">
                <a:lnSpc>
                  <a:spcPct val="100000"/>
                </a:lnSpc>
                <a:spcBef>
                  <a:spcPct val="50000"/>
                </a:spcBef>
              </a:pPr>
              <a:r>
                <a:rPr lang="tr-TR" sz="1200">
                  <a:solidFill>
                    <a:schemeClr val="accent2"/>
                  </a:solidFill>
                </a:rPr>
                <a:t>Makine bağımsızlığı</a:t>
              </a:r>
              <a:endParaRPr lang="en-US" sz="1200">
                <a:solidFill>
                  <a:schemeClr val="accent2"/>
                </a:solidFill>
              </a:endParaRPr>
            </a:p>
          </p:txBody>
        </p:sp>
        <p:sp>
          <p:nvSpPr>
            <p:cNvPr id="49" name="Text Box 48"/>
            <p:cNvSpPr txBox="1">
              <a:spLocks noChangeAspect="1" noChangeArrowheads="1"/>
            </p:cNvSpPr>
            <p:nvPr/>
          </p:nvSpPr>
          <p:spPr bwMode="auto">
            <a:xfrm>
              <a:off x="3704" y="3498"/>
              <a:ext cx="1809" cy="139"/>
            </a:xfrm>
            <a:prstGeom prst="rect">
              <a:avLst/>
            </a:prstGeom>
            <a:noFill/>
            <a:ln w="19050" cap="sq" algn="ctr">
              <a:solidFill>
                <a:srgbClr val="808080"/>
              </a:solidFill>
              <a:miter lim="800000"/>
              <a:headEnd/>
              <a:tailEnd/>
            </a:ln>
          </p:spPr>
          <p:txBody>
            <a:bodyPr wrap="none" anchor="ctr"/>
            <a:lstStyle/>
            <a:p>
              <a:pPr algn="l" eaLnBrk="0" hangingPunct="0">
                <a:lnSpc>
                  <a:spcPct val="100000"/>
                </a:lnSpc>
                <a:spcBef>
                  <a:spcPct val="50000"/>
                </a:spcBef>
              </a:pPr>
              <a:r>
                <a:rPr lang="tr-TR" sz="1200">
                  <a:solidFill>
                    <a:schemeClr val="accent2"/>
                  </a:solidFill>
                </a:rPr>
                <a:t>İletişim genelliği</a:t>
              </a:r>
              <a:endParaRPr lang="en-US" sz="1200">
                <a:solidFill>
                  <a:schemeClr val="accent2"/>
                </a:solidFill>
              </a:endParaRPr>
            </a:p>
          </p:txBody>
        </p:sp>
        <p:sp>
          <p:nvSpPr>
            <p:cNvPr id="50" name="Text Box 49"/>
            <p:cNvSpPr txBox="1">
              <a:spLocks noChangeAspect="1" noChangeArrowheads="1"/>
            </p:cNvSpPr>
            <p:nvPr/>
          </p:nvSpPr>
          <p:spPr bwMode="auto">
            <a:xfrm>
              <a:off x="3704" y="3667"/>
              <a:ext cx="1809" cy="139"/>
            </a:xfrm>
            <a:prstGeom prst="rect">
              <a:avLst/>
            </a:prstGeom>
            <a:noFill/>
            <a:ln w="19050" cap="sq" algn="ctr">
              <a:solidFill>
                <a:srgbClr val="808080"/>
              </a:solidFill>
              <a:miter lim="800000"/>
              <a:headEnd/>
              <a:tailEnd/>
            </a:ln>
          </p:spPr>
          <p:txBody>
            <a:bodyPr wrap="none" anchor="ctr"/>
            <a:lstStyle/>
            <a:p>
              <a:pPr algn="l" eaLnBrk="0" hangingPunct="0">
                <a:lnSpc>
                  <a:spcPct val="100000"/>
                </a:lnSpc>
                <a:spcBef>
                  <a:spcPct val="50000"/>
                </a:spcBef>
              </a:pPr>
              <a:r>
                <a:rPr lang="tr-TR" sz="1200">
                  <a:solidFill>
                    <a:schemeClr val="accent2"/>
                  </a:solidFill>
                </a:rPr>
                <a:t>Veri  genelliği</a:t>
              </a:r>
              <a:endParaRPr lang="en-US" sz="1200">
                <a:solidFill>
                  <a:schemeClr val="accent2"/>
                </a:solidFill>
              </a:endParaRPr>
            </a:p>
          </p:txBody>
        </p:sp>
        <p:cxnSp>
          <p:nvCxnSpPr>
            <p:cNvPr id="51" name="AutoShape 50"/>
            <p:cNvCxnSpPr>
              <a:cxnSpLocks noChangeAspect="1" noChangeShapeType="1"/>
              <a:stCxn id="40" idx="1"/>
              <a:endCxn id="10" idx="3"/>
            </p:cNvCxnSpPr>
            <p:nvPr/>
          </p:nvCxnSpPr>
          <p:spPr bwMode="auto">
            <a:xfrm flipH="1" flipV="1">
              <a:off x="2059" y="1803"/>
              <a:ext cx="1639" cy="315"/>
            </a:xfrm>
            <a:prstGeom prst="straightConnector1">
              <a:avLst/>
            </a:prstGeom>
            <a:noFill/>
            <a:ln w="31750" cap="sq">
              <a:solidFill>
                <a:srgbClr val="808080"/>
              </a:solidFill>
              <a:round/>
              <a:headEnd/>
              <a:tailEnd type="stealth" w="lg" len="lg"/>
            </a:ln>
          </p:spPr>
        </p:cxnSp>
        <p:cxnSp>
          <p:nvCxnSpPr>
            <p:cNvPr id="52" name="AutoShape 51"/>
            <p:cNvCxnSpPr>
              <a:cxnSpLocks noChangeAspect="1" noChangeShapeType="1"/>
              <a:stCxn id="41" idx="1"/>
              <a:endCxn id="10" idx="3"/>
            </p:cNvCxnSpPr>
            <p:nvPr/>
          </p:nvCxnSpPr>
          <p:spPr bwMode="auto">
            <a:xfrm flipH="1" flipV="1">
              <a:off x="2059" y="1803"/>
              <a:ext cx="1639" cy="473"/>
            </a:xfrm>
            <a:prstGeom prst="straightConnector1">
              <a:avLst/>
            </a:prstGeom>
            <a:noFill/>
            <a:ln w="31750" cap="sq">
              <a:solidFill>
                <a:srgbClr val="808080"/>
              </a:solidFill>
              <a:round/>
              <a:headEnd/>
              <a:tailEnd type="stealth" w="lg" len="lg"/>
            </a:ln>
          </p:spPr>
        </p:cxnSp>
        <p:cxnSp>
          <p:nvCxnSpPr>
            <p:cNvPr id="53" name="AutoShape 52"/>
            <p:cNvCxnSpPr>
              <a:cxnSpLocks noChangeAspect="1" noChangeShapeType="1"/>
              <a:stCxn id="42" idx="1"/>
              <a:endCxn id="11" idx="3"/>
            </p:cNvCxnSpPr>
            <p:nvPr/>
          </p:nvCxnSpPr>
          <p:spPr bwMode="auto">
            <a:xfrm flipH="1" flipV="1">
              <a:off x="2047" y="2117"/>
              <a:ext cx="1651" cy="330"/>
            </a:xfrm>
            <a:prstGeom prst="straightConnector1">
              <a:avLst/>
            </a:prstGeom>
            <a:noFill/>
            <a:ln w="31750" cap="sq">
              <a:solidFill>
                <a:srgbClr val="808080"/>
              </a:solidFill>
              <a:round/>
              <a:headEnd/>
              <a:tailEnd type="stealth" w="lg" len="lg"/>
            </a:ln>
          </p:spPr>
        </p:cxnSp>
        <p:cxnSp>
          <p:nvCxnSpPr>
            <p:cNvPr id="54" name="AutoShape 53"/>
            <p:cNvCxnSpPr>
              <a:cxnSpLocks noChangeAspect="1" noChangeShapeType="1"/>
              <a:stCxn id="40" idx="1"/>
              <a:endCxn id="11" idx="3"/>
            </p:cNvCxnSpPr>
            <p:nvPr/>
          </p:nvCxnSpPr>
          <p:spPr bwMode="auto">
            <a:xfrm flipH="1" flipV="1">
              <a:off x="2047" y="2117"/>
              <a:ext cx="1651" cy="1"/>
            </a:xfrm>
            <a:prstGeom prst="straightConnector1">
              <a:avLst/>
            </a:prstGeom>
            <a:noFill/>
            <a:ln w="31750" cap="sq">
              <a:solidFill>
                <a:srgbClr val="808080"/>
              </a:solidFill>
              <a:round/>
              <a:headEnd/>
              <a:tailEnd type="stealth" w="lg" len="lg"/>
            </a:ln>
          </p:spPr>
        </p:cxnSp>
        <p:cxnSp>
          <p:nvCxnSpPr>
            <p:cNvPr id="55" name="AutoShape 54"/>
            <p:cNvCxnSpPr>
              <a:cxnSpLocks noChangeAspect="1" noChangeShapeType="1"/>
              <a:stCxn id="40" idx="1"/>
              <a:endCxn id="12" idx="3"/>
            </p:cNvCxnSpPr>
            <p:nvPr/>
          </p:nvCxnSpPr>
          <p:spPr bwMode="auto">
            <a:xfrm flipH="1">
              <a:off x="2059" y="2118"/>
              <a:ext cx="1639" cy="322"/>
            </a:xfrm>
            <a:prstGeom prst="straightConnector1">
              <a:avLst/>
            </a:prstGeom>
            <a:noFill/>
            <a:ln w="31750" cap="sq">
              <a:solidFill>
                <a:srgbClr val="808080"/>
              </a:solidFill>
              <a:round/>
              <a:headEnd/>
              <a:tailEnd type="stealth" w="lg" len="lg"/>
            </a:ln>
          </p:spPr>
        </p:cxnSp>
        <p:cxnSp>
          <p:nvCxnSpPr>
            <p:cNvPr id="56" name="AutoShape 55"/>
            <p:cNvCxnSpPr>
              <a:cxnSpLocks noChangeAspect="1" noChangeShapeType="1"/>
              <a:stCxn id="40" idx="1"/>
              <a:endCxn id="13" idx="3"/>
            </p:cNvCxnSpPr>
            <p:nvPr/>
          </p:nvCxnSpPr>
          <p:spPr bwMode="auto">
            <a:xfrm flipH="1">
              <a:off x="2059" y="2118"/>
              <a:ext cx="1639" cy="635"/>
            </a:xfrm>
            <a:prstGeom prst="straightConnector1">
              <a:avLst/>
            </a:prstGeom>
            <a:noFill/>
            <a:ln w="31750" cap="sq">
              <a:solidFill>
                <a:srgbClr val="808080"/>
              </a:solidFill>
              <a:round/>
              <a:headEnd/>
              <a:tailEnd type="stealth" w="lg" len="lg"/>
            </a:ln>
          </p:spPr>
        </p:cxnSp>
        <p:cxnSp>
          <p:nvCxnSpPr>
            <p:cNvPr id="57" name="AutoShape 56"/>
            <p:cNvCxnSpPr>
              <a:cxnSpLocks noChangeAspect="1" noChangeShapeType="1"/>
              <a:stCxn id="40" idx="1"/>
              <a:endCxn id="14" idx="3"/>
            </p:cNvCxnSpPr>
            <p:nvPr/>
          </p:nvCxnSpPr>
          <p:spPr bwMode="auto">
            <a:xfrm flipH="1">
              <a:off x="2059" y="2118"/>
              <a:ext cx="1639" cy="955"/>
            </a:xfrm>
            <a:prstGeom prst="straightConnector1">
              <a:avLst/>
            </a:prstGeom>
            <a:noFill/>
            <a:ln w="31750" cap="sq">
              <a:solidFill>
                <a:srgbClr val="808080"/>
              </a:solidFill>
              <a:round/>
              <a:headEnd/>
              <a:tailEnd type="stealth" w="lg" len="lg"/>
            </a:ln>
          </p:spPr>
        </p:cxnSp>
        <p:cxnSp>
          <p:nvCxnSpPr>
            <p:cNvPr id="58" name="AutoShape 57"/>
            <p:cNvCxnSpPr>
              <a:cxnSpLocks noChangeAspect="1" noChangeShapeType="1"/>
              <a:stCxn id="43" idx="1"/>
              <a:endCxn id="10" idx="3"/>
            </p:cNvCxnSpPr>
            <p:nvPr/>
          </p:nvCxnSpPr>
          <p:spPr bwMode="auto">
            <a:xfrm flipH="1" flipV="1">
              <a:off x="2059" y="1803"/>
              <a:ext cx="1639" cy="799"/>
            </a:xfrm>
            <a:prstGeom prst="straightConnector1">
              <a:avLst/>
            </a:prstGeom>
            <a:noFill/>
            <a:ln w="31750" cap="sq">
              <a:solidFill>
                <a:srgbClr val="808080"/>
              </a:solidFill>
              <a:round/>
              <a:headEnd/>
              <a:tailEnd type="stealth" w="lg" len="lg"/>
            </a:ln>
          </p:spPr>
        </p:cxnSp>
        <p:cxnSp>
          <p:nvCxnSpPr>
            <p:cNvPr id="59" name="AutoShape 58"/>
            <p:cNvCxnSpPr>
              <a:cxnSpLocks noChangeAspect="1" noChangeShapeType="1"/>
              <a:stCxn id="43" idx="1"/>
              <a:endCxn id="11" idx="3"/>
            </p:cNvCxnSpPr>
            <p:nvPr/>
          </p:nvCxnSpPr>
          <p:spPr bwMode="auto">
            <a:xfrm flipH="1" flipV="1">
              <a:off x="2047" y="2117"/>
              <a:ext cx="1651" cy="486"/>
            </a:xfrm>
            <a:prstGeom prst="straightConnector1">
              <a:avLst/>
            </a:prstGeom>
            <a:noFill/>
            <a:ln w="31750" cap="sq">
              <a:solidFill>
                <a:srgbClr val="808080"/>
              </a:solidFill>
              <a:round/>
              <a:headEnd/>
              <a:tailEnd type="stealth" w="lg" len="lg"/>
            </a:ln>
          </p:spPr>
        </p:cxnSp>
        <p:cxnSp>
          <p:nvCxnSpPr>
            <p:cNvPr id="60" name="AutoShape 59"/>
            <p:cNvCxnSpPr>
              <a:cxnSpLocks noChangeAspect="1" noChangeShapeType="1"/>
              <a:stCxn id="44" idx="1"/>
              <a:endCxn id="12" idx="3"/>
            </p:cNvCxnSpPr>
            <p:nvPr/>
          </p:nvCxnSpPr>
          <p:spPr bwMode="auto">
            <a:xfrm flipH="1" flipV="1">
              <a:off x="2059" y="2440"/>
              <a:ext cx="1639" cy="328"/>
            </a:xfrm>
            <a:prstGeom prst="straightConnector1">
              <a:avLst/>
            </a:prstGeom>
            <a:noFill/>
            <a:ln w="31750" cap="sq">
              <a:solidFill>
                <a:srgbClr val="808080"/>
              </a:solidFill>
              <a:round/>
              <a:headEnd/>
              <a:tailEnd type="stealth" w="lg" len="lg"/>
            </a:ln>
          </p:spPr>
        </p:cxnSp>
        <p:cxnSp>
          <p:nvCxnSpPr>
            <p:cNvPr id="61" name="AutoShape 60"/>
            <p:cNvCxnSpPr>
              <a:cxnSpLocks noChangeAspect="1" noChangeShapeType="1"/>
              <a:stCxn id="45" idx="1"/>
              <a:endCxn id="12" idx="3"/>
            </p:cNvCxnSpPr>
            <p:nvPr/>
          </p:nvCxnSpPr>
          <p:spPr bwMode="auto">
            <a:xfrm flipH="1" flipV="1">
              <a:off x="2059" y="2440"/>
              <a:ext cx="1639" cy="481"/>
            </a:xfrm>
            <a:prstGeom prst="straightConnector1">
              <a:avLst/>
            </a:prstGeom>
            <a:noFill/>
            <a:ln w="31750" cap="sq">
              <a:solidFill>
                <a:srgbClr val="808080"/>
              </a:solidFill>
              <a:round/>
              <a:headEnd/>
              <a:tailEnd type="stealth" w="lg" len="lg"/>
            </a:ln>
          </p:spPr>
        </p:cxnSp>
        <p:cxnSp>
          <p:nvCxnSpPr>
            <p:cNvPr id="62" name="AutoShape 61"/>
            <p:cNvCxnSpPr>
              <a:cxnSpLocks noChangeAspect="1" noChangeShapeType="1"/>
              <a:stCxn id="45" idx="1"/>
              <a:endCxn id="14" idx="3"/>
            </p:cNvCxnSpPr>
            <p:nvPr/>
          </p:nvCxnSpPr>
          <p:spPr bwMode="auto">
            <a:xfrm flipH="1">
              <a:off x="2059" y="2921"/>
              <a:ext cx="1639" cy="152"/>
            </a:xfrm>
            <a:prstGeom prst="straightConnector1">
              <a:avLst/>
            </a:prstGeom>
            <a:noFill/>
            <a:ln w="31750" cap="sq">
              <a:solidFill>
                <a:srgbClr val="808080"/>
              </a:solidFill>
              <a:round/>
              <a:headEnd/>
              <a:tailEnd type="stealth" w="lg" len="lg"/>
            </a:ln>
          </p:spPr>
        </p:cxnSp>
        <p:cxnSp>
          <p:nvCxnSpPr>
            <p:cNvPr id="63" name="AutoShape 62"/>
            <p:cNvCxnSpPr>
              <a:cxnSpLocks noChangeAspect="1" noChangeShapeType="1"/>
              <a:stCxn id="46" idx="1"/>
              <a:endCxn id="10" idx="3"/>
            </p:cNvCxnSpPr>
            <p:nvPr/>
          </p:nvCxnSpPr>
          <p:spPr bwMode="auto">
            <a:xfrm flipH="1" flipV="1">
              <a:off x="2059" y="1803"/>
              <a:ext cx="1639" cy="1283"/>
            </a:xfrm>
            <a:prstGeom prst="straightConnector1">
              <a:avLst/>
            </a:prstGeom>
            <a:noFill/>
            <a:ln w="31750" cap="sq">
              <a:solidFill>
                <a:srgbClr val="808080"/>
              </a:solidFill>
              <a:round/>
              <a:headEnd/>
              <a:tailEnd type="stealth" w="lg" len="lg"/>
            </a:ln>
          </p:spPr>
        </p:cxnSp>
        <p:cxnSp>
          <p:nvCxnSpPr>
            <p:cNvPr id="64" name="AutoShape 63"/>
            <p:cNvCxnSpPr>
              <a:cxnSpLocks noChangeAspect="1" noChangeShapeType="1"/>
              <a:stCxn id="46" idx="1"/>
              <a:endCxn id="11" idx="3"/>
            </p:cNvCxnSpPr>
            <p:nvPr/>
          </p:nvCxnSpPr>
          <p:spPr bwMode="auto">
            <a:xfrm flipH="1" flipV="1">
              <a:off x="2047" y="2117"/>
              <a:ext cx="1651" cy="969"/>
            </a:xfrm>
            <a:prstGeom prst="straightConnector1">
              <a:avLst/>
            </a:prstGeom>
            <a:noFill/>
            <a:ln w="31750" cap="sq">
              <a:solidFill>
                <a:srgbClr val="808080"/>
              </a:solidFill>
              <a:round/>
              <a:headEnd/>
              <a:tailEnd type="stealth" w="lg" len="lg"/>
            </a:ln>
          </p:spPr>
        </p:cxnSp>
        <p:cxnSp>
          <p:nvCxnSpPr>
            <p:cNvPr id="65" name="AutoShape 64"/>
            <p:cNvCxnSpPr>
              <a:cxnSpLocks noChangeAspect="1" noChangeShapeType="1"/>
              <a:stCxn id="46" idx="1"/>
              <a:endCxn id="12" idx="3"/>
            </p:cNvCxnSpPr>
            <p:nvPr/>
          </p:nvCxnSpPr>
          <p:spPr bwMode="auto">
            <a:xfrm flipH="1" flipV="1">
              <a:off x="2059" y="2440"/>
              <a:ext cx="1639" cy="646"/>
            </a:xfrm>
            <a:prstGeom prst="straightConnector1">
              <a:avLst/>
            </a:prstGeom>
            <a:noFill/>
            <a:ln w="31750" cap="sq">
              <a:solidFill>
                <a:srgbClr val="808080"/>
              </a:solidFill>
              <a:round/>
              <a:headEnd/>
              <a:tailEnd type="stealth" w="lg" len="lg"/>
            </a:ln>
          </p:spPr>
        </p:cxnSp>
        <p:cxnSp>
          <p:nvCxnSpPr>
            <p:cNvPr id="66" name="AutoShape 65"/>
            <p:cNvCxnSpPr>
              <a:cxnSpLocks noChangeAspect="1" noChangeShapeType="1"/>
              <a:stCxn id="46" idx="1"/>
              <a:endCxn id="14" idx="3"/>
            </p:cNvCxnSpPr>
            <p:nvPr/>
          </p:nvCxnSpPr>
          <p:spPr bwMode="auto">
            <a:xfrm flipH="1" flipV="1">
              <a:off x="2059" y="3073"/>
              <a:ext cx="1639" cy="13"/>
            </a:xfrm>
            <a:prstGeom prst="straightConnector1">
              <a:avLst/>
            </a:prstGeom>
            <a:noFill/>
            <a:ln w="31750" cap="sq">
              <a:solidFill>
                <a:srgbClr val="808080"/>
              </a:solidFill>
              <a:round/>
              <a:headEnd/>
              <a:tailEnd type="stealth" w="lg" len="lg"/>
            </a:ln>
          </p:spPr>
        </p:cxnSp>
        <p:cxnSp>
          <p:nvCxnSpPr>
            <p:cNvPr id="67" name="AutoShape 66"/>
            <p:cNvCxnSpPr>
              <a:cxnSpLocks noChangeAspect="1" noChangeShapeType="1"/>
              <a:stCxn id="46" idx="1"/>
              <a:endCxn id="15" idx="3"/>
            </p:cNvCxnSpPr>
            <p:nvPr/>
          </p:nvCxnSpPr>
          <p:spPr bwMode="auto">
            <a:xfrm flipH="1">
              <a:off x="2059" y="3086"/>
              <a:ext cx="1639" cy="297"/>
            </a:xfrm>
            <a:prstGeom prst="straightConnector1">
              <a:avLst/>
            </a:prstGeom>
            <a:noFill/>
            <a:ln w="31750" cap="sq">
              <a:solidFill>
                <a:srgbClr val="808080"/>
              </a:solidFill>
              <a:round/>
              <a:headEnd/>
              <a:tailEnd type="stealth" w="lg" len="lg"/>
            </a:ln>
          </p:spPr>
        </p:cxnSp>
        <p:cxnSp>
          <p:nvCxnSpPr>
            <p:cNvPr id="68" name="AutoShape 67"/>
            <p:cNvCxnSpPr>
              <a:cxnSpLocks noChangeAspect="1" noChangeShapeType="1"/>
              <a:stCxn id="47" idx="1"/>
              <a:endCxn id="14" idx="3"/>
            </p:cNvCxnSpPr>
            <p:nvPr/>
          </p:nvCxnSpPr>
          <p:spPr bwMode="auto">
            <a:xfrm flipH="1" flipV="1">
              <a:off x="2059" y="3073"/>
              <a:ext cx="1639" cy="175"/>
            </a:xfrm>
            <a:prstGeom prst="straightConnector1">
              <a:avLst/>
            </a:prstGeom>
            <a:noFill/>
            <a:ln w="31750" cap="sq">
              <a:solidFill>
                <a:srgbClr val="808080"/>
              </a:solidFill>
              <a:round/>
              <a:headEnd/>
              <a:tailEnd type="stealth" w="lg" len="lg"/>
            </a:ln>
          </p:spPr>
        </p:cxnSp>
        <p:cxnSp>
          <p:nvCxnSpPr>
            <p:cNvPr id="69" name="AutoShape 68"/>
            <p:cNvCxnSpPr>
              <a:cxnSpLocks noChangeAspect="1" noChangeShapeType="1"/>
              <a:stCxn id="46" idx="1"/>
              <a:endCxn id="15" idx="3"/>
            </p:cNvCxnSpPr>
            <p:nvPr/>
          </p:nvCxnSpPr>
          <p:spPr bwMode="auto">
            <a:xfrm flipH="1">
              <a:off x="2059" y="3086"/>
              <a:ext cx="1639" cy="297"/>
            </a:xfrm>
            <a:prstGeom prst="straightConnector1">
              <a:avLst/>
            </a:prstGeom>
            <a:noFill/>
            <a:ln w="31750" cap="sq">
              <a:solidFill>
                <a:srgbClr val="808080"/>
              </a:solidFill>
              <a:round/>
              <a:headEnd/>
              <a:tailEnd type="stealth" w="lg" len="lg"/>
            </a:ln>
          </p:spPr>
        </p:cxnSp>
        <p:cxnSp>
          <p:nvCxnSpPr>
            <p:cNvPr id="70" name="AutoShape 69"/>
            <p:cNvCxnSpPr>
              <a:cxnSpLocks noChangeAspect="1" noChangeShapeType="1"/>
              <a:stCxn id="47" idx="1"/>
              <a:endCxn id="14" idx="3"/>
            </p:cNvCxnSpPr>
            <p:nvPr/>
          </p:nvCxnSpPr>
          <p:spPr bwMode="auto">
            <a:xfrm flipH="1" flipV="1">
              <a:off x="2059" y="3073"/>
              <a:ext cx="1639" cy="175"/>
            </a:xfrm>
            <a:prstGeom prst="straightConnector1">
              <a:avLst/>
            </a:prstGeom>
            <a:noFill/>
            <a:ln w="31750" cap="sq">
              <a:solidFill>
                <a:srgbClr val="808080"/>
              </a:solidFill>
              <a:round/>
              <a:headEnd/>
              <a:tailEnd type="stealth" w="lg" len="lg"/>
            </a:ln>
          </p:spPr>
        </p:cxnSp>
        <p:cxnSp>
          <p:nvCxnSpPr>
            <p:cNvPr id="71" name="AutoShape 70"/>
            <p:cNvCxnSpPr>
              <a:cxnSpLocks noChangeAspect="1" noChangeShapeType="1"/>
              <a:stCxn id="47" idx="1"/>
              <a:endCxn id="13" idx="3"/>
            </p:cNvCxnSpPr>
            <p:nvPr/>
          </p:nvCxnSpPr>
          <p:spPr bwMode="auto">
            <a:xfrm flipH="1" flipV="1">
              <a:off x="2059" y="2753"/>
              <a:ext cx="1639" cy="495"/>
            </a:xfrm>
            <a:prstGeom prst="straightConnector1">
              <a:avLst/>
            </a:prstGeom>
            <a:noFill/>
            <a:ln w="31750" cap="sq">
              <a:solidFill>
                <a:srgbClr val="808080"/>
              </a:solidFill>
              <a:round/>
              <a:headEnd/>
              <a:tailEnd type="stealth" w="lg" len="lg"/>
            </a:ln>
          </p:spPr>
        </p:cxnSp>
        <p:cxnSp>
          <p:nvCxnSpPr>
            <p:cNvPr id="72" name="AutoShape 71"/>
            <p:cNvCxnSpPr>
              <a:cxnSpLocks noChangeAspect="1" noChangeShapeType="1"/>
              <a:stCxn id="48" idx="1"/>
              <a:endCxn id="13" idx="3"/>
            </p:cNvCxnSpPr>
            <p:nvPr/>
          </p:nvCxnSpPr>
          <p:spPr bwMode="auto">
            <a:xfrm flipH="1" flipV="1">
              <a:off x="2059" y="2753"/>
              <a:ext cx="1639" cy="660"/>
            </a:xfrm>
            <a:prstGeom prst="straightConnector1">
              <a:avLst/>
            </a:prstGeom>
            <a:noFill/>
            <a:ln w="31750" cap="sq">
              <a:solidFill>
                <a:srgbClr val="808080"/>
              </a:solidFill>
              <a:round/>
              <a:headEnd/>
              <a:tailEnd type="stealth" w="lg" len="lg"/>
            </a:ln>
          </p:spPr>
        </p:cxnSp>
        <p:cxnSp>
          <p:nvCxnSpPr>
            <p:cNvPr id="73" name="AutoShape 72"/>
            <p:cNvCxnSpPr>
              <a:cxnSpLocks noChangeAspect="1" noChangeShapeType="1"/>
              <a:stCxn id="48" idx="1"/>
              <a:endCxn id="14" idx="3"/>
            </p:cNvCxnSpPr>
            <p:nvPr/>
          </p:nvCxnSpPr>
          <p:spPr bwMode="auto">
            <a:xfrm flipH="1" flipV="1">
              <a:off x="2059" y="3073"/>
              <a:ext cx="1639" cy="340"/>
            </a:xfrm>
            <a:prstGeom prst="straightConnector1">
              <a:avLst/>
            </a:prstGeom>
            <a:noFill/>
            <a:ln w="31750" cap="sq">
              <a:solidFill>
                <a:srgbClr val="808080"/>
              </a:solidFill>
              <a:round/>
              <a:headEnd/>
              <a:tailEnd type="stealth" w="lg" len="lg"/>
            </a:ln>
          </p:spPr>
        </p:cxnSp>
        <p:cxnSp>
          <p:nvCxnSpPr>
            <p:cNvPr id="74" name="AutoShape 73"/>
            <p:cNvCxnSpPr>
              <a:cxnSpLocks noChangeAspect="1" noChangeShapeType="1"/>
              <a:stCxn id="49" idx="1"/>
              <a:endCxn id="15" idx="3"/>
            </p:cNvCxnSpPr>
            <p:nvPr/>
          </p:nvCxnSpPr>
          <p:spPr bwMode="auto">
            <a:xfrm flipH="1" flipV="1">
              <a:off x="2059" y="3383"/>
              <a:ext cx="1639" cy="184"/>
            </a:xfrm>
            <a:prstGeom prst="straightConnector1">
              <a:avLst/>
            </a:prstGeom>
            <a:noFill/>
            <a:ln w="31750" cap="sq">
              <a:solidFill>
                <a:srgbClr val="808080"/>
              </a:solidFill>
              <a:round/>
              <a:headEnd/>
              <a:tailEnd type="stealth" w="lg" len="lg"/>
            </a:ln>
          </p:spPr>
        </p:cxnSp>
        <p:cxnSp>
          <p:nvCxnSpPr>
            <p:cNvPr id="75" name="AutoShape 74"/>
            <p:cNvCxnSpPr>
              <a:cxnSpLocks noChangeAspect="1" noChangeShapeType="1"/>
              <a:stCxn id="50" idx="1"/>
              <a:endCxn id="15" idx="3"/>
            </p:cNvCxnSpPr>
            <p:nvPr/>
          </p:nvCxnSpPr>
          <p:spPr bwMode="auto">
            <a:xfrm flipH="1" flipV="1">
              <a:off x="2059" y="3383"/>
              <a:ext cx="1639" cy="353"/>
            </a:xfrm>
            <a:prstGeom prst="straightConnector1">
              <a:avLst/>
            </a:prstGeom>
            <a:noFill/>
            <a:ln w="31750" cap="sq">
              <a:solidFill>
                <a:srgbClr val="808080"/>
              </a:solidFill>
              <a:round/>
              <a:headEnd/>
              <a:tailEnd type="stealth" w="lg" len="lg"/>
            </a:ln>
          </p:spPr>
        </p:cxnSp>
        <p:cxnSp>
          <p:nvCxnSpPr>
            <p:cNvPr id="76" name="AutoShape 75"/>
            <p:cNvCxnSpPr>
              <a:cxnSpLocks noChangeAspect="1" noChangeShapeType="1"/>
              <a:stCxn id="18" idx="1"/>
              <a:endCxn id="6" idx="3"/>
            </p:cNvCxnSpPr>
            <p:nvPr/>
          </p:nvCxnSpPr>
          <p:spPr bwMode="auto">
            <a:xfrm flipH="1">
              <a:off x="2059" y="480"/>
              <a:ext cx="1639" cy="35"/>
            </a:xfrm>
            <a:prstGeom prst="straightConnector1">
              <a:avLst/>
            </a:prstGeom>
            <a:noFill/>
            <a:ln w="31750" cap="sq">
              <a:solidFill>
                <a:srgbClr val="808080"/>
              </a:solidFill>
              <a:round/>
              <a:headEnd/>
              <a:tailEnd type="stealth" w="lg" len="lg"/>
            </a:ln>
          </p:spPr>
        </p:cxnSp>
        <p:cxnSp>
          <p:nvCxnSpPr>
            <p:cNvPr id="77" name="AutoShape 76"/>
            <p:cNvCxnSpPr>
              <a:cxnSpLocks noChangeAspect="1" noChangeShapeType="1"/>
              <a:stCxn id="44" idx="1"/>
              <a:endCxn id="12" idx="3"/>
            </p:cNvCxnSpPr>
            <p:nvPr/>
          </p:nvCxnSpPr>
          <p:spPr bwMode="auto">
            <a:xfrm flipH="1" flipV="1">
              <a:off x="2059" y="2440"/>
              <a:ext cx="1639" cy="328"/>
            </a:xfrm>
            <a:prstGeom prst="straightConnector1">
              <a:avLst/>
            </a:prstGeom>
            <a:noFill/>
            <a:ln w="31750" cap="sq">
              <a:solidFill>
                <a:srgbClr val="808080"/>
              </a:solidFill>
              <a:round/>
              <a:headEnd/>
              <a:tailEnd type="stealth" w="lg" len="lg"/>
            </a:ln>
          </p:spPr>
        </p:cxn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dirty="0"/>
              <a:t>Yazılım Kalitesini Sağlama</a:t>
            </a:r>
          </a:p>
        </p:txBody>
      </p:sp>
      <p:sp>
        <p:nvSpPr>
          <p:cNvPr id="3" name="2 İçerik Yer Tutucusu"/>
          <p:cNvSpPr>
            <a:spLocks noGrp="1"/>
          </p:cNvSpPr>
          <p:nvPr>
            <p:ph idx="1"/>
          </p:nvPr>
        </p:nvSpPr>
        <p:spPr/>
        <p:txBody>
          <a:bodyPr/>
          <a:lstStyle/>
          <a:p>
            <a:r>
              <a:rPr lang="tr-TR" dirty="0"/>
              <a:t>Yazılım kalitesini sağlamak için, hata ve eksiklerin anında bulunması ve düzeltilmesi büyük önem taşımaktadır. Çünkü, bir basamakta yapılan hata, sonraki basamakları da etkilemektedir. İleri basamaklarda bu hatanın bulunması olasılığı giderek azalmakta, düzeltilmesi için gerekli emek ve gider de zamanla orantılı olarak artmaktadır (Şekil -2.3).</a:t>
            </a:r>
          </a:p>
          <a:p>
            <a:endParaRPr lang="tr-TR" dirty="0"/>
          </a:p>
        </p:txBody>
      </p:sp>
      <p:sp>
        <p:nvSpPr>
          <p:cNvPr id="4" name="3 Dikdörtgen"/>
          <p:cNvSpPr/>
          <p:nvPr/>
        </p:nvSpPr>
        <p:spPr>
          <a:xfrm>
            <a:off x="3231312" y="3244334"/>
            <a:ext cx="2681375" cy="369332"/>
          </a:xfrm>
          <a:prstGeom prst="rect">
            <a:avLst/>
          </a:prstGeom>
        </p:spPr>
        <p:txBody>
          <a:bodyPr wrap="none">
            <a:spAutoFit/>
          </a:bodyPr>
          <a:lstStyle/>
          <a:p>
            <a:r>
              <a:rPr lang="tr-TR" dirty="0"/>
              <a:t>Yazılım kalitesini sağlamak </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fontScale="90000"/>
          </a:bodyPr>
          <a:lstStyle/>
          <a:p>
            <a:r>
              <a:rPr lang="tr-TR" dirty="0"/>
              <a:t>Yazılım Kalite Sağlama Aktiviteleri</a:t>
            </a:r>
            <a:br>
              <a:rPr lang="tr-TR" dirty="0"/>
            </a:br>
            <a:endParaRPr lang="tr-TR" dirty="0"/>
          </a:p>
        </p:txBody>
      </p:sp>
      <p:sp>
        <p:nvSpPr>
          <p:cNvPr id="3" name="2 İçerik Yer Tutucusu"/>
          <p:cNvSpPr>
            <a:spLocks noGrp="1"/>
          </p:cNvSpPr>
          <p:nvPr>
            <p:ph idx="1"/>
          </p:nvPr>
        </p:nvSpPr>
        <p:spPr/>
        <p:txBody>
          <a:bodyPr>
            <a:normAutofit fontScale="92500" lnSpcReduction="10000"/>
          </a:bodyPr>
          <a:lstStyle/>
          <a:p>
            <a:pPr lvl="0"/>
            <a:r>
              <a:rPr lang="tr-TR" dirty="0"/>
              <a:t>Standartlar</a:t>
            </a:r>
          </a:p>
          <a:p>
            <a:pPr lvl="0"/>
            <a:r>
              <a:rPr lang="tr-TR" dirty="0"/>
              <a:t>Geçerleme ve Doğrulama (</a:t>
            </a:r>
            <a:r>
              <a:rPr lang="tr-TR" dirty="0" err="1"/>
              <a:t>Verification</a:t>
            </a:r>
            <a:r>
              <a:rPr lang="tr-TR" dirty="0"/>
              <a:t> / </a:t>
            </a:r>
            <a:r>
              <a:rPr lang="tr-TR" dirty="0" err="1"/>
              <a:t>Validation</a:t>
            </a:r>
            <a:r>
              <a:rPr lang="tr-TR" dirty="0"/>
              <a:t>)</a:t>
            </a:r>
          </a:p>
          <a:p>
            <a:pPr lvl="0"/>
            <a:r>
              <a:rPr lang="tr-TR" dirty="0"/>
              <a:t>Gözden geçirme ve denetim (</a:t>
            </a:r>
            <a:r>
              <a:rPr lang="tr-TR" dirty="0" err="1"/>
              <a:t>Reviews</a:t>
            </a:r>
            <a:r>
              <a:rPr lang="tr-TR" dirty="0"/>
              <a:t> </a:t>
            </a:r>
            <a:r>
              <a:rPr lang="tr-TR" dirty="0" err="1"/>
              <a:t>and</a:t>
            </a:r>
            <a:r>
              <a:rPr lang="tr-TR" dirty="0"/>
              <a:t> </a:t>
            </a:r>
            <a:r>
              <a:rPr lang="tr-TR" dirty="0" err="1"/>
              <a:t>Audits</a:t>
            </a:r>
            <a:r>
              <a:rPr lang="tr-TR" dirty="0"/>
              <a:t>)</a:t>
            </a:r>
          </a:p>
          <a:p>
            <a:pPr lvl="0"/>
            <a:r>
              <a:rPr lang="tr-TR" dirty="0"/>
              <a:t>Test</a:t>
            </a:r>
          </a:p>
          <a:p>
            <a:pPr lvl="0"/>
            <a:r>
              <a:rPr lang="tr-TR" dirty="0"/>
              <a:t>Hata / kusur analizi (</a:t>
            </a:r>
            <a:r>
              <a:rPr lang="tr-TR" dirty="0" err="1"/>
              <a:t>error</a:t>
            </a:r>
            <a:r>
              <a:rPr lang="tr-TR" dirty="0"/>
              <a:t>/</a:t>
            </a:r>
            <a:r>
              <a:rPr lang="tr-TR" dirty="0" err="1"/>
              <a:t>defect</a:t>
            </a:r>
            <a:r>
              <a:rPr lang="tr-TR" dirty="0"/>
              <a:t>)</a:t>
            </a:r>
          </a:p>
          <a:p>
            <a:pPr lvl="0"/>
            <a:r>
              <a:rPr lang="tr-TR" dirty="0"/>
              <a:t>Değişim yönetimi, konfigürasyon yönetimi</a:t>
            </a:r>
          </a:p>
          <a:p>
            <a:pPr lvl="0"/>
            <a:r>
              <a:rPr lang="tr-TR" dirty="0"/>
              <a:t>Eğitim</a:t>
            </a:r>
          </a:p>
          <a:p>
            <a:pPr lvl="0"/>
            <a:r>
              <a:rPr lang="tr-TR" dirty="0"/>
              <a:t>Risk yönetimi</a:t>
            </a:r>
          </a:p>
          <a:p>
            <a:endParaRPr lang="tr-TR"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fontScale="90000"/>
          </a:bodyPr>
          <a:lstStyle/>
          <a:p>
            <a:r>
              <a:rPr lang="tr-TR" dirty="0"/>
              <a:t>Yazılım geliştirme sürecinde kaliteyi yükseltmek için</a:t>
            </a:r>
          </a:p>
        </p:txBody>
      </p:sp>
      <p:sp>
        <p:nvSpPr>
          <p:cNvPr id="3" name="2 İçerik Yer Tutucusu"/>
          <p:cNvSpPr>
            <a:spLocks noGrp="1"/>
          </p:cNvSpPr>
          <p:nvPr>
            <p:ph idx="1"/>
          </p:nvPr>
        </p:nvSpPr>
        <p:spPr/>
        <p:txBody>
          <a:bodyPr>
            <a:normAutofit fontScale="92500" lnSpcReduction="20000"/>
          </a:bodyPr>
          <a:lstStyle/>
          <a:p>
            <a:pPr lvl="0"/>
            <a:r>
              <a:rPr lang="tr-TR" dirty="0"/>
              <a:t>Gereksinim analizi aşamasında: sistemin kolayca kullanılıp öğrenilir olması, istenmeyen hallerin plânlı olarak değiştirilmesine çaba gösterilmesi </a:t>
            </a:r>
          </a:p>
          <a:p>
            <a:pPr lvl="0"/>
            <a:r>
              <a:rPr lang="tr-TR" dirty="0"/>
              <a:t>Modüllere ayırmada: taşınabilirlik ve bağlanabilirlik özeliklerine önem verilmesi </a:t>
            </a:r>
          </a:p>
          <a:p>
            <a:pPr lvl="0"/>
            <a:r>
              <a:rPr lang="tr-TR" dirty="0"/>
              <a:t>Ayrıntılı tasarımda: doğruluk faktörüne ağırlık verilmesi </a:t>
            </a:r>
          </a:p>
          <a:p>
            <a:pPr lvl="0"/>
            <a:r>
              <a:rPr lang="tr-TR" dirty="0"/>
              <a:t>Sınama aşamasında: doğruluk ve olduğunca performans vb. diğer faktörlerin ölçümüne çaba gösterilmesi </a:t>
            </a:r>
          </a:p>
          <a:p>
            <a:pPr>
              <a:buNone/>
            </a:pPr>
            <a:r>
              <a:rPr lang="tr-TR" dirty="0"/>
              <a:t>öğütlenmektedir.</a:t>
            </a:r>
          </a:p>
          <a:p>
            <a:endParaRPr lang="tr-TR" dirty="0"/>
          </a:p>
        </p:txBody>
      </p:sp>
    </p:spTree>
  </p:cSld>
  <p:clrMapOvr>
    <a:masterClrMapping/>
  </p:clrMapOvr>
</p:sld>
</file>

<file path=ppt/theme/theme1.xml><?xml version="1.0" encoding="utf-8"?>
<a:theme xmlns:a="http://schemas.openxmlformats.org/drawingml/2006/main" name="Ofis Teması">
  <a:themeElements>
    <a:clrScheme name="Ofis">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is">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is Teması">
  <a:themeElements>
    <a:clrScheme name="Ofis">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is">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117</TotalTime>
  <Words>1114</Words>
  <Application>Microsoft Office PowerPoint</Application>
  <PresentationFormat>Ekran Gösterisi (4:3)</PresentationFormat>
  <Paragraphs>165</Paragraphs>
  <Slides>24</Slides>
  <Notes>1</Notes>
  <HiddenSlides>0</HiddenSlides>
  <MMClips>0</MMClips>
  <ScaleCrop>false</ScaleCrop>
  <HeadingPairs>
    <vt:vector size="6" baseType="variant">
      <vt:variant>
        <vt:lpstr>Kullanılan Yazı Tipleri</vt:lpstr>
      </vt:variant>
      <vt:variant>
        <vt:i4>2</vt:i4>
      </vt:variant>
      <vt:variant>
        <vt:lpstr>Tema</vt:lpstr>
      </vt:variant>
      <vt:variant>
        <vt:i4>1</vt:i4>
      </vt:variant>
      <vt:variant>
        <vt:lpstr>Slayt Başlıkları</vt:lpstr>
      </vt:variant>
      <vt:variant>
        <vt:i4>24</vt:i4>
      </vt:variant>
    </vt:vector>
  </HeadingPairs>
  <TitlesOfParts>
    <vt:vector size="27" baseType="lpstr">
      <vt:lpstr>Arial</vt:lpstr>
      <vt:lpstr>Calibri</vt:lpstr>
      <vt:lpstr>Ofis Teması</vt:lpstr>
      <vt:lpstr>Yazılım Mühendisliğinde Kalitenin Yeri</vt:lpstr>
      <vt:lpstr>PowerPoint Sunusu</vt:lpstr>
      <vt:lpstr>. Yazılım geliştirme süreci esas süreç adımları</vt:lpstr>
      <vt:lpstr>Yazılım Mühendisliği destek süreç adımları</vt:lpstr>
      <vt:lpstr>Yazılım Geliştirme Süreç Modelleri </vt:lpstr>
      <vt:lpstr>  Şekil 1.2. Spiral Modelin evrimsel yazılım geliştirme süreç yapısı </vt:lpstr>
      <vt:lpstr>Spiral model</vt:lpstr>
      <vt:lpstr>Çevik Yaklaşımlar ile Yazılım Geliştirme</vt:lpstr>
      <vt:lpstr>XP(eXtreme Programming), </vt:lpstr>
      <vt:lpstr>Geleneksel yazılım geliştirme süreç modellerine göre çevik modellerde, </vt:lpstr>
      <vt:lpstr>. Test güdümlü yazılım geliştirme  </vt:lpstr>
      <vt:lpstr> TDD Uygulama Basamakları</vt:lpstr>
      <vt:lpstr>TDD Hakkında Çalışmalar</vt:lpstr>
      <vt:lpstr>2.YAZILIM KALİTE TEMEL KAVRAMLAR </vt:lpstr>
      <vt:lpstr>Yazılım Kalite Özellikleri</vt:lpstr>
      <vt:lpstr>Şekil 2.1:   Yazılım Kalite Faktörleri  </vt:lpstr>
      <vt:lpstr>Yazılım Kalite Özellikleri  (1)</vt:lpstr>
      <vt:lpstr>Yazılım Kalite Özellikleri  (2)</vt:lpstr>
      <vt:lpstr>Yazılım Kalite Özellikleri  (3)</vt:lpstr>
      <vt:lpstr>Mc Call Yazılım Kalite Modeli</vt:lpstr>
      <vt:lpstr>Şekil 2.2:   Mc Call Kalite Modeli</vt:lpstr>
      <vt:lpstr>Yazılım Kalitesini Sağlama</vt:lpstr>
      <vt:lpstr>Yazılım Kalite Sağlama Aktiviteleri </vt:lpstr>
      <vt:lpstr>Yazılım geliştirme sürecinde kaliteyi yükseltmek için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Çevik Yaklaşımlar ile Yazılım Geliştirme</dc:title>
  <dc:creator>oyalar</dc:creator>
  <cp:lastModifiedBy>Oya KALIPSIZ</cp:lastModifiedBy>
  <cp:revision>12</cp:revision>
  <dcterms:created xsi:type="dcterms:W3CDTF">2015-02-24T16:11:13Z</dcterms:created>
  <dcterms:modified xsi:type="dcterms:W3CDTF">2025-11-11T09:20:52Z</dcterms:modified>
</cp:coreProperties>
</file>