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tr-TR" i="1" dirty="0" err="1"/>
              <a:t>Bug</a:t>
            </a:r>
            <a:r>
              <a:rPr lang="tr-TR" dirty="0"/>
              <a:t> Nedenleri</a:t>
            </a:r>
            <a:endParaRPr lang="en-US" dirty="0"/>
          </a:p>
        </c:rich>
      </c:tx>
      <c:layout>
        <c:manualLayout>
          <c:xMode val="edge"/>
          <c:yMode val="edge"/>
          <c:x val="0.75917432195975509"/>
          <c:y val="0.27499120076765982"/>
        </c:manualLayout>
      </c:layout>
      <c:overlay val="0"/>
    </c:title>
    <c:autoTitleDeleted val="0"/>
    <c:plotArea>
      <c:layout/>
      <c:pieChart>
        <c:varyColors val="1"/>
        <c:ser>
          <c:idx val="0"/>
          <c:order val="0"/>
          <c:tx>
            <c:strRef>
              <c:f>Sayfa1!$B$1</c:f>
              <c:strCache>
                <c:ptCount val="1"/>
                <c:pt idx="0">
                  <c:v>Satışlar</c:v>
                </c:pt>
              </c:strCache>
            </c:strRef>
          </c:tx>
          <c:dLbls>
            <c:dLbl>
              <c:idx val="0"/>
              <c:tx>
                <c:rich>
                  <a:bodyPr/>
                  <a:lstStyle/>
                  <a:p>
                    <a:r>
                      <a:rPr lang="tr-TR" sz="1200" dirty="0"/>
                      <a:t>Gereksinim</a:t>
                    </a:r>
                    <a:endParaRPr lang="en-US" sz="1200" dirty="0"/>
                  </a:p>
                </c:rich>
              </c:tx>
              <c:showLegendKey val="0"/>
              <c:showVal val="1"/>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BF8-4635-A2FC-8B821BABCB27}"/>
                </c:ext>
              </c:extLst>
            </c:dLbl>
            <c:dLbl>
              <c:idx val="1"/>
              <c:tx>
                <c:rich>
                  <a:bodyPr/>
                  <a:lstStyle/>
                  <a:p>
                    <a:r>
                      <a:rPr lang="tr-TR" sz="1200"/>
                      <a:t>Tasarım</a:t>
                    </a:r>
                    <a:endParaRPr lang="en-US" sz="1200" dirty="0"/>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BF8-4635-A2FC-8B821BABCB27}"/>
                </c:ext>
              </c:extLst>
            </c:dLbl>
            <c:dLbl>
              <c:idx val="2"/>
              <c:layout>
                <c:manualLayout>
                  <c:x val="5.4808799941674174E-2"/>
                  <c:y val="5.3114221216567774E-2"/>
                </c:manualLayout>
              </c:layout>
              <c:tx>
                <c:rich>
                  <a:bodyPr/>
                  <a:lstStyle/>
                  <a:p>
                    <a:pPr>
                      <a:defRPr sz="1200"/>
                    </a:pPr>
                    <a:r>
                      <a:rPr lang="tr-TR" sz="1200" dirty="0"/>
                      <a:t>Kod</a:t>
                    </a:r>
                    <a:endParaRPr lang="en-US" sz="1200" dirty="0"/>
                  </a:p>
                </c:rich>
              </c:tx>
              <c:spP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BF8-4635-A2FC-8B821BABCB27}"/>
                </c:ext>
              </c:extLst>
            </c:dLbl>
            <c:dLbl>
              <c:idx val="3"/>
              <c:layout>
                <c:manualLayout>
                  <c:x val="2.1181588412559647E-2"/>
                  <c:y val="7.2292018295333146E-2"/>
                </c:manualLayout>
              </c:layout>
              <c:tx>
                <c:rich>
                  <a:bodyPr/>
                  <a:lstStyle/>
                  <a:p>
                    <a:r>
                      <a:rPr lang="tr-TR" sz="1100" dirty="0"/>
                      <a:t>Diğer</a:t>
                    </a:r>
                    <a:endParaRPr lang="en-US" sz="1100" dirty="0"/>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BF8-4635-A2FC-8B821BABCB27}"/>
                </c:ext>
              </c:extLst>
            </c:dLbl>
            <c:spPr>
              <a:noFill/>
              <a:ln>
                <a:noFill/>
              </a:ln>
              <a:effectLst/>
            </c:spPr>
            <c:showLegendKey val="0"/>
            <c:showVal val="0"/>
            <c:showCatName val="0"/>
            <c:showSerName val="1"/>
            <c:showPercent val="0"/>
            <c:showBubbleSize val="0"/>
            <c:showLeaderLines val="1"/>
            <c:extLst>
              <c:ext xmlns:c15="http://schemas.microsoft.com/office/drawing/2012/chart" uri="{CE6537A1-D6FC-4f65-9D91-7224C49458BB}"/>
            </c:extLst>
          </c:dLbls>
          <c:cat>
            <c:strRef>
              <c:f>Sayfa1!$A$2:$A$5</c:f>
              <c:strCache>
                <c:ptCount val="4"/>
                <c:pt idx="0">
                  <c:v>Gereksinim</c:v>
                </c:pt>
                <c:pt idx="1">
                  <c:v>Tasarım</c:v>
                </c:pt>
                <c:pt idx="2">
                  <c:v>Kod</c:v>
                </c:pt>
                <c:pt idx="3">
                  <c:v>Diğer</c:v>
                </c:pt>
              </c:strCache>
            </c:strRef>
          </c:cat>
          <c:val>
            <c:numRef>
              <c:f>Sayfa1!$B$2:$B$5</c:f>
              <c:numCache>
                <c:formatCode>General</c:formatCode>
                <c:ptCount val="4"/>
                <c:pt idx="0">
                  <c:v>8</c:v>
                </c:pt>
                <c:pt idx="1">
                  <c:v>4</c:v>
                </c:pt>
                <c:pt idx="2">
                  <c:v>2</c:v>
                </c:pt>
                <c:pt idx="3">
                  <c:v>0.9</c:v>
                </c:pt>
              </c:numCache>
            </c:numRef>
          </c:val>
          <c:extLst>
            <c:ext xmlns:c16="http://schemas.microsoft.com/office/drawing/2014/chart" uri="{C3380CC4-5D6E-409C-BE32-E72D297353CC}">
              <c16:uniqueId val="{00000004-BBF8-4635-A2FC-8B821BABCB27}"/>
            </c:ext>
          </c:extLst>
        </c:ser>
        <c:dLbls>
          <c:showLegendKey val="0"/>
          <c:showVal val="0"/>
          <c:showCatName val="0"/>
          <c:showSerName val="0"/>
          <c:showPercent val="0"/>
          <c:showBubbleSize val="0"/>
          <c:showLeaderLines val="1"/>
        </c:dLbls>
        <c:firstSliceAng val="0"/>
      </c:pieChart>
    </c:plotArea>
    <c:legend>
      <c:legendPos val="r"/>
      <c:overlay val="0"/>
    </c:legend>
    <c:plotVisOnly val="1"/>
    <c:dispBlanksAs val="gap"/>
    <c:showDLblsOverMax val="0"/>
  </c:chart>
  <c:txPr>
    <a:bodyPr/>
    <a:lstStyle/>
    <a:p>
      <a:pPr>
        <a:defRPr sz="1800"/>
      </a:pPr>
      <a:endParaRPr lang="tr-TR"/>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0.09201</cdr:x>
      <cdr:y>0.08839</cdr:y>
    </cdr:from>
    <cdr:to>
      <cdr:x>0.73438</cdr:x>
      <cdr:y>0.16731</cdr:y>
    </cdr:to>
    <cdr:sp macro="" textlink="">
      <cdr:nvSpPr>
        <cdr:cNvPr id="2" name="1 Metin kutusu"/>
        <cdr:cNvSpPr txBox="1"/>
      </cdr:nvSpPr>
      <cdr:spPr>
        <a:xfrm xmlns:a="http://schemas.openxmlformats.org/drawingml/2006/main">
          <a:off x="757214" y="400040"/>
          <a:ext cx="5286412" cy="35719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tr-TR" sz="1200" dirty="0"/>
            <a:t>Şekil 5.11. Yazılım </a:t>
          </a:r>
          <a:r>
            <a:rPr lang="tr-TR" sz="1200" i="1" dirty="0" err="1"/>
            <a:t>Bug</a:t>
          </a:r>
          <a:r>
            <a:rPr lang="tr-TR" sz="1200" dirty="0"/>
            <a:t> Nedenleri</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6BDDC7-65D0-4B46-9451-6620998FAB07}" type="datetimeFigureOut">
              <a:rPr lang="tr-TR" smtClean="0"/>
              <a:pPr/>
              <a:t>9.10.2024</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F097B1-B6AB-40E8-99CA-77F4D8A9DBB6}"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45F097B1-B6AB-40E8-99CA-77F4D8A9DBB6}" type="slidenum">
              <a:rPr lang="tr-TR" smtClean="0"/>
              <a:pPr/>
              <a:t>2</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29357A44-587A-4365-8719-E63DA4CA43B7}" type="datetimeFigureOut">
              <a:rPr lang="tr-TR" smtClean="0"/>
              <a:pPr/>
              <a:t>9.10.2024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0EE7E06-610C-4621-9DB5-C3F0F762C159}"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357A44-587A-4365-8719-E63DA4CA43B7}" type="datetimeFigureOut">
              <a:rPr lang="tr-TR" smtClean="0"/>
              <a:pPr/>
              <a:t>9.10.2024</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EE7E06-610C-4621-9DB5-C3F0F762C159}"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539552" y="332656"/>
            <a:ext cx="7772400" cy="1470025"/>
          </a:xfrm>
        </p:spPr>
        <p:txBody>
          <a:bodyPr/>
          <a:lstStyle/>
          <a:p>
            <a:r>
              <a:rPr lang="tr-TR" dirty="0"/>
              <a:t>Yazılım incelemesi</a:t>
            </a:r>
          </a:p>
        </p:txBody>
      </p:sp>
      <p:sp>
        <p:nvSpPr>
          <p:cNvPr id="3" name="2 Alt Başlık"/>
          <p:cNvSpPr>
            <a:spLocks noGrp="1"/>
          </p:cNvSpPr>
          <p:nvPr>
            <p:ph type="subTitle" idx="1"/>
          </p:nvPr>
        </p:nvSpPr>
        <p:spPr>
          <a:xfrm>
            <a:off x="971600" y="1484784"/>
            <a:ext cx="6760840" cy="4680520"/>
          </a:xfrm>
        </p:spPr>
        <p:txBody>
          <a:bodyPr>
            <a:normAutofit lnSpcReduction="10000"/>
          </a:bodyPr>
          <a:lstStyle/>
          <a:p>
            <a:pPr algn="just"/>
            <a:r>
              <a:rPr lang="tr-TR" dirty="0"/>
              <a:t>Yazılım incelemesi ile ilgili birbiriyle iç içe geçmiş çok fazla teknik bulunmaktadır. bu konuyla ilgili belli başlı ve kabul görmüş yöntemler vardır. Bu teknik ve süreçler,</a:t>
            </a:r>
          </a:p>
          <a:p>
            <a:pPr lvl="1" algn="just">
              <a:buFont typeface="Arial" pitchFamily="34" charset="0"/>
              <a:buChar char="•"/>
            </a:pPr>
            <a:r>
              <a:rPr lang="tr-TR" dirty="0"/>
              <a:t>İnceleme kapsamı ve alanı</a:t>
            </a:r>
          </a:p>
          <a:p>
            <a:pPr lvl="1" algn="just">
              <a:buFont typeface="Arial" pitchFamily="34" charset="0"/>
              <a:buChar char="•"/>
            </a:pPr>
            <a:r>
              <a:rPr lang="tr-TR" dirty="0"/>
              <a:t>İnceleme ekibi büyüklüğü ve</a:t>
            </a:r>
          </a:p>
          <a:p>
            <a:pPr lvl="1" algn="just">
              <a:buFont typeface="Arial" pitchFamily="34" charset="0"/>
              <a:buChar char="•"/>
            </a:pPr>
            <a:r>
              <a:rPr lang="tr-TR" dirty="0"/>
              <a:t>İnceleme kurallarına göre </a:t>
            </a:r>
          </a:p>
          <a:p>
            <a:pPr algn="just"/>
            <a:r>
              <a:rPr lang="tr-TR" dirty="0"/>
              <a:t>belirlenmiştir. En önemlisi </a:t>
            </a:r>
            <a:r>
              <a:rPr lang="tr-TR" dirty="0" err="1"/>
              <a:t>Fagan</a:t>
            </a:r>
            <a:r>
              <a:rPr lang="tr-TR" dirty="0"/>
              <a:t> yöntemidir.</a:t>
            </a:r>
          </a:p>
          <a:p>
            <a:pPr algn="just"/>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Sistem Testi: Performans Testi</a:t>
            </a:r>
          </a:p>
        </p:txBody>
      </p:sp>
      <p:sp>
        <p:nvSpPr>
          <p:cNvPr id="3" name="2 İçerik Yer Tutucusu"/>
          <p:cNvSpPr>
            <a:spLocks noGrp="1"/>
          </p:cNvSpPr>
          <p:nvPr>
            <p:ph idx="1"/>
          </p:nvPr>
        </p:nvSpPr>
        <p:spPr/>
        <p:txBody>
          <a:bodyPr>
            <a:normAutofit fontScale="77500" lnSpcReduction="20000"/>
          </a:bodyPr>
          <a:lstStyle/>
          <a:p>
            <a:r>
              <a:rPr lang="tr-TR" dirty="0"/>
              <a:t>Performans testinde gerçekleştirilen işlemler,</a:t>
            </a:r>
          </a:p>
          <a:p>
            <a:pPr lvl="1"/>
            <a:r>
              <a:rPr lang="tr-TR" dirty="0"/>
              <a:t>performans seviyelerinin belirlenmesi </a:t>
            </a:r>
          </a:p>
          <a:p>
            <a:pPr lvl="1"/>
            <a:r>
              <a:rPr lang="tr-TR" dirty="0"/>
              <a:t>belirli bir yük altındaki sistem çalışma zamanı performansının ölçülmesi</a:t>
            </a:r>
          </a:p>
          <a:p>
            <a:pPr lvl="1"/>
            <a:r>
              <a:rPr lang="tr-TR" dirty="0"/>
              <a:t>sistem ayarlamaları (</a:t>
            </a:r>
            <a:r>
              <a:rPr lang="tr-TR" dirty="0" err="1"/>
              <a:t>tuning</a:t>
            </a:r>
            <a:r>
              <a:rPr lang="tr-TR" dirty="0"/>
              <a:t>) </a:t>
            </a:r>
            <a:r>
              <a:rPr lang="tr-TR" dirty="0" err="1"/>
              <a:t>dir</a:t>
            </a:r>
            <a:r>
              <a:rPr lang="tr-TR" dirty="0"/>
              <a:t>.</a:t>
            </a:r>
          </a:p>
          <a:p>
            <a:r>
              <a:rPr lang="tr-TR" dirty="0"/>
              <a:t>Performans testi aşağıdaki sorulara cevap vermektedir:</a:t>
            </a:r>
          </a:p>
          <a:p>
            <a:pPr lvl="1"/>
            <a:r>
              <a:rPr lang="tr-TR" dirty="0"/>
              <a:t>Sistem gereksinimleri karşılıyor mu ?</a:t>
            </a:r>
          </a:p>
          <a:p>
            <a:pPr lvl="1"/>
            <a:r>
              <a:rPr lang="tr-TR" dirty="0"/>
              <a:t>Normal şartlar altında sistem nasıl davranıyor?</a:t>
            </a:r>
          </a:p>
          <a:p>
            <a:pPr lvl="1"/>
            <a:r>
              <a:rPr lang="tr-TR" dirty="0"/>
              <a:t>Sistem trafiğindeki artışlar işlem süresini, </a:t>
            </a:r>
            <a:r>
              <a:rPr lang="tr-TR" dirty="0" err="1"/>
              <a:t>fonksiyonaliteyi</a:t>
            </a:r>
            <a:r>
              <a:rPr lang="tr-TR" dirty="0"/>
              <a:t> nasıl etkiler.</a:t>
            </a:r>
          </a:p>
          <a:p>
            <a:pPr lvl="1"/>
            <a:r>
              <a:rPr lang="tr-TR" dirty="0"/>
              <a:t>Hangi kullanıcı seviyesinde performans problemleri yaşanır?</a:t>
            </a:r>
          </a:p>
          <a:p>
            <a:pPr lvl="1"/>
            <a:r>
              <a:rPr lang="tr-TR" dirty="0"/>
              <a:t>Performans seviyelerindeki düşüş sistemin hangi bileşeninden kaynaklanır?</a:t>
            </a:r>
          </a:p>
          <a:p>
            <a:endParaRPr lang="tr-T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Test Tipleri</a:t>
            </a:r>
          </a:p>
        </p:txBody>
      </p:sp>
      <p:sp>
        <p:nvSpPr>
          <p:cNvPr id="3" name="2 İçerik Yer Tutucusu"/>
          <p:cNvSpPr>
            <a:spLocks noGrp="1"/>
          </p:cNvSpPr>
          <p:nvPr>
            <p:ph idx="1"/>
          </p:nvPr>
        </p:nvSpPr>
        <p:spPr/>
        <p:txBody>
          <a:bodyPr>
            <a:normAutofit fontScale="92500"/>
          </a:bodyPr>
          <a:lstStyle/>
          <a:p>
            <a:pPr>
              <a:buNone/>
            </a:pPr>
            <a:r>
              <a:rPr lang="tr-TR" dirty="0"/>
              <a:t>Fonksiyonel-performans ve </a:t>
            </a:r>
            <a:r>
              <a:rPr lang="tr-TR" dirty="0" err="1"/>
              <a:t>dayanıklık</a:t>
            </a:r>
            <a:r>
              <a:rPr lang="tr-TR" dirty="0"/>
              <a:t> testlerine, sistemin dış </a:t>
            </a:r>
            <a:r>
              <a:rPr lang="tr-TR" dirty="0" err="1"/>
              <a:t>spesifikasyonlarına</a:t>
            </a:r>
            <a:r>
              <a:rPr lang="tr-TR" dirty="0"/>
              <a:t> ve gereksinimlerine dayandırıldığı için, </a:t>
            </a:r>
            <a:r>
              <a:rPr lang="tr-TR" b="1" dirty="0"/>
              <a:t>kara kutu testi</a:t>
            </a:r>
            <a:r>
              <a:rPr lang="tr-TR" dirty="0"/>
              <a:t> (</a:t>
            </a:r>
            <a:r>
              <a:rPr lang="tr-TR" dirty="0" err="1"/>
              <a:t>black</a:t>
            </a:r>
            <a:r>
              <a:rPr lang="tr-TR" dirty="0"/>
              <a:t> </a:t>
            </a:r>
            <a:r>
              <a:rPr lang="tr-TR" dirty="0" err="1"/>
              <a:t>box</a:t>
            </a:r>
            <a:r>
              <a:rPr lang="tr-TR" dirty="0"/>
              <a:t> </a:t>
            </a:r>
            <a:r>
              <a:rPr lang="tr-TR" dirty="0" err="1"/>
              <a:t>testing</a:t>
            </a:r>
            <a:r>
              <a:rPr lang="tr-TR" dirty="0"/>
              <a:t>) adı verilmektedir. </a:t>
            </a:r>
          </a:p>
          <a:p>
            <a:r>
              <a:rPr lang="tr-TR" dirty="0"/>
              <a:t>Buna karşılık, yapısal denetimde modül düzeyinde programın deyimleri ya da dalları sınanarak iç yapısı incelenmektedir. Bu şekilde uygulanan sınama yöntemine de </a:t>
            </a:r>
            <a:r>
              <a:rPr lang="tr-TR" b="1" dirty="0"/>
              <a:t>saydam kutu testi</a:t>
            </a:r>
            <a:r>
              <a:rPr lang="tr-TR" dirty="0"/>
              <a:t> (</a:t>
            </a:r>
            <a:r>
              <a:rPr lang="tr-TR" dirty="0" err="1"/>
              <a:t>white</a:t>
            </a:r>
            <a:r>
              <a:rPr lang="tr-TR" dirty="0"/>
              <a:t> </a:t>
            </a:r>
            <a:r>
              <a:rPr lang="tr-TR" dirty="0" err="1"/>
              <a:t>box</a:t>
            </a:r>
            <a:r>
              <a:rPr lang="tr-TR" dirty="0"/>
              <a:t>, </a:t>
            </a:r>
            <a:r>
              <a:rPr lang="tr-TR" dirty="0" err="1"/>
              <a:t>glass</a:t>
            </a:r>
            <a:r>
              <a:rPr lang="tr-TR" dirty="0"/>
              <a:t> </a:t>
            </a:r>
            <a:r>
              <a:rPr lang="tr-TR" dirty="0" err="1"/>
              <a:t>box</a:t>
            </a:r>
            <a:r>
              <a:rPr lang="tr-TR" dirty="0"/>
              <a:t> </a:t>
            </a:r>
            <a:r>
              <a:rPr lang="tr-TR" dirty="0" err="1"/>
              <a:t>testing</a:t>
            </a:r>
            <a:r>
              <a:rPr lang="tr-TR" dirty="0"/>
              <a:t>) denilmektedir.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994122"/>
          </a:xfrm>
        </p:spPr>
        <p:txBody>
          <a:bodyPr/>
          <a:lstStyle/>
          <a:p>
            <a:r>
              <a:rPr lang="tr-TR" dirty="0"/>
              <a:t>Saydam kutu testi</a:t>
            </a:r>
          </a:p>
        </p:txBody>
      </p:sp>
      <p:sp>
        <p:nvSpPr>
          <p:cNvPr id="3" name="2 İçerik Yer Tutucusu"/>
          <p:cNvSpPr>
            <a:spLocks noGrp="1"/>
          </p:cNvSpPr>
          <p:nvPr>
            <p:ph idx="1"/>
          </p:nvPr>
        </p:nvSpPr>
        <p:spPr>
          <a:xfrm>
            <a:off x="457200" y="1412776"/>
            <a:ext cx="8229600" cy="4713387"/>
          </a:xfrm>
        </p:spPr>
        <p:txBody>
          <a:bodyPr>
            <a:normAutofit fontScale="85000" lnSpcReduction="20000"/>
          </a:bodyPr>
          <a:lstStyle/>
          <a:p>
            <a:pPr>
              <a:buNone/>
            </a:pPr>
            <a:r>
              <a:rPr lang="tr-TR" dirty="0"/>
              <a:t>Saydam kutu testinde, işlemsel (</a:t>
            </a:r>
            <a:r>
              <a:rPr lang="tr-TR" dirty="0" err="1"/>
              <a:t>procedural</a:t>
            </a:r>
            <a:r>
              <a:rPr lang="tr-TR" dirty="0"/>
              <a:t>) tasarımın kontrol yapısı kullanılmaktadır. Bu test ile;</a:t>
            </a:r>
          </a:p>
          <a:p>
            <a:pPr lvl="0"/>
            <a:r>
              <a:rPr lang="tr-TR" dirty="0"/>
              <a:t>Bir modüldeki bütün bağımsız yolların en az bir kez çalışacağı garanti edilmekte, </a:t>
            </a:r>
          </a:p>
          <a:p>
            <a:pPr lvl="0"/>
            <a:r>
              <a:rPr lang="tr-TR" dirty="0"/>
              <a:t>Bütün mantıksal kararların "doğru" ve "yanlış" durumları denenmiş olmakta, </a:t>
            </a:r>
          </a:p>
          <a:p>
            <a:pPr lvl="0"/>
            <a:r>
              <a:rPr lang="tr-TR" dirty="0"/>
              <a:t>Bütün döngülerin kendi içinde ve çevresinde işlerliği sağlanmakta, </a:t>
            </a:r>
          </a:p>
          <a:p>
            <a:pPr lvl="0"/>
            <a:r>
              <a:rPr lang="tr-TR" dirty="0"/>
              <a:t>İç veri yapıları denenerek, geçerliliği güvence altına alınmaktadır. </a:t>
            </a:r>
          </a:p>
          <a:p>
            <a:r>
              <a:rPr lang="tr-TR" dirty="0"/>
              <a:t>Saydam kutu testinin uygulanmasında, temel yol testi ve döngü testi teknikleri kullanılmaktadır. </a:t>
            </a:r>
          </a:p>
          <a:p>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Saydam Kutu: Temel Yollar Testi</a:t>
            </a:r>
            <a:br>
              <a:rPr lang="tr-TR" dirty="0"/>
            </a:br>
            <a:endParaRPr lang="tr-TR" dirty="0"/>
          </a:p>
        </p:txBody>
      </p:sp>
      <p:sp>
        <p:nvSpPr>
          <p:cNvPr id="3" name="2 İçerik Yer Tutucusu"/>
          <p:cNvSpPr>
            <a:spLocks noGrp="1"/>
          </p:cNvSpPr>
          <p:nvPr>
            <p:ph idx="1"/>
          </p:nvPr>
        </p:nvSpPr>
        <p:spPr>
          <a:xfrm>
            <a:off x="457200" y="1124744"/>
            <a:ext cx="8229600" cy="5001419"/>
          </a:xfrm>
        </p:spPr>
        <p:txBody>
          <a:bodyPr>
            <a:normAutofit fontScale="70000" lnSpcReduction="20000"/>
          </a:bodyPr>
          <a:lstStyle/>
          <a:p>
            <a:r>
              <a:rPr lang="tr-TR" dirty="0"/>
              <a:t>Temel yollar testi, işlemsel tasarımın mantıksal karmaşıklığını ölçmek ve bu ölçüye göre uygulama yolları için bir temel grup oluşturmak esasına dayanmaktadır. </a:t>
            </a:r>
          </a:p>
          <a:p>
            <a:r>
              <a:rPr lang="tr-TR" dirty="0"/>
              <a:t>Test programları, test sırasında programdaki her deyimi en az bir kez uygulayarak denemektedir.</a:t>
            </a:r>
          </a:p>
          <a:p>
            <a:pPr>
              <a:buNone/>
            </a:pPr>
            <a:r>
              <a:rPr lang="tr-TR" dirty="0"/>
              <a:t>Uygulama;</a:t>
            </a:r>
          </a:p>
          <a:p>
            <a:pPr lvl="0"/>
            <a:r>
              <a:rPr lang="tr-TR" dirty="0"/>
              <a:t>Ayrıntılı tasarım veya kaynak programa dayanarak, bir akış </a:t>
            </a:r>
            <a:r>
              <a:rPr lang="tr-TR" dirty="0" err="1"/>
              <a:t>grafı</a:t>
            </a:r>
            <a:r>
              <a:rPr lang="tr-TR" dirty="0"/>
              <a:t> çizmek . </a:t>
            </a:r>
          </a:p>
          <a:p>
            <a:pPr lvl="0"/>
            <a:r>
              <a:rPr lang="tr-TR" dirty="0"/>
              <a:t>Akış </a:t>
            </a:r>
            <a:r>
              <a:rPr lang="tr-TR" dirty="0" err="1"/>
              <a:t>grafı</a:t>
            </a:r>
            <a:r>
              <a:rPr lang="tr-TR" dirty="0"/>
              <a:t> üzerinde döngüsel karmaşıklık (</a:t>
            </a:r>
            <a:r>
              <a:rPr lang="tr-TR" dirty="0" err="1"/>
              <a:t>McCABE</a:t>
            </a:r>
            <a:r>
              <a:rPr lang="tr-TR" dirty="0"/>
              <a:t>) ölçüsünü saptamak, </a:t>
            </a:r>
          </a:p>
          <a:p>
            <a:pPr lvl="0"/>
            <a:r>
              <a:rPr lang="tr-TR" dirty="0"/>
              <a:t>Doğrusal bağımsız yolların temel grubunu ve düğümleri belirlemek, </a:t>
            </a:r>
          </a:p>
          <a:p>
            <a:pPr lvl="0"/>
            <a:r>
              <a:rPr lang="tr-TR" dirty="0"/>
              <a:t>Temel grubun içerdiği her yolun denenmesi için birer test programı düzenlemek, </a:t>
            </a:r>
          </a:p>
          <a:p>
            <a:pPr lvl="0"/>
            <a:r>
              <a:rPr lang="tr-TR" dirty="0"/>
              <a:t>Her test programını uygulamak ve beklenen sonuç ile karşılaştırmak </a:t>
            </a:r>
          </a:p>
          <a:p>
            <a:pPr>
              <a:buNone/>
            </a:pPr>
            <a:r>
              <a:rPr lang="tr-TR" dirty="0"/>
              <a:t>şeklinde, basamaklar halinde yürütülmektedir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332656"/>
            <a:ext cx="8229600" cy="504056"/>
          </a:xfrm>
        </p:spPr>
        <p:txBody>
          <a:bodyPr>
            <a:normAutofit fontScale="90000"/>
          </a:bodyPr>
          <a:lstStyle/>
          <a:p>
            <a:r>
              <a:rPr lang="tr-TR" dirty="0"/>
              <a:t>Saydam Kutu:Döngü Testi</a:t>
            </a:r>
            <a:br>
              <a:rPr lang="tr-TR" dirty="0"/>
            </a:br>
            <a:endParaRPr lang="tr-TR" dirty="0"/>
          </a:p>
        </p:txBody>
      </p:sp>
      <p:sp>
        <p:nvSpPr>
          <p:cNvPr id="3" name="2 İçerik Yer Tutucusu"/>
          <p:cNvSpPr>
            <a:spLocks noGrp="1"/>
          </p:cNvSpPr>
          <p:nvPr>
            <p:ph idx="1"/>
          </p:nvPr>
        </p:nvSpPr>
        <p:spPr>
          <a:xfrm>
            <a:off x="457200" y="980728"/>
            <a:ext cx="8229600" cy="5145435"/>
          </a:xfrm>
        </p:spPr>
        <p:txBody>
          <a:bodyPr>
            <a:normAutofit/>
          </a:bodyPr>
          <a:lstStyle/>
          <a:p>
            <a:r>
              <a:rPr lang="tr-TR" dirty="0"/>
              <a:t>Döngü testi; bir saydam kutu testi olup, temel yollar analizine ek olarak yürütülmektedir. Bir döngü içerisinde bir giriş ve bir çıkışlı olarak soyutlanmış bulunan yollar da, birer döngü halinde ayrıca sınanmaktadır. Döngü testinin amacı; döngü içerisindeki başlama hatalarının, indeksleme ve artırma hatalarının, döngüyü sınırlama hatalarının bulunmasıdır. </a:t>
            </a:r>
          </a:p>
          <a:p>
            <a:r>
              <a:rPr lang="tr-TR" dirty="0"/>
              <a:t>Test sonunda, döngü yapısının geçerliği onaylanmış olmaktadır.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357298"/>
            <a:ext cx="8229600" cy="703282"/>
          </a:xfrm>
        </p:spPr>
        <p:txBody>
          <a:bodyPr>
            <a:normAutofit/>
          </a:bodyPr>
          <a:lstStyle/>
          <a:p>
            <a:r>
              <a:rPr lang="en-US" sz="2000" b="1" dirty="0" err="1"/>
              <a:t>Şekil</a:t>
            </a:r>
            <a:r>
              <a:rPr lang="en-US" sz="2000" b="1" dirty="0"/>
              <a:t> </a:t>
            </a:r>
            <a:r>
              <a:rPr lang="tr-TR" sz="2000" b="1" dirty="0"/>
              <a:t>-5.8. Program döngüleri</a:t>
            </a:r>
            <a:br>
              <a:rPr lang="tr-TR" sz="2000" b="1" dirty="0"/>
            </a:br>
            <a:endParaRPr lang="tr-TR" sz="2000" dirty="0"/>
          </a:p>
        </p:txBody>
      </p:sp>
      <p:pic>
        <p:nvPicPr>
          <p:cNvPr id="4" name="3 İçerik Yer Tutucusu"/>
          <p:cNvPicPr>
            <a:picLocks noGrp="1"/>
          </p:cNvPicPr>
          <p:nvPr>
            <p:ph idx="1"/>
          </p:nvPr>
        </p:nvPicPr>
        <p:blipFill>
          <a:blip r:embed="rId2" cstate="print"/>
          <a:srcRect/>
          <a:stretch>
            <a:fillRect/>
          </a:stretch>
        </p:blipFill>
        <p:spPr bwMode="auto">
          <a:xfrm>
            <a:off x="1720124" y="2445681"/>
            <a:ext cx="5703751" cy="28350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 Kara Kutu Testi</a:t>
            </a:r>
          </a:p>
        </p:txBody>
      </p:sp>
      <p:sp>
        <p:nvSpPr>
          <p:cNvPr id="3" name="2 İçerik Yer Tutucusu"/>
          <p:cNvSpPr>
            <a:spLocks noGrp="1"/>
          </p:cNvSpPr>
          <p:nvPr>
            <p:ph idx="1"/>
          </p:nvPr>
        </p:nvSpPr>
        <p:spPr/>
        <p:txBody>
          <a:bodyPr>
            <a:normAutofit fontScale="92500" lnSpcReduction="20000"/>
          </a:bodyPr>
          <a:lstStyle/>
          <a:p>
            <a:r>
              <a:rPr lang="tr-TR" dirty="0"/>
              <a:t>Kara kutu testi; yazılımın bütünlenmesi sırasında uygulanan ve yazılım arabirimi üzerinde yapılan bir sınamadır. Bu sınama ile, yazılım işlevlerinin yerine getirildiği, girdilerin kabul edildiği, çıktıların doğru olarak bütünlüğün sağlandığı gösterilmektedir. Kara kutu testinde yazılımın mantıksal iç yapısından çok, temel sistem modeli denenmiş olmaktadır. Bu nedenle, kara ve saydam kutu testleri birlikte uygulanarak, yazılım arabiriminin geçerliği onaylanmakta ve yazılımın iç işlerliğinin doğruluğu kısmen güvence altına alınmaktadır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 Kara Kutu test modeli</a:t>
            </a:r>
            <a:br>
              <a:rPr lang="tr-TR" dirty="0"/>
            </a:br>
            <a:endParaRPr lang="tr-TR" dirty="0"/>
          </a:p>
        </p:txBody>
      </p:sp>
      <p:sp>
        <p:nvSpPr>
          <p:cNvPr id="3" name="2 İçerik Yer Tutucusu"/>
          <p:cNvSpPr>
            <a:spLocks noGrp="1"/>
          </p:cNvSpPr>
          <p:nvPr>
            <p:ph idx="1"/>
          </p:nvPr>
        </p:nvSpPr>
        <p:spPr/>
        <p:txBody>
          <a:bodyPr>
            <a:normAutofit/>
          </a:bodyPr>
          <a:lstStyle/>
          <a:p>
            <a:pPr>
              <a:buNone/>
            </a:pPr>
            <a:endParaRPr lang="tr-TR" sz="1600" dirty="0"/>
          </a:p>
        </p:txBody>
      </p:sp>
      <p:pic>
        <p:nvPicPr>
          <p:cNvPr id="4" name="3 Resim" descr="KaraKutu_SB"/>
          <p:cNvPicPr/>
          <p:nvPr/>
        </p:nvPicPr>
        <p:blipFill>
          <a:blip r:embed="rId2" cstate="print"/>
          <a:srcRect/>
          <a:stretch>
            <a:fillRect/>
          </a:stretch>
        </p:blipFill>
        <p:spPr bwMode="auto">
          <a:xfrm>
            <a:off x="2428860" y="2428868"/>
            <a:ext cx="4343415" cy="277654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Kara kutu testi yöntemleri</a:t>
            </a:r>
          </a:p>
        </p:txBody>
      </p:sp>
      <p:sp>
        <p:nvSpPr>
          <p:cNvPr id="3" name="2 İçerik Yer Tutucusu"/>
          <p:cNvSpPr>
            <a:spLocks noGrp="1"/>
          </p:cNvSpPr>
          <p:nvPr>
            <p:ph idx="1"/>
          </p:nvPr>
        </p:nvSpPr>
        <p:spPr/>
        <p:txBody>
          <a:bodyPr>
            <a:normAutofit fontScale="77500" lnSpcReduction="20000"/>
          </a:bodyPr>
          <a:lstStyle/>
          <a:p>
            <a:r>
              <a:rPr lang="tr-TR" dirty="0"/>
              <a:t>Kara kutu testi yöntemleri, yazılımın işlevsel gereksinimlerinin denenmesine yöneliktir. </a:t>
            </a:r>
          </a:p>
          <a:p>
            <a:r>
              <a:rPr lang="tr-TR" dirty="0"/>
              <a:t>Programın bütün işlevsel gereksinimlerini denemek üzere, bir dizi girdi durumları oluşturulmaktadır.</a:t>
            </a:r>
          </a:p>
          <a:p>
            <a:r>
              <a:rPr lang="tr-TR" dirty="0"/>
              <a:t>Bu test, saydam kutu testinin alternatifi olmayıp, tamamlayıcı niteliktedir. Böylece, değişik karakterdeki hatalar bulunabilmektedir. Kara kutu testi ile;</a:t>
            </a:r>
          </a:p>
          <a:p>
            <a:pPr lvl="0"/>
            <a:r>
              <a:rPr lang="tr-TR" dirty="0"/>
              <a:t>Hatalı ve eksik olan işlevler, </a:t>
            </a:r>
          </a:p>
          <a:p>
            <a:pPr lvl="0"/>
            <a:r>
              <a:rPr lang="tr-TR" dirty="0"/>
              <a:t>Arabirim hataları, </a:t>
            </a:r>
          </a:p>
          <a:p>
            <a:pPr lvl="0"/>
            <a:r>
              <a:rPr lang="tr-TR" dirty="0"/>
              <a:t>Veri yapılarında ve veri tabanı erişimindeki hatalar, </a:t>
            </a:r>
          </a:p>
          <a:p>
            <a:pPr lvl="0"/>
            <a:r>
              <a:rPr lang="tr-TR" dirty="0"/>
              <a:t>Performans hataları, </a:t>
            </a:r>
          </a:p>
          <a:p>
            <a:pPr lvl="0"/>
            <a:r>
              <a:rPr lang="tr-TR" dirty="0"/>
              <a:t>Başlama ve bitirme hataları bulunur.</a:t>
            </a:r>
          </a:p>
          <a:p>
            <a:endParaRPr lang="tr-T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Kara Kutu Testi</a:t>
            </a:r>
          </a:p>
        </p:txBody>
      </p:sp>
      <p:sp>
        <p:nvSpPr>
          <p:cNvPr id="3" name="2 İçerik Yer Tutucusu"/>
          <p:cNvSpPr>
            <a:spLocks noGrp="1"/>
          </p:cNvSpPr>
          <p:nvPr>
            <p:ph idx="1"/>
          </p:nvPr>
        </p:nvSpPr>
        <p:spPr/>
        <p:txBody>
          <a:bodyPr/>
          <a:lstStyle/>
          <a:p>
            <a:r>
              <a:rPr lang="tr-TR" dirty="0"/>
              <a:t>Başlıca kara kutu test yöntemleri;</a:t>
            </a:r>
          </a:p>
          <a:p>
            <a:r>
              <a:rPr lang="tr-TR" dirty="0"/>
              <a:t> a) eşdeğerli bölümleme, </a:t>
            </a:r>
          </a:p>
          <a:p>
            <a:r>
              <a:rPr lang="tr-TR" dirty="0"/>
              <a:t>b) sınır değer analizi, </a:t>
            </a:r>
          </a:p>
          <a:p>
            <a:r>
              <a:rPr lang="tr-TR" dirty="0"/>
              <a:t>c) neden-sonuç </a:t>
            </a:r>
            <a:r>
              <a:rPr lang="tr-TR" dirty="0" err="1"/>
              <a:t>grafı</a:t>
            </a:r>
            <a:r>
              <a:rPr lang="tr-TR" dirty="0"/>
              <a:t> çizimi, </a:t>
            </a:r>
          </a:p>
          <a:p>
            <a:r>
              <a:rPr lang="tr-TR" dirty="0"/>
              <a:t>d) veri onaylama testi </a:t>
            </a:r>
          </a:p>
          <a:p>
            <a:pPr>
              <a:buNone/>
            </a:pPr>
            <a:r>
              <a:rPr lang="tr-TR" dirty="0"/>
              <a:t>olarak sayılmaktadır.</a:t>
            </a:r>
          </a:p>
          <a:p>
            <a:endParaRPr lang="tr-T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Eşdeğerli Bölümleme (</a:t>
            </a:r>
            <a:r>
              <a:rPr lang="tr-TR" dirty="0" err="1"/>
              <a:t>Equıvalence</a:t>
            </a:r>
            <a:r>
              <a:rPr lang="tr-TR" dirty="0"/>
              <a:t> </a:t>
            </a:r>
            <a:r>
              <a:rPr lang="tr-TR" dirty="0" err="1"/>
              <a:t>Partıtıonıng</a:t>
            </a:r>
            <a:r>
              <a:rPr lang="tr-TR" dirty="0"/>
              <a:t>) Yöntemi</a:t>
            </a:r>
          </a:p>
        </p:txBody>
      </p:sp>
      <p:sp>
        <p:nvSpPr>
          <p:cNvPr id="3" name="2 İçerik Yer Tutucusu"/>
          <p:cNvSpPr>
            <a:spLocks noGrp="1"/>
          </p:cNvSpPr>
          <p:nvPr>
            <p:ph idx="1"/>
          </p:nvPr>
        </p:nvSpPr>
        <p:spPr/>
        <p:txBody>
          <a:bodyPr>
            <a:normAutofit/>
          </a:bodyPr>
          <a:lstStyle/>
          <a:p>
            <a:r>
              <a:rPr lang="tr-TR" dirty="0"/>
              <a:t>Eşdeğerli bölümleme (</a:t>
            </a:r>
            <a:r>
              <a:rPr lang="tr-TR" dirty="0" err="1"/>
              <a:t>equivalence</a:t>
            </a:r>
            <a:r>
              <a:rPr lang="tr-TR" dirty="0"/>
              <a:t> </a:t>
            </a:r>
            <a:r>
              <a:rPr lang="tr-TR" dirty="0" err="1"/>
              <a:t>partitioning</a:t>
            </a:r>
            <a:r>
              <a:rPr lang="tr-TR" dirty="0"/>
              <a:t>) yönteminde; programın girdi alanı, test programları oluşturulabilecek veri sınıflarına bölünmektedir (5.10). Böylece her test programı belirli sınıftaki hataları ortaya çıkarmakta ve daha az sayıda test programı ile yetinilmektedir. </a:t>
            </a:r>
          </a:p>
          <a:p>
            <a:endParaRPr lang="tr-T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endParaRPr lang="tr-TR" sz="1050" dirty="0"/>
          </a:p>
        </p:txBody>
      </p:sp>
      <p:sp>
        <p:nvSpPr>
          <p:cNvPr id="5" name="4 İçerik Yer Tutucusu"/>
          <p:cNvSpPr>
            <a:spLocks noGrp="1"/>
          </p:cNvSpPr>
          <p:nvPr>
            <p:ph idx="1"/>
          </p:nvPr>
        </p:nvSpPr>
        <p:spPr/>
        <p:txBody>
          <a:bodyPr>
            <a:normAutofit/>
          </a:bodyPr>
          <a:lstStyle/>
          <a:p>
            <a:pPr>
              <a:buNone/>
              <a:tabLst>
                <a:tab pos="3494088" algn="l"/>
              </a:tabLst>
            </a:pPr>
            <a:r>
              <a:rPr lang="tr-TR" sz="1400" dirty="0"/>
              <a:t>Şekil 5.10. Kara kutu testi Eşdeğerli Bölümleme</a:t>
            </a:r>
          </a:p>
        </p:txBody>
      </p:sp>
      <p:sp>
        <p:nvSpPr>
          <p:cNvPr id="6" name="5 Oval"/>
          <p:cNvSpPr/>
          <p:nvPr/>
        </p:nvSpPr>
        <p:spPr>
          <a:xfrm>
            <a:off x="3500430" y="1785926"/>
            <a:ext cx="2786082" cy="114300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 name="6 Oval"/>
          <p:cNvSpPr/>
          <p:nvPr/>
        </p:nvSpPr>
        <p:spPr>
          <a:xfrm>
            <a:off x="3929058" y="2000240"/>
            <a:ext cx="500066" cy="142876"/>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7 Oval"/>
          <p:cNvSpPr/>
          <p:nvPr/>
        </p:nvSpPr>
        <p:spPr>
          <a:xfrm>
            <a:off x="4000496" y="2285992"/>
            <a:ext cx="500066" cy="142876"/>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8 Oval"/>
          <p:cNvSpPr/>
          <p:nvPr/>
        </p:nvSpPr>
        <p:spPr>
          <a:xfrm>
            <a:off x="4000496" y="2143116"/>
            <a:ext cx="500066" cy="142876"/>
          </a:xfrm>
          <a:prstGeom prst="ellips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9 Oval"/>
          <p:cNvSpPr/>
          <p:nvPr/>
        </p:nvSpPr>
        <p:spPr>
          <a:xfrm>
            <a:off x="4786314" y="2000240"/>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10 Oval"/>
          <p:cNvSpPr/>
          <p:nvPr/>
        </p:nvSpPr>
        <p:spPr>
          <a:xfrm>
            <a:off x="4857752" y="2071678"/>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12 Oval"/>
          <p:cNvSpPr/>
          <p:nvPr/>
        </p:nvSpPr>
        <p:spPr>
          <a:xfrm>
            <a:off x="5500694" y="2071678"/>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14 Oval"/>
          <p:cNvSpPr/>
          <p:nvPr/>
        </p:nvSpPr>
        <p:spPr>
          <a:xfrm>
            <a:off x="5000628" y="2357430"/>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15 Oval"/>
          <p:cNvSpPr/>
          <p:nvPr/>
        </p:nvSpPr>
        <p:spPr>
          <a:xfrm>
            <a:off x="4929190" y="2214554"/>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16 Oval"/>
          <p:cNvSpPr/>
          <p:nvPr/>
        </p:nvSpPr>
        <p:spPr>
          <a:xfrm>
            <a:off x="5572132" y="2214554"/>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17 Metin kutusu"/>
          <p:cNvSpPr txBox="1"/>
          <p:nvPr/>
        </p:nvSpPr>
        <p:spPr>
          <a:xfrm>
            <a:off x="3786182" y="2571744"/>
            <a:ext cx="928694" cy="253916"/>
          </a:xfrm>
          <a:prstGeom prst="rect">
            <a:avLst/>
          </a:prstGeom>
          <a:noFill/>
          <a:ln w="0">
            <a:noFill/>
          </a:ln>
        </p:spPr>
        <p:txBody>
          <a:bodyPr wrap="square" rtlCol="0">
            <a:spAutoFit/>
          </a:bodyPr>
          <a:lstStyle/>
          <a:p>
            <a:r>
              <a:rPr lang="tr-TR" sz="1050" dirty="0"/>
              <a:t>Geçersiz girdi</a:t>
            </a:r>
          </a:p>
        </p:txBody>
      </p:sp>
      <p:sp>
        <p:nvSpPr>
          <p:cNvPr id="19" name="18 Metin kutusu"/>
          <p:cNvSpPr txBox="1"/>
          <p:nvPr/>
        </p:nvSpPr>
        <p:spPr>
          <a:xfrm>
            <a:off x="5286380" y="2500306"/>
            <a:ext cx="928694" cy="253916"/>
          </a:xfrm>
          <a:prstGeom prst="rect">
            <a:avLst/>
          </a:prstGeom>
          <a:noFill/>
          <a:ln w="0">
            <a:noFill/>
          </a:ln>
        </p:spPr>
        <p:txBody>
          <a:bodyPr wrap="square" rtlCol="0">
            <a:spAutoFit/>
          </a:bodyPr>
          <a:lstStyle/>
          <a:p>
            <a:r>
              <a:rPr lang="tr-TR" sz="1050" dirty="0"/>
              <a:t>Geçerli Girdi</a:t>
            </a:r>
          </a:p>
        </p:txBody>
      </p:sp>
      <p:sp>
        <p:nvSpPr>
          <p:cNvPr id="20" name="19 Oval"/>
          <p:cNvSpPr/>
          <p:nvPr/>
        </p:nvSpPr>
        <p:spPr>
          <a:xfrm>
            <a:off x="3786182" y="4286256"/>
            <a:ext cx="2428892" cy="1000132"/>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050" dirty="0"/>
          </a:p>
        </p:txBody>
      </p:sp>
      <p:sp>
        <p:nvSpPr>
          <p:cNvPr id="21" name="20 Yuvarlatılmış Dikdörtgen"/>
          <p:cNvSpPr/>
          <p:nvPr/>
        </p:nvSpPr>
        <p:spPr>
          <a:xfrm>
            <a:off x="4357686" y="3286124"/>
            <a:ext cx="1285884" cy="500066"/>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50" dirty="0">
                <a:solidFill>
                  <a:schemeClr val="tx1"/>
                </a:solidFill>
              </a:rPr>
              <a:t>Sistem</a:t>
            </a:r>
          </a:p>
        </p:txBody>
      </p:sp>
      <p:sp>
        <p:nvSpPr>
          <p:cNvPr id="22" name="21 Oval"/>
          <p:cNvSpPr/>
          <p:nvPr/>
        </p:nvSpPr>
        <p:spPr>
          <a:xfrm flipV="1">
            <a:off x="4357686" y="4429132"/>
            <a:ext cx="500066" cy="260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22 Oval"/>
          <p:cNvSpPr/>
          <p:nvPr/>
        </p:nvSpPr>
        <p:spPr>
          <a:xfrm>
            <a:off x="4500562" y="4643446"/>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23 Oval"/>
          <p:cNvSpPr/>
          <p:nvPr/>
        </p:nvSpPr>
        <p:spPr>
          <a:xfrm>
            <a:off x="4429124" y="4572008"/>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24 Oval"/>
          <p:cNvSpPr/>
          <p:nvPr/>
        </p:nvSpPr>
        <p:spPr>
          <a:xfrm>
            <a:off x="5286380" y="4500570"/>
            <a:ext cx="500066" cy="1857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25 Oval"/>
          <p:cNvSpPr/>
          <p:nvPr/>
        </p:nvSpPr>
        <p:spPr>
          <a:xfrm>
            <a:off x="5214942" y="4429132"/>
            <a:ext cx="500066"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26 Metin kutusu"/>
          <p:cNvSpPr txBox="1"/>
          <p:nvPr/>
        </p:nvSpPr>
        <p:spPr>
          <a:xfrm>
            <a:off x="5000628" y="4857760"/>
            <a:ext cx="714380" cy="253916"/>
          </a:xfrm>
          <a:prstGeom prst="rect">
            <a:avLst/>
          </a:prstGeom>
          <a:noFill/>
          <a:ln w="0">
            <a:noFill/>
          </a:ln>
        </p:spPr>
        <p:txBody>
          <a:bodyPr wrap="square" rtlCol="0">
            <a:spAutoFit/>
          </a:bodyPr>
          <a:lstStyle/>
          <a:p>
            <a:r>
              <a:rPr lang="tr-TR" sz="1050" dirty="0"/>
              <a:t>Çıktılar</a:t>
            </a:r>
          </a:p>
        </p:txBody>
      </p:sp>
      <p:cxnSp>
        <p:nvCxnSpPr>
          <p:cNvPr id="29" name="28 Düz Ok Bağlayıcısı"/>
          <p:cNvCxnSpPr/>
          <p:nvPr/>
        </p:nvCxnSpPr>
        <p:spPr>
          <a:xfrm rot="16200000" flipH="1">
            <a:off x="4839893" y="3089670"/>
            <a:ext cx="357190"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32 Düz Ok Bağlayıcısı"/>
          <p:cNvCxnSpPr>
            <a:stCxn id="21" idx="2"/>
          </p:cNvCxnSpPr>
          <p:nvPr/>
        </p:nvCxnSpPr>
        <p:spPr>
          <a:xfrm rot="5400000">
            <a:off x="4750595" y="4036223"/>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 Sınır Değer Analizi</a:t>
            </a:r>
            <a:br>
              <a:rPr lang="tr-TR" dirty="0"/>
            </a:br>
            <a:endParaRPr lang="tr-TR" dirty="0"/>
          </a:p>
        </p:txBody>
      </p:sp>
      <p:sp>
        <p:nvSpPr>
          <p:cNvPr id="3" name="2 İçerik Yer Tutucusu"/>
          <p:cNvSpPr>
            <a:spLocks noGrp="1"/>
          </p:cNvSpPr>
          <p:nvPr>
            <p:ph idx="1"/>
          </p:nvPr>
        </p:nvSpPr>
        <p:spPr/>
        <p:txBody>
          <a:bodyPr>
            <a:normAutofit fontScale="85000" lnSpcReduction="20000"/>
          </a:bodyPr>
          <a:lstStyle/>
          <a:p>
            <a:r>
              <a:rPr lang="tr-TR" dirty="0"/>
              <a:t>Sınır değer analizi, test verisinin; girdi alanı (ya da çıktı serisi) sınıflarının, veri yapılarının, altprogram parametrelerinin vb. sınırlarından veya uç değerlerinden seçilmesi tekniğidir.</a:t>
            </a:r>
          </a:p>
          <a:p>
            <a:r>
              <a:rPr lang="tr-TR" dirty="0"/>
              <a:t> Genellikle en büyük-en küçük veya en az beklenen değerler ve parametreler seçilmektedir.</a:t>
            </a:r>
          </a:p>
          <a:p>
            <a:r>
              <a:rPr lang="tr-TR" dirty="0"/>
              <a:t> Hataların genel olarak merkezden çok, kenarlarda toplandığı görülmektedir. </a:t>
            </a:r>
          </a:p>
          <a:p>
            <a:r>
              <a:rPr lang="tr-TR" dirty="0"/>
              <a:t>Bu nedenle, sınır değerlerini denemeye yönelik test programları da geliştirilmiştir. Bu programlar "girdi" alanında olduğu kadar, "çıktı" alanında da uygulanmaktadır.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keşif testi </a:t>
            </a:r>
            <a:r>
              <a:rPr lang="tr-TR" dirty="0" err="1"/>
              <a:t>Smoke</a:t>
            </a:r>
            <a:r>
              <a:rPr lang="tr-TR" dirty="0"/>
              <a:t> Test</a:t>
            </a:r>
          </a:p>
        </p:txBody>
      </p:sp>
      <p:sp>
        <p:nvSpPr>
          <p:cNvPr id="3" name="2 İçerik Yer Tutucusu"/>
          <p:cNvSpPr>
            <a:spLocks noGrp="1"/>
          </p:cNvSpPr>
          <p:nvPr>
            <p:ph idx="1"/>
          </p:nvPr>
        </p:nvSpPr>
        <p:spPr/>
        <p:txBody>
          <a:bodyPr/>
          <a:lstStyle/>
          <a:p>
            <a:r>
              <a:rPr lang="tr-TR" dirty="0"/>
              <a:t>.keşif testi, ürün </a:t>
            </a:r>
            <a:r>
              <a:rPr lang="tr-TR" dirty="0" err="1"/>
              <a:t>spesifikasyonu</a:t>
            </a:r>
            <a:r>
              <a:rPr lang="tr-TR" dirty="0"/>
              <a:t> veya gereksinim belgesi olmadan yazılımın ürün </a:t>
            </a:r>
            <a:r>
              <a:rPr lang="tr-TR" dirty="0" err="1"/>
              <a:t>spesifikasyonu</a:t>
            </a:r>
            <a:r>
              <a:rPr lang="tr-TR" dirty="0"/>
              <a:t> gibi kullanılarak test edilmesidir. </a:t>
            </a:r>
          </a:p>
          <a:p>
            <a:r>
              <a:rPr lang="tr-TR" dirty="0"/>
              <a:t>Dinamik kara kutu testi, ürün </a:t>
            </a:r>
            <a:r>
              <a:rPr lang="tr-TR" dirty="0" err="1"/>
              <a:t>spesifikasyonu</a:t>
            </a:r>
            <a:r>
              <a:rPr lang="tr-TR" dirty="0"/>
              <a:t> veya gereksinim belgesi olmadan yapılabilir. </a:t>
            </a:r>
          </a:p>
          <a:p>
            <a:endParaRPr lang="tr-T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t>Hata Giderme (</a:t>
            </a:r>
            <a:r>
              <a:rPr lang="tr-TR" b="1" dirty="0" err="1"/>
              <a:t>Debugging</a:t>
            </a:r>
            <a:r>
              <a:rPr lang="tr-TR" b="1" dirty="0"/>
              <a:t>)</a:t>
            </a:r>
            <a:br>
              <a:rPr lang="tr-TR" dirty="0"/>
            </a:br>
            <a:endParaRPr lang="tr-TR" dirty="0"/>
          </a:p>
        </p:txBody>
      </p:sp>
      <p:sp>
        <p:nvSpPr>
          <p:cNvPr id="3" name="2 İçerik Yer Tutucusu"/>
          <p:cNvSpPr>
            <a:spLocks noGrp="1"/>
          </p:cNvSpPr>
          <p:nvPr>
            <p:ph idx="1"/>
          </p:nvPr>
        </p:nvSpPr>
        <p:spPr/>
        <p:txBody>
          <a:bodyPr>
            <a:normAutofit fontScale="85000" lnSpcReduction="10000"/>
          </a:bodyPr>
          <a:lstStyle/>
          <a:p>
            <a:pPr algn="just"/>
            <a:r>
              <a:rPr lang="tr-TR" b="1" dirty="0"/>
              <a:t>Hata Giderme (</a:t>
            </a:r>
            <a:r>
              <a:rPr lang="tr-TR" b="1" dirty="0" err="1"/>
              <a:t>Debugging</a:t>
            </a:r>
            <a:r>
              <a:rPr lang="tr-TR" b="1" dirty="0"/>
              <a:t>)</a:t>
            </a:r>
            <a:endParaRPr lang="tr-TR" dirty="0"/>
          </a:p>
          <a:p>
            <a:pPr algn="just"/>
            <a:r>
              <a:rPr lang="tr-TR" dirty="0"/>
              <a:t>Sınama sonucu saptanan hata ve eksiklerin nedenlerinin bulunup, düzeltilmesi gerekmektedir. </a:t>
            </a:r>
          </a:p>
          <a:p>
            <a:pPr algn="just"/>
            <a:r>
              <a:rPr lang="tr-TR" dirty="0"/>
              <a:t>Hataları giderme (</a:t>
            </a:r>
            <a:r>
              <a:rPr lang="tr-TR" dirty="0" err="1"/>
              <a:t>debugging</a:t>
            </a:r>
            <a:r>
              <a:rPr lang="tr-TR" dirty="0"/>
              <a:t>) adı verilen bu işlemde, belirtiler ile nedenlerinin karşılaştırılması, sonra da hataların düzeltilmesi yoluna gidilmektedir.</a:t>
            </a:r>
          </a:p>
          <a:p>
            <a:pPr algn="just"/>
            <a:r>
              <a:rPr lang="tr-TR" dirty="0"/>
              <a:t> Şekil 5.11 de görüldüğü gibi </a:t>
            </a:r>
            <a:r>
              <a:rPr lang="tr-TR" dirty="0" err="1"/>
              <a:t>bug</a:t>
            </a:r>
            <a:r>
              <a:rPr lang="tr-TR" dirty="0"/>
              <a:t> nedenleri büyük oranda gereksinim analizinden kaynaklanmaktadır. </a:t>
            </a:r>
          </a:p>
          <a:p>
            <a:pPr algn="just">
              <a:buNone/>
            </a:pPr>
            <a:r>
              <a:rPr lang="tr-TR" dirty="0"/>
              <a:t> </a:t>
            </a:r>
          </a:p>
          <a:p>
            <a:pPr algn="just"/>
            <a:endParaRPr lang="tr-T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İçerik Yer Tutucusu"/>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Hata Düzeyleri</a:t>
            </a:r>
          </a:p>
        </p:txBody>
      </p:sp>
      <p:sp>
        <p:nvSpPr>
          <p:cNvPr id="3" name="2 İçerik Yer Tutucusu"/>
          <p:cNvSpPr>
            <a:spLocks noGrp="1"/>
          </p:cNvSpPr>
          <p:nvPr>
            <p:ph idx="1"/>
          </p:nvPr>
        </p:nvSpPr>
        <p:spPr/>
        <p:txBody>
          <a:bodyPr>
            <a:normAutofit lnSpcReduction="10000"/>
          </a:bodyPr>
          <a:lstStyle/>
          <a:p>
            <a:pPr>
              <a:buNone/>
            </a:pPr>
            <a:r>
              <a:rPr lang="tr-TR" dirty="0"/>
              <a:t>Hataların düzeyleri,	</a:t>
            </a:r>
          </a:p>
          <a:p>
            <a:pPr lvl="0"/>
            <a:r>
              <a:rPr lang="tr-TR" dirty="0"/>
              <a:t>Ölümcül,</a:t>
            </a:r>
          </a:p>
          <a:p>
            <a:pPr lvl="0"/>
            <a:r>
              <a:rPr lang="tr-TR" dirty="0"/>
              <a:t>Kritik,</a:t>
            </a:r>
          </a:p>
          <a:p>
            <a:pPr lvl="0"/>
            <a:r>
              <a:rPr lang="tr-TR" dirty="0"/>
              <a:t>Büyük,</a:t>
            </a:r>
          </a:p>
          <a:p>
            <a:pPr lvl="0"/>
            <a:r>
              <a:rPr lang="tr-TR" dirty="0"/>
              <a:t>Orta,</a:t>
            </a:r>
          </a:p>
          <a:p>
            <a:pPr lvl="0"/>
            <a:r>
              <a:rPr lang="tr-TR" dirty="0"/>
              <a:t>Küçük ve</a:t>
            </a:r>
          </a:p>
          <a:p>
            <a:pPr lvl="0"/>
            <a:r>
              <a:rPr lang="tr-TR" dirty="0"/>
              <a:t>Görünüm</a:t>
            </a:r>
          </a:p>
          <a:p>
            <a:pPr>
              <a:buNone/>
            </a:pPr>
            <a:r>
              <a:rPr lang="tr-TR" dirty="0"/>
              <a:t>Olarak tanımlanır.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p:txBody>
          <a:bodyPr>
            <a:normAutofit fontScale="85000" lnSpcReduction="10000"/>
          </a:bodyPr>
          <a:lstStyle/>
          <a:p>
            <a:r>
              <a:rPr lang="tr-TR" dirty="0"/>
              <a:t>Ölümcül hatalar, testin devamını engeller, kritik hatada test devam eder, ama düzeltilmeden yazılım teslim edilemez,</a:t>
            </a:r>
          </a:p>
          <a:p>
            <a:r>
              <a:rPr lang="tr-TR" dirty="0"/>
              <a:t> büyük hata giderilmeden yazılım teslimi zararlıdır. </a:t>
            </a:r>
          </a:p>
          <a:p>
            <a:r>
              <a:rPr lang="tr-TR" dirty="0"/>
              <a:t>Orta hata ile Testler devam edebilir ürün  hata ile teslim edildiğinde telafisi mümkün sorunlar çıkartabilir.</a:t>
            </a:r>
          </a:p>
          <a:p>
            <a:r>
              <a:rPr lang="tr-TR" dirty="0"/>
              <a:t> Küçük hata ile testler devam edebilir ve ürün bu hata ile teslim de edilebilir, yazılımın önemli bir sonuç doğurmaz.  </a:t>
            </a:r>
            <a:endParaRPr lang="tr-TR"/>
          </a:p>
          <a:p>
            <a:r>
              <a:rPr lang="tr-TR"/>
              <a:t>Görünüm </a:t>
            </a:r>
            <a:r>
              <a:rPr lang="tr-TR" dirty="0"/>
              <a:t>hatalar ise Yazılımın,  renk, font, büyüklük ile ilişkili hatalarıdır</a:t>
            </a:r>
          </a:p>
          <a:p>
            <a:endParaRPr lang="tr-TR" dirty="0"/>
          </a:p>
        </p:txBody>
      </p:sp>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999</Words>
  <Application>Microsoft Office PowerPoint</Application>
  <PresentationFormat>Ekran Gösterisi (4:3)</PresentationFormat>
  <Paragraphs>102</Paragraphs>
  <Slides>19</Slides>
  <Notes>1</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19</vt:i4>
      </vt:variant>
    </vt:vector>
  </HeadingPairs>
  <TitlesOfParts>
    <vt:vector size="22" baseType="lpstr">
      <vt:lpstr>Arial</vt:lpstr>
      <vt:lpstr>Calibri</vt:lpstr>
      <vt:lpstr>Ofis Teması</vt:lpstr>
      <vt:lpstr>Yazılım incelemesi</vt:lpstr>
      <vt:lpstr>Sistem Testi: Performans Testi</vt:lpstr>
      <vt:lpstr>Test Tipleri</vt:lpstr>
      <vt:lpstr>Saydam kutu testi</vt:lpstr>
      <vt:lpstr>Saydam Kutu: Temel Yollar Testi </vt:lpstr>
      <vt:lpstr>Saydam Kutu:Döngü Testi </vt:lpstr>
      <vt:lpstr>Şekil -5.8. Program döngüleri </vt:lpstr>
      <vt:lpstr> Kara Kutu Testi</vt:lpstr>
      <vt:lpstr> Kara Kutu test modeli </vt:lpstr>
      <vt:lpstr>Kara kutu testi yöntemleri</vt:lpstr>
      <vt:lpstr>Kara Kutu Testi</vt:lpstr>
      <vt:lpstr>Eşdeğerli Bölümleme (Equıvalence Partıtıonıng) Yöntemi</vt:lpstr>
      <vt:lpstr>PowerPoint Sunusu</vt:lpstr>
      <vt:lpstr>. Sınır Değer Analizi </vt:lpstr>
      <vt:lpstr>keşif testi Smoke Test</vt:lpstr>
      <vt:lpstr>Hata Giderme (Debugging) </vt:lpstr>
      <vt:lpstr>PowerPoint Sunusu</vt:lpstr>
      <vt:lpstr>Hata Düzeyleri</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Yazılım incelemesi</dc:title>
  <dc:creator>oyalar</dc:creator>
  <cp:lastModifiedBy>Oya KALIPSIZ</cp:lastModifiedBy>
  <cp:revision>5</cp:revision>
  <dcterms:created xsi:type="dcterms:W3CDTF">2015-03-31T13:14:35Z</dcterms:created>
  <dcterms:modified xsi:type="dcterms:W3CDTF">2024-10-09T11:28:22Z</dcterms:modified>
</cp:coreProperties>
</file>