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0" r:id="rId2"/>
    <p:sldId id="271" r:id="rId3"/>
    <p:sldId id="272"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EF0939-5985-442D-BD1B-2B71F5FE8CB9}" type="datetimeFigureOut">
              <a:rPr lang="tr-TR" smtClean="0"/>
              <a:pPr/>
              <a:t>9.10.2024</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703FCB-32DA-4B63-8127-81D79833E1BB}"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C3F285A4-7711-400B-B0BE-24A1988CA7AB}"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285A4-7711-400B-B0BE-24A1988CA7AB}" type="datetimeFigureOut">
              <a:rPr lang="tr-TR" smtClean="0"/>
              <a:pPr/>
              <a:t>9.10.2024</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85268A-0367-427E-A861-12BCF247E67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3.2</a:t>
            </a:r>
            <a:r>
              <a:rPr lang="tr-TR" b="1" dirty="0"/>
              <a:t>. Doğrulama ve Geçerleme</a:t>
            </a:r>
            <a:br>
              <a:rPr lang="tr-TR" dirty="0"/>
            </a:br>
            <a:endParaRPr lang="tr-TR" dirty="0"/>
          </a:p>
        </p:txBody>
      </p:sp>
      <p:sp>
        <p:nvSpPr>
          <p:cNvPr id="3" name="2 İçerik Yer Tutucusu"/>
          <p:cNvSpPr>
            <a:spLocks noGrp="1"/>
          </p:cNvSpPr>
          <p:nvPr>
            <p:ph idx="1"/>
          </p:nvPr>
        </p:nvSpPr>
        <p:spPr/>
        <p:txBody>
          <a:bodyPr>
            <a:normAutofit/>
          </a:bodyPr>
          <a:lstStyle/>
          <a:p>
            <a:r>
              <a:rPr lang="tr-TR" dirty="0"/>
              <a:t>Geçerleme(</a:t>
            </a:r>
            <a:r>
              <a:rPr lang="tr-TR" dirty="0" err="1"/>
              <a:t>validation</a:t>
            </a:r>
            <a:r>
              <a:rPr lang="tr-TR" dirty="0"/>
              <a:t>) ve Doğrulama (</a:t>
            </a:r>
            <a:r>
              <a:rPr lang="tr-TR" dirty="0" err="1"/>
              <a:t>verification</a:t>
            </a:r>
            <a:r>
              <a:rPr lang="tr-TR" dirty="0"/>
              <a:t>), yazılım geliştirme süreci adımlarında ürün veya ara ürünlerin  istenilen özelliklere uygunluğunu incelemek üzere gerçekleştirilmektedir. </a:t>
            </a:r>
          </a:p>
          <a:p>
            <a:r>
              <a:rPr lang="tr-TR" dirty="0"/>
              <a:t>Geçerleme ile, “ Doğru yazılım üretildi mi?”,</a:t>
            </a:r>
          </a:p>
          <a:p>
            <a:r>
              <a:rPr lang="tr-TR" dirty="0"/>
              <a:t>Doğrulama ile ise ,” Yazılım doğru yolla üretildi mi?”, sorularına cevap aranır.</a:t>
            </a:r>
          </a:p>
          <a:p>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statik ve dinamik test</a:t>
            </a:r>
          </a:p>
        </p:txBody>
      </p:sp>
      <p:sp>
        <p:nvSpPr>
          <p:cNvPr id="3" name="2 İçerik Yer Tutucusu"/>
          <p:cNvSpPr>
            <a:spLocks noGrp="1"/>
          </p:cNvSpPr>
          <p:nvPr>
            <p:ph idx="1"/>
          </p:nvPr>
        </p:nvSpPr>
        <p:spPr>
          <a:xfrm>
            <a:off x="0" y="1556792"/>
            <a:ext cx="8229600" cy="4525963"/>
          </a:xfrm>
        </p:spPr>
        <p:txBody>
          <a:bodyPr>
            <a:normAutofit fontScale="92500" lnSpcReduction="20000"/>
          </a:bodyPr>
          <a:lstStyle/>
          <a:p>
            <a:pPr>
              <a:buNone/>
            </a:pPr>
            <a:r>
              <a:rPr lang="tr-TR" dirty="0"/>
              <a:t>Yazılım kalite değerlendirme ayrıca statik ve dinamik yöntemler ile sağlanmaktadır.   </a:t>
            </a:r>
          </a:p>
          <a:p>
            <a:pPr>
              <a:buFont typeface="Courier New" pitchFamily="49" charset="0"/>
              <a:buChar char="o"/>
            </a:pPr>
            <a:r>
              <a:rPr lang="tr-TR" dirty="0"/>
              <a:t>Statik değerlendirme yöntemleri, Kod çalıştırılmadan gerçekleştirilir: </a:t>
            </a:r>
          </a:p>
          <a:p>
            <a:pPr lvl="1"/>
            <a:r>
              <a:rPr lang="tr-TR" dirty="0"/>
              <a:t>Denetleme ve Gözden Geçirme,</a:t>
            </a:r>
          </a:p>
          <a:p>
            <a:pPr lvl="1"/>
            <a:r>
              <a:rPr lang="tr-TR" dirty="0"/>
              <a:t>İnceleme </a:t>
            </a:r>
          </a:p>
          <a:p>
            <a:pPr>
              <a:buFont typeface="Courier New" pitchFamily="49" charset="0"/>
              <a:buChar char="o"/>
            </a:pPr>
            <a:r>
              <a:rPr lang="tr-TR" dirty="0"/>
              <a:t>dinamik değerlendirme yöntemleri Kod çalıştırılarak yapılır:</a:t>
            </a:r>
          </a:p>
          <a:p>
            <a:pPr lvl="1"/>
            <a:r>
              <a:rPr lang="tr-TR" dirty="0"/>
              <a:t>Birim test </a:t>
            </a:r>
          </a:p>
          <a:p>
            <a:pPr lvl="1"/>
            <a:r>
              <a:rPr lang="tr-TR" dirty="0"/>
              <a:t>Bütünlük  test </a:t>
            </a:r>
          </a:p>
          <a:p>
            <a:pPr lvl="1"/>
            <a:r>
              <a:rPr lang="tr-TR" dirty="0"/>
              <a:t>Sistem test </a:t>
            </a:r>
          </a:p>
          <a:p>
            <a:endParaRPr lang="tr-T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V model yaklaşımı</a:t>
            </a:r>
          </a:p>
        </p:txBody>
      </p:sp>
      <p:sp>
        <p:nvSpPr>
          <p:cNvPr id="3" name="2 İçerik Yer Tutucusu"/>
          <p:cNvSpPr>
            <a:spLocks noGrp="1"/>
          </p:cNvSpPr>
          <p:nvPr>
            <p:ph idx="1"/>
          </p:nvPr>
        </p:nvSpPr>
        <p:spPr/>
        <p:txBody>
          <a:bodyPr/>
          <a:lstStyle/>
          <a:p>
            <a:r>
              <a:rPr lang="tr-TR" dirty="0"/>
              <a:t>Yazılım geçerleme doğrulama, yazılım geliştirme sürecinde V model yaklaşımı ile gerçekleştirilmektedir(Şekil 3.2).</a:t>
            </a:r>
          </a:p>
          <a:p>
            <a:endParaRPr lang="tr-T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V  Model yaklaşımı</a:t>
            </a:r>
          </a:p>
        </p:txBody>
      </p:sp>
      <p:sp>
        <p:nvSpPr>
          <p:cNvPr id="5" name="4 Dikdörtgen"/>
          <p:cNvSpPr/>
          <p:nvPr/>
        </p:nvSpPr>
        <p:spPr>
          <a:xfrm>
            <a:off x="3867144" y="5010160"/>
            <a:ext cx="776294"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Kodlama &amp; Birim Test </a:t>
            </a:r>
          </a:p>
        </p:txBody>
      </p:sp>
      <p:sp>
        <p:nvSpPr>
          <p:cNvPr id="6" name="5 Dikdörtgen"/>
          <p:cNvSpPr/>
          <p:nvPr/>
        </p:nvSpPr>
        <p:spPr>
          <a:xfrm>
            <a:off x="3857620" y="5000636"/>
            <a:ext cx="78581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Kodlama &amp; Birim Test </a:t>
            </a:r>
          </a:p>
        </p:txBody>
      </p:sp>
      <p:sp>
        <p:nvSpPr>
          <p:cNvPr id="7" name="6 Dikdörtgen"/>
          <p:cNvSpPr/>
          <p:nvPr/>
        </p:nvSpPr>
        <p:spPr>
          <a:xfrm>
            <a:off x="2928926" y="4357694"/>
            <a:ext cx="847732"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Alçak düzey Tasarım</a:t>
            </a:r>
          </a:p>
        </p:txBody>
      </p:sp>
      <p:sp>
        <p:nvSpPr>
          <p:cNvPr id="8" name="7 Dikdörtgen"/>
          <p:cNvSpPr/>
          <p:nvPr/>
        </p:nvSpPr>
        <p:spPr>
          <a:xfrm>
            <a:off x="4500562" y="4357694"/>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Bileşen Test </a:t>
            </a:r>
          </a:p>
        </p:txBody>
      </p:sp>
      <p:sp>
        <p:nvSpPr>
          <p:cNvPr id="9" name="8 Dikdörtgen"/>
          <p:cNvSpPr/>
          <p:nvPr/>
        </p:nvSpPr>
        <p:spPr>
          <a:xfrm>
            <a:off x="5143504" y="300037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a:solidFill>
                  <a:schemeClr val="tx1"/>
                </a:solidFill>
              </a:rPr>
              <a:t>Sistem </a:t>
            </a:r>
          </a:p>
          <a:p>
            <a:r>
              <a:rPr lang="tr-TR" sz="1000" dirty="0">
                <a:solidFill>
                  <a:schemeClr val="tx1"/>
                </a:solidFill>
              </a:rPr>
              <a:t>Test </a:t>
            </a:r>
          </a:p>
        </p:txBody>
      </p:sp>
      <p:sp>
        <p:nvSpPr>
          <p:cNvPr id="10" name="9 Dikdörtgen"/>
          <p:cNvSpPr/>
          <p:nvPr/>
        </p:nvSpPr>
        <p:spPr>
          <a:xfrm>
            <a:off x="2643174" y="3714752"/>
            <a:ext cx="919170"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Yüksek düzey tasarım</a:t>
            </a:r>
          </a:p>
        </p:txBody>
      </p:sp>
      <p:sp>
        <p:nvSpPr>
          <p:cNvPr id="11" name="10 Dikdörtgen"/>
          <p:cNvSpPr/>
          <p:nvPr/>
        </p:nvSpPr>
        <p:spPr>
          <a:xfrm>
            <a:off x="2357422" y="3000372"/>
            <a:ext cx="99060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Ürün </a:t>
            </a:r>
            <a:r>
              <a:rPr lang="tr-TR" sz="1000" dirty="0" err="1">
                <a:solidFill>
                  <a:schemeClr val="tx1"/>
                </a:solidFill>
              </a:rPr>
              <a:t>Spesifikasyon</a:t>
            </a:r>
            <a:endParaRPr lang="tr-TR" sz="1000" dirty="0">
              <a:solidFill>
                <a:schemeClr val="tx1"/>
              </a:solidFill>
            </a:endParaRPr>
          </a:p>
        </p:txBody>
      </p:sp>
      <p:sp>
        <p:nvSpPr>
          <p:cNvPr id="12" name="11 Dikdörtgen"/>
          <p:cNvSpPr/>
          <p:nvPr/>
        </p:nvSpPr>
        <p:spPr>
          <a:xfrm>
            <a:off x="5000628" y="371475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a:solidFill>
                  <a:schemeClr val="tx1"/>
                </a:solidFill>
              </a:rPr>
              <a:t>Bütünlük  Test </a:t>
            </a:r>
          </a:p>
        </p:txBody>
      </p:sp>
      <p:sp>
        <p:nvSpPr>
          <p:cNvPr id="13" name="12 Oval"/>
          <p:cNvSpPr/>
          <p:nvPr/>
        </p:nvSpPr>
        <p:spPr>
          <a:xfrm>
            <a:off x="2000232" y="2143116"/>
            <a:ext cx="1357322" cy="500066"/>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Müşteri Gereksinimleri</a:t>
            </a:r>
          </a:p>
        </p:txBody>
      </p:sp>
      <p:sp>
        <p:nvSpPr>
          <p:cNvPr id="14" name="13 Oval"/>
          <p:cNvSpPr/>
          <p:nvPr/>
        </p:nvSpPr>
        <p:spPr>
          <a:xfrm>
            <a:off x="5000628" y="2143116"/>
            <a:ext cx="1357322"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İşlemsel kullanım</a:t>
            </a:r>
          </a:p>
        </p:txBody>
      </p:sp>
      <p:cxnSp>
        <p:nvCxnSpPr>
          <p:cNvPr id="16" name="15 Düz Ok Bağlayıcısı"/>
          <p:cNvCxnSpPr>
            <a:stCxn id="13" idx="6"/>
          </p:cNvCxnSpPr>
          <p:nvPr/>
        </p:nvCxnSpPr>
        <p:spPr>
          <a:xfrm flipV="1">
            <a:off x="3357554" y="2357430"/>
            <a:ext cx="1643074" cy="3571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7" name="16 Düz Ok Bağlayıcısı"/>
          <p:cNvCxnSpPr/>
          <p:nvPr/>
        </p:nvCxnSpPr>
        <p:spPr>
          <a:xfrm>
            <a:off x="3357554" y="3214686"/>
            <a:ext cx="179547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4" name="23 Düz Ok Bağlayıcısı"/>
          <p:cNvCxnSpPr>
            <a:stCxn id="10" idx="3"/>
            <a:endCxn id="12" idx="1"/>
          </p:cNvCxnSpPr>
          <p:nvPr/>
        </p:nvCxnSpPr>
        <p:spPr>
          <a:xfrm>
            <a:off x="3562344" y="3893347"/>
            <a:ext cx="143828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6" name="25 Metin kutusu"/>
          <p:cNvSpPr txBox="1"/>
          <p:nvPr/>
        </p:nvSpPr>
        <p:spPr>
          <a:xfrm>
            <a:off x="3500430" y="2071678"/>
            <a:ext cx="857256" cy="246221"/>
          </a:xfrm>
          <a:prstGeom prst="rect">
            <a:avLst/>
          </a:prstGeom>
          <a:noFill/>
          <a:ln w="0">
            <a:noFill/>
          </a:ln>
        </p:spPr>
        <p:txBody>
          <a:bodyPr wrap="square" rtlCol="0">
            <a:spAutoFit/>
          </a:bodyPr>
          <a:lstStyle/>
          <a:p>
            <a:r>
              <a:rPr lang="tr-TR" sz="1000" dirty="0"/>
              <a:t>Geçerleme</a:t>
            </a:r>
          </a:p>
        </p:txBody>
      </p:sp>
      <p:sp>
        <p:nvSpPr>
          <p:cNvPr id="27" name="26 Metin kutusu"/>
          <p:cNvSpPr txBox="1"/>
          <p:nvPr/>
        </p:nvSpPr>
        <p:spPr>
          <a:xfrm rot="4467546">
            <a:off x="1239365" y="3394493"/>
            <a:ext cx="1428760" cy="400110"/>
          </a:xfrm>
          <a:prstGeom prst="rect">
            <a:avLst/>
          </a:prstGeom>
          <a:noFill/>
          <a:ln w="0">
            <a:noFill/>
          </a:ln>
        </p:spPr>
        <p:txBody>
          <a:bodyPr wrap="square" rtlCol="0">
            <a:spAutoFit/>
          </a:bodyPr>
          <a:lstStyle/>
          <a:p>
            <a:r>
              <a:rPr lang="tr-TR" sz="1000" dirty="0"/>
              <a:t>Yazılım Geliştirme   G/D Aktiviteleri</a:t>
            </a:r>
          </a:p>
        </p:txBody>
      </p:sp>
      <p:sp>
        <p:nvSpPr>
          <p:cNvPr id="29" name="28 Metin kutusu"/>
          <p:cNvSpPr txBox="1"/>
          <p:nvPr/>
        </p:nvSpPr>
        <p:spPr>
          <a:xfrm>
            <a:off x="3786182" y="3500438"/>
            <a:ext cx="857256" cy="246221"/>
          </a:xfrm>
          <a:prstGeom prst="rect">
            <a:avLst/>
          </a:prstGeom>
          <a:noFill/>
          <a:ln w="0">
            <a:noFill/>
          </a:ln>
        </p:spPr>
        <p:txBody>
          <a:bodyPr wrap="square" rtlCol="0">
            <a:spAutoFit/>
          </a:bodyPr>
          <a:lstStyle/>
          <a:p>
            <a:r>
              <a:rPr lang="tr-TR" sz="1000" dirty="0"/>
              <a:t>Doğrulama</a:t>
            </a:r>
          </a:p>
        </p:txBody>
      </p:sp>
      <p:sp>
        <p:nvSpPr>
          <p:cNvPr id="30" name="29 Metin kutusu"/>
          <p:cNvSpPr txBox="1"/>
          <p:nvPr/>
        </p:nvSpPr>
        <p:spPr>
          <a:xfrm>
            <a:off x="3786182" y="4286256"/>
            <a:ext cx="857256" cy="246221"/>
          </a:xfrm>
          <a:prstGeom prst="rect">
            <a:avLst/>
          </a:prstGeom>
          <a:noFill/>
          <a:ln w="0">
            <a:noFill/>
          </a:ln>
        </p:spPr>
        <p:txBody>
          <a:bodyPr wrap="square" rtlCol="0">
            <a:spAutoFit/>
          </a:bodyPr>
          <a:lstStyle/>
          <a:p>
            <a:r>
              <a:rPr lang="tr-TR" sz="1000" dirty="0"/>
              <a:t>Doğrulama</a:t>
            </a:r>
          </a:p>
        </p:txBody>
      </p:sp>
      <p:cxnSp>
        <p:nvCxnSpPr>
          <p:cNvPr id="32" name="31 Düz Ok Bağlayıcısı"/>
          <p:cNvCxnSpPr>
            <a:stCxn id="13" idx="4"/>
            <a:endCxn id="11" idx="0"/>
          </p:cNvCxnSpPr>
          <p:nvPr/>
        </p:nvCxnSpPr>
        <p:spPr>
          <a:xfrm rot="16200000" flipH="1">
            <a:off x="2587214" y="2734860"/>
            <a:ext cx="357190" cy="1738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Düz Ok Bağlayıcısı"/>
          <p:cNvCxnSpPr/>
          <p:nvPr/>
        </p:nvCxnSpPr>
        <p:spPr>
          <a:xfrm rot="16200000" flipH="1">
            <a:off x="3000364" y="3429000"/>
            <a:ext cx="357190"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Düz Ok Bağlayıcısı"/>
          <p:cNvCxnSpPr/>
          <p:nvPr/>
        </p:nvCxnSpPr>
        <p:spPr>
          <a:xfrm rot="16200000" flipH="1">
            <a:off x="3321835" y="4107661"/>
            <a:ext cx="285752"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39 Düz Ok Bağlayıcısı"/>
          <p:cNvCxnSpPr/>
          <p:nvPr/>
        </p:nvCxnSpPr>
        <p:spPr>
          <a:xfrm rot="16200000" flipH="1">
            <a:off x="3786182"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41 Düz Ok Bağlayıcısı"/>
          <p:cNvCxnSpPr/>
          <p:nvPr/>
        </p:nvCxnSpPr>
        <p:spPr>
          <a:xfrm rot="5400000" flipH="1" flipV="1">
            <a:off x="4429124"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a:stCxn id="12" idx="0"/>
            <a:endCxn id="9" idx="2"/>
          </p:cNvCxnSpPr>
          <p:nvPr/>
        </p:nvCxnSpPr>
        <p:spPr>
          <a:xfrm rot="5400000" flipH="1" flipV="1">
            <a:off x="5317337" y="3464719"/>
            <a:ext cx="357190"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47 Düz Ok Bağlayıcısı"/>
          <p:cNvCxnSpPr/>
          <p:nvPr/>
        </p:nvCxnSpPr>
        <p:spPr>
          <a:xfrm rot="5400000" flipH="1" flipV="1">
            <a:off x="5072066" y="4143380"/>
            <a:ext cx="285752"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49 Düz Ok Bağlayıcısı"/>
          <p:cNvCxnSpPr>
            <a:stCxn id="9" idx="0"/>
            <a:endCxn id="14" idx="4"/>
          </p:cNvCxnSpPr>
          <p:nvPr/>
        </p:nvCxnSpPr>
        <p:spPr>
          <a:xfrm rot="5400000" flipH="1" flipV="1">
            <a:off x="5444734" y="2765818"/>
            <a:ext cx="357190" cy="1119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51 Şekil"/>
          <p:cNvCxnSpPr>
            <a:stCxn id="6" idx="1"/>
          </p:cNvCxnSpPr>
          <p:nvPr/>
        </p:nvCxnSpPr>
        <p:spPr>
          <a:xfrm rot="10800000">
            <a:off x="2000232" y="2500307"/>
            <a:ext cx="1857388" cy="2678925"/>
          </a:xfrm>
          <a:prstGeom prst="curvedConnector2">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53" name="52 Metin kutusu"/>
          <p:cNvSpPr txBox="1"/>
          <p:nvPr/>
        </p:nvSpPr>
        <p:spPr>
          <a:xfrm>
            <a:off x="3652830" y="3009896"/>
            <a:ext cx="1428760" cy="246221"/>
          </a:xfrm>
          <a:prstGeom prst="rect">
            <a:avLst/>
          </a:prstGeom>
          <a:noFill/>
          <a:ln w="0">
            <a:noFill/>
          </a:ln>
        </p:spPr>
        <p:txBody>
          <a:bodyPr wrap="square" rtlCol="0">
            <a:spAutoFit/>
          </a:bodyPr>
          <a:lstStyle/>
          <a:p>
            <a:r>
              <a:rPr lang="tr-TR" sz="1000" dirty="0"/>
              <a:t>Geçerleme/Doğrulama</a:t>
            </a:r>
          </a:p>
        </p:txBody>
      </p:sp>
      <p:sp>
        <p:nvSpPr>
          <p:cNvPr id="54" name="53 Metin kutusu"/>
          <p:cNvSpPr txBox="1"/>
          <p:nvPr/>
        </p:nvSpPr>
        <p:spPr>
          <a:xfrm>
            <a:off x="1357290" y="5643578"/>
            <a:ext cx="6715172" cy="276999"/>
          </a:xfrm>
          <a:prstGeom prst="rect">
            <a:avLst/>
          </a:prstGeom>
          <a:noFill/>
          <a:ln w="0">
            <a:solidFill>
              <a:schemeClr val="tx1"/>
            </a:solidFill>
          </a:ln>
        </p:spPr>
        <p:txBody>
          <a:bodyPr wrap="square" rtlCol="0">
            <a:spAutoFit/>
          </a:bodyPr>
          <a:lstStyle/>
          <a:p>
            <a:r>
              <a:rPr lang="tr-TR" sz="1200" dirty="0"/>
              <a:t>Şekil 3.2  Yazılım geliştirme ve Test sürecindeki Geçerleme &amp; Doğrulama Aktiviteleri (V  Model yaklaşımı)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3.3. Gözden Geçirme Ve Onaylama</a:t>
            </a:r>
            <a:br>
              <a:rPr lang="tr-TR" dirty="0"/>
            </a:br>
            <a:endParaRPr lang="tr-TR" dirty="0"/>
          </a:p>
        </p:txBody>
      </p:sp>
      <p:sp>
        <p:nvSpPr>
          <p:cNvPr id="3" name="2 İçerik Yer Tutucusu"/>
          <p:cNvSpPr>
            <a:spLocks noGrp="1"/>
          </p:cNvSpPr>
          <p:nvPr>
            <p:ph idx="1"/>
          </p:nvPr>
        </p:nvSpPr>
        <p:spPr/>
        <p:txBody>
          <a:bodyPr/>
          <a:lstStyle/>
          <a:p>
            <a:r>
              <a:rPr lang="tr-TR" dirty="0"/>
              <a:t>Yazılım geliştirme sürecini oluşturan her basamak tamamlanınca, durak noktalarında yapılan işler gözden geçirilmekte ve gerekli düzeltmeler yapılmaktadır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p:txBody>
          <a:bodyPr/>
          <a:lstStyle/>
          <a:p>
            <a:r>
              <a:rPr lang="tr-TR" dirty="0"/>
              <a:t>Gözden geçirme, bir "eleme" niteliğinde olup, her basamakta yapılabilen hata ve eksiklerin zamanında bulunup giderilmesini sağlamaktadır. Böylece, hata bulma gideri düşük ve hatanın bulunması olasılığı yüksek olmaktadır.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71472" y="1214422"/>
            <a:ext cx="8229600" cy="1000132"/>
          </a:xfrm>
        </p:spPr>
        <p:txBody>
          <a:bodyPr>
            <a:normAutofit/>
          </a:bodyPr>
          <a:lstStyle/>
          <a:p>
            <a:r>
              <a:rPr lang="tr-TR" sz="2000" dirty="0"/>
              <a:t>Şekil. 2.3.Yazılım geliştirme süreci ile hata bulma gideri ve hata bulma olasılığı ilişkisi  </a:t>
            </a:r>
          </a:p>
        </p:txBody>
      </p:sp>
      <p:pic>
        <p:nvPicPr>
          <p:cNvPr id="4" name="3 İçerik Yer Tutucusu" descr="YazSürHata_SB"/>
          <p:cNvPicPr>
            <a:picLocks noGrp="1"/>
          </p:cNvPicPr>
          <p:nvPr>
            <p:ph idx="1"/>
          </p:nvPr>
        </p:nvPicPr>
        <p:blipFill>
          <a:blip r:embed="rId2" cstate="print"/>
          <a:srcRect/>
          <a:stretch>
            <a:fillRect/>
          </a:stretch>
        </p:blipFill>
        <p:spPr bwMode="auto">
          <a:xfrm>
            <a:off x="1785918" y="2214554"/>
            <a:ext cx="5586432" cy="305356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706090"/>
          </a:xfrm>
        </p:spPr>
        <p:txBody>
          <a:bodyPr>
            <a:normAutofit fontScale="90000"/>
          </a:bodyPr>
          <a:lstStyle/>
          <a:p>
            <a:endParaRPr lang="tr-TR"/>
          </a:p>
        </p:txBody>
      </p:sp>
      <p:sp>
        <p:nvSpPr>
          <p:cNvPr id="3" name="2 İçerik Yer Tutucusu"/>
          <p:cNvSpPr>
            <a:spLocks noGrp="1"/>
          </p:cNvSpPr>
          <p:nvPr>
            <p:ph idx="1"/>
          </p:nvPr>
        </p:nvSpPr>
        <p:spPr/>
        <p:txBody>
          <a:bodyPr/>
          <a:lstStyle/>
          <a:p>
            <a:r>
              <a:rPr lang="tr-TR" dirty="0"/>
              <a:t>Örneğin, yazılım geliştirmedeki hataların %50 - 65'i </a:t>
            </a:r>
            <a:r>
              <a:rPr lang="tr-TR" sz="2800" dirty="0"/>
              <a:t>tasarım </a:t>
            </a:r>
            <a:r>
              <a:rPr lang="tr-TR" dirty="0"/>
              <a:t>aşamasında yapılmaktadır. Gözden geçirme sırasında bu hataların %75'i bulunup, düzeltilebilmektedir. Bulunamayan hatalara sınama öncesinde rastlanması halinde 5-6 kat, sınama sırasında rastlanması halinde 15 kat, kullanım aşamasında rastlanması halinde ise 67 kat gider gerekmektedir.</a:t>
            </a:r>
          </a:p>
          <a:p>
            <a:endParaRPr lang="tr-T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600" dirty="0"/>
              <a:t>Gözden geçirmenin amaçları ve yararları</a:t>
            </a:r>
          </a:p>
        </p:txBody>
      </p:sp>
      <p:sp>
        <p:nvSpPr>
          <p:cNvPr id="3" name="2 İçerik Yer Tutucusu"/>
          <p:cNvSpPr>
            <a:spLocks noGrp="1"/>
          </p:cNvSpPr>
          <p:nvPr>
            <p:ph idx="1"/>
          </p:nvPr>
        </p:nvSpPr>
        <p:spPr>
          <a:xfrm>
            <a:off x="457200" y="1340768"/>
            <a:ext cx="8229600" cy="4785395"/>
          </a:xfrm>
        </p:spPr>
        <p:txBody>
          <a:bodyPr>
            <a:normAutofit fontScale="85000" lnSpcReduction="20000"/>
          </a:bodyPr>
          <a:lstStyle/>
          <a:p>
            <a:endParaRPr lang="tr-TR" dirty="0"/>
          </a:p>
          <a:p>
            <a:pPr lvl="0"/>
            <a:r>
              <a:rPr lang="tr-TR" dirty="0"/>
              <a:t>Yazılımda yapılabilen işlevsel, mantıksal ve gerçekleştirme hatalarının bulunup giderilmesi</a:t>
            </a:r>
          </a:p>
          <a:p>
            <a:pPr lvl="0"/>
            <a:r>
              <a:rPr lang="tr-TR" dirty="0"/>
              <a:t>Yazılımın gereksinimlere uygun olarak düzenlendiğinin onaylanması</a:t>
            </a:r>
          </a:p>
          <a:p>
            <a:pPr lvl="0"/>
            <a:r>
              <a:rPr lang="tr-TR" dirty="0"/>
              <a:t>Yazılımın önceden belirlenen standartlara uygunluğunun sağlanması</a:t>
            </a:r>
          </a:p>
          <a:p>
            <a:pPr lvl="0"/>
            <a:r>
              <a:rPr lang="tr-TR" dirty="0"/>
              <a:t>Yazılımın düzenli olarak geliştirilmesi</a:t>
            </a:r>
          </a:p>
          <a:p>
            <a:pPr lvl="0"/>
            <a:r>
              <a:rPr lang="tr-TR" dirty="0"/>
              <a:t>Yazılım Proje yönetiminin kolaylaştırılması</a:t>
            </a:r>
          </a:p>
          <a:p>
            <a:pPr lvl="0"/>
            <a:r>
              <a:rPr lang="tr-TR" dirty="0"/>
              <a:t>Müşteriye dağıtılacak ürün dokümanlarının kalite ve miktarı</a:t>
            </a:r>
          </a:p>
          <a:p>
            <a:pPr>
              <a:buNone/>
            </a:pPr>
            <a:r>
              <a:rPr lang="tr-TR" dirty="0"/>
              <a:t>Olarak sayılabilir. </a:t>
            </a:r>
          </a:p>
          <a:p>
            <a:endParaRPr lang="tr-T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39552" y="476672"/>
            <a:ext cx="8229600" cy="908720"/>
          </a:xfrm>
        </p:spPr>
        <p:txBody>
          <a:bodyPr>
            <a:normAutofit fontScale="90000"/>
          </a:bodyPr>
          <a:lstStyle/>
          <a:p>
            <a:r>
              <a:rPr lang="tr-TR" dirty="0"/>
              <a:t>3.3.2. Gözden geçirme (</a:t>
            </a:r>
            <a:r>
              <a:rPr lang="tr-TR" dirty="0" err="1"/>
              <a:t>Review</a:t>
            </a:r>
            <a:r>
              <a:rPr lang="tr-TR" dirty="0"/>
              <a:t>) Nedir </a:t>
            </a:r>
            <a:br>
              <a:rPr lang="tr-TR" dirty="0"/>
            </a:br>
            <a:endParaRPr lang="tr-TR" dirty="0"/>
          </a:p>
        </p:txBody>
      </p:sp>
      <p:sp>
        <p:nvSpPr>
          <p:cNvPr id="3" name="2 İçerik Yer Tutucusu"/>
          <p:cNvSpPr>
            <a:spLocks noGrp="1"/>
          </p:cNvSpPr>
          <p:nvPr>
            <p:ph idx="1"/>
          </p:nvPr>
        </p:nvSpPr>
        <p:spPr/>
        <p:txBody>
          <a:bodyPr/>
          <a:lstStyle/>
          <a:p>
            <a:pPr>
              <a:buNone/>
            </a:pPr>
            <a:r>
              <a:rPr lang="tr-TR" dirty="0"/>
              <a:t>Gözden geçirme (</a:t>
            </a:r>
            <a:r>
              <a:rPr lang="tr-TR" dirty="0" err="1"/>
              <a:t>Review</a:t>
            </a:r>
            <a:r>
              <a:rPr lang="tr-TR" dirty="0"/>
              <a:t>),</a:t>
            </a:r>
          </a:p>
          <a:p>
            <a:pPr lvl="0"/>
            <a:r>
              <a:rPr lang="tr-TR" dirty="0"/>
              <a:t>Teknik uzmanların çalışmalarının teknik uzmanlar tarafından değerlendirildiği bir toplantıdır.</a:t>
            </a:r>
          </a:p>
          <a:p>
            <a:pPr lvl="0"/>
            <a:r>
              <a:rPr lang="tr-TR" dirty="0"/>
              <a:t>Yazılım mühendisliği sürecinde yaratılan ürünlerin teknik bir değerlendirilmesidir.</a:t>
            </a:r>
          </a:p>
          <a:p>
            <a:pPr lvl="0"/>
            <a:r>
              <a:rPr lang="tr-TR" dirty="0"/>
              <a:t>Yazılım Kalite sağlama aktivitesidir</a:t>
            </a:r>
          </a:p>
          <a:p>
            <a:pPr lvl="0"/>
            <a:r>
              <a:rPr lang="tr-TR" dirty="0"/>
              <a:t>eğitim ortamıdır</a:t>
            </a:r>
          </a:p>
          <a:p>
            <a:endParaRPr lang="tr-T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3.3.2. Gözden geçirme Ne Değildir</a:t>
            </a:r>
            <a:br>
              <a:rPr lang="tr-TR" dirty="0"/>
            </a:br>
            <a:endParaRPr lang="tr-TR" dirty="0"/>
          </a:p>
        </p:txBody>
      </p:sp>
      <p:sp>
        <p:nvSpPr>
          <p:cNvPr id="3" name="2 İçerik Yer Tutucusu"/>
          <p:cNvSpPr>
            <a:spLocks noGrp="1"/>
          </p:cNvSpPr>
          <p:nvPr>
            <p:ph idx="1"/>
          </p:nvPr>
        </p:nvSpPr>
        <p:spPr/>
        <p:txBody>
          <a:bodyPr/>
          <a:lstStyle/>
          <a:p>
            <a:pPr lvl="0"/>
            <a:r>
              <a:rPr lang="tr-TR" dirty="0"/>
              <a:t>Bir proje özeti veya proje ilerlemelerinin ifadesi değildir</a:t>
            </a:r>
          </a:p>
          <a:p>
            <a:pPr lvl="0"/>
            <a:r>
              <a:rPr lang="tr-TR" dirty="0"/>
              <a:t>Yazılım geliştirme ekibinin politik veya kişisel değerlendirilmesi</a:t>
            </a:r>
          </a:p>
          <a:p>
            <a:pPr lvl="0"/>
            <a:r>
              <a:rPr lang="tr-TR" dirty="0"/>
              <a:t>Sadece bilgi verme toplantısı değildir. </a:t>
            </a:r>
          </a:p>
          <a:p>
            <a:endParaRPr lang="tr-T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Gözden geçirme toplantısında,</a:t>
            </a:r>
            <a:br>
              <a:rPr lang="tr-TR" dirty="0"/>
            </a:br>
            <a:endParaRPr lang="tr-TR" dirty="0"/>
          </a:p>
        </p:txBody>
      </p:sp>
      <p:sp>
        <p:nvSpPr>
          <p:cNvPr id="3" name="2 İçerik Yer Tutucusu"/>
          <p:cNvSpPr>
            <a:spLocks noGrp="1"/>
          </p:cNvSpPr>
          <p:nvPr>
            <p:ph idx="1"/>
          </p:nvPr>
        </p:nvSpPr>
        <p:spPr/>
        <p:txBody>
          <a:bodyPr>
            <a:normAutofit fontScale="92500" lnSpcReduction="20000"/>
          </a:bodyPr>
          <a:lstStyle/>
          <a:p>
            <a:pPr lvl="0"/>
            <a:r>
              <a:rPr lang="tr-TR" dirty="0"/>
              <a:t>Gözden geçirme lideri ve görevlisi</a:t>
            </a:r>
          </a:p>
          <a:p>
            <a:pPr lvl="0"/>
            <a:r>
              <a:rPr lang="tr-TR" dirty="0"/>
              <a:t>Kullanıcı temsilcisi,</a:t>
            </a:r>
          </a:p>
          <a:p>
            <a:pPr lvl="0"/>
            <a:r>
              <a:rPr lang="tr-TR" dirty="0"/>
              <a:t>Standartlara uygunluğu kontrol eden (Yazılım Kalite Güvence ekibinden),</a:t>
            </a:r>
          </a:p>
          <a:p>
            <a:pPr lvl="0"/>
            <a:r>
              <a:rPr lang="tr-TR" dirty="0"/>
              <a:t>Kayıtçı,</a:t>
            </a:r>
          </a:p>
          <a:p>
            <a:pPr lvl="0"/>
            <a:r>
              <a:rPr lang="tr-TR" dirty="0"/>
              <a:t>Üretici (yazılım geliştirici ekibinden) Bulunmaktadır. Ancak gözden geçirme gerçekleştirilen yazılımın büyüklüğüne göre bu </a:t>
            </a:r>
            <a:r>
              <a:rPr lang="tr-TR" dirty="0" err="1"/>
              <a:t>ekipdeki</a:t>
            </a:r>
            <a:r>
              <a:rPr lang="tr-TR" dirty="0"/>
              <a:t> rolleri daha az sayıdaki kişiler de paylaşabilmektedir.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br>
              <a:rPr lang="tr-TR" sz="3600" b="1" dirty="0"/>
            </a:br>
            <a:r>
              <a:rPr lang="tr-TR" sz="3600" b="1" dirty="0"/>
              <a:t>3.3.3. Gözden Geçirme ve İnceleme Tipleri</a:t>
            </a:r>
            <a:br>
              <a:rPr lang="tr-TR" sz="3600" dirty="0"/>
            </a:br>
            <a:endParaRPr lang="tr-TR" sz="3600" dirty="0"/>
          </a:p>
        </p:txBody>
      </p:sp>
      <p:sp>
        <p:nvSpPr>
          <p:cNvPr id="3" name="2 İçerik Yer Tutucusu"/>
          <p:cNvSpPr>
            <a:spLocks noGrp="1"/>
          </p:cNvSpPr>
          <p:nvPr>
            <p:ph idx="1"/>
          </p:nvPr>
        </p:nvSpPr>
        <p:spPr/>
        <p:txBody>
          <a:bodyPr>
            <a:normAutofit/>
          </a:bodyPr>
          <a:lstStyle/>
          <a:p>
            <a:r>
              <a:rPr lang="tr-TR" dirty="0"/>
              <a:t>Gözden Geçirme tipleri, </a:t>
            </a:r>
          </a:p>
          <a:p>
            <a:r>
              <a:rPr lang="tr-TR" dirty="0" err="1"/>
              <a:t>formal</a:t>
            </a:r>
            <a:r>
              <a:rPr lang="tr-TR" dirty="0"/>
              <a:t> olmayan gözden geçirme (</a:t>
            </a:r>
            <a:r>
              <a:rPr lang="tr-TR" dirty="0" err="1"/>
              <a:t>informal</a:t>
            </a:r>
            <a:r>
              <a:rPr lang="tr-TR" dirty="0"/>
              <a:t> </a:t>
            </a:r>
            <a:r>
              <a:rPr lang="tr-TR" dirty="0" err="1"/>
              <a:t>review</a:t>
            </a:r>
            <a:r>
              <a:rPr lang="tr-TR" dirty="0"/>
              <a:t>),</a:t>
            </a:r>
          </a:p>
          <a:p>
            <a:r>
              <a:rPr lang="tr-TR" dirty="0"/>
              <a:t> yapısal denetim (</a:t>
            </a:r>
            <a:r>
              <a:rPr lang="tr-TR" i="1" dirty="0" err="1"/>
              <a:t>Walkthrough</a:t>
            </a:r>
            <a:r>
              <a:rPr lang="tr-TR" i="1" dirty="0"/>
              <a:t>),</a:t>
            </a:r>
          </a:p>
          <a:p>
            <a:r>
              <a:rPr lang="tr-TR" i="1" dirty="0"/>
              <a:t> </a:t>
            </a:r>
            <a:r>
              <a:rPr lang="tr-TR" dirty="0" err="1"/>
              <a:t>Inceleme</a:t>
            </a:r>
            <a:r>
              <a:rPr lang="tr-TR" i="1" dirty="0"/>
              <a:t> (</a:t>
            </a:r>
            <a:r>
              <a:rPr lang="tr-TR" i="1" dirty="0" err="1"/>
              <a:t>Inspection</a:t>
            </a:r>
            <a:r>
              <a:rPr lang="tr-TR" i="1" dirty="0"/>
              <a:t>) ve  </a:t>
            </a:r>
          </a:p>
          <a:p>
            <a:r>
              <a:rPr lang="tr-TR" i="1" dirty="0" err="1"/>
              <a:t>round</a:t>
            </a:r>
            <a:r>
              <a:rPr lang="tr-TR" i="1" dirty="0"/>
              <a:t> </a:t>
            </a:r>
            <a:r>
              <a:rPr lang="tr-TR" i="1" dirty="0" err="1"/>
              <a:t>robin</a:t>
            </a:r>
            <a:r>
              <a:rPr lang="tr-TR" i="1" dirty="0"/>
              <a:t> </a:t>
            </a:r>
            <a:r>
              <a:rPr lang="tr-TR" i="1" dirty="0" err="1"/>
              <a:t>peer</a:t>
            </a:r>
            <a:r>
              <a:rPr lang="tr-TR" i="1" dirty="0"/>
              <a:t> </a:t>
            </a:r>
            <a:r>
              <a:rPr lang="tr-TR" i="1" dirty="0" err="1"/>
              <a:t>review</a:t>
            </a:r>
            <a:r>
              <a:rPr lang="tr-TR" dirty="0"/>
              <a:t> olmak üzere belirtilebilir.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br>
              <a:rPr lang="tr-TR" sz="3200" dirty="0"/>
            </a:br>
            <a:r>
              <a:rPr lang="tr-TR" sz="3200" dirty="0"/>
              <a:t>Tablo 3.1. Gözden Geçirme (</a:t>
            </a:r>
            <a:r>
              <a:rPr lang="tr-TR" sz="3200" dirty="0" err="1"/>
              <a:t>Review</a:t>
            </a:r>
            <a:r>
              <a:rPr lang="tr-TR" sz="3200" dirty="0"/>
              <a:t>) Seçenek Matrisi</a:t>
            </a:r>
            <a:br>
              <a:rPr lang="tr-TR" sz="3200" dirty="0"/>
            </a:br>
            <a:endParaRPr lang="tr-TR" sz="3200"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043608" y="1700808"/>
            <a:ext cx="6840760" cy="3418291"/>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p:txBody>
          <a:bodyPr/>
          <a:lstStyle/>
          <a:p>
            <a:r>
              <a:rPr lang="tr-TR" dirty="0"/>
              <a:t>Küçük projelerde gözden geçirme ve düzeltme işlemi doğrudan, yazılımı geliştiren tarafından da yapılabilmektedir.</a:t>
            </a:r>
          </a:p>
          <a:p>
            <a:r>
              <a:rPr lang="tr-TR" dirty="0"/>
              <a:t> Ancak, hata ve eksiklerin üçüncü kişi tarafından daha kolay ve duyarlı biçimde görülebileceği nedeni ile sakıncalı bulunmaktadır.</a:t>
            </a:r>
          </a:p>
          <a:p>
            <a:endParaRPr lang="tr-T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br>
              <a:rPr lang="tr-TR" b="1" dirty="0"/>
            </a:br>
            <a:r>
              <a:rPr lang="tr-TR" b="1" dirty="0"/>
              <a:t>3.3.4. Gözden Geçirme Ve Onaylama Basamakları</a:t>
            </a:r>
            <a:br>
              <a:rPr lang="tr-TR" dirty="0"/>
            </a:br>
            <a:endParaRPr lang="tr-TR" dirty="0"/>
          </a:p>
        </p:txBody>
      </p:sp>
      <p:sp>
        <p:nvSpPr>
          <p:cNvPr id="3" name="2 İçerik Yer Tutucusu"/>
          <p:cNvSpPr>
            <a:spLocks noGrp="1"/>
          </p:cNvSpPr>
          <p:nvPr>
            <p:ph idx="1"/>
          </p:nvPr>
        </p:nvSpPr>
        <p:spPr/>
        <p:txBody>
          <a:bodyPr>
            <a:normAutofit fontScale="85000" lnSpcReduction="20000"/>
          </a:bodyPr>
          <a:lstStyle/>
          <a:p>
            <a:pPr>
              <a:buNone/>
            </a:pPr>
            <a:r>
              <a:rPr lang="tr-TR" dirty="0"/>
              <a:t>Yazılım geliştirme sürecinde gözden geçirme işlemi, genel olarak; </a:t>
            </a:r>
          </a:p>
          <a:p>
            <a:pPr lvl="0"/>
            <a:r>
              <a:rPr lang="tr-TR" dirty="0"/>
              <a:t>sistem analizi, </a:t>
            </a:r>
          </a:p>
          <a:p>
            <a:pPr lvl="0"/>
            <a:r>
              <a:rPr lang="tr-TR" dirty="0"/>
              <a:t>yazılım geliştirme plânı, </a:t>
            </a:r>
          </a:p>
          <a:p>
            <a:pPr lvl="0"/>
            <a:r>
              <a:rPr lang="tr-TR" dirty="0"/>
              <a:t>gereksinim analizi, </a:t>
            </a:r>
          </a:p>
          <a:p>
            <a:pPr lvl="0"/>
            <a:r>
              <a:rPr lang="tr-TR" dirty="0"/>
              <a:t>tasarım,</a:t>
            </a:r>
          </a:p>
          <a:p>
            <a:pPr lvl="0"/>
            <a:r>
              <a:rPr lang="tr-TR" dirty="0"/>
              <a:t>kodlama, </a:t>
            </a:r>
          </a:p>
          <a:p>
            <a:pPr lvl="0"/>
            <a:r>
              <a:rPr lang="tr-TR" dirty="0"/>
              <a:t>sınama, </a:t>
            </a:r>
          </a:p>
          <a:p>
            <a:pPr lvl="0"/>
            <a:r>
              <a:rPr lang="tr-TR" dirty="0"/>
              <a:t>bakım ve onarım </a:t>
            </a:r>
          </a:p>
          <a:p>
            <a:r>
              <a:rPr lang="tr-TR" dirty="0"/>
              <a:t>basamaklarının tamamlandığı "durak </a:t>
            </a:r>
            <a:r>
              <a:rPr lang="tr-TR" dirty="0" err="1"/>
              <a:t>noktaları"nda</a:t>
            </a:r>
            <a:r>
              <a:rPr lang="tr-TR" dirty="0"/>
              <a:t> (</a:t>
            </a:r>
            <a:r>
              <a:rPr lang="tr-TR" dirty="0" err="1"/>
              <a:t>milestone</a:t>
            </a:r>
            <a:r>
              <a:rPr lang="tr-TR" dirty="0"/>
              <a:t>) uygulanmaktadır.</a:t>
            </a:r>
          </a:p>
          <a:p>
            <a:endParaRPr lang="tr-T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t>3.3.4.1. Sistem Analizi</a:t>
            </a:r>
            <a:br>
              <a:rPr lang="tr-TR" dirty="0"/>
            </a:br>
            <a:endParaRPr lang="tr-TR" dirty="0"/>
          </a:p>
        </p:txBody>
      </p:sp>
      <p:sp>
        <p:nvSpPr>
          <p:cNvPr id="3" name="2 İçerik Yer Tutucusu"/>
          <p:cNvSpPr>
            <a:spLocks noGrp="1"/>
          </p:cNvSpPr>
          <p:nvPr>
            <p:ph idx="1"/>
          </p:nvPr>
        </p:nvSpPr>
        <p:spPr/>
        <p:txBody>
          <a:bodyPr>
            <a:normAutofit fontScale="92500" lnSpcReduction="20000"/>
          </a:bodyPr>
          <a:lstStyle/>
          <a:p>
            <a:r>
              <a:rPr lang="tr-TR" b="1" dirty="0"/>
              <a:t>Sistem analizi</a:t>
            </a:r>
            <a:r>
              <a:rPr lang="tr-TR" dirty="0"/>
              <a:t> basamağında: sistem düzeyindeki </a:t>
            </a:r>
            <a:r>
              <a:rPr lang="tr-TR" dirty="0" err="1"/>
              <a:t>spesifikasyonların</a:t>
            </a:r>
            <a:r>
              <a:rPr lang="tr-TR" dirty="0"/>
              <a:t> yazılıma ilişkin işlev ve görevler olarak dağıtımının doğruluğu, kalite güvencesini onaylama gereksinimlerinin tutarlığı ve görevlendirmenin yeterliği denetlenmektedir.</a:t>
            </a:r>
          </a:p>
          <a:p>
            <a:r>
              <a:rPr lang="tr-TR" dirty="0"/>
              <a:t> Bu arada, özellikle; ana işlevlerin – arabirimlerin -performansların ve tasarım kısıtlarının tanımları, alternatifler arasından seçimlerin tutarlığı, teknolojik bakımından yapılabilirlik, sistemin sınanması esasları, sistem öğeleri arasındaki uyumluluk konuları üzerinde durulmaktadır.</a:t>
            </a:r>
          </a:p>
          <a:p>
            <a:endParaRPr lang="tr-T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3.3.4.2. </a:t>
            </a:r>
            <a:r>
              <a:rPr lang="tr-TR" b="1" dirty="0"/>
              <a:t>Yazılım geliştirme planı</a:t>
            </a:r>
            <a:r>
              <a:rPr lang="tr-TR" dirty="0"/>
              <a:t> </a:t>
            </a:r>
            <a:br>
              <a:rPr lang="tr-TR" dirty="0"/>
            </a:br>
            <a:endParaRPr lang="tr-TR" dirty="0"/>
          </a:p>
        </p:txBody>
      </p:sp>
      <p:sp>
        <p:nvSpPr>
          <p:cNvPr id="3" name="2 İçerik Yer Tutucusu"/>
          <p:cNvSpPr>
            <a:spLocks noGrp="1"/>
          </p:cNvSpPr>
          <p:nvPr>
            <p:ph idx="1"/>
          </p:nvPr>
        </p:nvSpPr>
        <p:spPr/>
        <p:txBody>
          <a:bodyPr>
            <a:normAutofit fontScale="92500"/>
          </a:bodyPr>
          <a:lstStyle/>
          <a:p>
            <a:r>
              <a:rPr lang="tr-TR" dirty="0"/>
              <a:t>Yazılım geliştirme planı basamağında projenin gerçekleştirilmesindeki risk üzerinde durulmaktadır.</a:t>
            </a:r>
          </a:p>
          <a:p>
            <a:r>
              <a:rPr lang="tr-TR" dirty="0"/>
              <a:t> Bu amaçla: yazılım sorununun tanımı ve terimlerin doğruluğu, kaynakların yeterliği ve sağlama olasılığı, görevlerin uygunluğu – sırası ve kaynak sağlanması ile uyumu, üretimi  - verimlilik – kalite – gider ve zamanlama tahminlerinin tutarlığı konuları incelenmektedir.</a:t>
            </a:r>
          </a:p>
          <a:p>
            <a:endParaRPr lang="tr-T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3.3.4.3.</a:t>
            </a:r>
            <a:r>
              <a:rPr lang="tr-TR" b="1" dirty="0"/>
              <a:t>Gereksinim Analizi</a:t>
            </a:r>
            <a:endParaRPr lang="tr-TR" dirty="0"/>
          </a:p>
        </p:txBody>
      </p:sp>
      <p:sp>
        <p:nvSpPr>
          <p:cNvPr id="3" name="2 İçerik Yer Tutucusu"/>
          <p:cNvSpPr>
            <a:spLocks noGrp="1"/>
          </p:cNvSpPr>
          <p:nvPr>
            <p:ph idx="1"/>
          </p:nvPr>
        </p:nvSpPr>
        <p:spPr/>
        <p:txBody>
          <a:bodyPr>
            <a:normAutofit fontScale="77500" lnSpcReduction="20000"/>
          </a:bodyPr>
          <a:lstStyle/>
          <a:p>
            <a:r>
              <a:rPr lang="tr-TR" b="1" dirty="0"/>
              <a:t>Gereksinimler analizi</a:t>
            </a:r>
            <a:r>
              <a:rPr lang="tr-TR" dirty="0"/>
              <a:t> basamağında, sistem düzeyindeki gereksinimlere uygunluk, bağlılık ve doğruluk aranmaktadır. </a:t>
            </a:r>
          </a:p>
          <a:p>
            <a:r>
              <a:rPr lang="tr-TR" dirty="0"/>
              <a:t> bilgi alanı analizinin tanımlığı – tutarlığı ve doğruluğu, sorunu bölümlere ayırmanın yeterliği, dış ve iç arabirimleri tanımlarının uygunluğu,</a:t>
            </a:r>
          </a:p>
          <a:p>
            <a:r>
              <a:rPr lang="tr-TR" dirty="0"/>
              <a:t> bütün gereksinimlerin sistem düzeyinde tutarlı, alıcı firma veya kullanıcının oluşturulan prototip üzerindeki görüş ve onayı, performansın diğer sistem öğelerinin kısıtları karşısında yapılabilirliği,</a:t>
            </a:r>
          </a:p>
          <a:p>
            <a:r>
              <a:rPr lang="tr-TR" dirty="0"/>
              <a:t> gereksinimlerin zamanlama – kaynaklar ve bütçe olanakları bakımlarından gerçekleştirebilirliği, onaylama kriterlerinin yeterliği üzerine durulmaktadır.</a:t>
            </a:r>
          </a:p>
          <a:p>
            <a:endParaRPr lang="tr-T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3.3.4.4. </a:t>
            </a:r>
            <a:r>
              <a:rPr lang="tr-TR" b="1"/>
              <a:t>Yazılım Tasarımı</a:t>
            </a:r>
            <a:r>
              <a:rPr lang="tr-TR"/>
              <a:t> </a:t>
            </a:r>
            <a:br>
              <a:rPr lang="tr-TR"/>
            </a:br>
            <a:endParaRPr lang="tr-TR"/>
          </a:p>
        </p:txBody>
      </p:sp>
      <p:sp>
        <p:nvSpPr>
          <p:cNvPr id="3" name="2 İçerik Yer Tutucusu"/>
          <p:cNvSpPr>
            <a:spLocks noGrp="1"/>
          </p:cNvSpPr>
          <p:nvPr>
            <p:ph idx="1"/>
          </p:nvPr>
        </p:nvSpPr>
        <p:spPr/>
        <p:txBody>
          <a:bodyPr>
            <a:normAutofit fontScale="85000" lnSpcReduction="10000"/>
          </a:bodyPr>
          <a:lstStyle/>
          <a:p>
            <a:r>
              <a:rPr lang="tr-TR" dirty="0"/>
              <a:t>Yazılım Tasarımı basamağında, veri yapıları, program yapısı ve işlemler ele alınmaktadır. Önce ön tasarım, sonra da ayrıntılı tasarım gözden geçirilmektedir. </a:t>
            </a:r>
          </a:p>
          <a:p>
            <a:r>
              <a:rPr lang="tr-TR" dirty="0"/>
              <a:t>	Ön tasarımın incelenmesinde; gereksinimlerin tasarıma dönüştürülmesi ve yazılım mimarisi konuları üzerinde durulmaktadır. Genellikle; gereksinimlerin yazılım mimarisine doğru yansıtılmış olması, modüllerin etkenliği ve işlevsel bağımsızlığı, program yapısının uygunluğu, dış sistem öğeleri ve modüllere ait arabirimlerin tanımlanması, veri yapısının bilgi alanı ile tutarlığı, bakım ve onarım sorunları incelenmektedir.</a:t>
            </a:r>
          </a:p>
          <a:p>
            <a:endParaRPr lang="tr-TR" dirty="0"/>
          </a:p>
        </p:txBody>
      </p:sp>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891</Words>
  <Application>Microsoft Office PowerPoint</Application>
  <PresentationFormat>Ekran Gösterisi (4:3)</PresentationFormat>
  <Paragraphs>96</Paragraphs>
  <Slides>20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20</vt:i4>
      </vt:variant>
    </vt:vector>
  </HeadingPairs>
  <TitlesOfParts>
    <vt:vector size="24" baseType="lpstr">
      <vt:lpstr>Arial</vt:lpstr>
      <vt:lpstr>Calibri</vt:lpstr>
      <vt:lpstr>Courier New</vt:lpstr>
      <vt:lpstr>Ofis Teması</vt:lpstr>
      <vt:lpstr>3.2. Doğrulama ve Geçerleme </vt:lpstr>
      <vt:lpstr>statik ve dinamik test</vt:lpstr>
      <vt:lpstr>V model yaklaşımı</vt:lpstr>
      <vt:lpstr>V  Model yaklaşımı</vt:lpstr>
      <vt:lpstr>3.3. Gözden Geçirme Ve Onaylama </vt:lpstr>
      <vt:lpstr>PowerPoint Sunusu</vt:lpstr>
      <vt:lpstr>Şekil. 2.3.Yazılım geliştirme süreci ile hata bulma gideri ve hata bulma olasılığı ilişkisi  </vt:lpstr>
      <vt:lpstr>PowerPoint Sunusu</vt:lpstr>
      <vt:lpstr>Gözden geçirmenin amaçları ve yararları</vt:lpstr>
      <vt:lpstr>3.3.2. Gözden geçirme (Review) Nedir  </vt:lpstr>
      <vt:lpstr>3.3.2. Gözden geçirme Ne Değildir </vt:lpstr>
      <vt:lpstr>Gözden geçirme toplantısında, </vt:lpstr>
      <vt:lpstr> 3.3.3. Gözden Geçirme ve İnceleme Tipleri </vt:lpstr>
      <vt:lpstr> Tablo 3.1. Gözden Geçirme (Review) Seçenek Matrisi </vt:lpstr>
      <vt:lpstr>PowerPoint Sunusu</vt:lpstr>
      <vt:lpstr> 3.3.4. Gözden Geçirme Ve Onaylama Basamakları </vt:lpstr>
      <vt:lpstr>3.3.4.1. Sistem Analizi </vt:lpstr>
      <vt:lpstr>3.3.4.2. Yazılım geliştirme planı  </vt:lpstr>
      <vt:lpstr>3.3.4.3.Gereksinim Analizi</vt:lpstr>
      <vt:lpstr>3.3.4.4. Yazılım Tasarımı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2.2.2. Yazılım Kalite Maliyeti</dc:title>
  <dc:creator>oyalar</dc:creator>
  <cp:lastModifiedBy>Oya KALIPSIZ</cp:lastModifiedBy>
  <cp:revision>15</cp:revision>
  <dcterms:created xsi:type="dcterms:W3CDTF">2015-03-03T17:28:16Z</dcterms:created>
  <dcterms:modified xsi:type="dcterms:W3CDTF">2024-10-09T10:58:00Z</dcterms:modified>
</cp:coreProperties>
</file>