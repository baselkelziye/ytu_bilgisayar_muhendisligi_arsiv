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3" r:id="rId2"/>
    <p:sldId id="276" r:id="rId3"/>
    <p:sldId id="274" r:id="rId4"/>
    <p:sldId id="275" r:id="rId5"/>
    <p:sldId id="277" r:id="rId6"/>
    <p:sldId id="282" r:id="rId7"/>
    <p:sldId id="278" r:id="rId8"/>
    <p:sldId id="279" r:id="rId9"/>
    <p:sldId id="280" r:id="rId10"/>
    <p:sldId id="283" r:id="rId11"/>
    <p:sldId id="284" r:id="rId12"/>
    <p:sldId id="285" r:id="rId13"/>
    <p:sldId id="286" r:id="rId14"/>
    <p:sldId id="287" r:id="rId15"/>
    <p:sldId id="288" r:id="rId16"/>
    <p:sldId id="289" r:id="rId17"/>
    <p:sldId id="290" r:id="rId18"/>
    <p:sldId id="291" r:id="rId19"/>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70" d="100"/>
          <a:sy n="70" d="100"/>
        </p:scale>
        <p:origin x="1204"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EF0939-5985-442D-BD1B-2B71F5FE8CB9}" type="datetimeFigureOut">
              <a:rPr lang="tr-TR" smtClean="0"/>
              <a:pPr/>
              <a:t>6.11.2024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703FCB-32DA-4B63-8127-81D79833E1BB}"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D1E9869E-0249-4D0E-9383-487FAB4C49D6}" type="slidenum">
              <a:rPr lang="tr-TR" smtClean="0"/>
              <a:pPr/>
              <a:t>3</a:t>
            </a:fld>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4D703FCB-32DA-4B63-8127-81D79833E1BB}" type="slidenum">
              <a:rPr lang="tr-TR" smtClean="0"/>
              <a:pPr/>
              <a:t>13</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C3F285A4-7711-400B-B0BE-24A1988CA7AB}" type="datetimeFigureOut">
              <a:rPr lang="tr-TR" smtClean="0"/>
              <a:pPr/>
              <a:t>6.11.2024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9A85268A-0367-427E-A861-12BCF247E67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F285A4-7711-400B-B0BE-24A1988CA7AB}" type="datetimeFigureOut">
              <a:rPr lang="tr-TR" smtClean="0"/>
              <a:pPr/>
              <a:t>6.11.2024</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5268A-0367-427E-A861-12BCF247E67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V  Model yaklaşımı</a:t>
            </a:r>
          </a:p>
        </p:txBody>
      </p:sp>
      <p:sp>
        <p:nvSpPr>
          <p:cNvPr id="5" name="4 Dikdörtgen"/>
          <p:cNvSpPr/>
          <p:nvPr/>
        </p:nvSpPr>
        <p:spPr>
          <a:xfrm>
            <a:off x="3867144" y="5010160"/>
            <a:ext cx="776294"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6" name="5 Dikdörtgen"/>
          <p:cNvSpPr/>
          <p:nvPr/>
        </p:nvSpPr>
        <p:spPr>
          <a:xfrm>
            <a:off x="3857620" y="5000636"/>
            <a:ext cx="78581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7" name="6 Dikdörtgen"/>
          <p:cNvSpPr/>
          <p:nvPr/>
        </p:nvSpPr>
        <p:spPr>
          <a:xfrm>
            <a:off x="2928926" y="4357694"/>
            <a:ext cx="847732"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Alçak düzey Tasarım</a:t>
            </a:r>
          </a:p>
        </p:txBody>
      </p:sp>
      <p:sp>
        <p:nvSpPr>
          <p:cNvPr id="8" name="7 Dikdörtgen"/>
          <p:cNvSpPr/>
          <p:nvPr/>
        </p:nvSpPr>
        <p:spPr>
          <a:xfrm>
            <a:off x="4500562" y="4357694"/>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Bileşen Test </a:t>
            </a:r>
          </a:p>
        </p:txBody>
      </p:sp>
      <p:sp>
        <p:nvSpPr>
          <p:cNvPr id="9" name="8 Dikdörtgen"/>
          <p:cNvSpPr/>
          <p:nvPr/>
        </p:nvSpPr>
        <p:spPr>
          <a:xfrm>
            <a:off x="5143504" y="300037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Sistem </a:t>
            </a:r>
          </a:p>
          <a:p>
            <a:r>
              <a:rPr lang="tr-TR" sz="1000" dirty="0">
                <a:solidFill>
                  <a:schemeClr val="tx1"/>
                </a:solidFill>
              </a:rPr>
              <a:t>Test </a:t>
            </a:r>
          </a:p>
        </p:txBody>
      </p:sp>
      <p:sp>
        <p:nvSpPr>
          <p:cNvPr id="10" name="9 Dikdörtgen"/>
          <p:cNvSpPr/>
          <p:nvPr/>
        </p:nvSpPr>
        <p:spPr>
          <a:xfrm>
            <a:off x="2643174" y="3714752"/>
            <a:ext cx="919170"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Yüksek düzey tasarım</a:t>
            </a:r>
          </a:p>
        </p:txBody>
      </p:sp>
      <p:sp>
        <p:nvSpPr>
          <p:cNvPr id="11" name="10 Dikdörtgen"/>
          <p:cNvSpPr/>
          <p:nvPr/>
        </p:nvSpPr>
        <p:spPr>
          <a:xfrm>
            <a:off x="2357422" y="3000372"/>
            <a:ext cx="99060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Ürün </a:t>
            </a:r>
            <a:r>
              <a:rPr lang="tr-TR" sz="1000" dirty="0" err="1">
                <a:solidFill>
                  <a:schemeClr val="tx1"/>
                </a:solidFill>
              </a:rPr>
              <a:t>Spesifikasyon</a:t>
            </a:r>
            <a:endParaRPr lang="tr-TR" sz="1000" dirty="0">
              <a:solidFill>
                <a:schemeClr val="tx1"/>
              </a:solidFill>
            </a:endParaRPr>
          </a:p>
        </p:txBody>
      </p:sp>
      <p:sp>
        <p:nvSpPr>
          <p:cNvPr id="12" name="11 Dikdörtgen"/>
          <p:cNvSpPr/>
          <p:nvPr/>
        </p:nvSpPr>
        <p:spPr>
          <a:xfrm>
            <a:off x="5000628" y="371475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Bütünlük  Test </a:t>
            </a:r>
          </a:p>
        </p:txBody>
      </p:sp>
      <p:sp>
        <p:nvSpPr>
          <p:cNvPr id="13" name="12 Oval"/>
          <p:cNvSpPr/>
          <p:nvPr/>
        </p:nvSpPr>
        <p:spPr>
          <a:xfrm>
            <a:off x="2000232" y="2143116"/>
            <a:ext cx="1357322" cy="50006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Müşteri Gereksinimleri</a:t>
            </a:r>
          </a:p>
        </p:txBody>
      </p:sp>
      <p:sp>
        <p:nvSpPr>
          <p:cNvPr id="14" name="13 Oval"/>
          <p:cNvSpPr/>
          <p:nvPr/>
        </p:nvSpPr>
        <p:spPr>
          <a:xfrm>
            <a:off x="5000628" y="2143116"/>
            <a:ext cx="1357322"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İşlemsel kullanım</a:t>
            </a:r>
          </a:p>
        </p:txBody>
      </p:sp>
      <p:cxnSp>
        <p:nvCxnSpPr>
          <p:cNvPr id="16" name="15 Düz Ok Bağlayıcısı"/>
          <p:cNvCxnSpPr>
            <a:stCxn id="13" idx="6"/>
          </p:cNvCxnSpPr>
          <p:nvPr/>
        </p:nvCxnSpPr>
        <p:spPr>
          <a:xfrm flipV="1">
            <a:off x="3357554" y="2357430"/>
            <a:ext cx="1643074" cy="3571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p:nvPr/>
        </p:nvCxnSpPr>
        <p:spPr>
          <a:xfrm>
            <a:off x="3357554" y="3214686"/>
            <a:ext cx="179547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23 Düz Ok Bağlayıcısı"/>
          <p:cNvCxnSpPr>
            <a:stCxn id="10" idx="3"/>
            <a:endCxn id="12" idx="1"/>
          </p:cNvCxnSpPr>
          <p:nvPr/>
        </p:nvCxnSpPr>
        <p:spPr>
          <a:xfrm>
            <a:off x="3562344" y="3893347"/>
            <a:ext cx="143828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25 Metin kutusu"/>
          <p:cNvSpPr txBox="1"/>
          <p:nvPr/>
        </p:nvSpPr>
        <p:spPr>
          <a:xfrm>
            <a:off x="3500430" y="2071678"/>
            <a:ext cx="857256" cy="246221"/>
          </a:xfrm>
          <a:prstGeom prst="rect">
            <a:avLst/>
          </a:prstGeom>
          <a:noFill/>
          <a:ln w="0">
            <a:noFill/>
          </a:ln>
        </p:spPr>
        <p:txBody>
          <a:bodyPr wrap="square" rtlCol="0">
            <a:spAutoFit/>
          </a:bodyPr>
          <a:lstStyle/>
          <a:p>
            <a:r>
              <a:rPr lang="tr-TR" sz="1000" dirty="0"/>
              <a:t>Geçerleme</a:t>
            </a:r>
          </a:p>
        </p:txBody>
      </p:sp>
      <p:sp>
        <p:nvSpPr>
          <p:cNvPr id="27" name="26 Metin kutusu"/>
          <p:cNvSpPr txBox="1"/>
          <p:nvPr/>
        </p:nvSpPr>
        <p:spPr>
          <a:xfrm rot="4467546">
            <a:off x="1239365" y="3394493"/>
            <a:ext cx="1428760" cy="400110"/>
          </a:xfrm>
          <a:prstGeom prst="rect">
            <a:avLst/>
          </a:prstGeom>
          <a:noFill/>
          <a:ln w="0">
            <a:noFill/>
          </a:ln>
        </p:spPr>
        <p:txBody>
          <a:bodyPr wrap="square" rtlCol="0">
            <a:spAutoFit/>
          </a:bodyPr>
          <a:lstStyle/>
          <a:p>
            <a:r>
              <a:rPr lang="tr-TR" sz="1000" dirty="0"/>
              <a:t>Yazılım Geliştirme   G/D Aktiviteleri</a:t>
            </a:r>
          </a:p>
        </p:txBody>
      </p:sp>
      <p:sp>
        <p:nvSpPr>
          <p:cNvPr id="29" name="28 Metin kutusu"/>
          <p:cNvSpPr txBox="1"/>
          <p:nvPr/>
        </p:nvSpPr>
        <p:spPr>
          <a:xfrm>
            <a:off x="3786182" y="3500438"/>
            <a:ext cx="857256" cy="246221"/>
          </a:xfrm>
          <a:prstGeom prst="rect">
            <a:avLst/>
          </a:prstGeom>
          <a:noFill/>
          <a:ln w="0">
            <a:noFill/>
          </a:ln>
        </p:spPr>
        <p:txBody>
          <a:bodyPr wrap="square" rtlCol="0">
            <a:spAutoFit/>
          </a:bodyPr>
          <a:lstStyle/>
          <a:p>
            <a:r>
              <a:rPr lang="tr-TR" sz="1000" dirty="0"/>
              <a:t>Doğrulama</a:t>
            </a:r>
          </a:p>
        </p:txBody>
      </p:sp>
      <p:sp>
        <p:nvSpPr>
          <p:cNvPr id="30" name="29 Metin kutusu"/>
          <p:cNvSpPr txBox="1"/>
          <p:nvPr/>
        </p:nvSpPr>
        <p:spPr>
          <a:xfrm>
            <a:off x="3786182" y="4286256"/>
            <a:ext cx="857256" cy="246221"/>
          </a:xfrm>
          <a:prstGeom prst="rect">
            <a:avLst/>
          </a:prstGeom>
          <a:noFill/>
          <a:ln w="0">
            <a:noFill/>
          </a:ln>
        </p:spPr>
        <p:txBody>
          <a:bodyPr wrap="square" rtlCol="0">
            <a:spAutoFit/>
          </a:bodyPr>
          <a:lstStyle/>
          <a:p>
            <a:r>
              <a:rPr lang="tr-TR" sz="1000" dirty="0"/>
              <a:t>Doğrulama</a:t>
            </a:r>
          </a:p>
        </p:txBody>
      </p:sp>
      <p:cxnSp>
        <p:nvCxnSpPr>
          <p:cNvPr id="32" name="31 Düz Ok Bağlayıcısı"/>
          <p:cNvCxnSpPr>
            <a:stCxn id="13" idx="4"/>
            <a:endCxn id="11" idx="0"/>
          </p:cNvCxnSpPr>
          <p:nvPr/>
        </p:nvCxnSpPr>
        <p:spPr>
          <a:xfrm rot="16200000" flipH="1">
            <a:off x="2587214" y="2734860"/>
            <a:ext cx="357190" cy="173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16200000" flipH="1">
            <a:off x="3000364" y="3429000"/>
            <a:ext cx="357190"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16200000" flipH="1">
            <a:off x="3321835" y="4107661"/>
            <a:ext cx="28575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16200000" flipH="1">
            <a:off x="3786182"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flipH="1" flipV="1">
            <a:off x="4429124"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0"/>
            <a:endCxn id="9" idx="2"/>
          </p:cNvCxnSpPr>
          <p:nvPr/>
        </p:nvCxnSpPr>
        <p:spPr>
          <a:xfrm rot="5400000" flipH="1" flipV="1">
            <a:off x="5317337" y="3464719"/>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Ok Bağlayıcısı"/>
          <p:cNvCxnSpPr/>
          <p:nvPr/>
        </p:nvCxnSpPr>
        <p:spPr>
          <a:xfrm rot="5400000" flipH="1" flipV="1">
            <a:off x="5072066" y="4143380"/>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Düz Ok Bağlayıcısı"/>
          <p:cNvCxnSpPr>
            <a:stCxn id="9" idx="0"/>
            <a:endCxn id="14" idx="4"/>
          </p:cNvCxnSpPr>
          <p:nvPr/>
        </p:nvCxnSpPr>
        <p:spPr>
          <a:xfrm rot="5400000" flipH="1" flipV="1">
            <a:off x="5444734" y="2765818"/>
            <a:ext cx="357190" cy="11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Şekil"/>
          <p:cNvCxnSpPr>
            <a:stCxn id="6" idx="1"/>
          </p:cNvCxnSpPr>
          <p:nvPr/>
        </p:nvCxnSpPr>
        <p:spPr>
          <a:xfrm rot="10800000">
            <a:off x="2000232" y="2500307"/>
            <a:ext cx="1857388" cy="2678925"/>
          </a:xfrm>
          <a:prstGeom prst="curvedConnector2">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3" name="52 Metin kutusu"/>
          <p:cNvSpPr txBox="1"/>
          <p:nvPr/>
        </p:nvSpPr>
        <p:spPr>
          <a:xfrm>
            <a:off x="3652830" y="3009896"/>
            <a:ext cx="1428760" cy="246221"/>
          </a:xfrm>
          <a:prstGeom prst="rect">
            <a:avLst/>
          </a:prstGeom>
          <a:noFill/>
          <a:ln w="0">
            <a:noFill/>
          </a:ln>
        </p:spPr>
        <p:txBody>
          <a:bodyPr wrap="square" rtlCol="0">
            <a:spAutoFit/>
          </a:bodyPr>
          <a:lstStyle/>
          <a:p>
            <a:r>
              <a:rPr lang="tr-TR" sz="1000" dirty="0"/>
              <a:t>Geçerleme/Doğrulama</a:t>
            </a:r>
          </a:p>
        </p:txBody>
      </p:sp>
      <p:sp>
        <p:nvSpPr>
          <p:cNvPr id="54" name="53 Metin kutusu"/>
          <p:cNvSpPr txBox="1"/>
          <p:nvPr/>
        </p:nvSpPr>
        <p:spPr>
          <a:xfrm>
            <a:off x="1357290" y="5643578"/>
            <a:ext cx="6715172" cy="276999"/>
          </a:xfrm>
          <a:prstGeom prst="rect">
            <a:avLst/>
          </a:prstGeom>
          <a:noFill/>
          <a:ln w="0">
            <a:solidFill>
              <a:schemeClr val="tx1"/>
            </a:solidFill>
          </a:ln>
        </p:spPr>
        <p:txBody>
          <a:bodyPr wrap="square" rtlCol="0">
            <a:spAutoFit/>
          </a:bodyPr>
          <a:lstStyle/>
          <a:p>
            <a:r>
              <a:rPr lang="tr-TR" sz="1200" dirty="0"/>
              <a:t>Şekil 3.2  Yazılım geliştirme ve Test sürecindeki Geçerleme &amp; Doğrulama Aktiviteleri (V  Model yaklaşımı)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5.GEÇERLEME ve DOĞRULAMA TEKNİKLERİ</a:t>
            </a:r>
          </a:p>
        </p:txBody>
      </p:sp>
      <p:sp>
        <p:nvSpPr>
          <p:cNvPr id="3" name="2 İçerik Yer Tutucusu"/>
          <p:cNvSpPr>
            <a:spLocks noGrp="1"/>
          </p:cNvSpPr>
          <p:nvPr>
            <p:ph idx="1"/>
          </p:nvPr>
        </p:nvSpPr>
        <p:spPr/>
        <p:txBody>
          <a:bodyPr>
            <a:normAutofit fontScale="92500" lnSpcReduction="10000"/>
          </a:bodyPr>
          <a:lstStyle/>
          <a:p>
            <a:r>
              <a:rPr lang="tr-TR" dirty="0"/>
              <a:t>5.0.Bolüm Hedefi	</a:t>
            </a:r>
          </a:p>
          <a:p>
            <a:r>
              <a:rPr lang="tr-TR" dirty="0"/>
              <a:t>Dinamik Geçerleme (</a:t>
            </a:r>
            <a:r>
              <a:rPr lang="tr-TR" dirty="0" err="1"/>
              <a:t>verification</a:t>
            </a:r>
            <a:r>
              <a:rPr lang="tr-TR" dirty="0"/>
              <a:t>), yazılım test sürecini tanımlama</a:t>
            </a:r>
          </a:p>
          <a:p>
            <a:r>
              <a:rPr lang="tr-TR" dirty="0"/>
              <a:t>Birim test ve Bütünlük test işlemlerini özetlenmesi</a:t>
            </a:r>
          </a:p>
          <a:p>
            <a:r>
              <a:rPr lang="tr-TR" dirty="0"/>
              <a:t>Regresyon testini tanıma</a:t>
            </a:r>
          </a:p>
          <a:p>
            <a:r>
              <a:rPr lang="tr-TR" dirty="0"/>
              <a:t>Saydam kutu Kara kutu Test tiplerini inceleme</a:t>
            </a:r>
          </a:p>
          <a:p>
            <a:r>
              <a:rPr lang="tr-TR" dirty="0"/>
              <a:t>Performans, Dayanıklılık ve Güvenlik Testi olarak Sistem Testini tanımlama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1071546"/>
            <a:ext cx="8229600" cy="928694"/>
          </a:xfrm>
        </p:spPr>
        <p:txBody>
          <a:bodyPr>
            <a:normAutofit/>
          </a:bodyPr>
          <a:lstStyle/>
          <a:p>
            <a:r>
              <a:rPr lang="en-US" sz="2000" b="1" dirty="0" err="1"/>
              <a:t>Şekil</a:t>
            </a:r>
            <a:r>
              <a:rPr lang="en-US" sz="2000" b="1" dirty="0"/>
              <a:t> –</a:t>
            </a:r>
            <a:r>
              <a:rPr lang="tr-TR" sz="2000" b="1" dirty="0"/>
              <a:t>5.1. Yazılım sınama basamakları</a:t>
            </a:r>
          </a:p>
        </p:txBody>
      </p:sp>
      <p:pic>
        <p:nvPicPr>
          <p:cNvPr id="4" name="3 İçerik Yer Tutucusu" descr="Sınama_SB"/>
          <p:cNvPicPr>
            <a:picLocks noGrp="1"/>
          </p:cNvPicPr>
          <p:nvPr>
            <p:ph idx="1"/>
          </p:nvPr>
        </p:nvPicPr>
        <p:blipFill>
          <a:blip r:embed="rId3" cstate="print"/>
          <a:srcRect/>
          <a:stretch>
            <a:fillRect/>
          </a:stretch>
        </p:blipFill>
        <p:spPr bwMode="auto">
          <a:xfrm>
            <a:off x="1719262" y="2410619"/>
            <a:ext cx="5705475" cy="29051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dirty="0"/>
          </a:p>
        </p:txBody>
      </p:sp>
      <p:sp>
        <p:nvSpPr>
          <p:cNvPr id="5" name="4 Dikdörtgen"/>
          <p:cNvSpPr/>
          <p:nvPr/>
        </p:nvSpPr>
        <p:spPr>
          <a:xfrm>
            <a:off x="3867144" y="5010160"/>
            <a:ext cx="776294"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6" name="5 Dikdörtgen"/>
          <p:cNvSpPr/>
          <p:nvPr/>
        </p:nvSpPr>
        <p:spPr>
          <a:xfrm>
            <a:off x="3857620" y="5000636"/>
            <a:ext cx="78581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Kodlama &amp; Birim Test </a:t>
            </a:r>
          </a:p>
        </p:txBody>
      </p:sp>
      <p:sp>
        <p:nvSpPr>
          <p:cNvPr id="7" name="6 Dikdörtgen"/>
          <p:cNvSpPr/>
          <p:nvPr/>
        </p:nvSpPr>
        <p:spPr>
          <a:xfrm>
            <a:off x="2928926" y="4357694"/>
            <a:ext cx="847732"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Alçak düzey Tasarım</a:t>
            </a:r>
          </a:p>
        </p:txBody>
      </p:sp>
      <p:sp>
        <p:nvSpPr>
          <p:cNvPr id="8" name="7 Dikdörtgen"/>
          <p:cNvSpPr/>
          <p:nvPr/>
        </p:nvSpPr>
        <p:spPr>
          <a:xfrm>
            <a:off x="4500562" y="4357694"/>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Bileşen Test </a:t>
            </a:r>
          </a:p>
        </p:txBody>
      </p:sp>
      <p:sp>
        <p:nvSpPr>
          <p:cNvPr id="9" name="8 Dikdörtgen"/>
          <p:cNvSpPr/>
          <p:nvPr/>
        </p:nvSpPr>
        <p:spPr>
          <a:xfrm>
            <a:off x="5143504" y="300037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Sistem </a:t>
            </a:r>
          </a:p>
          <a:p>
            <a:r>
              <a:rPr lang="tr-TR" sz="1000" dirty="0">
                <a:solidFill>
                  <a:schemeClr val="tx1"/>
                </a:solidFill>
              </a:rPr>
              <a:t>Test </a:t>
            </a:r>
          </a:p>
        </p:txBody>
      </p:sp>
      <p:sp>
        <p:nvSpPr>
          <p:cNvPr id="10" name="9 Dikdörtgen"/>
          <p:cNvSpPr/>
          <p:nvPr/>
        </p:nvSpPr>
        <p:spPr>
          <a:xfrm>
            <a:off x="2571736" y="3714752"/>
            <a:ext cx="990608" cy="35719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Yüksek düzey tasarım</a:t>
            </a:r>
          </a:p>
        </p:txBody>
      </p:sp>
      <p:sp>
        <p:nvSpPr>
          <p:cNvPr id="11" name="10 Dikdörtgen"/>
          <p:cNvSpPr/>
          <p:nvPr/>
        </p:nvSpPr>
        <p:spPr>
          <a:xfrm>
            <a:off x="2428860" y="2928934"/>
            <a:ext cx="919170" cy="42862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Ürün </a:t>
            </a:r>
            <a:r>
              <a:rPr lang="tr-TR" sz="1000" dirty="0" err="1">
                <a:solidFill>
                  <a:schemeClr val="tx1"/>
                </a:solidFill>
              </a:rPr>
              <a:t>Spesifikasyon</a:t>
            </a:r>
            <a:endParaRPr lang="tr-TR" sz="1000" dirty="0">
              <a:solidFill>
                <a:schemeClr val="tx1"/>
              </a:solidFill>
            </a:endParaRPr>
          </a:p>
        </p:txBody>
      </p:sp>
      <p:sp>
        <p:nvSpPr>
          <p:cNvPr id="12" name="11 Dikdörtgen"/>
          <p:cNvSpPr/>
          <p:nvPr/>
        </p:nvSpPr>
        <p:spPr>
          <a:xfrm>
            <a:off x="5000628" y="3714752"/>
            <a:ext cx="847732" cy="35719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Bütünlük  Test </a:t>
            </a:r>
          </a:p>
        </p:txBody>
      </p:sp>
      <p:sp>
        <p:nvSpPr>
          <p:cNvPr id="13" name="12 Oval"/>
          <p:cNvSpPr/>
          <p:nvPr/>
        </p:nvSpPr>
        <p:spPr>
          <a:xfrm>
            <a:off x="2000232" y="2143116"/>
            <a:ext cx="1357322" cy="50006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Müşteri Gereksinimleri</a:t>
            </a:r>
          </a:p>
        </p:txBody>
      </p:sp>
      <p:sp>
        <p:nvSpPr>
          <p:cNvPr id="14" name="13 Oval"/>
          <p:cNvSpPr/>
          <p:nvPr/>
        </p:nvSpPr>
        <p:spPr>
          <a:xfrm>
            <a:off x="5000628" y="2143116"/>
            <a:ext cx="1357322" cy="500066"/>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00" dirty="0">
                <a:solidFill>
                  <a:schemeClr val="tx1"/>
                </a:solidFill>
              </a:rPr>
              <a:t>İşlemsel kullanım</a:t>
            </a:r>
          </a:p>
        </p:txBody>
      </p:sp>
      <p:cxnSp>
        <p:nvCxnSpPr>
          <p:cNvPr id="16" name="15 Düz Ok Bağlayıcısı"/>
          <p:cNvCxnSpPr>
            <a:stCxn id="13" idx="6"/>
          </p:cNvCxnSpPr>
          <p:nvPr/>
        </p:nvCxnSpPr>
        <p:spPr>
          <a:xfrm flipV="1">
            <a:off x="3357554" y="2357430"/>
            <a:ext cx="1643074" cy="3571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7" name="16 Düz Ok Bağlayıcısı"/>
          <p:cNvCxnSpPr/>
          <p:nvPr/>
        </p:nvCxnSpPr>
        <p:spPr>
          <a:xfrm>
            <a:off x="3357554" y="3214686"/>
            <a:ext cx="179547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23 Düz Ok Bağlayıcısı"/>
          <p:cNvCxnSpPr>
            <a:stCxn id="10" idx="3"/>
            <a:endCxn id="12" idx="1"/>
          </p:cNvCxnSpPr>
          <p:nvPr/>
        </p:nvCxnSpPr>
        <p:spPr>
          <a:xfrm>
            <a:off x="3562344" y="3893347"/>
            <a:ext cx="1438284" cy="158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25 Metin kutusu"/>
          <p:cNvSpPr txBox="1"/>
          <p:nvPr/>
        </p:nvSpPr>
        <p:spPr>
          <a:xfrm>
            <a:off x="3500430" y="2071678"/>
            <a:ext cx="857256" cy="246221"/>
          </a:xfrm>
          <a:prstGeom prst="rect">
            <a:avLst/>
          </a:prstGeom>
          <a:noFill/>
          <a:ln w="0">
            <a:noFill/>
          </a:ln>
        </p:spPr>
        <p:txBody>
          <a:bodyPr wrap="square" rtlCol="0">
            <a:spAutoFit/>
          </a:bodyPr>
          <a:lstStyle/>
          <a:p>
            <a:r>
              <a:rPr lang="tr-TR" sz="1000" dirty="0"/>
              <a:t>Geçerleme</a:t>
            </a:r>
          </a:p>
        </p:txBody>
      </p:sp>
      <p:sp>
        <p:nvSpPr>
          <p:cNvPr id="27" name="26 Metin kutusu"/>
          <p:cNvSpPr txBox="1"/>
          <p:nvPr/>
        </p:nvSpPr>
        <p:spPr>
          <a:xfrm rot="4467546">
            <a:off x="1239365" y="3394493"/>
            <a:ext cx="1428760" cy="400110"/>
          </a:xfrm>
          <a:prstGeom prst="rect">
            <a:avLst/>
          </a:prstGeom>
          <a:noFill/>
          <a:ln w="0">
            <a:noFill/>
          </a:ln>
        </p:spPr>
        <p:txBody>
          <a:bodyPr wrap="square" rtlCol="0">
            <a:spAutoFit/>
          </a:bodyPr>
          <a:lstStyle/>
          <a:p>
            <a:r>
              <a:rPr lang="tr-TR" sz="1000" dirty="0"/>
              <a:t>Yazılım Geliştirme   G/D Aktiviteleri</a:t>
            </a:r>
          </a:p>
        </p:txBody>
      </p:sp>
      <p:sp>
        <p:nvSpPr>
          <p:cNvPr id="29" name="28 Metin kutusu"/>
          <p:cNvSpPr txBox="1"/>
          <p:nvPr/>
        </p:nvSpPr>
        <p:spPr>
          <a:xfrm>
            <a:off x="3786182" y="3500438"/>
            <a:ext cx="857256" cy="246221"/>
          </a:xfrm>
          <a:prstGeom prst="rect">
            <a:avLst/>
          </a:prstGeom>
          <a:noFill/>
          <a:ln w="0">
            <a:noFill/>
          </a:ln>
        </p:spPr>
        <p:txBody>
          <a:bodyPr wrap="square" rtlCol="0">
            <a:spAutoFit/>
          </a:bodyPr>
          <a:lstStyle/>
          <a:p>
            <a:r>
              <a:rPr lang="tr-TR" sz="1000" dirty="0"/>
              <a:t>Doğrulama</a:t>
            </a:r>
          </a:p>
        </p:txBody>
      </p:sp>
      <p:sp>
        <p:nvSpPr>
          <p:cNvPr id="30" name="29 Metin kutusu"/>
          <p:cNvSpPr txBox="1"/>
          <p:nvPr/>
        </p:nvSpPr>
        <p:spPr>
          <a:xfrm>
            <a:off x="3786182" y="4286256"/>
            <a:ext cx="857256" cy="246221"/>
          </a:xfrm>
          <a:prstGeom prst="rect">
            <a:avLst/>
          </a:prstGeom>
          <a:noFill/>
          <a:ln w="0">
            <a:noFill/>
          </a:ln>
        </p:spPr>
        <p:txBody>
          <a:bodyPr wrap="square" rtlCol="0">
            <a:spAutoFit/>
          </a:bodyPr>
          <a:lstStyle/>
          <a:p>
            <a:r>
              <a:rPr lang="tr-TR" sz="1000" dirty="0"/>
              <a:t>Doğrulama</a:t>
            </a:r>
          </a:p>
        </p:txBody>
      </p:sp>
      <p:cxnSp>
        <p:nvCxnSpPr>
          <p:cNvPr id="32" name="31 Düz Ok Bağlayıcısı"/>
          <p:cNvCxnSpPr>
            <a:stCxn id="13" idx="4"/>
            <a:endCxn id="11" idx="0"/>
          </p:cNvCxnSpPr>
          <p:nvPr/>
        </p:nvCxnSpPr>
        <p:spPr>
          <a:xfrm rot="16200000" flipH="1">
            <a:off x="2640793" y="2681282"/>
            <a:ext cx="285752" cy="2095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33 Düz Ok Bağlayıcısı"/>
          <p:cNvCxnSpPr/>
          <p:nvPr/>
        </p:nvCxnSpPr>
        <p:spPr>
          <a:xfrm rot="16200000" flipH="1">
            <a:off x="3000364" y="3429000"/>
            <a:ext cx="357190"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35 Düz Ok Bağlayıcısı"/>
          <p:cNvCxnSpPr/>
          <p:nvPr/>
        </p:nvCxnSpPr>
        <p:spPr>
          <a:xfrm rot="16200000" flipH="1">
            <a:off x="3321835" y="4107661"/>
            <a:ext cx="285752" cy="2143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39 Düz Ok Bağlayıcısı"/>
          <p:cNvCxnSpPr/>
          <p:nvPr/>
        </p:nvCxnSpPr>
        <p:spPr>
          <a:xfrm rot="16200000" flipH="1">
            <a:off x="3786182"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41 Düz Ok Bağlayıcısı"/>
          <p:cNvCxnSpPr/>
          <p:nvPr/>
        </p:nvCxnSpPr>
        <p:spPr>
          <a:xfrm rot="5400000" flipH="1" flipV="1">
            <a:off x="4429124" y="4714884"/>
            <a:ext cx="285752" cy="2857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2" idx="0"/>
            <a:endCxn id="9" idx="2"/>
          </p:cNvCxnSpPr>
          <p:nvPr/>
        </p:nvCxnSpPr>
        <p:spPr>
          <a:xfrm rot="5400000" flipH="1" flipV="1">
            <a:off x="5317337" y="3464719"/>
            <a:ext cx="357190"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47 Düz Ok Bağlayıcısı"/>
          <p:cNvCxnSpPr/>
          <p:nvPr/>
        </p:nvCxnSpPr>
        <p:spPr>
          <a:xfrm rot="5400000" flipH="1" flipV="1">
            <a:off x="5072066" y="4143380"/>
            <a:ext cx="285752" cy="14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49 Düz Ok Bağlayıcısı"/>
          <p:cNvCxnSpPr>
            <a:stCxn id="9" idx="0"/>
            <a:endCxn id="14" idx="4"/>
          </p:cNvCxnSpPr>
          <p:nvPr/>
        </p:nvCxnSpPr>
        <p:spPr>
          <a:xfrm rot="5400000" flipH="1" flipV="1">
            <a:off x="5444734" y="2765818"/>
            <a:ext cx="357190" cy="1119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51 Şekil"/>
          <p:cNvCxnSpPr>
            <a:stCxn id="6" idx="1"/>
          </p:cNvCxnSpPr>
          <p:nvPr/>
        </p:nvCxnSpPr>
        <p:spPr>
          <a:xfrm rot="10800000">
            <a:off x="2000232" y="2500307"/>
            <a:ext cx="1857388" cy="2678925"/>
          </a:xfrm>
          <a:prstGeom prst="curvedConnector2">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3" name="52 Metin kutusu"/>
          <p:cNvSpPr txBox="1"/>
          <p:nvPr/>
        </p:nvSpPr>
        <p:spPr>
          <a:xfrm>
            <a:off x="3652830" y="3009896"/>
            <a:ext cx="1428760" cy="246221"/>
          </a:xfrm>
          <a:prstGeom prst="rect">
            <a:avLst/>
          </a:prstGeom>
          <a:noFill/>
          <a:ln w="0">
            <a:noFill/>
          </a:ln>
        </p:spPr>
        <p:txBody>
          <a:bodyPr wrap="square" rtlCol="0">
            <a:spAutoFit/>
          </a:bodyPr>
          <a:lstStyle/>
          <a:p>
            <a:r>
              <a:rPr lang="tr-TR" sz="1000" dirty="0"/>
              <a:t>Geçerleme/Doğrulama</a:t>
            </a:r>
          </a:p>
        </p:txBody>
      </p:sp>
      <p:sp>
        <p:nvSpPr>
          <p:cNvPr id="54" name="53 Metin kutusu"/>
          <p:cNvSpPr txBox="1"/>
          <p:nvPr/>
        </p:nvSpPr>
        <p:spPr>
          <a:xfrm>
            <a:off x="1357290" y="5643578"/>
            <a:ext cx="6715172" cy="276999"/>
          </a:xfrm>
          <a:prstGeom prst="rect">
            <a:avLst/>
          </a:prstGeom>
          <a:noFill/>
          <a:ln w="0">
            <a:solidFill>
              <a:schemeClr val="tx1"/>
            </a:solidFill>
          </a:ln>
        </p:spPr>
        <p:txBody>
          <a:bodyPr wrap="square" rtlCol="0">
            <a:spAutoFit/>
          </a:bodyPr>
          <a:lstStyle/>
          <a:p>
            <a:r>
              <a:rPr lang="tr-TR" sz="1200" dirty="0"/>
              <a:t>Şekil 5.6  Test sürecindeki Alt Test Adımları  (V  Model yaklaşımına göre) </a:t>
            </a:r>
          </a:p>
        </p:txBody>
      </p:sp>
      <p:sp>
        <p:nvSpPr>
          <p:cNvPr id="37" name="36 Dikdörtgen"/>
          <p:cNvSpPr/>
          <p:nvPr/>
        </p:nvSpPr>
        <p:spPr>
          <a:xfrm>
            <a:off x="5715008" y="3643314"/>
            <a:ext cx="857256"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a:solidFill>
                  <a:schemeClr val="tx1"/>
                </a:solidFill>
              </a:rPr>
              <a:t>Regresyon  Test </a:t>
            </a:r>
          </a:p>
        </p:txBody>
      </p:sp>
      <p:sp>
        <p:nvSpPr>
          <p:cNvPr id="38" name="37 Dikdörtgen"/>
          <p:cNvSpPr/>
          <p:nvPr/>
        </p:nvSpPr>
        <p:spPr>
          <a:xfrm>
            <a:off x="4643438" y="2428868"/>
            <a:ext cx="714380"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1000" dirty="0">
                <a:solidFill>
                  <a:schemeClr val="tx1"/>
                </a:solidFill>
              </a:rPr>
              <a:t>Beta</a:t>
            </a:r>
          </a:p>
          <a:p>
            <a:r>
              <a:rPr lang="tr-TR" sz="1000" dirty="0">
                <a:solidFill>
                  <a:schemeClr val="tx1"/>
                </a:solidFill>
              </a:rPr>
              <a:t>  Test </a:t>
            </a:r>
          </a:p>
        </p:txBody>
      </p:sp>
      <p:sp>
        <p:nvSpPr>
          <p:cNvPr id="39" name="38 Dikdörtgen"/>
          <p:cNvSpPr/>
          <p:nvPr/>
        </p:nvSpPr>
        <p:spPr>
          <a:xfrm>
            <a:off x="6215074" y="2143116"/>
            <a:ext cx="642942"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a:solidFill>
                  <a:schemeClr val="tx1"/>
                </a:solidFill>
              </a:rPr>
              <a:t>Teşhis</a:t>
            </a:r>
          </a:p>
          <a:p>
            <a:pPr algn="r"/>
            <a:r>
              <a:rPr lang="tr-TR" sz="1000" dirty="0">
                <a:solidFill>
                  <a:schemeClr val="tx1"/>
                </a:solidFill>
              </a:rPr>
              <a:t>  Test </a:t>
            </a:r>
          </a:p>
        </p:txBody>
      </p:sp>
      <p:cxnSp>
        <p:nvCxnSpPr>
          <p:cNvPr id="43" name="42 Düz Ok Bağlayıcısı"/>
          <p:cNvCxnSpPr/>
          <p:nvPr/>
        </p:nvCxnSpPr>
        <p:spPr>
          <a:xfrm rot="5400000" flipH="1" flipV="1">
            <a:off x="6465107" y="3393281"/>
            <a:ext cx="357190" cy="142876"/>
          </a:xfrm>
          <a:prstGeom prst="straightConnector1">
            <a:avLst/>
          </a:prstGeom>
          <a:ln>
            <a:prstDash val="sysDot"/>
            <a:tailEnd type="arrow"/>
          </a:ln>
        </p:spPr>
        <p:style>
          <a:lnRef idx="1">
            <a:schemeClr val="accent1"/>
          </a:lnRef>
          <a:fillRef idx="0">
            <a:schemeClr val="accent1"/>
          </a:fillRef>
          <a:effectRef idx="0">
            <a:schemeClr val="accent1"/>
          </a:effectRef>
          <a:fontRef idx="minor">
            <a:schemeClr val="tx1"/>
          </a:fontRef>
        </p:style>
      </p:cxnSp>
      <p:cxnSp>
        <p:nvCxnSpPr>
          <p:cNvPr id="45" name="44 Düz Ok Bağlayıcısı"/>
          <p:cNvCxnSpPr/>
          <p:nvPr/>
        </p:nvCxnSpPr>
        <p:spPr>
          <a:xfrm rot="5400000">
            <a:off x="6572264" y="2643182"/>
            <a:ext cx="428628" cy="142876"/>
          </a:xfrm>
          <a:prstGeom prst="straightConnector1">
            <a:avLst/>
          </a:prstGeom>
          <a:ln>
            <a:prstDash val="sysDot"/>
            <a:tailEnd type="arrow"/>
          </a:ln>
        </p:spPr>
        <p:style>
          <a:lnRef idx="1">
            <a:schemeClr val="accent1"/>
          </a:lnRef>
          <a:fillRef idx="0">
            <a:schemeClr val="accent1"/>
          </a:fillRef>
          <a:effectRef idx="0">
            <a:schemeClr val="accent1"/>
          </a:effectRef>
          <a:fontRef idx="minor">
            <a:schemeClr val="tx1"/>
          </a:fontRef>
        </p:style>
      </p:cxnSp>
      <p:sp>
        <p:nvSpPr>
          <p:cNvPr id="55" name="54 Dikdörtgen"/>
          <p:cNvSpPr/>
          <p:nvPr/>
        </p:nvSpPr>
        <p:spPr>
          <a:xfrm>
            <a:off x="5867408" y="3009896"/>
            <a:ext cx="714380" cy="357190"/>
          </a:xfrm>
          <a:prstGeom prst="rect">
            <a:avLst/>
          </a:prstGeom>
          <a:solidFill>
            <a:schemeClr val="accent6">
              <a:lumMod val="20000"/>
              <a:lumOff val="80000"/>
              <a:alpha val="46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tr-TR" sz="1000" dirty="0">
                <a:solidFill>
                  <a:schemeClr val="tx1"/>
                </a:solidFill>
              </a:rPr>
              <a:t>Kabul</a:t>
            </a:r>
          </a:p>
          <a:p>
            <a:pPr algn="r"/>
            <a:r>
              <a:rPr lang="tr-TR" sz="1000" dirty="0">
                <a:solidFill>
                  <a:schemeClr val="tx1"/>
                </a:solidFill>
              </a:rPr>
              <a:t>  Test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5.2.1.Birim Test</a:t>
            </a:r>
            <a:br>
              <a:rPr lang="tr-TR" dirty="0"/>
            </a:br>
            <a:endParaRPr lang="tr-TR" dirty="0"/>
          </a:p>
        </p:txBody>
      </p:sp>
      <p:sp>
        <p:nvSpPr>
          <p:cNvPr id="3" name="2 İçerik Yer Tutucusu"/>
          <p:cNvSpPr>
            <a:spLocks noGrp="1"/>
          </p:cNvSpPr>
          <p:nvPr>
            <p:ph idx="1"/>
          </p:nvPr>
        </p:nvSpPr>
        <p:spPr/>
        <p:txBody>
          <a:bodyPr>
            <a:normAutofit fontScale="92500" lnSpcReduction="20000"/>
          </a:bodyPr>
          <a:lstStyle/>
          <a:p>
            <a:r>
              <a:rPr lang="tr-TR" dirty="0"/>
              <a:t>Ünite (birim) testi, yazılım tasarımının en küçük birimi olan modül üzerinde uygulanmaktadır. Ayrıntılı tasarım tanımlarına dayanılarak, modül içerisindeki hataları bulmak üzere, önemli kontrol yolları sınanmaktadır.</a:t>
            </a:r>
          </a:p>
          <a:p>
            <a:r>
              <a:rPr lang="tr-TR" dirty="0"/>
              <a:t> Saydam kutu testi olarak uygulanan bu işlem, çok sayıdaki modül üzerinde, paralel olarak yürütülmektedir.</a:t>
            </a:r>
          </a:p>
          <a:p>
            <a:r>
              <a:rPr lang="tr-TR" dirty="0"/>
              <a:t>Birim testinde; modülün arabirim, lokal veri yapısı, kontrol yapıları arasındaki ana yollar, hata arama yolları ve modül sınırları sınanmaktadır.</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428604"/>
            <a:ext cx="7329510" cy="571504"/>
          </a:xfrm>
        </p:spPr>
        <p:txBody>
          <a:bodyPr>
            <a:normAutofit/>
          </a:bodyPr>
          <a:lstStyle/>
          <a:p>
            <a:r>
              <a:rPr lang="tr-TR" sz="1400" dirty="0"/>
              <a:t>Şekil 5.2. Birim Test Ortamı</a:t>
            </a:r>
          </a:p>
        </p:txBody>
      </p:sp>
      <p:sp>
        <p:nvSpPr>
          <p:cNvPr id="5" name="4 Dikdörtgen"/>
          <p:cNvSpPr/>
          <p:nvPr/>
        </p:nvSpPr>
        <p:spPr>
          <a:xfrm>
            <a:off x="1285852" y="3000372"/>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5 Dikdörtgen"/>
          <p:cNvSpPr/>
          <p:nvPr/>
        </p:nvSpPr>
        <p:spPr>
          <a:xfrm>
            <a:off x="1357290" y="3071810"/>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6 Dikdörtgen"/>
          <p:cNvSpPr/>
          <p:nvPr/>
        </p:nvSpPr>
        <p:spPr>
          <a:xfrm>
            <a:off x="1428728" y="3143248"/>
            <a:ext cx="85725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Test Programı</a:t>
            </a:r>
          </a:p>
        </p:txBody>
      </p:sp>
      <p:sp>
        <p:nvSpPr>
          <p:cNvPr id="11" name="10 Dikdörtgen"/>
          <p:cNvSpPr/>
          <p:nvPr/>
        </p:nvSpPr>
        <p:spPr>
          <a:xfrm>
            <a:off x="3000364" y="2214554"/>
            <a:ext cx="78581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Test Sürücü</a:t>
            </a:r>
          </a:p>
        </p:txBody>
      </p:sp>
      <p:cxnSp>
        <p:nvCxnSpPr>
          <p:cNvPr id="23" name="22 Dirsek Bağlayıcısı"/>
          <p:cNvCxnSpPr>
            <a:stCxn id="7" idx="3"/>
            <a:endCxn id="11" idx="1"/>
          </p:cNvCxnSpPr>
          <p:nvPr/>
        </p:nvCxnSpPr>
        <p:spPr>
          <a:xfrm flipV="1">
            <a:off x="2285984" y="2571744"/>
            <a:ext cx="714380" cy="82153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32 İçerik Yer Tutucusu"/>
          <p:cNvSpPr>
            <a:spLocks noGrp="1"/>
          </p:cNvSpPr>
          <p:nvPr>
            <p:ph idx="1"/>
          </p:nvPr>
        </p:nvSpPr>
        <p:spPr>
          <a:xfrm>
            <a:off x="457200" y="1500174"/>
            <a:ext cx="8229600" cy="4625989"/>
          </a:xfrm>
        </p:spPr>
        <p:txBody>
          <a:bodyPr>
            <a:normAutofit/>
          </a:bodyPr>
          <a:lstStyle/>
          <a:p>
            <a:pPr>
              <a:buNone/>
            </a:pPr>
            <a:endParaRPr lang="tr-TR" sz="1200" dirty="0"/>
          </a:p>
        </p:txBody>
      </p:sp>
      <p:sp>
        <p:nvSpPr>
          <p:cNvPr id="34" name="33 Dikdörtgen"/>
          <p:cNvSpPr/>
          <p:nvPr/>
        </p:nvSpPr>
        <p:spPr>
          <a:xfrm>
            <a:off x="3000364"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Koçan 2</a:t>
            </a:r>
          </a:p>
        </p:txBody>
      </p:sp>
      <p:sp>
        <p:nvSpPr>
          <p:cNvPr id="36" name="35 Dikdörtgen"/>
          <p:cNvSpPr/>
          <p:nvPr/>
        </p:nvSpPr>
        <p:spPr>
          <a:xfrm>
            <a:off x="1928794"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Koçan 1</a:t>
            </a:r>
          </a:p>
        </p:txBody>
      </p:sp>
      <p:sp>
        <p:nvSpPr>
          <p:cNvPr id="40" name="39 Dikdörtgen"/>
          <p:cNvSpPr/>
          <p:nvPr/>
        </p:nvSpPr>
        <p:spPr>
          <a:xfrm>
            <a:off x="4143372" y="4000504"/>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Koçan n</a:t>
            </a:r>
          </a:p>
        </p:txBody>
      </p:sp>
      <p:sp>
        <p:nvSpPr>
          <p:cNvPr id="41" name="40 Dikdörtgen"/>
          <p:cNvSpPr/>
          <p:nvPr/>
        </p:nvSpPr>
        <p:spPr>
          <a:xfrm>
            <a:off x="4572000" y="2285992"/>
            <a:ext cx="785818"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Sonuçlar </a:t>
            </a:r>
          </a:p>
        </p:txBody>
      </p:sp>
      <p:cxnSp>
        <p:nvCxnSpPr>
          <p:cNvPr id="43" name="42 Düz Bağlayıcı"/>
          <p:cNvCxnSpPr>
            <a:stCxn id="34" idx="3"/>
            <a:endCxn id="40" idx="1"/>
          </p:cNvCxnSpPr>
          <p:nvPr/>
        </p:nvCxnSpPr>
        <p:spPr>
          <a:xfrm>
            <a:off x="3786182" y="4250537"/>
            <a:ext cx="357190" cy="1588"/>
          </a:xfrm>
          <a:prstGeom prst="line">
            <a:avLst/>
          </a:prstGeom>
          <a:ln w="15875">
            <a:prstDash val="sysDot"/>
          </a:ln>
        </p:spPr>
        <p:style>
          <a:lnRef idx="1">
            <a:schemeClr val="accent1"/>
          </a:lnRef>
          <a:fillRef idx="0">
            <a:schemeClr val="accent1"/>
          </a:fillRef>
          <a:effectRef idx="0">
            <a:schemeClr val="accent1"/>
          </a:effectRef>
          <a:fontRef idx="minor">
            <a:schemeClr val="tx1"/>
          </a:fontRef>
        </p:style>
      </p:cxnSp>
      <p:cxnSp>
        <p:nvCxnSpPr>
          <p:cNvPr id="46" name="45 Düz Ok Bağlayıcısı"/>
          <p:cNvCxnSpPr>
            <a:stCxn id="11" idx="3"/>
            <a:endCxn id="41" idx="1"/>
          </p:cNvCxnSpPr>
          <p:nvPr/>
        </p:nvCxnSpPr>
        <p:spPr>
          <a:xfrm flipV="1">
            <a:off x="3786182" y="2536025"/>
            <a:ext cx="785818" cy="357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52 Düz Bağlayıcı"/>
          <p:cNvCxnSpPr>
            <a:stCxn id="36" idx="0"/>
          </p:cNvCxnSpPr>
          <p:nvPr/>
        </p:nvCxnSpPr>
        <p:spPr>
          <a:xfrm rot="5400000" flipH="1" flipV="1">
            <a:off x="2661033" y="3375422"/>
            <a:ext cx="285752" cy="964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54 Düz Bağlayıcı"/>
          <p:cNvCxnSpPr>
            <a:endCxn id="34" idx="0"/>
          </p:cNvCxnSpPr>
          <p:nvPr/>
        </p:nvCxnSpPr>
        <p:spPr>
          <a:xfrm rot="5400000">
            <a:off x="3250397" y="3857628"/>
            <a:ext cx="285752"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56 Düz Bağlayıcı"/>
          <p:cNvCxnSpPr>
            <a:endCxn id="40" idx="0"/>
          </p:cNvCxnSpPr>
          <p:nvPr/>
        </p:nvCxnSpPr>
        <p:spPr>
          <a:xfrm rot="16200000" flipH="1">
            <a:off x="3821901" y="3286124"/>
            <a:ext cx="285752" cy="1143008"/>
          </a:xfrm>
          <a:prstGeom prst="line">
            <a:avLst/>
          </a:prstGeom>
        </p:spPr>
        <p:style>
          <a:lnRef idx="1">
            <a:schemeClr val="accent1"/>
          </a:lnRef>
          <a:fillRef idx="0">
            <a:schemeClr val="accent1"/>
          </a:fillRef>
          <a:effectRef idx="0">
            <a:schemeClr val="accent1"/>
          </a:effectRef>
          <a:fontRef idx="minor">
            <a:schemeClr val="tx1"/>
          </a:fontRef>
        </p:style>
      </p:cxnSp>
      <p:sp>
        <p:nvSpPr>
          <p:cNvPr id="22" name="21 Dikdörtgen"/>
          <p:cNvSpPr/>
          <p:nvPr/>
        </p:nvSpPr>
        <p:spPr>
          <a:xfrm>
            <a:off x="3000364" y="3071810"/>
            <a:ext cx="857256" cy="642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100" dirty="0"/>
              <a:t>Test edilen birim</a:t>
            </a:r>
          </a:p>
          <a:p>
            <a:pPr algn="ctr"/>
            <a:endParaRPr lang="tr-TR" sz="1200" dirty="0"/>
          </a:p>
        </p:txBody>
      </p:sp>
      <p:cxnSp>
        <p:nvCxnSpPr>
          <p:cNvPr id="25" name="24 Düz Bağlayıcı"/>
          <p:cNvCxnSpPr>
            <a:stCxn id="11" idx="2"/>
            <a:endCxn id="22" idx="0"/>
          </p:cNvCxnSpPr>
          <p:nvPr/>
        </p:nvCxnSpPr>
        <p:spPr>
          <a:xfrm rot="16200000" flipH="1">
            <a:off x="3339694" y="2982512"/>
            <a:ext cx="142876" cy="3571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Birim Test</a:t>
            </a:r>
          </a:p>
        </p:txBody>
      </p:sp>
      <p:sp>
        <p:nvSpPr>
          <p:cNvPr id="3" name="2 İçerik Yer Tutucusu"/>
          <p:cNvSpPr>
            <a:spLocks noGrp="1"/>
          </p:cNvSpPr>
          <p:nvPr>
            <p:ph idx="1"/>
          </p:nvPr>
        </p:nvSpPr>
        <p:spPr>
          <a:xfrm>
            <a:off x="457200" y="1412776"/>
            <a:ext cx="8507288" cy="4713387"/>
          </a:xfrm>
        </p:spPr>
        <p:txBody>
          <a:bodyPr>
            <a:normAutofit fontScale="92500" lnSpcReduction="20000"/>
          </a:bodyPr>
          <a:lstStyle/>
          <a:p>
            <a:r>
              <a:rPr lang="tr-TR" dirty="0"/>
              <a:t>Test senaryosu (test </a:t>
            </a:r>
            <a:r>
              <a:rPr lang="tr-TR" dirty="0" err="1"/>
              <a:t>case</a:t>
            </a:r>
            <a:r>
              <a:rPr lang="tr-TR" dirty="0"/>
              <a:t>); belirli bir program yolunu işlemek ya da özel bir gereksinime uygunluğu onaylamak amacı ile düzenlenen bir dizi sınama verisinden ve buna ilişkin işlemlerden oluşturulmaktadır. </a:t>
            </a:r>
          </a:p>
          <a:p>
            <a:r>
              <a:rPr lang="tr-TR" dirty="0"/>
              <a:t>Test programlarının geliştirilmesi, diğer yazılımlar gibidir. Geliştirmeye de, test plânı uyarınca ve yazılım tasarımı ile birlikte başlanmalıdır.</a:t>
            </a:r>
          </a:p>
          <a:p>
            <a:r>
              <a:rPr lang="tr-TR" dirty="0"/>
              <a:t>Modülün bağımsız olmaması halinde, sınamada diğer modüller de dikkate alınmalıdır. Bu amaçla her ünite testi için bir “test sürücü”(</a:t>
            </a:r>
            <a:r>
              <a:rPr lang="tr-TR" dirty="0" err="1"/>
              <a:t>driver</a:t>
            </a:r>
            <a:r>
              <a:rPr lang="tr-TR" dirty="0"/>
              <a:t>) ve/veya  “koçan”(</a:t>
            </a:r>
            <a:r>
              <a:rPr lang="tr-TR" dirty="0" err="1"/>
              <a:t>stub</a:t>
            </a:r>
            <a:r>
              <a:rPr lang="tr-TR" dirty="0"/>
              <a:t>) yazılımı geliştirilmektedir.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endParaRPr lang="tr-TR"/>
          </a:p>
        </p:txBody>
      </p:sp>
      <p:sp>
        <p:nvSpPr>
          <p:cNvPr id="3" name="2 İçerik Yer Tutucusu"/>
          <p:cNvSpPr>
            <a:spLocks noGrp="1"/>
          </p:cNvSpPr>
          <p:nvPr>
            <p:ph idx="1"/>
          </p:nvPr>
        </p:nvSpPr>
        <p:spPr/>
        <p:txBody>
          <a:bodyPr/>
          <a:lstStyle/>
          <a:p>
            <a:r>
              <a:rPr lang="tr-TR" dirty="0"/>
              <a:t>Test sürücü (test </a:t>
            </a:r>
            <a:r>
              <a:rPr lang="tr-TR" dirty="0" err="1"/>
              <a:t>driver</a:t>
            </a:r>
            <a:r>
              <a:rPr lang="tr-TR" dirty="0"/>
              <a:t>); test programı verisini alarak test  edilecek modüle ileten ve test sonucunu yazan bir ara programdır.</a:t>
            </a:r>
          </a:p>
          <a:p>
            <a:r>
              <a:rPr lang="tr-TR" dirty="0"/>
              <a:t> Koçan (</a:t>
            </a:r>
            <a:r>
              <a:rPr lang="tr-TR" dirty="0" err="1"/>
              <a:t>stub</a:t>
            </a:r>
            <a:r>
              <a:rPr lang="tr-TR" dirty="0"/>
              <a:t>); bir kukla (</a:t>
            </a:r>
            <a:r>
              <a:rPr lang="tr-TR" dirty="0" err="1"/>
              <a:t>dummy</a:t>
            </a:r>
            <a:r>
              <a:rPr lang="tr-TR" dirty="0"/>
              <a:t>) alt </a:t>
            </a:r>
            <a:r>
              <a:rPr lang="tr-TR" dirty="0" err="1"/>
              <a:t>proğram</a:t>
            </a:r>
            <a:r>
              <a:rPr lang="tr-TR" dirty="0"/>
              <a:t> olup, test edilen modülün altprogramını temsil etmektedir.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Arabirim testi</a:t>
            </a:r>
          </a:p>
        </p:txBody>
      </p:sp>
      <p:grpSp>
        <p:nvGrpSpPr>
          <p:cNvPr id="34818" name="Group 2"/>
          <p:cNvGrpSpPr>
            <a:grpSpLocks noGrp="1"/>
          </p:cNvGrpSpPr>
          <p:nvPr/>
        </p:nvGrpSpPr>
        <p:grpSpPr bwMode="auto">
          <a:xfrm>
            <a:off x="457200" y="1600200"/>
            <a:ext cx="8229600" cy="4525963"/>
            <a:chOff x="2730" y="2705"/>
            <a:chExt cx="3180" cy="2890"/>
          </a:xfrm>
        </p:grpSpPr>
        <p:sp>
          <p:nvSpPr>
            <p:cNvPr id="34819" name="Text Box 3"/>
            <p:cNvSpPr txBox="1">
              <a:spLocks noChangeArrowheads="1"/>
            </p:cNvSpPr>
            <p:nvPr/>
          </p:nvSpPr>
          <p:spPr bwMode="auto">
            <a:xfrm>
              <a:off x="3780" y="2705"/>
              <a:ext cx="1287" cy="66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tr-TR" sz="1100" b="0" i="0" u="none" strike="noStrike" cap="none" normalizeH="0" baseline="0">
                  <a:ln>
                    <a:noFill/>
                  </a:ln>
                  <a:solidFill>
                    <a:schemeClr val="tx1"/>
                  </a:solidFill>
                  <a:effectLst/>
                  <a:latin typeface="Calibri" pitchFamily="34" charset="0"/>
                  <a:cs typeface="Arial" pitchFamily="34" charset="0"/>
                </a:rPr>
                <a:t>Test Case</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4820" name="Rectangle 4"/>
            <p:cNvSpPr>
              <a:spLocks noChangeArrowheads="1"/>
            </p:cNvSpPr>
            <p:nvPr/>
          </p:nvSpPr>
          <p:spPr bwMode="auto">
            <a:xfrm>
              <a:off x="2730" y="3615"/>
              <a:ext cx="3180" cy="198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4821" name="Text Box 5"/>
            <p:cNvSpPr txBox="1">
              <a:spLocks noChangeArrowheads="1"/>
            </p:cNvSpPr>
            <p:nvPr/>
          </p:nvSpPr>
          <p:spPr bwMode="auto">
            <a:xfrm>
              <a:off x="3180" y="4005"/>
              <a:ext cx="480"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tr-TR" sz="1100" b="0" i="0" u="none" strike="noStrike" cap="none" normalizeH="0" baseline="0">
                  <a:ln>
                    <a:noFill/>
                  </a:ln>
                  <a:solidFill>
                    <a:schemeClr val="tx1"/>
                  </a:solidFill>
                  <a:effectLst/>
                  <a:latin typeface="Calibri" pitchFamily="34" charset="0"/>
                  <a:cs typeface="Arial" pitchFamily="34" charset="0"/>
                </a:rPr>
                <a:t>A</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4822" name="Text Box 6"/>
            <p:cNvSpPr txBox="1">
              <a:spLocks noChangeArrowheads="1"/>
            </p:cNvSpPr>
            <p:nvPr/>
          </p:nvSpPr>
          <p:spPr bwMode="auto">
            <a:xfrm>
              <a:off x="4980" y="4005"/>
              <a:ext cx="480"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tr-TR" sz="1100" b="0" i="0" u="none" strike="noStrike" cap="none" normalizeH="0" baseline="0">
                  <a:ln>
                    <a:noFill/>
                  </a:ln>
                  <a:solidFill>
                    <a:schemeClr val="tx1"/>
                  </a:solidFill>
                  <a:effectLst/>
                  <a:latin typeface="Calibri" pitchFamily="34" charset="0"/>
                  <a:cs typeface="Arial" pitchFamily="34" charset="0"/>
                </a:rPr>
                <a:t>B</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4823" name="Text Box 7"/>
            <p:cNvSpPr txBox="1">
              <a:spLocks noChangeArrowheads="1"/>
            </p:cNvSpPr>
            <p:nvPr/>
          </p:nvSpPr>
          <p:spPr bwMode="auto">
            <a:xfrm>
              <a:off x="4125" y="4875"/>
              <a:ext cx="480" cy="43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tr-TR" sz="1100" b="0" i="0" u="none" strike="noStrike" cap="none" normalizeH="0" baseline="0">
                  <a:ln>
                    <a:noFill/>
                  </a:ln>
                  <a:solidFill>
                    <a:schemeClr val="tx1"/>
                  </a:solidFill>
                  <a:effectLst/>
                  <a:latin typeface="Calibri" pitchFamily="34" charset="0"/>
                  <a:cs typeface="Arial" pitchFamily="34" charset="0"/>
                </a:rPr>
                <a:t>C</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cxnSp>
          <p:nvCxnSpPr>
            <p:cNvPr id="34824" name="AutoShape 8"/>
            <p:cNvCxnSpPr>
              <a:cxnSpLocks noChangeShapeType="1"/>
            </p:cNvCxnSpPr>
            <p:nvPr/>
          </p:nvCxnSpPr>
          <p:spPr bwMode="auto">
            <a:xfrm>
              <a:off x="3405" y="4440"/>
              <a:ext cx="0" cy="675"/>
            </a:xfrm>
            <a:prstGeom prst="straightConnector1">
              <a:avLst/>
            </a:prstGeom>
            <a:noFill/>
            <a:ln w="9525">
              <a:solidFill>
                <a:srgbClr val="000000"/>
              </a:solidFill>
              <a:round/>
              <a:headEnd/>
              <a:tailEnd/>
            </a:ln>
          </p:spPr>
        </p:cxnSp>
        <p:cxnSp>
          <p:nvCxnSpPr>
            <p:cNvPr id="34825" name="AutoShape 9"/>
            <p:cNvCxnSpPr>
              <a:cxnSpLocks noChangeShapeType="1"/>
            </p:cNvCxnSpPr>
            <p:nvPr/>
          </p:nvCxnSpPr>
          <p:spPr bwMode="auto">
            <a:xfrm>
              <a:off x="3405" y="5115"/>
              <a:ext cx="720" cy="0"/>
            </a:xfrm>
            <a:prstGeom prst="straightConnector1">
              <a:avLst/>
            </a:prstGeom>
            <a:noFill/>
            <a:ln w="9525">
              <a:solidFill>
                <a:srgbClr val="000000"/>
              </a:solidFill>
              <a:round/>
              <a:headEnd/>
              <a:tailEnd type="triangle" w="med" len="med"/>
            </a:ln>
          </p:spPr>
        </p:cxnSp>
        <p:cxnSp>
          <p:nvCxnSpPr>
            <p:cNvPr id="34826" name="AutoShape 10"/>
            <p:cNvCxnSpPr>
              <a:cxnSpLocks noChangeShapeType="1"/>
            </p:cNvCxnSpPr>
            <p:nvPr/>
          </p:nvCxnSpPr>
          <p:spPr bwMode="auto">
            <a:xfrm>
              <a:off x="5220" y="4440"/>
              <a:ext cx="0" cy="675"/>
            </a:xfrm>
            <a:prstGeom prst="straightConnector1">
              <a:avLst/>
            </a:prstGeom>
            <a:noFill/>
            <a:ln w="9525">
              <a:solidFill>
                <a:srgbClr val="000000"/>
              </a:solidFill>
              <a:round/>
              <a:headEnd/>
              <a:tailEnd/>
            </a:ln>
          </p:spPr>
        </p:cxnSp>
        <p:cxnSp>
          <p:nvCxnSpPr>
            <p:cNvPr id="34827" name="AutoShape 11"/>
            <p:cNvCxnSpPr>
              <a:cxnSpLocks noChangeShapeType="1"/>
            </p:cNvCxnSpPr>
            <p:nvPr/>
          </p:nvCxnSpPr>
          <p:spPr bwMode="auto">
            <a:xfrm flipH="1">
              <a:off x="4605" y="5115"/>
              <a:ext cx="615" cy="0"/>
            </a:xfrm>
            <a:prstGeom prst="straightConnector1">
              <a:avLst/>
            </a:prstGeom>
            <a:noFill/>
            <a:ln w="9525">
              <a:solidFill>
                <a:srgbClr val="000000"/>
              </a:solidFill>
              <a:round/>
              <a:headEnd/>
              <a:tailEnd type="triangle" w="med" len="med"/>
            </a:ln>
          </p:spPr>
        </p:cxnSp>
        <p:cxnSp>
          <p:nvCxnSpPr>
            <p:cNvPr id="34828" name="AutoShape 12"/>
            <p:cNvCxnSpPr>
              <a:cxnSpLocks noChangeShapeType="1"/>
            </p:cNvCxnSpPr>
            <p:nvPr/>
          </p:nvCxnSpPr>
          <p:spPr bwMode="auto">
            <a:xfrm>
              <a:off x="3660" y="4170"/>
              <a:ext cx="1320" cy="0"/>
            </a:xfrm>
            <a:prstGeom prst="straightConnector1">
              <a:avLst/>
            </a:prstGeom>
            <a:noFill/>
            <a:ln w="9525">
              <a:solidFill>
                <a:srgbClr val="000000"/>
              </a:solidFill>
              <a:round/>
              <a:headEnd/>
              <a:tailEnd type="triangle" w="med" len="med"/>
            </a:ln>
          </p:spPr>
        </p:cxnSp>
        <p:cxnSp>
          <p:nvCxnSpPr>
            <p:cNvPr id="34829" name="AutoShape 13"/>
            <p:cNvCxnSpPr>
              <a:cxnSpLocks noChangeShapeType="1"/>
            </p:cNvCxnSpPr>
            <p:nvPr/>
          </p:nvCxnSpPr>
          <p:spPr bwMode="auto">
            <a:xfrm flipH="1">
              <a:off x="3660" y="4335"/>
              <a:ext cx="1320" cy="0"/>
            </a:xfrm>
            <a:prstGeom prst="straightConnector1">
              <a:avLst/>
            </a:prstGeom>
            <a:noFill/>
            <a:ln w="9525">
              <a:solidFill>
                <a:srgbClr val="000000"/>
              </a:solidFill>
              <a:round/>
              <a:headEnd/>
              <a:tailEnd type="triangle" w="med" len="med"/>
            </a:ln>
          </p:spPr>
        </p:cxnSp>
        <p:cxnSp>
          <p:nvCxnSpPr>
            <p:cNvPr id="34830" name="AutoShape 14"/>
            <p:cNvCxnSpPr>
              <a:cxnSpLocks noChangeShapeType="1"/>
            </p:cNvCxnSpPr>
            <p:nvPr/>
          </p:nvCxnSpPr>
          <p:spPr bwMode="auto">
            <a:xfrm>
              <a:off x="4125" y="3140"/>
              <a:ext cx="0" cy="475"/>
            </a:xfrm>
            <a:prstGeom prst="straightConnector1">
              <a:avLst/>
            </a:prstGeom>
            <a:noFill/>
            <a:ln w="9525">
              <a:solidFill>
                <a:srgbClr val="000000"/>
              </a:solidFill>
              <a:round/>
              <a:headEnd/>
              <a:tailEnd type="triangle" w="med" len="med"/>
            </a:ln>
          </p:spPr>
        </p:cxnSp>
        <p:cxnSp>
          <p:nvCxnSpPr>
            <p:cNvPr id="34831" name="AutoShape 15"/>
            <p:cNvCxnSpPr>
              <a:cxnSpLocks noChangeShapeType="1"/>
            </p:cNvCxnSpPr>
            <p:nvPr/>
          </p:nvCxnSpPr>
          <p:spPr bwMode="auto">
            <a:xfrm flipV="1">
              <a:off x="4485" y="3140"/>
              <a:ext cx="0" cy="475"/>
            </a:xfrm>
            <a:prstGeom prst="straightConnector1">
              <a:avLst/>
            </a:prstGeom>
            <a:noFill/>
            <a:ln w="9525">
              <a:solidFill>
                <a:srgbClr val="000000"/>
              </a:solidFill>
              <a:round/>
              <a:headEnd/>
              <a:tailEnd type="triangle" w="med" len="me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5.2.2.Bütünleme Testi </a:t>
            </a:r>
            <a:br>
              <a:rPr lang="tr-TR" dirty="0"/>
            </a:br>
            <a:endParaRPr lang="tr-TR" dirty="0"/>
          </a:p>
        </p:txBody>
      </p:sp>
      <p:sp>
        <p:nvSpPr>
          <p:cNvPr id="3" name="2 İçerik Yer Tutucusu"/>
          <p:cNvSpPr>
            <a:spLocks noGrp="1"/>
          </p:cNvSpPr>
          <p:nvPr>
            <p:ph idx="1"/>
          </p:nvPr>
        </p:nvSpPr>
        <p:spPr/>
        <p:txBody>
          <a:bodyPr>
            <a:normAutofit fontScale="85000" lnSpcReduction="20000"/>
          </a:bodyPr>
          <a:lstStyle/>
          <a:p>
            <a:r>
              <a:rPr lang="tr-TR" dirty="0"/>
              <a:t>Modüller bağımsız olmayıp, birbirilerine bağlı olmalıdır. Bu bağlantı, “yazılım arabirimi” (software </a:t>
            </a:r>
            <a:r>
              <a:rPr lang="tr-TR" dirty="0" err="1"/>
              <a:t>interface</a:t>
            </a:r>
            <a:r>
              <a:rPr lang="tr-TR" dirty="0"/>
              <a:t>) ile sağlanmaktadır. </a:t>
            </a:r>
          </a:p>
          <a:p>
            <a:r>
              <a:rPr lang="tr-TR" dirty="0"/>
              <a:t>Modüllerin birleştirilmesi sırasında veri kaybı, dikkatsizlik nedeni ile birbirini ters etkileme, alt fonksiyonların birleştirilmesiyle beklenilen ana fonksiyonunun gerçekleşmemesi, her birinde göze alınabilen hata toleranslarının eklenerek büyümesi, genel veri yapılarının sorun yaratması söz konusudur. Bu hata ve sorunları bulup gidermek için, modüllerin birleştirilerek ana programın oluşturulmasında, bütünleme testi uygulanmalıdır.</a:t>
            </a:r>
          </a:p>
          <a:p>
            <a:endParaRPr lang="tr-T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Bütünleme testi</a:t>
            </a:r>
          </a:p>
        </p:txBody>
      </p:sp>
      <p:sp>
        <p:nvSpPr>
          <p:cNvPr id="3" name="2 İçerik Yer Tutucusu"/>
          <p:cNvSpPr>
            <a:spLocks noGrp="1"/>
          </p:cNvSpPr>
          <p:nvPr>
            <p:ph idx="1"/>
          </p:nvPr>
        </p:nvSpPr>
        <p:spPr/>
        <p:txBody>
          <a:bodyPr>
            <a:normAutofit fontScale="92500" lnSpcReduction="20000"/>
          </a:bodyPr>
          <a:lstStyle/>
          <a:p>
            <a:r>
              <a:rPr lang="tr-TR" dirty="0"/>
              <a:t>a) bütün olarak sınama, </a:t>
            </a:r>
          </a:p>
          <a:p>
            <a:r>
              <a:rPr lang="tr-TR" dirty="0"/>
              <a:t>b) artırmalı sınama olarak,</a:t>
            </a:r>
          </a:p>
          <a:p>
            <a:r>
              <a:rPr lang="tr-TR" dirty="0"/>
              <a:t> iki ayrı biçimde birleştirildikten sonra gerçekleştirilmektedir.</a:t>
            </a:r>
          </a:p>
          <a:p>
            <a:r>
              <a:rPr lang="tr-TR" dirty="0"/>
              <a:t> Artırmalı sınamada, modüllere teker teker  birbirine bağlanmaktadır. </a:t>
            </a:r>
          </a:p>
          <a:p>
            <a:r>
              <a:rPr lang="tr-TR" dirty="0"/>
              <a:t>Artırmalı  sınama, </a:t>
            </a:r>
          </a:p>
          <a:p>
            <a:pPr lvl="1"/>
            <a:r>
              <a:rPr lang="tr-TR" dirty="0"/>
              <a:t>yukarıdan aşağı ve</a:t>
            </a:r>
          </a:p>
          <a:p>
            <a:pPr lvl="1"/>
            <a:r>
              <a:rPr lang="tr-TR" dirty="0"/>
              <a:t> aşağıdan yukarı olarak iki ayrı şekilde uygulanmaktadır. </a:t>
            </a:r>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tr-TR" sz="2000" b="1" dirty="0">
                <a:cs typeface="Tahoma" charset="0"/>
              </a:rPr>
              <a:t>Şekil 5.3.Yukarıdan Aşağı B</a:t>
            </a:r>
            <a:r>
              <a:rPr lang="tr-TR" sz="2000" b="1" dirty="0">
                <a:latin typeface="Tahoma"/>
                <a:cs typeface="Tahoma" charset="0"/>
              </a:rPr>
              <a:t>ü</a:t>
            </a:r>
            <a:r>
              <a:rPr lang="tr-TR" sz="2000" b="1" dirty="0">
                <a:cs typeface="Tahoma" charset="0"/>
              </a:rPr>
              <a:t>t</a:t>
            </a:r>
            <a:r>
              <a:rPr lang="tr-TR" sz="2000" b="1" dirty="0">
                <a:latin typeface="Tahoma"/>
                <a:cs typeface="Tahoma" charset="0"/>
              </a:rPr>
              <a:t>ü</a:t>
            </a:r>
            <a:r>
              <a:rPr lang="tr-TR" sz="2000" b="1" dirty="0">
                <a:cs typeface="Tahoma" charset="0"/>
              </a:rPr>
              <a:t>nleme Testi</a:t>
            </a:r>
          </a:p>
        </p:txBody>
      </p:sp>
      <p:pic>
        <p:nvPicPr>
          <p:cNvPr id="6147" name="Picture 3"/>
          <p:cNvPicPr>
            <a:picLocks noGrp="1" noChangeAspect="1" noChangeArrowheads="1"/>
          </p:cNvPicPr>
          <p:nvPr>
            <p:ph type="body" idx="1"/>
          </p:nvPr>
        </p:nvPicPr>
        <p:blipFill>
          <a:blip r:embed="rId2" cstate="print"/>
          <a:srcRect/>
          <a:stretch>
            <a:fillRect/>
          </a:stretch>
        </p:blipFill>
        <p:spPr>
          <a:xfrm>
            <a:off x="1524000" y="2017713"/>
            <a:ext cx="6553200" cy="4306887"/>
          </a:xfrm>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tr-TR" sz="2000" b="1" dirty="0">
                <a:cs typeface="Tahoma" charset="0"/>
              </a:rPr>
              <a:t>Sekil.5.5.Aşağıdan Yukarı B</a:t>
            </a:r>
            <a:r>
              <a:rPr lang="tr-TR" sz="2000" b="1" dirty="0">
                <a:latin typeface="Tahoma"/>
                <a:cs typeface="Tahoma" charset="0"/>
              </a:rPr>
              <a:t>ü</a:t>
            </a:r>
            <a:r>
              <a:rPr lang="tr-TR" sz="2000" b="1" dirty="0">
                <a:cs typeface="Tahoma" charset="0"/>
              </a:rPr>
              <a:t>t</a:t>
            </a:r>
            <a:r>
              <a:rPr lang="tr-TR" sz="2000" b="1" dirty="0">
                <a:latin typeface="Tahoma"/>
                <a:cs typeface="Tahoma" charset="0"/>
              </a:rPr>
              <a:t>ü</a:t>
            </a:r>
            <a:r>
              <a:rPr lang="tr-TR" sz="2000" b="1" dirty="0">
                <a:cs typeface="Tahoma" charset="0"/>
              </a:rPr>
              <a:t>nleme Testi</a:t>
            </a:r>
          </a:p>
        </p:txBody>
      </p:sp>
      <p:pic>
        <p:nvPicPr>
          <p:cNvPr id="7171" name="Picture 3"/>
          <p:cNvPicPr>
            <a:picLocks noGrp="1" noChangeAspect="1" noChangeArrowheads="1"/>
          </p:cNvPicPr>
          <p:nvPr>
            <p:ph type="body" idx="1"/>
          </p:nvPr>
        </p:nvPicPr>
        <p:blipFill>
          <a:blip r:embed="rId3" cstate="print"/>
          <a:srcRect/>
          <a:stretch>
            <a:fillRect/>
          </a:stretch>
        </p:blipFill>
        <p:spPr>
          <a:xfrm>
            <a:off x="1295400" y="1981200"/>
            <a:ext cx="6934200" cy="4267200"/>
          </a:xfrm>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5.2.2.3.Regresyon testi</a:t>
            </a:r>
            <a:br>
              <a:rPr lang="tr-TR" dirty="0"/>
            </a:br>
            <a:endParaRPr lang="tr-TR" dirty="0"/>
          </a:p>
        </p:txBody>
      </p:sp>
      <p:sp>
        <p:nvSpPr>
          <p:cNvPr id="3" name="2 İçerik Yer Tutucusu"/>
          <p:cNvSpPr>
            <a:spLocks noGrp="1"/>
          </p:cNvSpPr>
          <p:nvPr>
            <p:ph idx="1"/>
          </p:nvPr>
        </p:nvSpPr>
        <p:spPr>
          <a:xfrm>
            <a:off x="457200" y="1052736"/>
            <a:ext cx="8229600" cy="5073427"/>
          </a:xfrm>
        </p:spPr>
        <p:txBody>
          <a:bodyPr>
            <a:normAutofit fontScale="92500" lnSpcReduction="10000"/>
          </a:bodyPr>
          <a:lstStyle/>
          <a:p>
            <a:r>
              <a:rPr lang="tr-TR" b="1" dirty="0"/>
              <a:t>Regresyon Testi </a:t>
            </a:r>
            <a:r>
              <a:rPr lang="tr-TR" dirty="0"/>
              <a:t>Sınanmış olan bir program veya program parçası üzerinde değişiklik veya ekleme yapılması halinde, tümünün bir kez daha sınanmasıdır. </a:t>
            </a:r>
          </a:p>
          <a:p>
            <a:r>
              <a:rPr lang="tr-TR" dirty="0"/>
              <a:t>Uygulama ortamlarında gerekli değişiklikler ve sabitlemeler yapıldıktan sonra yeniden yapılan testlere regresyon testi denilir. </a:t>
            </a:r>
          </a:p>
          <a:p>
            <a:r>
              <a:rPr lang="tr-TR" dirty="0"/>
              <a:t>Başka bir tanımla, Regresyon Testi, önceden test edilmiş bir yazılımın çeşitli değişiklerden geçtikten sonra da hatasız bir şekilde çalışmasını sağlamak amacıyla yeniden test edilmesi işlemidir.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5.2.3.Sistem Testi</a:t>
            </a:r>
            <a:br>
              <a:rPr lang="tr-TR" dirty="0"/>
            </a:br>
            <a:endParaRPr lang="tr-TR" dirty="0"/>
          </a:p>
        </p:txBody>
      </p:sp>
      <p:sp>
        <p:nvSpPr>
          <p:cNvPr id="3" name="2 İçerik Yer Tutucusu"/>
          <p:cNvSpPr>
            <a:spLocks noGrp="1"/>
          </p:cNvSpPr>
          <p:nvPr>
            <p:ph idx="1"/>
          </p:nvPr>
        </p:nvSpPr>
        <p:spPr/>
        <p:txBody>
          <a:bodyPr>
            <a:normAutofit fontScale="85000" lnSpcReduction="20000"/>
          </a:bodyPr>
          <a:lstStyle/>
          <a:p>
            <a:r>
              <a:rPr lang="tr-TR" dirty="0"/>
              <a:t>	Bilgisayar sistemi, donanım ve yazılım alt sistemlerinden oluşmaktadır. Bu nedenle, yazılım alt sisteminin kendi başına sınanması yeterli olmayıp, bilgisayar sistemi içerisinde de denetlenmelidir. </a:t>
            </a:r>
          </a:p>
          <a:p>
            <a:r>
              <a:rPr lang="tr-TR" dirty="0"/>
              <a:t>	Sistem testinin amacı; sistemin bütün öğelerinin uygun olarak bir araya getirildiğinin ve her birinin işlevini tam olarak gerçekleştirebildiğinin onaylanmasıdır. </a:t>
            </a:r>
          </a:p>
          <a:p>
            <a:r>
              <a:rPr lang="tr-TR" dirty="0"/>
              <a:t>sistem testi; </a:t>
            </a:r>
          </a:p>
          <a:p>
            <a:pPr lvl="1"/>
            <a:r>
              <a:rPr lang="tr-TR" dirty="0"/>
              <a:t>a) düzeltme testi, b) güvenlik testi,</a:t>
            </a:r>
          </a:p>
          <a:p>
            <a:pPr lvl="1"/>
            <a:r>
              <a:rPr lang="tr-TR" dirty="0"/>
              <a:t> c) dayanıklılık testi, d) yetenek testi </a:t>
            </a:r>
          </a:p>
          <a:p>
            <a:r>
              <a:rPr lang="tr-TR" dirty="0"/>
              <a:t>biçimlerinde uygulanmaktadır.</a:t>
            </a:r>
          </a:p>
          <a:p>
            <a:endParaRPr lang="tr-T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Sistem Testi</a:t>
            </a:r>
          </a:p>
        </p:txBody>
      </p:sp>
      <p:sp>
        <p:nvSpPr>
          <p:cNvPr id="3" name="2 İçerik Yer Tutucusu"/>
          <p:cNvSpPr>
            <a:spLocks noGrp="1"/>
          </p:cNvSpPr>
          <p:nvPr>
            <p:ph idx="1"/>
          </p:nvPr>
        </p:nvSpPr>
        <p:spPr/>
        <p:txBody>
          <a:bodyPr>
            <a:normAutofit fontScale="85000" lnSpcReduction="10000"/>
          </a:bodyPr>
          <a:lstStyle/>
          <a:p>
            <a:r>
              <a:rPr lang="tr-TR" dirty="0"/>
              <a:t>.</a:t>
            </a:r>
            <a:r>
              <a:rPr lang="tr-TR" b="1" dirty="0"/>
              <a:t>Güvenlik testi:</a:t>
            </a:r>
            <a:r>
              <a:rPr lang="tr-TR" dirty="0"/>
              <a:t> sistemin zararlı dış müdahalelerden ve bilgi hırsızlığından korunabildiğinin kanıtlanmasıdır.</a:t>
            </a:r>
          </a:p>
          <a:p>
            <a:r>
              <a:rPr lang="tr-TR" b="1" dirty="0"/>
              <a:t>.</a:t>
            </a:r>
            <a:r>
              <a:rPr lang="tr-TR" b="1" dirty="0" err="1"/>
              <a:t>Dayanıklık</a:t>
            </a:r>
            <a:r>
              <a:rPr lang="tr-TR" b="1" dirty="0"/>
              <a:t> (stres) testi;</a:t>
            </a:r>
            <a:r>
              <a:rPr lang="tr-TR" dirty="0"/>
              <a:t> sistemin miktar, frekans ya da hacım bakımından anormal biçimde yüklenmesi hallerindeki </a:t>
            </a:r>
            <a:r>
              <a:rPr lang="tr-TR" dirty="0" err="1"/>
              <a:t>dayanıklığını</a:t>
            </a:r>
            <a:r>
              <a:rPr lang="tr-TR" dirty="0"/>
              <a:t> ölçmek amacı ile düzenlenmektedir.</a:t>
            </a:r>
          </a:p>
          <a:p>
            <a:r>
              <a:rPr lang="tr-TR" b="1" dirty="0"/>
              <a:t>Yetenek (</a:t>
            </a:r>
            <a:r>
              <a:rPr lang="tr-TR" b="1" dirty="0" err="1"/>
              <a:t>performance</a:t>
            </a:r>
            <a:r>
              <a:rPr lang="tr-TR" b="1" dirty="0"/>
              <a:t>) testi</a:t>
            </a:r>
            <a:r>
              <a:rPr lang="tr-TR" dirty="0"/>
              <a:t>; gerçek zamanlı ve gömülü sistemlerde, yazılım işlem süresinin bilgisayara dayalı sistem ile uyarlığını sınamaktadır. Yeteneğin sınanması, her test basamağında uygulanmaktadır.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5.2.4. Onaylama Testi</a:t>
            </a:r>
            <a:br>
              <a:rPr lang="tr-TR" dirty="0"/>
            </a:br>
            <a:endParaRPr lang="tr-TR" dirty="0"/>
          </a:p>
        </p:txBody>
      </p:sp>
      <p:sp>
        <p:nvSpPr>
          <p:cNvPr id="3" name="2 İçerik Yer Tutucusu"/>
          <p:cNvSpPr>
            <a:spLocks noGrp="1"/>
          </p:cNvSpPr>
          <p:nvPr>
            <p:ph idx="1"/>
          </p:nvPr>
        </p:nvSpPr>
        <p:spPr/>
        <p:txBody>
          <a:bodyPr>
            <a:normAutofit lnSpcReduction="10000"/>
          </a:bodyPr>
          <a:lstStyle/>
          <a:p>
            <a:r>
              <a:rPr lang="tr-TR" dirty="0"/>
              <a:t> Onaylama Testi, 	Bütünleme testi sonunda, yazılım bir paket halinde derlenmiş, arabirim hataları bulunmuş ve düzeltilmiş olmaktadır. Bundan sonra, </a:t>
            </a:r>
            <a:r>
              <a:rPr lang="tr-TR" i="1" dirty="0"/>
              <a:t>onaylama testi </a:t>
            </a:r>
            <a:r>
              <a:rPr lang="tr-TR" dirty="0"/>
              <a:t>yapılmaktadır. Bu testte, yazılımın müşteri ve kullanıcı beklentilerini gerçekleştirme olanağı denetlenmektedir. </a:t>
            </a:r>
          </a:p>
          <a:p>
            <a:r>
              <a:rPr lang="tr-TR" dirty="0"/>
              <a:t>Bu amaçla; onaylama testi, düzenlik testi ve kabul muayenesi olarak yürütülmektedir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500034" y="1142984"/>
            <a:ext cx="8229600" cy="917596"/>
          </a:xfrm>
        </p:spPr>
        <p:txBody>
          <a:bodyPr>
            <a:normAutofit/>
          </a:bodyPr>
          <a:lstStyle/>
          <a:p>
            <a:r>
              <a:rPr lang="tr-TR" sz="2000" dirty="0"/>
              <a:t>Şekil – 5.7. Onaylama testi</a:t>
            </a:r>
          </a:p>
        </p:txBody>
      </p:sp>
      <p:pic>
        <p:nvPicPr>
          <p:cNvPr id="4" name="3 İçerik Yer Tutucusu" descr="Onaylama_SB"/>
          <p:cNvPicPr>
            <a:picLocks noGrp="1"/>
          </p:cNvPicPr>
          <p:nvPr>
            <p:ph idx="1"/>
          </p:nvPr>
        </p:nvPicPr>
        <p:blipFill>
          <a:blip r:embed="rId2" cstate="print"/>
          <a:srcRect/>
          <a:stretch>
            <a:fillRect/>
          </a:stretch>
        </p:blipFill>
        <p:spPr bwMode="auto">
          <a:xfrm>
            <a:off x="1719262" y="2324894"/>
            <a:ext cx="5705475" cy="2905125"/>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TotalTime>
  <Words>847</Words>
  <Application>Microsoft Office PowerPoint</Application>
  <PresentationFormat>Ekran Gösterisi (4:3)</PresentationFormat>
  <Paragraphs>107</Paragraphs>
  <Slides>18</Slides>
  <Notes>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18</vt:i4>
      </vt:variant>
    </vt:vector>
  </HeadingPairs>
  <TitlesOfParts>
    <vt:vector size="22" baseType="lpstr">
      <vt:lpstr>Arial</vt:lpstr>
      <vt:lpstr>Calibri</vt:lpstr>
      <vt:lpstr>Tahoma</vt:lpstr>
      <vt:lpstr>Ofis Teması</vt:lpstr>
      <vt:lpstr>V  Model yaklaşımı</vt:lpstr>
      <vt:lpstr>5.GEÇERLEME ve DOĞRULAMA TEKNİKLERİ</vt:lpstr>
      <vt:lpstr>Şekil –5.1. Yazılım sınama basamakları</vt:lpstr>
      <vt:lpstr>PowerPoint Sunusu</vt:lpstr>
      <vt:lpstr>5.2.1.Birim Test </vt:lpstr>
      <vt:lpstr>Şekil 5.2. Birim Test Ortamı</vt:lpstr>
      <vt:lpstr>Birim Test</vt:lpstr>
      <vt:lpstr>PowerPoint Sunusu</vt:lpstr>
      <vt:lpstr>Arabirim testi</vt:lpstr>
      <vt:lpstr>5.2.2.Bütünleme Testi  </vt:lpstr>
      <vt:lpstr>Bütünleme testi</vt:lpstr>
      <vt:lpstr>Şekil 5.3.Yukarıdan Aşağı Bütünleme Testi</vt:lpstr>
      <vt:lpstr>Sekil.5.5.Aşağıdan Yukarı Bütünleme Testi</vt:lpstr>
      <vt:lpstr>5.2.2.3.Regresyon testi </vt:lpstr>
      <vt:lpstr>5.2.3.Sistem Testi </vt:lpstr>
      <vt:lpstr>Sistem Testi</vt:lpstr>
      <vt:lpstr>5.2.4. Onaylama Testi </vt:lpstr>
      <vt:lpstr>Şekil – 5.7. Onaylama testi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2.2.2. Yazılım Kalite Maliyeti</dc:title>
  <dc:creator>oyalar</dc:creator>
  <cp:lastModifiedBy>Oya KALIPSIZ</cp:lastModifiedBy>
  <cp:revision>20</cp:revision>
  <dcterms:created xsi:type="dcterms:W3CDTF">2015-03-03T17:28:16Z</dcterms:created>
  <dcterms:modified xsi:type="dcterms:W3CDTF">2024-11-05T21:17:05Z</dcterms:modified>
</cp:coreProperties>
</file>